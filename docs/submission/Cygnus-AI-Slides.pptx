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42245ac-45af-ab00-36f2-cd99f3aed16b}">
          <p14:sldIdLst>
            <p14:sldId id="256"/>
            <p14:sldId id="257"/>
            <p14:sldId id="258"/>
          </p14:sldIdLst>
        </p14:section>
        <p14:section name="Problem" id="{be90ac56-26bc-297d-4959-d8f0307b9ac5}">
          <p14:sldIdLst>
            <p14:sldId id="259"/>
            <p14:sldId id="260"/>
            <p14:sldId id="261"/>
          </p14:sldIdLst>
        </p14:section>
        <p14:section name="Solution" id="{4b2704a2-d784-78ff-74f3-b5938f676406}">
          <p14:sldIdLst>
            <p14:sldId id="262"/>
            <p14:sldId id="263"/>
            <p14:sldId id="264"/>
            <p14:sldId id="265"/>
          </p14:sldIdLst>
        </p14:section>
        <p14:section name="Demo" id="{9749249f-621a-657b-41c0-077d6908ffd1}">
          <p14:sldIdLst>
            <p14:sldId id="266"/>
            <p14:sldId id="267"/>
            <p14:sldId id="268"/>
            <p14:sldId id="269"/>
          </p14:sldIdLst>
        </p14:section>
        <p14:section name="Results" id="{c5a27269-359b-fe67-d39a-c63770663647}">
          <p14:sldIdLst>
            <p14:sldId id="270"/>
            <p14:sldId id="271"/>
            <p14:sldId id="272"/>
            <p14:sldId id="273"/>
            <p14:sldId id="274"/>
            <p14:sldId id="275"/>
          </p14:sldIdLst>
        </p14:section>
        <p14:section name="Impact" id="{6e57b63e-756a-6072-bd28-34e2bf6d9377}">
          <p14:sldIdLst>
            <p14:sldId id="276"/>
            <p14:sldId id="277"/>
          </p14:sldIdLst>
        </p14:section>
        <p14:section name="Close" id="{bb70fe3f-a4d4-429b-e59e-ce2107ac3896}">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38BDF8"/>
              </a:solidFill>
              <a:ln w="25400" cap="flat">
                <a:solidFill>
                  <a:srgbClr val="070B16"/>
                </a:solidFill>
                <a:prstDash val="solid"/>
                <a:round/>
              </a:ln>
              <a:effectLst/>
            </c:spPr>
          </c:dPt>
          <c:dPt>
            <c:idx val="1"/>
            <c:bubble3D val="0"/>
            <c:spPr>
              <a:solidFill>
                <a:srgbClr val="A78BFA"/>
              </a:solidFill>
              <a:ln w="25400" cap="flat">
                <a:solidFill>
                  <a:srgbClr val="070B16"/>
                </a:solidFill>
                <a:prstDash val="solid"/>
                <a:round/>
              </a:ln>
              <a:effectLst/>
            </c:spPr>
          </c:dPt>
          <c:dPt>
            <c:idx val="2"/>
            <c:bubble3D val="0"/>
            <c:spPr>
              <a:solidFill>
                <a:srgbClr val="F5A524"/>
              </a:solidFill>
              <a:ln w="25400" cap="flat">
                <a:solidFill>
                  <a:srgbClr val="070B16"/>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ML anomaly</c:v>
                </c:pt>
                <c:pt idx="1">
                  <c:v>Graph pattern</c:v>
                </c:pt>
                <c:pt idx="2">
                  <c:v>Behaviour</c:v>
                </c:pt>
              </c:strCache>
            </c:strRef>
          </c:cat>
          <c:val>
            <c:numRef>
              <c:f>Sheet1!$B$2:$B$4</c:f>
              <c:numCache>
                <c:ptCount val="3"/>
                <c:pt idx="0">
                  <c:v>40</c:v>
                </c:pt>
                <c:pt idx="1">
                  <c:v>40</c:v>
                </c:pt>
                <c:pt idx="2">
                  <c:v>20</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Accounts</c:v>
                </c:pt>
              </c:strCache>
            </c:strRef>
          </c:tx>
          <c:spPr>
            <a:solidFill>
              <a:srgbClr val="38BDF8"/>
            </a:solidFill>
            <a:effectLst/>
          </c:spPr>
          <c:invertIfNegative val="0"/>
          <c:dLbls>
            <c:numFmt formatCode="#,##0" sourceLinked="0"/>
            <c:txPr>
              <a:bodyPr/>
              <a:lstStyle/>
              <a:p>
                <a:pPr>
                  <a:defRPr b="0" i="0" strike="noStrike" sz="1100" u="none">
                    <a:solidFill>
                      <a:srgbClr val="F1F5FB"/>
                    </a:solidFill>
                    <a:latin typeface="+mn-lt"/>
                  </a:defRPr>
                </a:pPr>
              </a:p>
            </c:txPr>
            <c:showLegendKey val="0"/>
            <c:showVal val="1"/>
            <c:showCatName val="0"/>
            <c:showSerName val="0"/>
            <c:showPercent val="0"/>
            <c:showBubbleSize val="0"/>
            <c:showLeaderLines val="0"/>
          </c:dLbls>
          <c:cat>
            <c:multiLvlStrRef>
              <c:f>Sheet1!$A$2:$A$12</c:f>
              <c:multiLvlStrCache>
                <c:ptCount val="11"/>
                <c:lvl>
                  <c:pt idx="0">
                    <c:v>Transaction Chain</c:v>
                  </c:pt>
                  <c:pt idx="1">
                    <c:v>Rapid Movement</c:v>
                  </c:pt>
                  <c:pt idx="2">
                    <c:v>Circular Flow</c:v>
                  </c:pt>
                  <c:pt idx="3">
                    <c:v>Structuring</c:v>
                  </c:pt>
                  <c:pt idx="4">
                    <c:v>Coordinated Network</c:v>
                  </c:pt>
                  <c:pt idx="5">
                    <c:v>Fan-In</c:v>
                  </c:pt>
                  <c:pt idx="6">
                    <c:v>Risk-Area Takeover</c:v>
                  </c:pt>
                  <c:pt idx="7">
                    <c:v>Fan-Out</c:v>
                  </c:pt>
                  <c:pt idx="8">
                    <c:v>Hundi Funder</c:v>
                  </c:pt>
                  <c:pt idx="9">
                    <c:v>Hundi Operator</c:v>
                  </c:pt>
                  <c:pt idx="10">
                    <c:v>Takeover Collector</c:v>
                  </c:pt>
                </c:lvl>
              </c:multiLvlStrCache>
            </c:multiLvlStrRef>
          </c:cat>
          <c:val>
            <c:numRef>
              <c:f>Sheet1!$B$2:$B$12</c:f>
              <c:numCache>
                <c:formatCode>General</c:formatCode>
                <c:ptCount val="11"/>
                <c:pt idx="0">
                  <c:v>19</c:v>
                </c:pt>
                <c:pt idx="1">
                  <c:v>13</c:v>
                </c:pt>
                <c:pt idx="2">
                  <c:v>9</c:v>
                </c:pt>
                <c:pt idx="3">
                  <c:v>4</c:v>
                </c:pt>
                <c:pt idx="4">
                  <c:v>4</c:v>
                </c:pt>
                <c:pt idx="5">
                  <c:v>3</c:v>
                </c:pt>
                <c:pt idx="6">
                  <c:v>3</c:v>
                </c:pt>
                <c:pt idx="7">
                  <c:v>2</c:v>
                </c:pt>
                <c:pt idx="8">
                  <c:v>2</c:v>
                </c:pt>
                <c:pt idx="9">
                  <c:v>1</c:v>
                </c:pt>
                <c:pt idx="10">
                  <c:v>1</c:v>
                </c:pt>
              </c:numCache>
            </c:numRef>
          </c:val>
        </c:ser>
        <c:dLbls>
          <c:numFmt formatCode="#,##0" sourceLinked="0"/>
          <c:txPr>
            <a:bodyPr/>
            <a:lstStyle/>
            <a:p>
              <a:pPr>
                <a:defRPr b="0" i="0" strike="noStrike" sz="1100" u="none">
                  <a:solidFill>
                    <a:srgbClr val="F1F5F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9AABC4"/>
                </a:solidFill>
                <a:latin typeface="+mn-lt"/>
              </a:defRPr>
            </a:pPr>
            <a:endParaRPr lang="en-US"/>
          </a:p>
        </c:txPr>
        <c:crossAx val="2094734552"/>
        <c:crosses val="autoZero"/>
        <c:auto val="1"/>
        <c:lblAlgn val="ctr"/>
        <c:noMultiLvlLbl val="1"/>
      </c:catAx>
      <c:valAx>
        <c:axId val="2094734552"/>
        <c:scaling>
          <c:orientation val="minMax"/>
          <c:max val="2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38BDF8"/>
            </a:solidFill>
            <a:effectLst/>
          </c:spPr>
          <c:invertIfNegative val="0"/>
          <c:dLbls>
            <c:numFmt formatCode="0.000" sourceLinked="0"/>
            <c:txPr>
              <a:bodyPr/>
              <a:lstStyle/>
              <a:p>
                <a:pPr>
                  <a:defRPr b="0" i="0" strike="noStrike" sz="1000" u="none">
                    <a:solidFill>
                      <a:srgbClr val="F1F5FB"/>
                    </a:solidFill>
                    <a:latin typeface="+mn-lt"/>
                  </a:defRPr>
                </a:pPr>
              </a:p>
            </c:txPr>
            <c:showLegendKey val="0"/>
            <c:showVal val="1"/>
            <c:showCatName val="0"/>
            <c:showSerName val="0"/>
            <c:showPercent val="0"/>
            <c:showBubbleSize val="0"/>
            <c:showLeaderLines val="0"/>
          </c:dLbls>
          <c:dPt>
            <c:idx val="0"/>
            <c:invertIfNegative val="0"/>
            <c:bubble3D val="0"/>
            <c:spPr>
              <a:solidFill>
                <a:srgbClr val="38BDF8"/>
              </a:solidFill>
              <a:effectLst/>
            </c:spPr>
          </c:dPt>
          <c:dPt>
            <c:idx val="1"/>
            <c:invertIfNegative val="0"/>
            <c:bubble3D val="0"/>
            <c:spPr>
              <a:solidFill>
                <a:srgbClr val="38BDF8"/>
              </a:solidFill>
              <a:effectLst/>
            </c:spPr>
          </c:dPt>
          <c:dPt>
            <c:idx val="2"/>
            <c:invertIfNegative val="0"/>
            <c:bubble3D val="0"/>
            <c:spPr>
              <a:solidFill>
                <a:srgbClr val="A78BFA"/>
              </a:solidFill>
              <a:effectLst/>
            </c:spPr>
          </c:dPt>
          <c:dPt>
            <c:idx val="3"/>
            <c:invertIfNegative val="0"/>
            <c:bubble3D val="0"/>
            <c:spPr>
              <a:solidFill>
                <a:srgbClr val="A78BFA"/>
              </a:solidFill>
              <a:effectLst/>
            </c:spPr>
          </c:dPt>
          <c:dPt>
            <c:idx val="4"/>
            <c:invertIfNegative val="0"/>
            <c:bubble3D val="0"/>
            <c:spPr>
              <a:solidFill>
                <a:srgbClr val="38BDF8"/>
              </a:solidFill>
              <a:effectLst/>
            </c:spPr>
          </c:dPt>
          <c:dPt>
            <c:idx val="5"/>
            <c:invertIfNegative val="0"/>
            <c:bubble3D val="0"/>
            <c:spPr>
              <a:solidFill>
                <a:srgbClr val="A78BFA"/>
              </a:solidFill>
              <a:effectLst/>
            </c:spPr>
          </c:dPt>
          <c:dPt>
            <c:idx val="6"/>
            <c:invertIfNegative val="0"/>
            <c:bubble3D val="0"/>
            <c:spPr>
              <a:solidFill>
                <a:srgbClr val="A78BFA"/>
              </a:solidFill>
              <a:effectLst/>
            </c:spPr>
          </c:dPt>
          <c:dPt>
            <c:idx val="7"/>
            <c:invertIfNegative val="0"/>
            <c:bubble3D val="0"/>
            <c:spPr>
              <a:solidFill>
                <a:srgbClr val="38BDF8"/>
              </a:solidFill>
              <a:effectLst/>
            </c:spPr>
          </c:dPt>
          <c:cat>
            <c:multiLvlStrRef>
              <c:f>Sheet1!$A$2:$A$9</c:f>
              <c:multiLvlStrCache>
                <c:ptCount val="8"/>
                <c:lvl>
                  <c:pt idx="0">
                    <c:v>average_transaction_amount</c:v>
                  </c:pt>
                  <c:pt idx="1">
                    <c:v>amount_volatility</c:v>
                  </c:pt>
                  <c:pt idx="2">
                    <c:v>chain_length_fast</c:v>
                  </c:pt>
                  <c:pt idx="3">
                    <c:v>chain_length_slow</c:v>
                  </c:pt>
                  <c:pt idx="4">
                    <c:v>total_outgoing</c:v>
                  </c:pt>
                  <c:pt idx="5">
                    <c:v>nb_in_forward_share_slow</c:v>
                  </c:pt>
                  <c:pt idx="6">
                    <c:v>forward_share_slow</c:v>
                  </c:pt>
                  <c:pt idx="7">
                    <c:v>round_amount_share</c:v>
                  </c:pt>
                </c:lvl>
              </c:multiLvlStrCache>
            </c:multiLvlStrRef>
          </c:cat>
          <c:val>
            <c:numRef>
              <c:f>Sheet1!$B$2:$B$9</c:f>
              <c:numCache>
                <c:formatCode>General</c:formatCode>
                <c:ptCount val="8"/>
                <c:pt idx="0">
                  <c:v>0.0407</c:v>
                </c:pt>
                <c:pt idx="1">
                  <c:v>0.0345</c:v>
                </c:pt>
                <c:pt idx="2">
                  <c:v>0.0342</c:v>
                </c:pt>
                <c:pt idx="3">
                  <c:v>0.0231</c:v>
                </c:pt>
                <c:pt idx="4">
                  <c:v>0.0184</c:v>
                </c:pt>
                <c:pt idx="5">
                  <c:v>0.0169</c:v>
                </c:pt>
                <c:pt idx="6">
                  <c:v>0.0167</c:v>
                </c:pt>
                <c:pt idx="7">
                  <c:v>0.0138</c:v>
                </c:pt>
              </c:numCache>
            </c:numRef>
          </c:val>
        </c:ser>
        <c:dLbls>
          <c:numFmt formatCode="0.000" sourceLinked="0"/>
          <c:txPr>
            <a:bodyPr/>
            <a:lstStyle/>
            <a:p>
              <a:pPr>
                <a:defRPr b="0" i="0" strike="noStrike" sz="1000" u="none">
                  <a:solidFill>
                    <a:srgbClr val="F1F5F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9AABC4"/>
                </a:solidFill>
                <a:latin typeface="+mn-lt"/>
              </a:defRPr>
            </a:pPr>
            <a:endParaRPr lang="en-US"/>
          </a:p>
        </c:txPr>
        <c:crossAx val="2094734552"/>
        <c:crosses val="autoZero"/>
        <c:auto val="1"/>
        <c:lblAlgn val="ctr"/>
        <c:noMultiLvlLbl val="1"/>
      </c:catAx>
      <c:valAx>
        <c:axId val="2094734552"/>
        <c:scaling>
          <c:orientation val="minMax"/>
          <c:max val="0.05087500000000000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hook: fraud in digital finance rarely looks like one bad transaction. It looks like a network. Cygnus AI maps those networks and explains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jump straight to any part of the story. Each tile is a link; the Agenda link on every slide brings you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 shows what Cygnus AI delivers for upay against each evaluation criterion, with its weight. Each row links to the slide that proves it. Anything that needs real upay data or a live pilot (analyst validation, a trained GNN at scale) is on the roadmap slide, clearly marked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core insight. Rules check each payment in isolation, so a structured mule network slips through. Only when you look at the relationships does the collector account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public figures, with sources at the bottom. Bangladesh MFS runs about 22 million transfers a day. BFIU received 30,199 suspicious transaction and activity reports in FY25, a 74% jump. CID found that hundi rings laundered Tk 75,000 crore in one year through about 5,000 agents of bKash, Nagad, upay and Rocket, and BFIU suspended 21,725 MFS accounts for gambling and hundi in nine months of 2023. Our synthetic data plants exactly these typologies.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Click-driven: each click adds the next step on the map. This is our MFS money-mule ring demo scenario drawn on a map of Bangladesh. The city placement is illustrative; the transfers, timings and the hub's score come from our synthetic demo data. No real upay data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graph detectors run on the NetworkX transaction graph, plus the Isolation Forest model. The counts are real outputs from our synthetic demo dataset of 239 transactions; no normal account is flagged by any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Shihab's two Bangladesh detectors, tested on 423,042 held-out synthetic transactions. Takeover: an area only adds risk when it is new for that customer, and an alert needs at least two signals, so 0 of 5,136 residents and 8 of 1,027 visitors were flagged. The risk areas in the demo are placeholders (Zone-13, Zone-14); upay's fraud team would supply the real list. Hundi: CID found Tk 75,000 crore moved by digital hundi in a year through about 5,000 MFS agents, upay's included. The detector needs informal funding, a payout to five or more beneficiaries and repeat payments over two or more cycles; 0 of 117 licensed remittance agents were flagged. Both simulations are clean, so present these as upper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Stress that everything is unsupervised: Isolation Forest does not need labelled fraud data, which banks rarely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answer to black-box AI. The score is a transparent weighted sum. Walk through the worked example: each component is shown, and the weighted sum gives the final score and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dashboard on the laptop (localhost:3001). The screenshot shows the hundi agent: two funders top up ACC_HUNDI_AGENT, which pays the same six family wallets every cycle. The mule ring (ACC_MULE_HUB, CRITICAL) and the account-takeover collector are one click away in the scenario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investigator panel answers the two questions an analyst asks: why was this flagged, and what should I check next. The briefing is built from each account's real evidence; the optional Claude narrative only rephrases those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we switch to the live product. Walk the six steps on screen: pick an alert, trace the money, read the AI Investigator, open a case, export the STR draft, and show the audit trail. Every step on this slide is built and tested (71 Python and 10 API tests). Two roles exist: AML analyst and compliance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 from the running product on our laptop. Case management: the analyst opens a case from an alert, adds notes and escalates it to the compliance officer. The STR draft is generated from the case with personal data masked; revealing it is logged. The Model Evaluation tab shows the benchmark numbers. The audit log is append-only and hash-chained, so an edited or deleted entry breaks the chain, and the Verify button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here come from the project: 239 synthetic transactions, 89 accounts, every detector firing, and 71 + 10 unit, integration, benchmark and security tests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bottom row: gradient boosting with graph features reaches precision 94.8%, recall 83.8%, F1 0.890, PR-AUC 0.943 and a 0.12% false-positive rate, against 26.5% / 32.1% / 0.290 / 0.201 / 2.35% for conventional rules. Be honest about our first prototype: on this realistic large network its unsupervised score did badly (PR-AUC 0.101), which is why we rebuilt the scoring. The current product score reaches 0.838. All data is synthetic and suspicious accounts are about 2.5% of each network, far more than in production, so real precision will be lower at the same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'show a materially different result from rules'. Same three held-out networks, 1,010 suspicious accounts. Rules catch 324, the graph model 846. Of the 686 the rules miss, the model catches 561, because it sees the network: long fast chains, money forwarded on, neighbours that forward. The ablation shows each family adds value: temporal features lift PR-AUC from 0.66 to 0.82 and graph features to 0.93.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Modular by design: each team member owned one layer behind a documented API contract. The whole stack is deployed with Docker Compose and is live for the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the scoring path (feature store, flow tracing, trained model) scores 1,061,510 transactions in 18.9 seconds on one laptop process, about 56,000 a second, and re-scores the last 24 hours in 0.21 seconds. Every API endpoint answers in under 6 ms at p95. The full product pipeline, which also builds the NetworkX graph and writes evidence text, runs about 8,600 a second. Kafka and Neo4j are the planned next step and are not part of this measurement;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and tested: sign-in with two roles, a hash-chained audit log, PII masking with logged reveal, and a bias check. The bias check found a real problem: our first prototype score flagged 98.7% of legitimate agents, because collecting from many customers is what an agent does. The score is now tier-aware and that is down to 0.57%. District is never a model input, and false-positive rates by district show no dependence (chi-square p = 0.30). Everything on the right is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measured numbers: 73.6% fewer alerts to find the same suspicious accounts, false alarms down from 904 to 46, recall from 32% to 84%. The hours use one stated assumption, 20 minutes per alert; the pilot replaces it with upay's real time per case. The right-hand box is the controlled pilot we propose to upay.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business story: banks and MFS providers must run AML controls and report suspicious activity. Cygnus AI cuts the cost of investigation and protects ordinary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line: don't just flag transactions, follow the money. Then invite questions and offer to drive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rtlCol="0"/>
          <a:lstStyle>
            <a:lvl1pPr algn="l" indent="0" marL="0">
              <a:buNone/>
              <a:defRPr lang="en-US" sz="1200" b="1" spc="300" kern="0" dirty="0">
                <a:solidFill>
                  <a:srgbClr val="38BDF8"/>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3" name="Text 0"/>
          <p:cNvSpPr/>
          <p:nvPr>
            <p:ph idx="101" type="title" hasCustomPrompt="1"/>
          </p:nvPr>
        </p:nvSpPr>
        <p:spPr>
          <a:xfrm>
            <a:off x="548640" y="713232"/>
            <a:ext cx="11064240" cy="731520"/>
          </a:xfrm>
          <a:prstGeom prst="rect">
            <a:avLst/>
          </a:prstGeom>
          <a:noFill/>
          <a:ln/>
        </p:spPr>
        <p:txBody>
          <a:bodyPr wrap="square" rtlCol="0"/>
          <a:lstStyle>
            <a:lvl1pPr algn="l" indent="0" marL="0">
              <a:buNone/>
              <a:defRPr lang="en-US" sz="3400" b="1" dirty="0">
                <a:solidFill>
                  <a:srgbClr val="F1F5FB"/>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5F7090"/>
                </a:solidFill>
                <a:latin typeface="Calibri" pitchFamily="34" charset="0"/>
                <a:ea typeface="Calibri" pitchFamily="34" charset="-122"/>
                <a:cs typeface="Calibri" pitchFamily="34" charset="-120"/>
              </a:rPr>
              <a:t>CYGNUS AI  ·  CPC DIU Hackathon 2026</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070B1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4.xml"/><Relationship Id="rId4" Type="http://schemas.openxmlformats.org/officeDocument/2006/relationships/slide" Target="slide7.xml"/><Relationship Id="rId6" Type="http://schemas.openxmlformats.org/officeDocument/2006/relationships/slide" Target="slide11.xml"/><Relationship Id="rId8" Type="http://schemas.openxmlformats.org/officeDocument/2006/relationships/slide" Target="slide16.xml"/><Relationship Id="rId10" Type="http://schemas.openxmlformats.org/officeDocument/2006/relationships/slide" Target="slide21.xm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5.xml"/><Relationship Id="rId3" Type="http://schemas.openxmlformats.org/officeDocument/2006/relationships/slide" Target="slide16.xml"/><Relationship Id="rId4" Type="http://schemas.openxmlformats.org/officeDocument/2006/relationships/slide" Target="slide21.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19.xml"/><Relationship Id="rId8" Type="http://schemas.openxmlformats.org/officeDocument/2006/relationships/slide" Target="slide20.xml"/><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1.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6" Type="http://schemas.openxmlformats.org/officeDocument/2006/relationships/hyperlink" Target="http://localhost:3001" TargetMode="External"/><Relationship Id="rId7" Type="http://schemas.openxmlformats.org/officeDocument/2006/relationships/hyperlink" Target="http://localhost:3001" TargetMode="External"/><Relationship Id="rId8" Type="http://schemas.openxmlformats.org/officeDocument/2006/relationships/hyperlink" Target="http://20.219.7.216:8000/docs" TargetMode="External"/><Relationship Id="rId9" Type="http://schemas.openxmlformats.org/officeDocument/2006/relationships/hyperlink" Target="http://20.219.7.216:8001/docs" TargetMode="Externa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8" Type="http://schemas.openxmlformats.org/officeDocument/2006/relationships/hyperlink" Target="http://localhost:3001" TargetMode="External"/><Relationship Id="rId9" Type="http://schemas.openxmlformats.org/officeDocument/2006/relationships/hyperlink" Target="http://localhost:3001" TargetMode="Externa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 Id="rId7" Type="http://schemas.openxmlformats.org/officeDocument/2006/relationships/image" Target="../media/image-13-6.png"/><Relationship Id="rId10" Type="http://schemas.openxmlformats.org/officeDocument/2006/relationships/slideLayout" Target="../slideLayouts/slideLayout2.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8-1.png"/><Relationship Id="rId3" Type="http://schemas.openxmlformats.org/officeDocument/2006/relationships/image" Target="../media/image-18-2.png"/><Relationship Id="rId4" Type="http://schemas.openxmlformats.org/officeDocument/2006/relationships/image" Target="../media/image-18-3.png"/><Relationship Id="rId5" Type="http://schemas.openxmlformats.org/officeDocument/2006/relationships/image" Target="../media/image-18-4.png"/><Relationship Id="rId6" Type="http://schemas.openxmlformats.org/officeDocument/2006/relationships/image" Target="../media/image-18-5.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19-5.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20-1.png"/><Relationship Id="rId3" Type="http://schemas.openxmlformats.org/officeDocument/2006/relationships/image" Target="../media/image-20-2.png"/><Relationship Id="rId4" Type="http://schemas.openxmlformats.org/officeDocument/2006/relationships/image" Target="../media/image-20-3.png"/><Relationship Id="rId5" Type="http://schemas.openxmlformats.org/officeDocument/2006/relationships/image" Target="../media/image-20-4.png"/><Relationship Id="rId6" Type="http://schemas.openxmlformats.org/officeDocument/2006/relationships/image" Target="../media/image-20-5.png"/><Relationship Id="rId7" Type="http://schemas.openxmlformats.org/officeDocument/2006/relationships/image" Target="../media/image-20-6.png"/><Relationship Id="rId8" Type="http://schemas.openxmlformats.org/officeDocument/2006/relationships/image" Target="../media/image-20-7.png"/><Relationship Id="rId9" Type="http://schemas.openxmlformats.org/officeDocument/2006/relationships/slideLayout" Target="../slideLayouts/slideLayout2.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22-1.png"/><Relationship Id="rId3" Type="http://schemas.openxmlformats.org/officeDocument/2006/relationships/image" Target="../media/image-22-2.png"/><Relationship Id="rId4" Type="http://schemas.openxmlformats.org/officeDocument/2006/relationships/image" Target="../media/image-22-3.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g__1" descr="/tmp/claude-0/-home-claude/f925570b-377a-5c3c-9531-1679f3895fd9/scratchpad/deck/img/cover.png">    </p:cNvPr>
          <p:cNvPicPr>
            <a:picLocks noChangeAspect="1"/>
          </p:cNvPicPr>
          <p:nvPr/>
        </p:nvPicPr>
        <p:blipFill>
          <a:blip r:embed="rId1"/>
          <a:stretch>
            <a:fillRect/>
          </a:stretch>
        </p:blipFill>
        <p:spPr>
          <a:xfrm>
            <a:off x="0" y="0"/>
            <a:ext cx="12191695" cy="6858000"/>
          </a:xfrm>
          <a:prstGeom prst="rect">
            <a:avLst/>
          </a:prstGeom>
        </p:spPr>
      </p:pic>
      <p:sp>
        <p:nvSpPr>
          <p:cNvPr id="3" name="chip__1"/>
          <p:cNvSpPr/>
          <p:nvPr/>
        </p:nvSpPr>
        <p:spPr>
          <a:xfrm>
            <a:off x="731520" y="1234440"/>
            <a:ext cx="5120640" cy="384048"/>
          </a:xfrm>
          <a:prstGeom prst="roundRect">
            <a:avLst>
              <a:gd name="adj" fmla="val 50000"/>
            </a:avLst>
          </a:prstGeom>
          <a:solidFill>
            <a:srgbClr val="38BDF8">
              <a:alpha val="15000"/>
            </a:srgbClr>
          </a:solidFill>
          <a:ln w="12700">
            <a:solidFill>
              <a:srgbClr val="38BDF8">
                <a:alpha val="70000"/>
              </a:srgbClr>
            </a:solidFill>
            <a:prstDash val="solid"/>
          </a:ln>
        </p:spPr>
      </p:sp>
      <p:sp>
        <p:nvSpPr>
          <p:cNvPr id="4" name="chip__2"/>
          <p:cNvSpPr txBox="1"/>
          <p:nvPr/>
        </p:nvSpPr>
        <p:spPr>
          <a:xfrm>
            <a:off x="731520" y="1234440"/>
            <a:ext cx="5120640" cy="384048"/>
          </a:xfrm>
          <a:prstGeom prst="rect">
            <a:avLst/>
          </a:prstGeom>
          <a:noFill/>
          <a:ln/>
        </p:spPr>
        <p:txBody>
          <a:bodyPr wrap="square" lIns="0" tIns="0" rIns="0" bIns="0" rtlCol="0" anchor="ctr"/>
          <a:lstStyle/>
          <a:p>
            <a:pPr algn="ctr" indent="0" marL="0">
              <a:buNone/>
            </a:pPr>
            <a:r>
              <a:rPr lang="en-US" sz="1100" b="1" spc="200" kern="0" dirty="0">
                <a:solidFill>
                  <a:srgbClr val="38BDF8"/>
                </a:solidFill>
                <a:latin typeface="Arial" pitchFamily="34" charset="0"/>
                <a:ea typeface="Arial" pitchFamily="34" charset="-122"/>
                <a:cs typeface="Arial" pitchFamily="34" charset="-120"/>
              </a:rPr>
              <a:t>UPAY PRESENTS  ·  AI DEV FEST 2026  ·  CPC DIU</a:t>
            </a:r>
            <a:endParaRPr lang="en-US" sz="1100" dirty="0"/>
          </a:p>
        </p:txBody>
      </p:sp>
      <p:sp>
        <p:nvSpPr>
          <p:cNvPr id="5" name="title__1"/>
          <p:cNvSpPr txBox="1"/>
          <p:nvPr/>
        </p:nvSpPr>
        <p:spPr>
          <a:xfrm>
            <a:off x="731520" y="1828800"/>
            <a:ext cx="6400800" cy="1143000"/>
          </a:xfrm>
          <a:prstGeom prst="rect">
            <a:avLst/>
          </a:prstGeom>
          <a:noFill/>
          <a:ln/>
        </p:spPr>
        <p:txBody>
          <a:bodyPr wrap="square" lIns="0" tIns="0" rIns="0" bIns="0" rtlCol="0" anchor="ctr"/>
          <a:lstStyle/>
          <a:p>
            <a:pPr indent="0" marL="0">
              <a:buNone/>
            </a:pPr>
            <a:r>
              <a:rPr lang="en-US" sz="7200" b="1" spc="200" kern="0" dirty="0">
                <a:solidFill>
                  <a:srgbClr val="F1F5FB"/>
                </a:solidFill>
                <a:latin typeface="Arial" pitchFamily="34" charset="0"/>
                <a:ea typeface="Arial" pitchFamily="34" charset="-122"/>
                <a:cs typeface="Arial" pitchFamily="34" charset="-120"/>
              </a:rPr>
              <a:t>CYGNUS </a:t>
            </a:r>
            <a:pPr indent="0" marL="0">
              <a:buNone/>
            </a:pPr>
            <a:r>
              <a:rPr lang="en-US" sz="7200" b="1" spc="200" kern="0" dirty="0">
                <a:solidFill>
                  <a:srgbClr val="38BDF8"/>
                </a:solidFill>
                <a:latin typeface="Arial" pitchFamily="34" charset="0"/>
                <a:ea typeface="Arial" pitchFamily="34" charset="-122"/>
                <a:cs typeface="Arial" pitchFamily="34" charset="-120"/>
              </a:rPr>
              <a:t>AI</a:t>
            </a:r>
            <a:endParaRPr lang="en-US" sz="7200" dirty="0"/>
          </a:p>
        </p:txBody>
      </p:sp>
      <p:sp>
        <p:nvSpPr>
          <p:cNvPr id="6" name="sub__1"/>
          <p:cNvSpPr txBox="1"/>
          <p:nvPr/>
        </p:nvSpPr>
        <p:spPr>
          <a:xfrm>
            <a:off x="731520" y="3063240"/>
            <a:ext cx="5669280" cy="868680"/>
          </a:xfrm>
          <a:prstGeom prst="rect">
            <a:avLst/>
          </a:prstGeom>
          <a:noFill/>
          <a:ln/>
        </p:spPr>
        <p:txBody>
          <a:bodyPr wrap="square" lIns="0" tIns="0" rIns="0" bIns="0" rtlCol="0" anchor="t"/>
          <a:lstStyle/>
          <a:p>
            <a:pPr indent="0" marL="0">
              <a:buNone/>
            </a:pPr>
            <a:r>
              <a:rPr lang="en-US" sz="2200" dirty="0">
                <a:solidFill>
                  <a:srgbClr val="F1F5FB"/>
                </a:solidFill>
                <a:latin typeface="Calibri" pitchFamily="34" charset="0"/>
                <a:ea typeface="Calibri" pitchFamily="34" charset="-122"/>
                <a:cs typeface="Calibri" pitchFamily="34" charset="-120"/>
              </a:rPr>
              <a:t>Suspicious transaction network detection for upay and Bangladesh's mobile financial services</a:t>
            </a:r>
            <a:endParaRPr lang="en-US" sz="2200" dirty="0"/>
          </a:p>
        </p:txBody>
      </p:sp>
      <p:sp>
        <p:nvSpPr>
          <p:cNvPr id="7" name="tag__1"/>
          <p:cNvSpPr txBox="1"/>
          <p:nvPr/>
        </p:nvSpPr>
        <p:spPr>
          <a:xfrm>
            <a:off x="731520" y="4023360"/>
            <a:ext cx="5669280" cy="411480"/>
          </a:xfrm>
          <a:prstGeom prst="rect">
            <a:avLst/>
          </a:prstGeom>
          <a:noFill/>
          <a:ln/>
        </p:spPr>
        <p:txBody>
          <a:bodyPr wrap="square" lIns="0" tIns="0" rIns="0" bIns="0" rtlCol="0" anchor="ctr"/>
          <a:lstStyle/>
          <a:p>
            <a:pPr indent="0" marL="0">
              <a:buNone/>
            </a:pPr>
            <a:r>
              <a:rPr lang="en-US" sz="1800" i="1" dirty="0">
                <a:solidFill>
                  <a:srgbClr val="38BDF8"/>
                </a:solidFill>
                <a:latin typeface="Calibri" pitchFamily="34" charset="0"/>
                <a:ea typeface="Calibri" pitchFamily="34" charset="-122"/>
                <a:cs typeface="Calibri" pitchFamily="34" charset="-120"/>
              </a:rPr>
              <a:t>Mapping money trails like constellations.</a:t>
            </a:r>
            <a:endParaRPr lang="en-US" sz="1800" dirty="0"/>
          </a:p>
        </p:txBody>
      </p:sp>
      <p:sp>
        <p:nvSpPr>
          <p:cNvPr id="8" name="team__1"/>
          <p:cNvSpPr txBox="1"/>
          <p:nvPr/>
        </p:nvSpPr>
        <p:spPr>
          <a:xfrm>
            <a:off x="731520" y="5760720"/>
            <a:ext cx="6858000" cy="365760"/>
          </a:xfrm>
          <a:prstGeom prst="rect">
            <a:avLst/>
          </a:prstGeom>
          <a:noFill/>
          <a:ln/>
        </p:spPr>
        <p:txBody>
          <a:bodyPr wrap="square" lIns="0" tIns="0" rIns="0" bIns="0" rtlCol="0" anchor="ctr"/>
          <a:lstStyle/>
          <a:p>
            <a:pPr indent="0" marL="0">
              <a:buNone/>
            </a:pPr>
            <a:r>
              <a:rPr lang="en-US" sz="1100" b="1" spc="200" kern="0" dirty="0">
                <a:solidFill>
                  <a:srgbClr val="9AABC4"/>
                </a:solidFill>
                <a:latin typeface="Arial" pitchFamily="34" charset="0"/>
                <a:ea typeface="Arial" pitchFamily="34" charset="-122"/>
                <a:cs typeface="Arial" pitchFamily="34" charset="-120"/>
              </a:rPr>
              <a:t>Team  </a:t>
            </a:r>
            <a:pPr indent="0" marL="0">
              <a:buNone/>
            </a:pPr>
            <a:r>
              <a:rPr lang="en-US" sz="1400" dirty="0">
                <a:solidFill>
                  <a:srgbClr val="F1F5FB"/>
                </a:solidFill>
                <a:latin typeface="Calibri" pitchFamily="34" charset="0"/>
                <a:ea typeface="Calibri" pitchFamily="34" charset="-122"/>
                <a:cs typeface="Calibri" pitchFamily="34" charset="-120"/>
              </a:rPr>
              <a:t>Sadekunnahar Marufa  ·  Al Amin  ·  Tanvir Hossain Shihab</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2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42" presetClass="entr" presetSubtype="0" fill="hold"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700"/>
                                        <p:tgtEl>
                                          <p:spTgt spid="5"/>
                                        </p:tgtEl>
                                      </p:cBhvr>
                                    </p:animEffect>
                                    <p:anim calcmode="lin" valueType="num">
                                      <p:cBhvr additive="base">
                                        <p:cTn id="14" dur="700" fill="hold"/>
                                        <p:tgtEl>
                                          <p:spTgt spid="5"/>
                                        </p:tgtEl>
                                        <p:attrNameLst>
                                          <p:attrName>ppt_x</p:attrName>
                                        </p:attrNameLst>
                                      </p:cBhvr>
                                      <p:tavLst>
                                        <p:tav tm="0">
                                          <p:val>
                                            <p:strVal val="#ppt_x"/>
                                          </p:val>
                                        </p:tav>
                                        <p:tav tm="100000">
                                          <p:val>
                                            <p:strVal val="#ppt_x"/>
                                          </p:val>
                                        </p:tav>
                                      </p:tavLst>
                                    </p:anim>
                                    <p:anim calcmode="lin" valueType="num">
                                      <p:cBhvr additive="base">
                                        <p:cTn id="15" dur="700" fill="hold"/>
                                        <p:tgtEl>
                                          <p:spTgt spid="5"/>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10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00"/>
                                        <p:tgtEl>
                                          <p:spTgt spid="6"/>
                                        </p:tgtEl>
                                      </p:cBhvr>
                                    </p:animEffect>
                                    <p:anim calcmode="lin" valueType="num">
                                      <p:cBhvr additive="base">
                                        <p:cTn id="19" dur="600" fill="hold"/>
                                        <p:tgtEl>
                                          <p:spTgt spid="6"/>
                                        </p:tgtEl>
                                        <p:attrNameLst>
                                          <p:attrName>ppt_x</p:attrName>
                                        </p:attrNameLst>
                                      </p:cBhvr>
                                      <p:tavLst>
                                        <p:tav tm="0">
                                          <p:val>
                                            <p:strVal val="#ppt_x"/>
                                          </p:val>
                                        </p:tav>
                                        <p:tav tm="100000">
                                          <p:val>
                                            <p:strVal val="#ppt_x"/>
                                          </p:val>
                                        </p:tav>
                                      </p:tavLst>
                                    </p:anim>
                                    <p:anim calcmode="lin" valueType="num">
                                      <p:cBhvr additive="base">
                                        <p:cTn id="20" dur="600" fill="hold"/>
                                        <p:tgtEl>
                                          <p:spTgt spid="6"/>
                                        </p:tgtEl>
                                        <p:attrNameLst>
                                          <p:attrName>ppt_y</p:attrName>
                                        </p:attrNameLst>
                                      </p:cBhvr>
                                      <p:tavLst>
                                        <p:tav tm="0">
                                          <p:val>
                                            <p:strVal val="#ppt_y+.1"/>
                                          </p:val>
                                        </p:tav>
                                        <p:tav tm="100000">
                                          <p:val>
                                            <p:strVal val="#ppt_y"/>
                                          </p:val>
                                        </p:tav>
                                      </p:tavLst>
                                    </p:anim>
                                  </p:childTnLst>
                                </p:cTn>
                              </p:par>
                              <p:par>
                                <p:cTn id="21" presetID="10" presetClass="entr" presetSubtype="0" fill="hold" nodeType="withEffect">
                                  <p:stCondLst>
                                    <p:cond delay="15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700"/>
                                        <p:tgtEl>
                                          <p:spTgt spid="7"/>
                                        </p:tgtEl>
                                      </p:cBhvr>
                                    </p:animEffect>
                                  </p:childTnLst>
                                </p:cTn>
                              </p:par>
                              <p:par>
                                <p:cTn id="24" presetID="10" presetClass="entr" presetSubtype="0" fill="hold" nodeType="withEffect">
                                  <p:stCondLst>
                                    <p:cond delay="20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AGENDA  ·  CLICK A TILE TO JUMP</a:t>
            </a:r>
            <a:endParaRPr lang="en-US" sz="1200" dirty="0"/>
          </a:p>
        </p:txBody>
      </p:sp>
      <p:sp>
        <p:nvSpPr>
          <p:cNvPr id="3"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Cygnus AI at a glance</a:t>
            </a:r>
            <a:endParaRPr lang="en-US" sz="3400" dirty="0"/>
          </a:p>
        </p:txBody>
      </p:sp>
      <p:sp>
        <p:nvSpPr>
          <p:cNvPr id="4" name="ag0__1"/>
          <p:cNvSpPr/>
          <p:nvPr/>
        </p:nvSpPr>
        <p:spPr>
          <a:xfrm>
            <a:off x="548640" y="1828800"/>
            <a:ext cx="2057400" cy="3566160"/>
          </a:xfrm>
          <a:prstGeom prst="roundRect">
            <a:avLst>
              <a:gd name="adj" fmla="val 533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5" name="ag0__2"/>
          <p:cNvSpPr txBox="1"/>
          <p:nvPr/>
        </p:nvSpPr>
        <p:spPr>
          <a:xfrm>
            <a:off x="777240" y="2057400"/>
            <a:ext cx="914400" cy="457200"/>
          </a:xfrm>
          <a:prstGeom prst="rect">
            <a:avLst/>
          </a:prstGeom>
          <a:noFill/>
          <a:ln/>
        </p:spPr>
        <p:txBody>
          <a:bodyPr wrap="square" lIns="0" tIns="0" rIns="0" bIns="0" rtlCol="0" anchor="ctr"/>
          <a:lstStyle/>
          <a:p>
            <a:pPr indent="0" marL="0">
              <a:buNone/>
            </a:pPr>
            <a:r>
              <a:rPr lang="en-US" sz="2400" b="1" dirty="0">
                <a:solidFill>
                  <a:srgbClr val="FF4D5E"/>
                </a:solidFill>
                <a:latin typeface="Arial" pitchFamily="34" charset="0"/>
                <a:ea typeface="Arial" pitchFamily="34" charset="-122"/>
                <a:cs typeface="Arial" pitchFamily="34" charset="-120"/>
              </a:rPr>
              <a:t>01</a:t>
            </a:r>
            <a:endParaRPr lang="en-US" sz="2400" dirty="0"/>
          </a:p>
        </p:txBody>
      </p:sp>
      <p:sp>
        <p:nvSpPr>
          <p:cNvPr id="6" name="ag0__3"/>
          <p:cNvSpPr/>
          <p:nvPr/>
        </p:nvSpPr>
        <p:spPr>
          <a:xfrm>
            <a:off x="777240" y="2697480"/>
            <a:ext cx="731520" cy="731520"/>
          </a:xfrm>
          <a:prstGeom prst="ellipse">
            <a:avLst/>
          </a:prstGeom>
          <a:solidFill>
            <a:srgbClr val="FF4D5E">
              <a:alpha val="18000"/>
            </a:srgbClr>
          </a:solidFill>
          <a:ln w="12700">
            <a:solidFill>
              <a:srgbClr val="FF4D5E">
                <a:alpha val="60000"/>
              </a:srgbClr>
            </a:solidFill>
            <a:prstDash val="solid"/>
          </a:ln>
        </p:spPr>
      </p:sp>
      <p:pic>
        <p:nvPicPr>
          <p:cNvPr id="7" name="ag0__4" descr="preencoded.png">    </p:cNvPr>
          <p:cNvPicPr>
            <a:picLocks noChangeAspect="1"/>
          </p:cNvPicPr>
          <p:nvPr/>
        </p:nvPicPr>
        <p:blipFill>
          <a:blip r:embed="rId1"/>
          <a:stretch>
            <a:fillRect/>
          </a:stretch>
        </p:blipFill>
        <p:spPr>
          <a:xfrm>
            <a:off x="960120" y="2880360"/>
            <a:ext cx="365760" cy="365760"/>
          </a:xfrm>
          <a:prstGeom prst="rect">
            <a:avLst/>
          </a:prstGeom>
        </p:spPr>
      </p:pic>
      <p:sp>
        <p:nvSpPr>
          <p:cNvPr id="8" name="ag0__5"/>
          <p:cNvSpPr txBox="1"/>
          <p:nvPr/>
        </p:nvSpPr>
        <p:spPr>
          <a:xfrm>
            <a:off x="777240" y="3611880"/>
            <a:ext cx="1691640" cy="685800"/>
          </a:xfrm>
          <a:prstGeom prst="rect">
            <a:avLst/>
          </a:prstGeom>
          <a:noFill/>
          <a:ln/>
        </p:spPr>
        <p:txBody>
          <a:bodyPr wrap="square" lIns="0" tIns="0" rIns="0" bIns="0" rtlCol="0" anchor="t"/>
          <a:lstStyle/>
          <a:p>
            <a:pPr indent="0" marL="0">
              <a:buNone/>
            </a:pPr>
            <a:r>
              <a:rPr lang="en-US" sz="1700" b="1" dirty="0">
                <a:solidFill>
                  <a:srgbClr val="F1F5FB"/>
                </a:solidFill>
                <a:latin typeface="Arial" pitchFamily="34" charset="0"/>
                <a:ea typeface="Arial" pitchFamily="34" charset="-122"/>
                <a:cs typeface="Arial" pitchFamily="34" charset="-120"/>
              </a:rPr>
              <a:t>The problem</a:t>
            </a:r>
            <a:endParaRPr lang="en-US" sz="1700" dirty="0"/>
          </a:p>
        </p:txBody>
      </p:sp>
      <p:sp>
        <p:nvSpPr>
          <p:cNvPr id="9" name="ag0__6"/>
          <p:cNvSpPr txBox="1"/>
          <p:nvPr/>
        </p:nvSpPr>
        <p:spPr>
          <a:xfrm>
            <a:off x="777240" y="4297680"/>
            <a:ext cx="1691640" cy="8229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Why mule networks beat rule-based checks</a:t>
            </a:r>
            <a:endParaRPr lang="en-US" sz="1400" dirty="0"/>
          </a:p>
        </p:txBody>
      </p:sp>
      <p:sp>
        <p:nvSpPr>
          <p:cNvPr id="10" name="ag0__7">
            <a:hlinkClick r:id="rId2" tooltip="Go to The problem" action="ppaction://hlinksldjump"/>
          </p:cNvPr>
          <p:cNvSpPr/>
          <p:nvPr/>
        </p:nvSpPr>
        <p:spPr>
          <a:xfrm>
            <a:off x="548640" y="1828800"/>
            <a:ext cx="2057400" cy="3566160"/>
          </a:xfrm>
          <a:prstGeom prst="roundRect">
            <a:avLst>
              <a:gd name="adj" fmla="val 5333"/>
            </a:avLst>
          </a:prstGeom>
          <a:solidFill>
            <a:srgbClr val="070B16">
              <a:alpha val="0"/>
            </a:srgbClr>
          </a:solidFill>
          <a:ln w="12700">
            <a:solidFill>
              <a:srgbClr val="FF4D5E">
                <a:alpha val="40000"/>
              </a:srgbClr>
            </a:solidFill>
            <a:prstDash val="solid"/>
          </a:ln>
        </p:spPr>
      </p:sp>
      <p:sp>
        <p:nvSpPr>
          <p:cNvPr id="11" name="ag1__1"/>
          <p:cNvSpPr/>
          <p:nvPr/>
        </p:nvSpPr>
        <p:spPr>
          <a:xfrm>
            <a:off x="2807208" y="1828800"/>
            <a:ext cx="2057400" cy="3566160"/>
          </a:xfrm>
          <a:prstGeom prst="roundRect">
            <a:avLst>
              <a:gd name="adj" fmla="val 533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2" name="ag1__2"/>
          <p:cNvSpPr txBox="1"/>
          <p:nvPr/>
        </p:nvSpPr>
        <p:spPr>
          <a:xfrm>
            <a:off x="3035808" y="2057400"/>
            <a:ext cx="914400" cy="457200"/>
          </a:xfrm>
          <a:prstGeom prst="rect">
            <a:avLst/>
          </a:prstGeom>
          <a:noFill/>
          <a:ln/>
        </p:spPr>
        <p:txBody>
          <a:bodyPr wrap="square" lIns="0" tIns="0" rIns="0" bIns="0" rtlCol="0" anchor="ctr"/>
          <a:lstStyle/>
          <a:p>
            <a:pPr indent="0" marL="0">
              <a:buNone/>
            </a:pPr>
            <a:r>
              <a:rPr lang="en-US" sz="2400" b="1" dirty="0">
                <a:solidFill>
                  <a:srgbClr val="38BDF8"/>
                </a:solidFill>
                <a:latin typeface="Arial" pitchFamily="34" charset="0"/>
                <a:ea typeface="Arial" pitchFamily="34" charset="-122"/>
                <a:cs typeface="Arial" pitchFamily="34" charset="-120"/>
              </a:rPr>
              <a:t>02</a:t>
            </a:r>
            <a:endParaRPr lang="en-US" sz="2400" dirty="0"/>
          </a:p>
        </p:txBody>
      </p:sp>
      <p:sp>
        <p:nvSpPr>
          <p:cNvPr id="13" name="ag1__3"/>
          <p:cNvSpPr/>
          <p:nvPr/>
        </p:nvSpPr>
        <p:spPr>
          <a:xfrm>
            <a:off x="3035808" y="2697480"/>
            <a:ext cx="731520" cy="731520"/>
          </a:xfrm>
          <a:prstGeom prst="ellipse">
            <a:avLst/>
          </a:prstGeom>
          <a:solidFill>
            <a:srgbClr val="38BDF8">
              <a:alpha val="18000"/>
            </a:srgbClr>
          </a:solidFill>
          <a:ln w="12700">
            <a:solidFill>
              <a:srgbClr val="38BDF8">
                <a:alpha val="60000"/>
              </a:srgbClr>
            </a:solidFill>
            <a:prstDash val="solid"/>
          </a:ln>
        </p:spPr>
      </p:sp>
      <p:pic>
        <p:nvPicPr>
          <p:cNvPr id="14" name="ag1__4" descr="preencoded.png">    </p:cNvPr>
          <p:cNvPicPr>
            <a:picLocks noChangeAspect="1"/>
          </p:cNvPicPr>
          <p:nvPr/>
        </p:nvPicPr>
        <p:blipFill>
          <a:blip r:embed="rId3"/>
          <a:stretch>
            <a:fillRect/>
          </a:stretch>
        </p:blipFill>
        <p:spPr>
          <a:xfrm>
            <a:off x="3218688" y="2880360"/>
            <a:ext cx="365760" cy="365760"/>
          </a:xfrm>
          <a:prstGeom prst="rect">
            <a:avLst/>
          </a:prstGeom>
        </p:spPr>
      </p:pic>
      <p:sp>
        <p:nvSpPr>
          <p:cNvPr id="15" name="ag1__5"/>
          <p:cNvSpPr txBox="1"/>
          <p:nvPr/>
        </p:nvSpPr>
        <p:spPr>
          <a:xfrm>
            <a:off x="3035808" y="3611880"/>
            <a:ext cx="1691640" cy="685800"/>
          </a:xfrm>
          <a:prstGeom prst="rect">
            <a:avLst/>
          </a:prstGeom>
          <a:noFill/>
          <a:ln/>
        </p:spPr>
        <p:txBody>
          <a:bodyPr wrap="square" lIns="0" tIns="0" rIns="0" bIns="0" rtlCol="0" anchor="t"/>
          <a:lstStyle/>
          <a:p>
            <a:pPr indent="0" marL="0">
              <a:buNone/>
            </a:pPr>
            <a:r>
              <a:rPr lang="en-US" sz="1700" b="1" dirty="0">
                <a:solidFill>
                  <a:srgbClr val="F1F5FB"/>
                </a:solidFill>
                <a:latin typeface="Arial" pitchFamily="34" charset="0"/>
                <a:ea typeface="Arial" pitchFamily="34" charset="-122"/>
                <a:cs typeface="Arial" pitchFamily="34" charset="-120"/>
              </a:rPr>
              <a:t>Our solution</a:t>
            </a:r>
            <a:endParaRPr lang="en-US" sz="1700" dirty="0"/>
          </a:p>
        </p:txBody>
      </p:sp>
      <p:sp>
        <p:nvSpPr>
          <p:cNvPr id="16" name="ag1__6"/>
          <p:cNvSpPr txBox="1"/>
          <p:nvPr/>
        </p:nvSpPr>
        <p:spPr>
          <a:xfrm>
            <a:off x="3035808" y="4297680"/>
            <a:ext cx="1691640" cy="8229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Graph patterns and explainable AI</a:t>
            </a:r>
            <a:endParaRPr lang="en-US" sz="1400" dirty="0"/>
          </a:p>
        </p:txBody>
      </p:sp>
      <p:sp>
        <p:nvSpPr>
          <p:cNvPr id="17" name="ag1__7">
            <a:hlinkClick r:id="rId4" tooltip="Go to Our solution" action="ppaction://hlinksldjump"/>
          </p:cNvPr>
          <p:cNvSpPr/>
          <p:nvPr/>
        </p:nvSpPr>
        <p:spPr>
          <a:xfrm>
            <a:off x="2807208" y="1828800"/>
            <a:ext cx="2057400" cy="3566160"/>
          </a:xfrm>
          <a:prstGeom prst="roundRect">
            <a:avLst>
              <a:gd name="adj" fmla="val 5333"/>
            </a:avLst>
          </a:prstGeom>
          <a:solidFill>
            <a:srgbClr val="070B16">
              <a:alpha val="0"/>
            </a:srgbClr>
          </a:solidFill>
          <a:ln w="12700">
            <a:solidFill>
              <a:srgbClr val="38BDF8">
                <a:alpha val="40000"/>
              </a:srgbClr>
            </a:solidFill>
            <a:prstDash val="solid"/>
          </a:ln>
        </p:spPr>
      </p:sp>
      <p:sp>
        <p:nvSpPr>
          <p:cNvPr id="18" name="ag2__1"/>
          <p:cNvSpPr/>
          <p:nvPr/>
        </p:nvSpPr>
        <p:spPr>
          <a:xfrm>
            <a:off x="5065776" y="1828800"/>
            <a:ext cx="2057400" cy="3566160"/>
          </a:xfrm>
          <a:prstGeom prst="roundRect">
            <a:avLst>
              <a:gd name="adj" fmla="val 533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9" name="ag2__2"/>
          <p:cNvSpPr txBox="1"/>
          <p:nvPr/>
        </p:nvSpPr>
        <p:spPr>
          <a:xfrm>
            <a:off x="5294376" y="2057400"/>
            <a:ext cx="914400" cy="457200"/>
          </a:xfrm>
          <a:prstGeom prst="rect">
            <a:avLst/>
          </a:prstGeom>
          <a:noFill/>
          <a:ln/>
        </p:spPr>
        <p:txBody>
          <a:bodyPr wrap="square" lIns="0" tIns="0" rIns="0" bIns="0" rtlCol="0" anchor="ctr"/>
          <a:lstStyle/>
          <a:p>
            <a:pPr indent="0" marL="0">
              <a:buNone/>
            </a:pPr>
            <a:r>
              <a:rPr lang="en-US" sz="2400" b="1" dirty="0">
                <a:solidFill>
                  <a:srgbClr val="A78BFA"/>
                </a:solidFill>
                <a:latin typeface="Arial" pitchFamily="34" charset="0"/>
                <a:ea typeface="Arial" pitchFamily="34" charset="-122"/>
                <a:cs typeface="Arial" pitchFamily="34" charset="-120"/>
              </a:rPr>
              <a:t>03</a:t>
            </a:r>
            <a:endParaRPr lang="en-US" sz="2400" dirty="0"/>
          </a:p>
        </p:txBody>
      </p:sp>
      <p:sp>
        <p:nvSpPr>
          <p:cNvPr id="20" name="ag2__3"/>
          <p:cNvSpPr/>
          <p:nvPr/>
        </p:nvSpPr>
        <p:spPr>
          <a:xfrm>
            <a:off x="5294376" y="2697480"/>
            <a:ext cx="731520" cy="731520"/>
          </a:xfrm>
          <a:prstGeom prst="ellipse">
            <a:avLst/>
          </a:prstGeom>
          <a:solidFill>
            <a:srgbClr val="A78BFA">
              <a:alpha val="18000"/>
            </a:srgbClr>
          </a:solidFill>
          <a:ln w="12700">
            <a:solidFill>
              <a:srgbClr val="A78BFA">
                <a:alpha val="60000"/>
              </a:srgbClr>
            </a:solidFill>
            <a:prstDash val="solid"/>
          </a:ln>
        </p:spPr>
      </p:sp>
      <p:pic>
        <p:nvPicPr>
          <p:cNvPr id="21" name="ag2__4" descr="preencoded.png">    </p:cNvPr>
          <p:cNvPicPr>
            <a:picLocks noChangeAspect="1"/>
          </p:cNvPicPr>
          <p:nvPr/>
        </p:nvPicPr>
        <p:blipFill>
          <a:blip r:embed="rId5"/>
          <a:stretch>
            <a:fillRect/>
          </a:stretch>
        </p:blipFill>
        <p:spPr>
          <a:xfrm>
            <a:off x="5477256" y="2880360"/>
            <a:ext cx="365760" cy="365760"/>
          </a:xfrm>
          <a:prstGeom prst="rect">
            <a:avLst/>
          </a:prstGeom>
        </p:spPr>
      </p:pic>
      <p:sp>
        <p:nvSpPr>
          <p:cNvPr id="22" name="ag2__5"/>
          <p:cNvSpPr txBox="1"/>
          <p:nvPr/>
        </p:nvSpPr>
        <p:spPr>
          <a:xfrm>
            <a:off x="5294376" y="3611880"/>
            <a:ext cx="1691640" cy="685800"/>
          </a:xfrm>
          <a:prstGeom prst="rect">
            <a:avLst/>
          </a:prstGeom>
          <a:noFill/>
          <a:ln/>
        </p:spPr>
        <p:txBody>
          <a:bodyPr wrap="square" lIns="0" tIns="0" rIns="0" bIns="0" rtlCol="0" anchor="t"/>
          <a:lstStyle/>
          <a:p>
            <a:pPr indent="0" marL="0">
              <a:buNone/>
            </a:pPr>
            <a:r>
              <a:rPr lang="en-US" sz="1700" b="1" dirty="0">
                <a:solidFill>
                  <a:srgbClr val="F1F5FB"/>
                </a:solidFill>
                <a:latin typeface="Arial" pitchFamily="34" charset="0"/>
                <a:ea typeface="Arial" pitchFamily="34" charset="-122"/>
                <a:cs typeface="Arial" pitchFamily="34" charset="-120"/>
              </a:rPr>
              <a:t>Live demo</a:t>
            </a:r>
            <a:endParaRPr lang="en-US" sz="1700" dirty="0"/>
          </a:p>
        </p:txBody>
      </p:sp>
      <p:sp>
        <p:nvSpPr>
          <p:cNvPr id="23" name="ag2__6"/>
          <p:cNvSpPr txBox="1"/>
          <p:nvPr/>
        </p:nvSpPr>
        <p:spPr>
          <a:xfrm>
            <a:off x="5294376" y="4297680"/>
            <a:ext cx="1691640" cy="8229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Follow the Money, AI Investigator, case flow</a:t>
            </a:r>
            <a:endParaRPr lang="en-US" sz="1400" dirty="0"/>
          </a:p>
        </p:txBody>
      </p:sp>
      <p:sp>
        <p:nvSpPr>
          <p:cNvPr id="24" name="ag2__7">
            <a:hlinkClick r:id="rId6" tooltip="Go to Live demo" action="ppaction://hlinksldjump"/>
          </p:cNvPr>
          <p:cNvSpPr/>
          <p:nvPr/>
        </p:nvSpPr>
        <p:spPr>
          <a:xfrm>
            <a:off x="5065776" y="1828800"/>
            <a:ext cx="2057400" cy="3566160"/>
          </a:xfrm>
          <a:prstGeom prst="roundRect">
            <a:avLst>
              <a:gd name="adj" fmla="val 5333"/>
            </a:avLst>
          </a:prstGeom>
          <a:solidFill>
            <a:srgbClr val="070B16">
              <a:alpha val="0"/>
            </a:srgbClr>
          </a:solidFill>
          <a:ln w="12700">
            <a:solidFill>
              <a:srgbClr val="A78BFA">
                <a:alpha val="40000"/>
              </a:srgbClr>
            </a:solidFill>
            <a:prstDash val="solid"/>
          </a:ln>
        </p:spPr>
      </p:sp>
      <p:sp>
        <p:nvSpPr>
          <p:cNvPr id="25" name="ag3__1"/>
          <p:cNvSpPr/>
          <p:nvPr/>
        </p:nvSpPr>
        <p:spPr>
          <a:xfrm>
            <a:off x="7324344" y="1828800"/>
            <a:ext cx="2057400" cy="3566160"/>
          </a:xfrm>
          <a:prstGeom prst="roundRect">
            <a:avLst>
              <a:gd name="adj" fmla="val 533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6" name="ag3__2"/>
          <p:cNvSpPr txBox="1"/>
          <p:nvPr/>
        </p:nvSpPr>
        <p:spPr>
          <a:xfrm>
            <a:off x="7552944" y="2057400"/>
            <a:ext cx="914400" cy="457200"/>
          </a:xfrm>
          <a:prstGeom prst="rect">
            <a:avLst/>
          </a:prstGeom>
          <a:noFill/>
          <a:ln/>
        </p:spPr>
        <p:txBody>
          <a:bodyPr wrap="square" lIns="0" tIns="0" rIns="0" bIns="0" rtlCol="0" anchor="ctr"/>
          <a:lstStyle/>
          <a:p>
            <a:pPr indent="0" marL="0">
              <a:buNone/>
            </a:pPr>
            <a:r>
              <a:rPr lang="en-US" sz="2400" b="1" dirty="0">
                <a:solidFill>
                  <a:srgbClr val="34D399"/>
                </a:solidFill>
                <a:latin typeface="Arial" pitchFamily="34" charset="0"/>
                <a:ea typeface="Arial" pitchFamily="34" charset="-122"/>
                <a:cs typeface="Arial" pitchFamily="34" charset="-120"/>
              </a:rPr>
              <a:t>04</a:t>
            </a:r>
            <a:endParaRPr lang="en-US" sz="2400" dirty="0"/>
          </a:p>
        </p:txBody>
      </p:sp>
      <p:sp>
        <p:nvSpPr>
          <p:cNvPr id="27" name="ag3__3"/>
          <p:cNvSpPr/>
          <p:nvPr/>
        </p:nvSpPr>
        <p:spPr>
          <a:xfrm>
            <a:off x="7552944" y="2697480"/>
            <a:ext cx="731520" cy="731520"/>
          </a:xfrm>
          <a:prstGeom prst="ellipse">
            <a:avLst/>
          </a:prstGeom>
          <a:solidFill>
            <a:srgbClr val="34D399">
              <a:alpha val="18000"/>
            </a:srgbClr>
          </a:solidFill>
          <a:ln w="12700">
            <a:solidFill>
              <a:srgbClr val="34D399">
                <a:alpha val="60000"/>
              </a:srgbClr>
            </a:solidFill>
            <a:prstDash val="solid"/>
          </a:ln>
        </p:spPr>
      </p:sp>
      <p:pic>
        <p:nvPicPr>
          <p:cNvPr id="28" name="ag3__4" descr="preencoded.png">    </p:cNvPr>
          <p:cNvPicPr>
            <a:picLocks noChangeAspect="1"/>
          </p:cNvPicPr>
          <p:nvPr/>
        </p:nvPicPr>
        <p:blipFill>
          <a:blip r:embed="rId7"/>
          <a:stretch>
            <a:fillRect/>
          </a:stretch>
        </p:blipFill>
        <p:spPr>
          <a:xfrm>
            <a:off x="7735824" y="2880360"/>
            <a:ext cx="365760" cy="365760"/>
          </a:xfrm>
          <a:prstGeom prst="rect">
            <a:avLst/>
          </a:prstGeom>
        </p:spPr>
      </p:pic>
      <p:sp>
        <p:nvSpPr>
          <p:cNvPr id="29" name="ag3__5"/>
          <p:cNvSpPr txBox="1"/>
          <p:nvPr/>
        </p:nvSpPr>
        <p:spPr>
          <a:xfrm>
            <a:off x="7552944" y="3611880"/>
            <a:ext cx="1691640" cy="685800"/>
          </a:xfrm>
          <a:prstGeom prst="rect">
            <a:avLst/>
          </a:prstGeom>
          <a:noFill/>
          <a:ln/>
        </p:spPr>
        <p:txBody>
          <a:bodyPr wrap="square" lIns="0" tIns="0" rIns="0" bIns="0" rtlCol="0" anchor="t"/>
          <a:lstStyle/>
          <a:p>
            <a:pPr indent="0" marL="0">
              <a:buNone/>
            </a:pPr>
            <a:r>
              <a:rPr lang="en-US" sz="1700" b="1" dirty="0">
                <a:solidFill>
                  <a:srgbClr val="F1F5FB"/>
                </a:solidFill>
                <a:latin typeface="Arial" pitchFamily="34" charset="0"/>
                <a:ea typeface="Arial" pitchFamily="34" charset="-122"/>
                <a:cs typeface="Arial" pitchFamily="34" charset="-120"/>
              </a:rPr>
              <a:t>Results</a:t>
            </a:r>
            <a:endParaRPr lang="en-US" sz="1700" dirty="0"/>
          </a:p>
        </p:txBody>
      </p:sp>
      <p:sp>
        <p:nvSpPr>
          <p:cNvPr id="30" name="ag3__6"/>
          <p:cNvSpPr txBox="1"/>
          <p:nvPr/>
        </p:nvSpPr>
        <p:spPr>
          <a:xfrm>
            <a:off x="7552944" y="4297680"/>
            <a:ext cx="1691640" cy="8229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Precision, recall, F1 and PR-AUC</a:t>
            </a:r>
            <a:endParaRPr lang="en-US" sz="1400" dirty="0"/>
          </a:p>
        </p:txBody>
      </p:sp>
      <p:sp>
        <p:nvSpPr>
          <p:cNvPr id="31" name="ag3__7">
            <a:hlinkClick r:id="rId8" tooltip="Go to Results" action="ppaction://hlinksldjump"/>
          </p:cNvPr>
          <p:cNvSpPr/>
          <p:nvPr/>
        </p:nvSpPr>
        <p:spPr>
          <a:xfrm>
            <a:off x="7324344" y="1828800"/>
            <a:ext cx="2057400" cy="3566160"/>
          </a:xfrm>
          <a:prstGeom prst="roundRect">
            <a:avLst>
              <a:gd name="adj" fmla="val 5333"/>
            </a:avLst>
          </a:prstGeom>
          <a:solidFill>
            <a:srgbClr val="070B16">
              <a:alpha val="0"/>
            </a:srgbClr>
          </a:solidFill>
          <a:ln w="12700">
            <a:solidFill>
              <a:srgbClr val="34D399">
                <a:alpha val="40000"/>
              </a:srgbClr>
            </a:solidFill>
            <a:prstDash val="solid"/>
          </a:ln>
        </p:spPr>
      </p:sp>
      <p:sp>
        <p:nvSpPr>
          <p:cNvPr id="32" name="ag4__1"/>
          <p:cNvSpPr/>
          <p:nvPr/>
        </p:nvSpPr>
        <p:spPr>
          <a:xfrm>
            <a:off x="9582912" y="1828800"/>
            <a:ext cx="2057400" cy="3566160"/>
          </a:xfrm>
          <a:prstGeom prst="roundRect">
            <a:avLst>
              <a:gd name="adj" fmla="val 533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33" name="ag4__2"/>
          <p:cNvSpPr txBox="1"/>
          <p:nvPr/>
        </p:nvSpPr>
        <p:spPr>
          <a:xfrm>
            <a:off x="9811512" y="2057400"/>
            <a:ext cx="914400" cy="457200"/>
          </a:xfrm>
          <a:prstGeom prst="rect">
            <a:avLst/>
          </a:prstGeom>
          <a:noFill/>
          <a:ln/>
        </p:spPr>
        <p:txBody>
          <a:bodyPr wrap="square" lIns="0" tIns="0" rIns="0" bIns="0" rtlCol="0" anchor="ctr"/>
          <a:lstStyle/>
          <a:p>
            <a:pPr indent="0" marL="0">
              <a:buNone/>
            </a:pPr>
            <a:r>
              <a:rPr lang="en-US" sz="2400" b="1" dirty="0">
                <a:solidFill>
                  <a:srgbClr val="F5A524"/>
                </a:solidFill>
                <a:latin typeface="Arial" pitchFamily="34" charset="0"/>
                <a:ea typeface="Arial" pitchFamily="34" charset="-122"/>
                <a:cs typeface="Arial" pitchFamily="34" charset="-120"/>
              </a:rPr>
              <a:t>05</a:t>
            </a:r>
            <a:endParaRPr lang="en-US" sz="2400" dirty="0"/>
          </a:p>
        </p:txBody>
      </p:sp>
      <p:sp>
        <p:nvSpPr>
          <p:cNvPr id="34" name="ag4__3"/>
          <p:cNvSpPr/>
          <p:nvPr/>
        </p:nvSpPr>
        <p:spPr>
          <a:xfrm>
            <a:off x="9811512" y="2697480"/>
            <a:ext cx="731520" cy="731520"/>
          </a:xfrm>
          <a:prstGeom prst="ellipse">
            <a:avLst/>
          </a:prstGeom>
          <a:solidFill>
            <a:srgbClr val="F5A524">
              <a:alpha val="18000"/>
            </a:srgbClr>
          </a:solidFill>
          <a:ln w="12700">
            <a:solidFill>
              <a:srgbClr val="F5A524">
                <a:alpha val="60000"/>
              </a:srgbClr>
            </a:solidFill>
            <a:prstDash val="solid"/>
          </a:ln>
        </p:spPr>
      </p:sp>
      <p:pic>
        <p:nvPicPr>
          <p:cNvPr id="35" name="ag4__4" descr="preencoded.png">    </p:cNvPr>
          <p:cNvPicPr>
            <a:picLocks noChangeAspect="1"/>
          </p:cNvPicPr>
          <p:nvPr/>
        </p:nvPicPr>
        <p:blipFill>
          <a:blip r:embed="rId9"/>
          <a:stretch>
            <a:fillRect/>
          </a:stretch>
        </p:blipFill>
        <p:spPr>
          <a:xfrm>
            <a:off x="9994392" y="2880360"/>
            <a:ext cx="365760" cy="365760"/>
          </a:xfrm>
          <a:prstGeom prst="rect">
            <a:avLst/>
          </a:prstGeom>
        </p:spPr>
      </p:pic>
      <p:sp>
        <p:nvSpPr>
          <p:cNvPr id="36" name="ag4__5"/>
          <p:cNvSpPr txBox="1"/>
          <p:nvPr/>
        </p:nvSpPr>
        <p:spPr>
          <a:xfrm>
            <a:off x="9811512" y="3611880"/>
            <a:ext cx="1691640" cy="685800"/>
          </a:xfrm>
          <a:prstGeom prst="rect">
            <a:avLst/>
          </a:prstGeom>
          <a:noFill/>
          <a:ln/>
        </p:spPr>
        <p:txBody>
          <a:bodyPr wrap="square" lIns="0" tIns="0" rIns="0" bIns="0" rtlCol="0" anchor="t"/>
          <a:lstStyle/>
          <a:p>
            <a:pPr indent="0" marL="0">
              <a:buNone/>
            </a:pPr>
            <a:r>
              <a:rPr lang="en-US" sz="1700" b="1" dirty="0">
                <a:solidFill>
                  <a:srgbClr val="F1F5FB"/>
                </a:solidFill>
                <a:latin typeface="Arial" pitchFamily="34" charset="0"/>
                <a:ea typeface="Arial" pitchFamily="34" charset="-122"/>
                <a:cs typeface="Arial" pitchFamily="34" charset="-120"/>
              </a:rPr>
              <a:t>Impact for upay</a:t>
            </a:r>
            <a:endParaRPr lang="en-US" sz="1700" dirty="0"/>
          </a:p>
        </p:txBody>
      </p:sp>
      <p:sp>
        <p:nvSpPr>
          <p:cNvPr id="37" name="ag4__6"/>
          <p:cNvSpPr txBox="1"/>
          <p:nvPr/>
        </p:nvSpPr>
        <p:spPr>
          <a:xfrm>
            <a:off x="9811512" y="4297680"/>
            <a:ext cx="1691640" cy="8229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Savings, pilot plan, roadmap</a:t>
            </a:r>
            <a:endParaRPr lang="en-US" sz="1400" dirty="0"/>
          </a:p>
        </p:txBody>
      </p:sp>
      <p:sp>
        <p:nvSpPr>
          <p:cNvPr id="38" name="ag4__7">
            <a:hlinkClick r:id="rId10" tooltip="Go to Impact for upay" action="ppaction://hlinksldjump"/>
          </p:cNvPr>
          <p:cNvSpPr/>
          <p:nvPr/>
        </p:nvSpPr>
        <p:spPr>
          <a:xfrm>
            <a:off x="9582912" y="1828800"/>
            <a:ext cx="2057400" cy="3566160"/>
          </a:xfrm>
          <a:prstGeom prst="roundRect">
            <a:avLst>
              <a:gd name="adj" fmla="val 5333"/>
            </a:avLst>
          </a:prstGeom>
          <a:solidFill>
            <a:srgbClr val="070B16">
              <a:alpha val="0"/>
            </a:srgbClr>
          </a:solidFill>
          <a:ln w="12700">
            <a:solidFill>
              <a:srgbClr val="F5A524">
                <a:alpha val="40000"/>
              </a:srgbClr>
            </a:solidFill>
            <a:prstDash val="solid"/>
          </a:ln>
        </p:spPr>
      </p:sp>
      <p:sp>
        <p:nvSpPr>
          <p:cNvPr id="39" name="agtip__1"/>
          <p:cNvSpPr txBox="1"/>
          <p:nvPr/>
        </p:nvSpPr>
        <p:spPr>
          <a:xfrm>
            <a:off x="548640" y="5623560"/>
            <a:ext cx="11064240" cy="320040"/>
          </a:xfrm>
          <a:prstGeom prst="rect">
            <a:avLst/>
          </a:prstGeom>
          <a:noFill/>
          <a:ln/>
        </p:spPr>
        <p:txBody>
          <a:bodyPr wrap="square" lIns="0" tIns="0" rIns="0" bIns="0" rtlCol="0" anchor="ctr"/>
          <a:lstStyle/>
          <a:p>
            <a:pPr indent="0" marL="0">
              <a:buNone/>
            </a:pPr>
            <a:r>
              <a:rPr lang="en-US" sz="1300" i="1" dirty="0">
                <a:solidFill>
                  <a:srgbClr val="5F7090"/>
                </a:solidFill>
                <a:latin typeface="Calibri" pitchFamily="34" charset="0"/>
                <a:ea typeface="Calibri" pitchFamily="34" charset="-122"/>
                <a:cs typeface="Calibri" pitchFamily="34" charset="-120"/>
              </a:rPr>
              <a:t>Tip: every slide has an  ◂ Agenda  link at the top right to come back here.</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additive="base">
                                        <p:cTn id="8" dur="450" fill="hold"/>
                                        <p:tgtEl>
                                          <p:spTgt spid="4"/>
                                        </p:tgtEl>
                                        <p:attrNameLst>
                                          <p:attrName>ppt_x</p:attrName>
                                        </p:attrNameLst>
                                      </p:cBhvr>
                                      <p:tavLst>
                                        <p:tav tm="0">
                                          <p:val>
                                            <p:strVal val="#ppt_x"/>
                                          </p:val>
                                        </p:tav>
                                        <p:tav tm="100000">
                                          <p:val>
                                            <p:strVal val="#ppt_x"/>
                                          </p:val>
                                        </p:tav>
                                      </p:tavLst>
                                    </p:anim>
                                    <p:anim calcmode="lin" valueType="num">
                                      <p:cBhvr additive="base">
                                        <p:cTn id="9" dur="4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additive="base">
                                        <p:cTn id="13" dur="450" fill="hold"/>
                                        <p:tgtEl>
                                          <p:spTgt spid="5"/>
                                        </p:tgtEl>
                                        <p:attrNameLst>
                                          <p:attrName>ppt_x</p:attrName>
                                        </p:attrNameLst>
                                      </p:cBhvr>
                                      <p:tavLst>
                                        <p:tav tm="0">
                                          <p:val>
                                            <p:strVal val="#ppt_x"/>
                                          </p:val>
                                        </p:tav>
                                        <p:tav tm="100000">
                                          <p:val>
                                            <p:strVal val="#ppt_x"/>
                                          </p:val>
                                        </p:tav>
                                      </p:tavLst>
                                    </p:anim>
                                    <p:anim calcmode="lin" valueType="num">
                                      <p:cBhvr additive="base">
                                        <p:cTn id="14" dur="4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additive="base">
                                        <p:cTn id="18" dur="450" fill="hold"/>
                                        <p:tgtEl>
                                          <p:spTgt spid="6"/>
                                        </p:tgtEl>
                                        <p:attrNameLst>
                                          <p:attrName>ppt_x</p:attrName>
                                        </p:attrNameLst>
                                      </p:cBhvr>
                                      <p:tavLst>
                                        <p:tav tm="0">
                                          <p:val>
                                            <p:strVal val="#ppt_x"/>
                                          </p:val>
                                        </p:tav>
                                        <p:tav tm="100000">
                                          <p:val>
                                            <p:strVal val="#ppt_x"/>
                                          </p:val>
                                        </p:tav>
                                      </p:tavLst>
                                    </p:anim>
                                    <p:anim calcmode="lin" valueType="num">
                                      <p:cBhvr additive="base">
                                        <p:cTn id="19" dur="4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additive="base">
                                        <p:cTn id="23" dur="450" fill="hold"/>
                                        <p:tgtEl>
                                          <p:spTgt spid="7"/>
                                        </p:tgtEl>
                                        <p:attrNameLst>
                                          <p:attrName>ppt_x</p:attrName>
                                        </p:attrNameLst>
                                      </p:cBhvr>
                                      <p:tavLst>
                                        <p:tav tm="0">
                                          <p:val>
                                            <p:strVal val="#ppt_x"/>
                                          </p:val>
                                        </p:tav>
                                        <p:tav tm="100000">
                                          <p:val>
                                            <p:strVal val="#ppt_x"/>
                                          </p:val>
                                        </p:tav>
                                      </p:tavLst>
                                    </p:anim>
                                    <p:anim calcmode="lin" valueType="num">
                                      <p:cBhvr additive="base">
                                        <p:cTn id="24" dur="4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2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additive="base">
                                        <p:cTn id="28" dur="450" fill="hold"/>
                                        <p:tgtEl>
                                          <p:spTgt spid="8"/>
                                        </p:tgtEl>
                                        <p:attrNameLst>
                                          <p:attrName>ppt_x</p:attrName>
                                        </p:attrNameLst>
                                      </p:cBhvr>
                                      <p:tavLst>
                                        <p:tav tm="0">
                                          <p:val>
                                            <p:strVal val="#ppt_x"/>
                                          </p:val>
                                        </p:tav>
                                        <p:tav tm="100000">
                                          <p:val>
                                            <p:strVal val="#ppt_x"/>
                                          </p:val>
                                        </p:tav>
                                      </p:tavLst>
                                    </p:anim>
                                    <p:anim calcmode="lin" valueType="num">
                                      <p:cBhvr additive="base">
                                        <p:cTn id="29" dur="4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20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anim calcmode="lin" valueType="num">
                                      <p:cBhvr additive="base">
                                        <p:cTn id="33" dur="450" fill="hold"/>
                                        <p:tgtEl>
                                          <p:spTgt spid="9"/>
                                        </p:tgtEl>
                                        <p:attrNameLst>
                                          <p:attrName>ppt_x</p:attrName>
                                        </p:attrNameLst>
                                      </p:cBhvr>
                                      <p:tavLst>
                                        <p:tav tm="0">
                                          <p:val>
                                            <p:strVal val="#ppt_x"/>
                                          </p:val>
                                        </p:tav>
                                        <p:tav tm="100000">
                                          <p:val>
                                            <p:strVal val="#ppt_x"/>
                                          </p:val>
                                        </p:tav>
                                      </p:tavLst>
                                    </p:anim>
                                    <p:anim calcmode="lin" valueType="num">
                                      <p:cBhvr additive="base">
                                        <p:cTn id="34" dur="4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2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anim calcmode="lin" valueType="num">
                                      <p:cBhvr additive="base">
                                        <p:cTn id="38" dur="450" fill="hold"/>
                                        <p:tgtEl>
                                          <p:spTgt spid="10"/>
                                        </p:tgtEl>
                                        <p:attrNameLst>
                                          <p:attrName>ppt_x</p:attrName>
                                        </p:attrNameLst>
                                      </p:cBhvr>
                                      <p:tavLst>
                                        <p:tav tm="0">
                                          <p:val>
                                            <p:strVal val="#ppt_x"/>
                                          </p:val>
                                        </p:tav>
                                        <p:tav tm="100000">
                                          <p:val>
                                            <p:strVal val="#ppt_x"/>
                                          </p:val>
                                        </p:tav>
                                      </p:tavLst>
                                    </p:anim>
                                    <p:anim calcmode="lin" valueType="num">
                                      <p:cBhvr additive="base">
                                        <p:cTn id="39" dur="4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42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450"/>
                                        <p:tgtEl>
                                          <p:spTgt spid="11"/>
                                        </p:tgtEl>
                                      </p:cBhvr>
                                    </p:animEffect>
                                    <p:anim calcmode="lin" valueType="num">
                                      <p:cBhvr additive="base">
                                        <p:cTn id="43" dur="450" fill="hold"/>
                                        <p:tgtEl>
                                          <p:spTgt spid="11"/>
                                        </p:tgtEl>
                                        <p:attrNameLst>
                                          <p:attrName>ppt_x</p:attrName>
                                        </p:attrNameLst>
                                      </p:cBhvr>
                                      <p:tavLst>
                                        <p:tav tm="0">
                                          <p:val>
                                            <p:strVal val="#ppt_x"/>
                                          </p:val>
                                        </p:tav>
                                        <p:tav tm="100000">
                                          <p:val>
                                            <p:strVal val="#ppt_x"/>
                                          </p:val>
                                        </p:tav>
                                      </p:tavLst>
                                    </p:anim>
                                    <p:anim calcmode="lin" valueType="num">
                                      <p:cBhvr additive="base">
                                        <p:cTn id="44" dur="4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42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50"/>
                                        <p:tgtEl>
                                          <p:spTgt spid="12"/>
                                        </p:tgtEl>
                                      </p:cBhvr>
                                    </p:animEffect>
                                    <p:anim calcmode="lin" valueType="num">
                                      <p:cBhvr additive="base">
                                        <p:cTn id="48" dur="450" fill="hold"/>
                                        <p:tgtEl>
                                          <p:spTgt spid="12"/>
                                        </p:tgtEl>
                                        <p:attrNameLst>
                                          <p:attrName>ppt_x</p:attrName>
                                        </p:attrNameLst>
                                      </p:cBhvr>
                                      <p:tavLst>
                                        <p:tav tm="0">
                                          <p:val>
                                            <p:strVal val="#ppt_x"/>
                                          </p:val>
                                        </p:tav>
                                        <p:tav tm="100000">
                                          <p:val>
                                            <p:strVal val="#ppt_x"/>
                                          </p:val>
                                        </p:tav>
                                      </p:tavLst>
                                    </p:anim>
                                    <p:anim calcmode="lin" valueType="num">
                                      <p:cBhvr additive="base">
                                        <p:cTn id="49" dur="4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42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450"/>
                                        <p:tgtEl>
                                          <p:spTgt spid="13"/>
                                        </p:tgtEl>
                                      </p:cBhvr>
                                    </p:animEffect>
                                    <p:anim calcmode="lin" valueType="num">
                                      <p:cBhvr additive="base">
                                        <p:cTn id="53" dur="450" fill="hold"/>
                                        <p:tgtEl>
                                          <p:spTgt spid="13"/>
                                        </p:tgtEl>
                                        <p:attrNameLst>
                                          <p:attrName>ppt_x</p:attrName>
                                        </p:attrNameLst>
                                      </p:cBhvr>
                                      <p:tavLst>
                                        <p:tav tm="0">
                                          <p:val>
                                            <p:strVal val="#ppt_x"/>
                                          </p:val>
                                        </p:tav>
                                        <p:tav tm="100000">
                                          <p:val>
                                            <p:strVal val="#ppt_x"/>
                                          </p:val>
                                        </p:tav>
                                      </p:tavLst>
                                    </p:anim>
                                    <p:anim calcmode="lin" valueType="num">
                                      <p:cBhvr additive="base">
                                        <p:cTn id="54" dur="4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42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50"/>
                                        <p:tgtEl>
                                          <p:spTgt spid="14"/>
                                        </p:tgtEl>
                                      </p:cBhvr>
                                    </p:animEffect>
                                    <p:anim calcmode="lin" valueType="num">
                                      <p:cBhvr additive="base">
                                        <p:cTn id="58" dur="450" fill="hold"/>
                                        <p:tgtEl>
                                          <p:spTgt spid="14"/>
                                        </p:tgtEl>
                                        <p:attrNameLst>
                                          <p:attrName>ppt_x</p:attrName>
                                        </p:attrNameLst>
                                      </p:cBhvr>
                                      <p:tavLst>
                                        <p:tav tm="0">
                                          <p:val>
                                            <p:strVal val="#ppt_x"/>
                                          </p:val>
                                        </p:tav>
                                        <p:tav tm="100000">
                                          <p:val>
                                            <p:strVal val="#ppt_x"/>
                                          </p:val>
                                        </p:tav>
                                      </p:tavLst>
                                    </p:anim>
                                    <p:anim calcmode="lin" valueType="num">
                                      <p:cBhvr additive="base">
                                        <p:cTn id="59" dur="45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42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50"/>
                                        <p:tgtEl>
                                          <p:spTgt spid="15"/>
                                        </p:tgtEl>
                                      </p:cBhvr>
                                    </p:animEffect>
                                    <p:anim calcmode="lin" valueType="num">
                                      <p:cBhvr additive="base">
                                        <p:cTn id="63" dur="450" fill="hold"/>
                                        <p:tgtEl>
                                          <p:spTgt spid="15"/>
                                        </p:tgtEl>
                                        <p:attrNameLst>
                                          <p:attrName>ppt_x</p:attrName>
                                        </p:attrNameLst>
                                      </p:cBhvr>
                                      <p:tavLst>
                                        <p:tav tm="0">
                                          <p:val>
                                            <p:strVal val="#ppt_x"/>
                                          </p:val>
                                        </p:tav>
                                        <p:tav tm="100000">
                                          <p:val>
                                            <p:strVal val="#ppt_x"/>
                                          </p:val>
                                        </p:tav>
                                      </p:tavLst>
                                    </p:anim>
                                    <p:anim calcmode="lin" valueType="num">
                                      <p:cBhvr additive="base">
                                        <p:cTn id="64" dur="45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42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50"/>
                                        <p:tgtEl>
                                          <p:spTgt spid="16"/>
                                        </p:tgtEl>
                                      </p:cBhvr>
                                    </p:animEffect>
                                    <p:anim calcmode="lin" valueType="num">
                                      <p:cBhvr additive="base">
                                        <p:cTn id="68" dur="450" fill="hold"/>
                                        <p:tgtEl>
                                          <p:spTgt spid="16"/>
                                        </p:tgtEl>
                                        <p:attrNameLst>
                                          <p:attrName>ppt_x</p:attrName>
                                        </p:attrNameLst>
                                      </p:cBhvr>
                                      <p:tavLst>
                                        <p:tav tm="0">
                                          <p:val>
                                            <p:strVal val="#ppt_x"/>
                                          </p:val>
                                        </p:tav>
                                        <p:tav tm="100000">
                                          <p:val>
                                            <p:strVal val="#ppt_x"/>
                                          </p:val>
                                        </p:tav>
                                      </p:tavLst>
                                    </p:anim>
                                    <p:anim calcmode="lin" valueType="num">
                                      <p:cBhvr additive="base">
                                        <p:cTn id="69" dur="450" fill="hold"/>
                                        <p:tgtEl>
                                          <p:spTgt spid="16"/>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42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50"/>
                                        <p:tgtEl>
                                          <p:spTgt spid="17"/>
                                        </p:tgtEl>
                                      </p:cBhvr>
                                    </p:animEffect>
                                    <p:anim calcmode="lin" valueType="num">
                                      <p:cBhvr additive="base">
                                        <p:cTn id="73" dur="450" fill="hold"/>
                                        <p:tgtEl>
                                          <p:spTgt spid="17"/>
                                        </p:tgtEl>
                                        <p:attrNameLst>
                                          <p:attrName>ppt_x</p:attrName>
                                        </p:attrNameLst>
                                      </p:cBhvr>
                                      <p:tavLst>
                                        <p:tav tm="0">
                                          <p:val>
                                            <p:strVal val="#ppt_x"/>
                                          </p:val>
                                        </p:tav>
                                        <p:tav tm="100000">
                                          <p:val>
                                            <p:strVal val="#ppt_x"/>
                                          </p:val>
                                        </p:tav>
                                      </p:tavLst>
                                    </p:anim>
                                    <p:anim calcmode="lin" valueType="num">
                                      <p:cBhvr additive="base">
                                        <p:cTn id="74" dur="450" fill="hold"/>
                                        <p:tgtEl>
                                          <p:spTgt spid="17"/>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64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450"/>
                                        <p:tgtEl>
                                          <p:spTgt spid="18"/>
                                        </p:tgtEl>
                                      </p:cBhvr>
                                    </p:animEffect>
                                    <p:anim calcmode="lin" valueType="num">
                                      <p:cBhvr additive="base">
                                        <p:cTn id="78" dur="450" fill="hold"/>
                                        <p:tgtEl>
                                          <p:spTgt spid="18"/>
                                        </p:tgtEl>
                                        <p:attrNameLst>
                                          <p:attrName>ppt_x</p:attrName>
                                        </p:attrNameLst>
                                      </p:cBhvr>
                                      <p:tavLst>
                                        <p:tav tm="0">
                                          <p:val>
                                            <p:strVal val="#ppt_x"/>
                                          </p:val>
                                        </p:tav>
                                        <p:tav tm="100000">
                                          <p:val>
                                            <p:strVal val="#ppt_x"/>
                                          </p:val>
                                        </p:tav>
                                      </p:tavLst>
                                    </p:anim>
                                    <p:anim calcmode="lin" valueType="num">
                                      <p:cBhvr additive="base">
                                        <p:cTn id="79" dur="450" fill="hold"/>
                                        <p:tgtEl>
                                          <p:spTgt spid="18"/>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64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50"/>
                                        <p:tgtEl>
                                          <p:spTgt spid="19"/>
                                        </p:tgtEl>
                                      </p:cBhvr>
                                    </p:animEffect>
                                    <p:anim calcmode="lin" valueType="num">
                                      <p:cBhvr additive="base">
                                        <p:cTn id="83" dur="450" fill="hold"/>
                                        <p:tgtEl>
                                          <p:spTgt spid="19"/>
                                        </p:tgtEl>
                                        <p:attrNameLst>
                                          <p:attrName>ppt_x</p:attrName>
                                        </p:attrNameLst>
                                      </p:cBhvr>
                                      <p:tavLst>
                                        <p:tav tm="0">
                                          <p:val>
                                            <p:strVal val="#ppt_x"/>
                                          </p:val>
                                        </p:tav>
                                        <p:tav tm="100000">
                                          <p:val>
                                            <p:strVal val="#ppt_x"/>
                                          </p:val>
                                        </p:tav>
                                      </p:tavLst>
                                    </p:anim>
                                    <p:anim calcmode="lin" valueType="num">
                                      <p:cBhvr additive="base">
                                        <p:cTn id="84" dur="450" fill="hold"/>
                                        <p:tgtEl>
                                          <p:spTgt spid="19"/>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64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50"/>
                                        <p:tgtEl>
                                          <p:spTgt spid="20"/>
                                        </p:tgtEl>
                                      </p:cBhvr>
                                    </p:animEffect>
                                    <p:anim calcmode="lin" valueType="num">
                                      <p:cBhvr additive="base">
                                        <p:cTn id="88" dur="450" fill="hold"/>
                                        <p:tgtEl>
                                          <p:spTgt spid="20"/>
                                        </p:tgtEl>
                                        <p:attrNameLst>
                                          <p:attrName>ppt_x</p:attrName>
                                        </p:attrNameLst>
                                      </p:cBhvr>
                                      <p:tavLst>
                                        <p:tav tm="0">
                                          <p:val>
                                            <p:strVal val="#ppt_x"/>
                                          </p:val>
                                        </p:tav>
                                        <p:tav tm="100000">
                                          <p:val>
                                            <p:strVal val="#ppt_x"/>
                                          </p:val>
                                        </p:tav>
                                      </p:tavLst>
                                    </p:anim>
                                    <p:anim calcmode="lin" valueType="num">
                                      <p:cBhvr additive="base">
                                        <p:cTn id="89" dur="450" fill="hold"/>
                                        <p:tgtEl>
                                          <p:spTgt spid="20"/>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64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450"/>
                                        <p:tgtEl>
                                          <p:spTgt spid="21"/>
                                        </p:tgtEl>
                                      </p:cBhvr>
                                    </p:animEffect>
                                    <p:anim calcmode="lin" valueType="num">
                                      <p:cBhvr additive="base">
                                        <p:cTn id="93" dur="450" fill="hold"/>
                                        <p:tgtEl>
                                          <p:spTgt spid="21"/>
                                        </p:tgtEl>
                                        <p:attrNameLst>
                                          <p:attrName>ppt_x</p:attrName>
                                        </p:attrNameLst>
                                      </p:cBhvr>
                                      <p:tavLst>
                                        <p:tav tm="0">
                                          <p:val>
                                            <p:strVal val="#ppt_x"/>
                                          </p:val>
                                        </p:tav>
                                        <p:tav tm="100000">
                                          <p:val>
                                            <p:strVal val="#ppt_x"/>
                                          </p:val>
                                        </p:tav>
                                      </p:tavLst>
                                    </p:anim>
                                    <p:anim calcmode="lin" valueType="num">
                                      <p:cBhvr additive="base">
                                        <p:cTn id="94" dur="450" fill="hold"/>
                                        <p:tgtEl>
                                          <p:spTgt spid="21"/>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64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450"/>
                                        <p:tgtEl>
                                          <p:spTgt spid="22"/>
                                        </p:tgtEl>
                                      </p:cBhvr>
                                    </p:animEffect>
                                    <p:anim calcmode="lin" valueType="num">
                                      <p:cBhvr additive="base">
                                        <p:cTn id="98" dur="450" fill="hold"/>
                                        <p:tgtEl>
                                          <p:spTgt spid="22"/>
                                        </p:tgtEl>
                                        <p:attrNameLst>
                                          <p:attrName>ppt_x</p:attrName>
                                        </p:attrNameLst>
                                      </p:cBhvr>
                                      <p:tavLst>
                                        <p:tav tm="0">
                                          <p:val>
                                            <p:strVal val="#ppt_x"/>
                                          </p:val>
                                        </p:tav>
                                        <p:tav tm="100000">
                                          <p:val>
                                            <p:strVal val="#ppt_x"/>
                                          </p:val>
                                        </p:tav>
                                      </p:tavLst>
                                    </p:anim>
                                    <p:anim calcmode="lin" valueType="num">
                                      <p:cBhvr additive="base">
                                        <p:cTn id="99" dur="450" fill="hold"/>
                                        <p:tgtEl>
                                          <p:spTgt spid="22"/>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64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450"/>
                                        <p:tgtEl>
                                          <p:spTgt spid="23"/>
                                        </p:tgtEl>
                                      </p:cBhvr>
                                    </p:animEffect>
                                    <p:anim calcmode="lin" valueType="num">
                                      <p:cBhvr additive="base">
                                        <p:cTn id="103" dur="450" fill="hold"/>
                                        <p:tgtEl>
                                          <p:spTgt spid="23"/>
                                        </p:tgtEl>
                                        <p:attrNameLst>
                                          <p:attrName>ppt_x</p:attrName>
                                        </p:attrNameLst>
                                      </p:cBhvr>
                                      <p:tavLst>
                                        <p:tav tm="0">
                                          <p:val>
                                            <p:strVal val="#ppt_x"/>
                                          </p:val>
                                        </p:tav>
                                        <p:tav tm="100000">
                                          <p:val>
                                            <p:strVal val="#ppt_x"/>
                                          </p:val>
                                        </p:tav>
                                      </p:tavLst>
                                    </p:anim>
                                    <p:anim calcmode="lin" valueType="num">
                                      <p:cBhvr additive="base">
                                        <p:cTn id="104" dur="450" fill="hold"/>
                                        <p:tgtEl>
                                          <p:spTgt spid="23"/>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64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450"/>
                                        <p:tgtEl>
                                          <p:spTgt spid="24"/>
                                        </p:tgtEl>
                                      </p:cBhvr>
                                    </p:animEffect>
                                    <p:anim calcmode="lin" valueType="num">
                                      <p:cBhvr additive="base">
                                        <p:cTn id="108" dur="450" fill="hold"/>
                                        <p:tgtEl>
                                          <p:spTgt spid="24"/>
                                        </p:tgtEl>
                                        <p:attrNameLst>
                                          <p:attrName>ppt_x</p:attrName>
                                        </p:attrNameLst>
                                      </p:cBhvr>
                                      <p:tavLst>
                                        <p:tav tm="0">
                                          <p:val>
                                            <p:strVal val="#ppt_x"/>
                                          </p:val>
                                        </p:tav>
                                        <p:tav tm="100000">
                                          <p:val>
                                            <p:strVal val="#ppt_x"/>
                                          </p:val>
                                        </p:tav>
                                      </p:tavLst>
                                    </p:anim>
                                    <p:anim calcmode="lin" valueType="num">
                                      <p:cBhvr additive="base">
                                        <p:cTn id="109" dur="450" fill="hold"/>
                                        <p:tgtEl>
                                          <p:spTgt spid="24"/>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86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450"/>
                                        <p:tgtEl>
                                          <p:spTgt spid="25"/>
                                        </p:tgtEl>
                                      </p:cBhvr>
                                    </p:animEffect>
                                    <p:anim calcmode="lin" valueType="num">
                                      <p:cBhvr additive="base">
                                        <p:cTn id="113" dur="450" fill="hold"/>
                                        <p:tgtEl>
                                          <p:spTgt spid="25"/>
                                        </p:tgtEl>
                                        <p:attrNameLst>
                                          <p:attrName>ppt_x</p:attrName>
                                        </p:attrNameLst>
                                      </p:cBhvr>
                                      <p:tavLst>
                                        <p:tav tm="0">
                                          <p:val>
                                            <p:strVal val="#ppt_x"/>
                                          </p:val>
                                        </p:tav>
                                        <p:tav tm="100000">
                                          <p:val>
                                            <p:strVal val="#ppt_x"/>
                                          </p:val>
                                        </p:tav>
                                      </p:tavLst>
                                    </p:anim>
                                    <p:anim calcmode="lin" valueType="num">
                                      <p:cBhvr additive="base">
                                        <p:cTn id="114" dur="450" fill="hold"/>
                                        <p:tgtEl>
                                          <p:spTgt spid="25"/>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86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450"/>
                                        <p:tgtEl>
                                          <p:spTgt spid="26"/>
                                        </p:tgtEl>
                                      </p:cBhvr>
                                    </p:animEffect>
                                    <p:anim calcmode="lin" valueType="num">
                                      <p:cBhvr additive="base">
                                        <p:cTn id="118" dur="450" fill="hold"/>
                                        <p:tgtEl>
                                          <p:spTgt spid="26"/>
                                        </p:tgtEl>
                                        <p:attrNameLst>
                                          <p:attrName>ppt_x</p:attrName>
                                        </p:attrNameLst>
                                      </p:cBhvr>
                                      <p:tavLst>
                                        <p:tav tm="0">
                                          <p:val>
                                            <p:strVal val="#ppt_x"/>
                                          </p:val>
                                        </p:tav>
                                        <p:tav tm="100000">
                                          <p:val>
                                            <p:strVal val="#ppt_x"/>
                                          </p:val>
                                        </p:tav>
                                      </p:tavLst>
                                    </p:anim>
                                    <p:anim calcmode="lin" valueType="num">
                                      <p:cBhvr additive="base">
                                        <p:cTn id="119" dur="450" fill="hold"/>
                                        <p:tgtEl>
                                          <p:spTgt spid="26"/>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86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450"/>
                                        <p:tgtEl>
                                          <p:spTgt spid="27"/>
                                        </p:tgtEl>
                                      </p:cBhvr>
                                    </p:animEffect>
                                    <p:anim calcmode="lin" valueType="num">
                                      <p:cBhvr additive="base">
                                        <p:cTn id="123" dur="450" fill="hold"/>
                                        <p:tgtEl>
                                          <p:spTgt spid="27"/>
                                        </p:tgtEl>
                                        <p:attrNameLst>
                                          <p:attrName>ppt_x</p:attrName>
                                        </p:attrNameLst>
                                      </p:cBhvr>
                                      <p:tavLst>
                                        <p:tav tm="0">
                                          <p:val>
                                            <p:strVal val="#ppt_x"/>
                                          </p:val>
                                        </p:tav>
                                        <p:tav tm="100000">
                                          <p:val>
                                            <p:strVal val="#ppt_x"/>
                                          </p:val>
                                        </p:tav>
                                      </p:tavLst>
                                    </p:anim>
                                    <p:anim calcmode="lin" valueType="num">
                                      <p:cBhvr additive="base">
                                        <p:cTn id="124" dur="450" fill="hold"/>
                                        <p:tgtEl>
                                          <p:spTgt spid="27"/>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86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450"/>
                                        <p:tgtEl>
                                          <p:spTgt spid="28"/>
                                        </p:tgtEl>
                                      </p:cBhvr>
                                    </p:animEffect>
                                    <p:anim calcmode="lin" valueType="num">
                                      <p:cBhvr additive="base">
                                        <p:cTn id="128" dur="450" fill="hold"/>
                                        <p:tgtEl>
                                          <p:spTgt spid="28"/>
                                        </p:tgtEl>
                                        <p:attrNameLst>
                                          <p:attrName>ppt_x</p:attrName>
                                        </p:attrNameLst>
                                      </p:cBhvr>
                                      <p:tavLst>
                                        <p:tav tm="0">
                                          <p:val>
                                            <p:strVal val="#ppt_x"/>
                                          </p:val>
                                        </p:tav>
                                        <p:tav tm="100000">
                                          <p:val>
                                            <p:strVal val="#ppt_x"/>
                                          </p:val>
                                        </p:tav>
                                      </p:tavLst>
                                    </p:anim>
                                    <p:anim calcmode="lin" valueType="num">
                                      <p:cBhvr additive="base">
                                        <p:cTn id="129" dur="450" fill="hold"/>
                                        <p:tgtEl>
                                          <p:spTgt spid="28"/>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86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450"/>
                                        <p:tgtEl>
                                          <p:spTgt spid="29"/>
                                        </p:tgtEl>
                                      </p:cBhvr>
                                    </p:animEffect>
                                    <p:anim calcmode="lin" valueType="num">
                                      <p:cBhvr additive="base">
                                        <p:cTn id="133" dur="450" fill="hold"/>
                                        <p:tgtEl>
                                          <p:spTgt spid="29"/>
                                        </p:tgtEl>
                                        <p:attrNameLst>
                                          <p:attrName>ppt_x</p:attrName>
                                        </p:attrNameLst>
                                      </p:cBhvr>
                                      <p:tavLst>
                                        <p:tav tm="0">
                                          <p:val>
                                            <p:strVal val="#ppt_x"/>
                                          </p:val>
                                        </p:tav>
                                        <p:tav tm="100000">
                                          <p:val>
                                            <p:strVal val="#ppt_x"/>
                                          </p:val>
                                        </p:tav>
                                      </p:tavLst>
                                    </p:anim>
                                    <p:anim calcmode="lin" valueType="num">
                                      <p:cBhvr additive="base">
                                        <p:cTn id="134" dur="450" fill="hold"/>
                                        <p:tgtEl>
                                          <p:spTgt spid="29"/>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86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450"/>
                                        <p:tgtEl>
                                          <p:spTgt spid="30"/>
                                        </p:tgtEl>
                                      </p:cBhvr>
                                    </p:animEffect>
                                    <p:anim calcmode="lin" valueType="num">
                                      <p:cBhvr additive="base">
                                        <p:cTn id="138" dur="450" fill="hold"/>
                                        <p:tgtEl>
                                          <p:spTgt spid="30"/>
                                        </p:tgtEl>
                                        <p:attrNameLst>
                                          <p:attrName>ppt_x</p:attrName>
                                        </p:attrNameLst>
                                      </p:cBhvr>
                                      <p:tavLst>
                                        <p:tav tm="0">
                                          <p:val>
                                            <p:strVal val="#ppt_x"/>
                                          </p:val>
                                        </p:tav>
                                        <p:tav tm="100000">
                                          <p:val>
                                            <p:strVal val="#ppt_x"/>
                                          </p:val>
                                        </p:tav>
                                      </p:tavLst>
                                    </p:anim>
                                    <p:anim calcmode="lin" valueType="num">
                                      <p:cBhvr additive="base">
                                        <p:cTn id="139" dur="450" fill="hold"/>
                                        <p:tgtEl>
                                          <p:spTgt spid="30"/>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86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450"/>
                                        <p:tgtEl>
                                          <p:spTgt spid="31"/>
                                        </p:tgtEl>
                                      </p:cBhvr>
                                    </p:animEffect>
                                    <p:anim calcmode="lin" valueType="num">
                                      <p:cBhvr additive="base">
                                        <p:cTn id="143" dur="450" fill="hold"/>
                                        <p:tgtEl>
                                          <p:spTgt spid="31"/>
                                        </p:tgtEl>
                                        <p:attrNameLst>
                                          <p:attrName>ppt_x</p:attrName>
                                        </p:attrNameLst>
                                      </p:cBhvr>
                                      <p:tavLst>
                                        <p:tav tm="0">
                                          <p:val>
                                            <p:strVal val="#ppt_x"/>
                                          </p:val>
                                        </p:tav>
                                        <p:tav tm="100000">
                                          <p:val>
                                            <p:strVal val="#ppt_x"/>
                                          </p:val>
                                        </p:tav>
                                      </p:tavLst>
                                    </p:anim>
                                    <p:anim calcmode="lin" valueType="num">
                                      <p:cBhvr additive="base">
                                        <p:cTn id="144" dur="450" fill="hold"/>
                                        <p:tgtEl>
                                          <p:spTgt spid="31"/>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108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450"/>
                                        <p:tgtEl>
                                          <p:spTgt spid="32"/>
                                        </p:tgtEl>
                                      </p:cBhvr>
                                    </p:animEffect>
                                    <p:anim calcmode="lin" valueType="num">
                                      <p:cBhvr additive="base">
                                        <p:cTn id="148" dur="450" fill="hold"/>
                                        <p:tgtEl>
                                          <p:spTgt spid="32"/>
                                        </p:tgtEl>
                                        <p:attrNameLst>
                                          <p:attrName>ppt_x</p:attrName>
                                        </p:attrNameLst>
                                      </p:cBhvr>
                                      <p:tavLst>
                                        <p:tav tm="0">
                                          <p:val>
                                            <p:strVal val="#ppt_x"/>
                                          </p:val>
                                        </p:tav>
                                        <p:tav tm="100000">
                                          <p:val>
                                            <p:strVal val="#ppt_x"/>
                                          </p:val>
                                        </p:tav>
                                      </p:tavLst>
                                    </p:anim>
                                    <p:anim calcmode="lin" valueType="num">
                                      <p:cBhvr additive="base">
                                        <p:cTn id="149" dur="450" fill="hold"/>
                                        <p:tgtEl>
                                          <p:spTgt spid="32"/>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108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450"/>
                                        <p:tgtEl>
                                          <p:spTgt spid="33"/>
                                        </p:tgtEl>
                                      </p:cBhvr>
                                    </p:animEffect>
                                    <p:anim calcmode="lin" valueType="num">
                                      <p:cBhvr additive="base">
                                        <p:cTn id="153" dur="450" fill="hold"/>
                                        <p:tgtEl>
                                          <p:spTgt spid="33"/>
                                        </p:tgtEl>
                                        <p:attrNameLst>
                                          <p:attrName>ppt_x</p:attrName>
                                        </p:attrNameLst>
                                      </p:cBhvr>
                                      <p:tavLst>
                                        <p:tav tm="0">
                                          <p:val>
                                            <p:strVal val="#ppt_x"/>
                                          </p:val>
                                        </p:tav>
                                        <p:tav tm="100000">
                                          <p:val>
                                            <p:strVal val="#ppt_x"/>
                                          </p:val>
                                        </p:tav>
                                      </p:tavLst>
                                    </p:anim>
                                    <p:anim calcmode="lin" valueType="num">
                                      <p:cBhvr additive="base">
                                        <p:cTn id="154" dur="450" fill="hold"/>
                                        <p:tgtEl>
                                          <p:spTgt spid="33"/>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108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450"/>
                                        <p:tgtEl>
                                          <p:spTgt spid="34"/>
                                        </p:tgtEl>
                                      </p:cBhvr>
                                    </p:animEffect>
                                    <p:anim calcmode="lin" valueType="num">
                                      <p:cBhvr additive="base">
                                        <p:cTn id="158" dur="450" fill="hold"/>
                                        <p:tgtEl>
                                          <p:spTgt spid="34"/>
                                        </p:tgtEl>
                                        <p:attrNameLst>
                                          <p:attrName>ppt_x</p:attrName>
                                        </p:attrNameLst>
                                      </p:cBhvr>
                                      <p:tavLst>
                                        <p:tav tm="0">
                                          <p:val>
                                            <p:strVal val="#ppt_x"/>
                                          </p:val>
                                        </p:tav>
                                        <p:tav tm="100000">
                                          <p:val>
                                            <p:strVal val="#ppt_x"/>
                                          </p:val>
                                        </p:tav>
                                      </p:tavLst>
                                    </p:anim>
                                    <p:anim calcmode="lin" valueType="num">
                                      <p:cBhvr additive="base">
                                        <p:cTn id="159" dur="450" fill="hold"/>
                                        <p:tgtEl>
                                          <p:spTgt spid="34"/>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108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450"/>
                                        <p:tgtEl>
                                          <p:spTgt spid="35"/>
                                        </p:tgtEl>
                                      </p:cBhvr>
                                    </p:animEffect>
                                    <p:anim calcmode="lin" valueType="num">
                                      <p:cBhvr additive="base">
                                        <p:cTn id="163" dur="450" fill="hold"/>
                                        <p:tgtEl>
                                          <p:spTgt spid="35"/>
                                        </p:tgtEl>
                                        <p:attrNameLst>
                                          <p:attrName>ppt_x</p:attrName>
                                        </p:attrNameLst>
                                      </p:cBhvr>
                                      <p:tavLst>
                                        <p:tav tm="0">
                                          <p:val>
                                            <p:strVal val="#ppt_x"/>
                                          </p:val>
                                        </p:tav>
                                        <p:tav tm="100000">
                                          <p:val>
                                            <p:strVal val="#ppt_x"/>
                                          </p:val>
                                        </p:tav>
                                      </p:tavLst>
                                    </p:anim>
                                    <p:anim calcmode="lin" valueType="num">
                                      <p:cBhvr additive="base">
                                        <p:cTn id="164" dur="450" fill="hold"/>
                                        <p:tgtEl>
                                          <p:spTgt spid="35"/>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108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450"/>
                                        <p:tgtEl>
                                          <p:spTgt spid="36"/>
                                        </p:tgtEl>
                                      </p:cBhvr>
                                    </p:animEffect>
                                    <p:anim calcmode="lin" valueType="num">
                                      <p:cBhvr additive="base">
                                        <p:cTn id="168" dur="450" fill="hold"/>
                                        <p:tgtEl>
                                          <p:spTgt spid="36"/>
                                        </p:tgtEl>
                                        <p:attrNameLst>
                                          <p:attrName>ppt_x</p:attrName>
                                        </p:attrNameLst>
                                      </p:cBhvr>
                                      <p:tavLst>
                                        <p:tav tm="0">
                                          <p:val>
                                            <p:strVal val="#ppt_x"/>
                                          </p:val>
                                        </p:tav>
                                        <p:tav tm="100000">
                                          <p:val>
                                            <p:strVal val="#ppt_x"/>
                                          </p:val>
                                        </p:tav>
                                      </p:tavLst>
                                    </p:anim>
                                    <p:anim calcmode="lin" valueType="num">
                                      <p:cBhvr additive="base">
                                        <p:cTn id="169" dur="450" fill="hold"/>
                                        <p:tgtEl>
                                          <p:spTgt spid="36"/>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108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450"/>
                                        <p:tgtEl>
                                          <p:spTgt spid="37"/>
                                        </p:tgtEl>
                                      </p:cBhvr>
                                    </p:animEffect>
                                    <p:anim calcmode="lin" valueType="num">
                                      <p:cBhvr additive="base">
                                        <p:cTn id="173" dur="450" fill="hold"/>
                                        <p:tgtEl>
                                          <p:spTgt spid="37"/>
                                        </p:tgtEl>
                                        <p:attrNameLst>
                                          <p:attrName>ppt_x</p:attrName>
                                        </p:attrNameLst>
                                      </p:cBhvr>
                                      <p:tavLst>
                                        <p:tav tm="0">
                                          <p:val>
                                            <p:strVal val="#ppt_x"/>
                                          </p:val>
                                        </p:tav>
                                        <p:tav tm="100000">
                                          <p:val>
                                            <p:strVal val="#ppt_x"/>
                                          </p:val>
                                        </p:tav>
                                      </p:tavLst>
                                    </p:anim>
                                    <p:anim calcmode="lin" valueType="num">
                                      <p:cBhvr additive="base">
                                        <p:cTn id="174" dur="450" fill="hold"/>
                                        <p:tgtEl>
                                          <p:spTgt spid="37"/>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108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450"/>
                                        <p:tgtEl>
                                          <p:spTgt spid="38"/>
                                        </p:tgtEl>
                                      </p:cBhvr>
                                    </p:animEffect>
                                    <p:anim calcmode="lin" valueType="num">
                                      <p:cBhvr additive="base">
                                        <p:cTn id="178" dur="450" fill="hold"/>
                                        <p:tgtEl>
                                          <p:spTgt spid="38"/>
                                        </p:tgtEl>
                                        <p:attrNameLst>
                                          <p:attrName>ppt_x</p:attrName>
                                        </p:attrNameLst>
                                      </p:cBhvr>
                                      <p:tavLst>
                                        <p:tav tm="0">
                                          <p:val>
                                            <p:strVal val="#ppt_x"/>
                                          </p:val>
                                        </p:tav>
                                        <p:tav tm="100000">
                                          <p:val>
                                            <p:strVal val="#ppt_x"/>
                                          </p:val>
                                        </p:tav>
                                      </p:tavLst>
                                    </p:anim>
                                    <p:anim calcmode="lin" valueType="num">
                                      <p:cBhvr additive="base">
                                        <p:cTn id="179" dur="450" fill="hold"/>
                                        <p:tgtEl>
                                          <p:spTgt spid="38"/>
                                        </p:tgtEl>
                                        <p:attrNameLst>
                                          <p:attrName>ppt_y</p:attrName>
                                        </p:attrNameLst>
                                      </p:cBhvr>
                                      <p:tavLst>
                                        <p:tav tm="0">
                                          <p:val>
                                            <p:strVal val="#ppt_y+.1"/>
                                          </p:val>
                                        </p:tav>
                                        <p:tav tm="100000">
                                          <p:val>
                                            <p:strVal val="#ppt_y"/>
                                          </p:val>
                                        </p:tav>
                                      </p:tavLst>
                                    </p:anim>
                                  </p:childTnLst>
                                </p:cTn>
                              </p:par>
                              <p:par>
                                <p:cTn id="180" presetID="10" presetClass="entr" presetSubtype="0" fill="hold" nodeType="withEffect">
                                  <p:stCondLst>
                                    <p:cond delay="140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BUILT FOR UPAY  ·  CLICK A ROW TO JUMP</a:t>
            </a:r>
            <a:endParaRPr lang="en-US" sz="1200" dirty="0"/>
          </a:p>
        </p:txBody>
      </p:sp>
      <p:sp>
        <p:nvSpPr>
          <p:cNvPr id="3"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Every criterion, built, measured and shown.</a:t>
            </a:r>
            <a:endParaRPr lang="en-US" sz="3400" dirty="0"/>
          </a:p>
        </p:txBody>
      </p:sp>
      <p:sp>
        <p:nvSpPr>
          <p:cNvPr id="4"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5" name="fbh__1"/>
          <p:cNvSpPr txBox="1"/>
          <p:nvPr/>
        </p:nvSpPr>
        <p:spPr>
          <a:xfrm>
            <a:off x="777240" y="1417320"/>
            <a:ext cx="2743200" cy="228600"/>
          </a:xfrm>
          <a:prstGeom prst="rect">
            <a:avLst/>
          </a:prstGeom>
          <a:noFill/>
          <a:ln/>
        </p:spPr>
        <p:txBody>
          <a:bodyPr wrap="square" lIns="0" tIns="0" rIns="0" bIns="0" rtlCol="0" anchor="ctr"/>
          <a:lstStyle/>
          <a:p>
            <a:pPr indent="0" marL="0">
              <a:buNone/>
            </a:pPr>
            <a:r>
              <a:rPr lang="en-US" sz="900" b="1" spc="200" kern="0" dirty="0">
                <a:solidFill>
                  <a:srgbClr val="5F7090"/>
                </a:solidFill>
                <a:latin typeface="Arial" pitchFamily="34" charset="0"/>
                <a:ea typeface="Arial" pitchFamily="34" charset="-122"/>
                <a:cs typeface="Arial" pitchFamily="34" charset="-120"/>
              </a:rPr>
              <a:t>CRITERION</a:t>
            </a:r>
            <a:endParaRPr lang="en-US" sz="900" dirty="0"/>
          </a:p>
        </p:txBody>
      </p:sp>
      <p:sp>
        <p:nvSpPr>
          <p:cNvPr id="6" name="fbh__2"/>
          <p:cNvSpPr txBox="1"/>
          <p:nvPr/>
        </p:nvSpPr>
        <p:spPr>
          <a:xfrm>
            <a:off x="4160520" y="1417320"/>
            <a:ext cx="3657600" cy="228600"/>
          </a:xfrm>
          <a:prstGeom prst="rect">
            <a:avLst/>
          </a:prstGeom>
          <a:noFill/>
          <a:ln/>
        </p:spPr>
        <p:txBody>
          <a:bodyPr wrap="square" lIns="0" tIns="0" rIns="0" bIns="0" rtlCol="0" anchor="ctr"/>
          <a:lstStyle/>
          <a:p>
            <a:pPr indent="0" marL="0">
              <a:buNone/>
            </a:pPr>
            <a:r>
              <a:rPr lang="en-US" sz="900" b="1" spc="200" kern="0" dirty="0">
                <a:solidFill>
                  <a:srgbClr val="5F7090"/>
                </a:solidFill>
                <a:latin typeface="Arial" pitchFamily="34" charset="0"/>
                <a:ea typeface="Arial" pitchFamily="34" charset="-122"/>
                <a:cs typeface="Arial" pitchFamily="34" charset="-120"/>
              </a:rPr>
              <a:t>WHAT CYGNUS AI DELIVERS</a:t>
            </a:r>
            <a:endParaRPr lang="en-US" sz="900" dirty="0"/>
          </a:p>
        </p:txBody>
      </p:sp>
      <p:sp>
        <p:nvSpPr>
          <p:cNvPr id="7" name="fbh__3"/>
          <p:cNvSpPr txBox="1"/>
          <p:nvPr/>
        </p:nvSpPr>
        <p:spPr>
          <a:xfrm>
            <a:off x="10881360" y="1417320"/>
            <a:ext cx="640080" cy="228600"/>
          </a:xfrm>
          <a:prstGeom prst="rect">
            <a:avLst/>
          </a:prstGeom>
          <a:noFill/>
          <a:ln/>
        </p:spPr>
        <p:txBody>
          <a:bodyPr wrap="square" lIns="0" tIns="0" rIns="0" bIns="0" rtlCol="0" anchor="ctr"/>
          <a:lstStyle/>
          <a:p>
            <a:pPr algn="ctr" indent="0" marL="0">
              <a:buNone/>
            </a:pPr>
            <a:r>
              <a:rPr lang="en-US" sz="900" b="1" spc="200" kern="0" dirty="0">
                <a:solidFill>
                  <a:srgbClr val="5F7090"/>
                </a:solidFill>
                <a:latin typeface="Arial" pitchFamily="34" charset="0"/>
                <a:ea typeface="Arial" pitchFamily="34" charset="-122"/>
                <a:cs typeface="Arial" pitchFamily="34" charset="-120"/>
              </a:rPr>
              <a:t>SLIDE</a:t>
            </a:r>
            <a:endParaRPr lang="en-US" sz="900" dirty="0"/>
          </a:p>
        </p:txBody>
      </p:sp>
      <p:sp>
        <p:nvSpPr>
          <p:cNvPr id="8" name="fb0__1"/>
          <p:cNvSpPr/>
          <p:nvPr/>
        </p:nvSpPr>
        <p:spPr>
          <a:xfrm>
            <a:off x="548640" y="1664208"/>
            <a:ext cx="11091672" cy="585216"/>
          </a:xfrm>
          <a:prstGeom prst="roundRect">
            <a:avLst>
              <a:gd name="adj" fmla="val 18750"/>
            </a:avLst>
          </a:prstGeom>
          <a:solidFill>
            <a:srgbClr val="0E1729">
              <a:alpha val="90000"/>
            </a:srgbClr>
          </a:solidFill>
          <a:ln w="12700">
            <a:solidFill>
              <a:srgbClr val="22314F"/>
            </a:solidFill>
            <a:prstDash val="solid"/>
          </a:ln>
        </p:spPr>
      </p:sp>
      <p:sp>
        <p:nvSpPr>
          <p:cNvPr id="9" name="fb0__2"/>
          <p:cNvSpPr/>
          <p:nvPr/>
        </p:nvSpPr>
        <p:spPr>
          <a:xfrm>
            <a:off x="548640" y="1755648"/>
            <a:ext cx="54864" cy="402336"/>
          </a:xfrm>
          <a:prstGeom prst="rect">
            <a:avLst/>
          </a:prstGeom>
          <a:solidFill>
            <a:srgbClr val="FF4D5E"/>
          </a:solidFill>
          <a:ln w="12700">
            <a:solidFill>
              <a:srgbClr val="FF4D5E"/>
            </a:solidFill>
            <a:prstDash val="solid"/>
          </a:ln>
        </p:spPr>
      </p:sp>
      <p:sp>
        <p:nvSpPr>
          <p:cNvPr id="10" name="fb0__3"/>
          <p:cNvSpPr txBox="1"/>
          <p:nvPr/>
        </p:nvSpPr>
        <p:spPr>
          <a:xfrm>
            <a:off x="777240" y="1664208"/>
            <a:ext cx="2377440" cy="585216"/>
          </a:xfrm>
          <a:prstGeom prst="rect">
            <a:avLst/>
          </a:prstGeom>
          <a:noFill/>
          <a:ln/>
        </p:spPr>
        <p:txBody>
          <a:bodyPr wrap="square" lIns="0" tIns="0" rIns="0" bIns="0" rtlCol="0" anchor="ctr"/>
          <a:lstStyle/>
          <a:p>
            <a:pPr indent="0" marL="0">
              <a:buNone/>
            </a:pPr>
            <a:r>
              <a:rPr lang="en-US" sz="1400" b="1" dirty="0">
                <a:solidFill>
                  <a:srgbClr val="F1F5FB"/>
                </a:solidFill>
                <a:latin typeface="Arial" pitchFamily="34" charset="0"/>
                <a:ea typeface="Arial" pitchFamily="34" charset="-122"/>
                <a:cs typeface="Arial" pitchFamily="34" charset="-120"/>
              </a:rPr>
              <a:t>Problem relevance</a:t>
            </a:r>
            <a:endParaRPr lang="en-US" sz="1400" dirty="0"/>
          </a:p>
        </p:txBody>
      </p:sp>
      <p:sp>
        <p:nvSpPr>
          <p:cNvPr id="11" name="fb0__4"/>
          <p:cNvSpPr txBox="1"/>
          <p:nvPr/>
        </p:nvSpPr>
        <p:spPr>
          <a:xfrm>
            <a:off x="3108960" y="1664208"/>
            <a:ext cx="960120" cy="585216"/>
          </a:xfrm>
          <a:prstGeom prst="rect">
            <a:avLst/>
          </a:prstGeom>
          <a:noFill/>
          <a:ln/>
        </p:spPr>
        <p:txBody>
          <a:bodyPr wrap="square" lIns="0" tIns="0" rIns="0" bIns="0" rtlCol="0" anchor="ctr"/>
          <a:lstStyle/>
          <a:p>
            <a:pPr indent="0" marL="0">
              <a:buNone/>
            </a:pPr>
            <a:r>
              <a:rPr lang="en-US" sz="1300" b="1" dirty="0">
                <a:solidFill>
                  <a:srgbClr val="FF4D5E"/>
                </a:solidFill>
                <a:latin typeface="Arial" pitchFamily="34" charset="0"/>
                <a:ea typeface="Arial" pitchFamily="34" charset="-122"/>
                <a:cs typeface="Arial" pitchFamily="34" charset="-120"/>
              </a:rPr>
              <a:t>20%</a:t>
            </a:r>
            <a:endParaRPr lang="en-US" sz="1300" dirty="0"/>
          </a:p>
        </p:txBody>
      </p:sp>
      <p:sp>
        <p:nvSpPr>
          <p:cNvPr id="12" name="fb0__5"/>
          <p:cNvSpPr txBox="1"/>
          <p:nvPr/>
        </p:nvSpPr>
        <p:spPr>
          <a:xfrm>
            <a:off x="4160520" y="1664208"/>
            <a:ext cx="6629400" cy="585216"/>
          </a:xfrm>
          <a:prstGeom prst="rect">
            <a:avLst/>
          </a:prstGeom>
          <a:noFill/>
          <a:ln/>
        </p:spPr>
        <p:txBody>
          <a:bodyPr wrap="square" lIns="0" tIns="0" rIns="0" bIns="0" rtlCol="0" anchor="ctr"/>
          <a:lstStyle/>
          <a:p>
            <a:pPr indent="0" marL="0">
              <a:buNone/>
            </a:pPr>
            <a:r>
              <a:rPr lang="en-US" sz="1300" dirty="0">
                <a:solidFill>
                  <a:srgbClr val="F1F5FB"/>
                </a:solidFill>
                <a:latin typeface="Calibri" pitchFamily="34" charset="0"/>
                <a:ea typeface="Calibri" pitchFamily="34" charset="-122"/>
                <a:cs typeface="Calibri" pitchFamily="34" charset="-120"/>
              </a:rPr>
              <a:t>Public Bangladesh MFS figures, plus two upay detectors: risk-area account takeover and agent hundi</a:t>
            </a:r>
            <a:endParaRPr lang="en-US" sz="1300" dirty="0"/>
          </a:p>
        </p:txBody>
      </p:sp>
      <p:sp>
        <p:nvSpPr>
          <p:cNvPr id="13" name="fb0__6"/>
          <p:cNvSpPr txBox="1"/>
          <p:nvPr/>
        </p:nvSpPr>
        <p:spPr>
          <a:xfrm>
            <a:off x="10881360" y="1664208"/>
            <a:ext cx="640080" cy="585216"/>
          </a:xfrm>
          <a:prstGeom prst="rect">
            <a:avLst/>
          </a:prstGeom>
          <a:noFill/>
          <a:ln/>
        </p:spPr>
        <p:txBody>
          <a:bodyPr wrap="square" lIns="0" tIns="0" rIns="0" bIns="0" rtlCol="0" anchor="ctr"/>
          <a:lstStyle/>
          <a:p>
            <a:pPr algn="ctr" indent="0" marL="0">
              <a:buNone/>
            </a:pPr>
            <a:r>
              <a:rPr lang="en-US" sz="1300" b="1" dirty="0">
                <a:solidFill>
                  <a:srgbClr val="FF4D5E"/>
                </a:solidFill>
                <a:latin typeface="Arial" pitchFamily="34" charset="0"/>
                <a:ea typeface="Arial" pitchFamily="34" charset="-122"/>
                <a:cs typeface="Arial" pitchFamily="34" charset="-120"/>
              </a:rPr>
              <a:t>05 ▸</a:t>
            </a:r>
            <a:endParaRPr lang="en-US" sz="1300" dirty="0"/>
          </a:p>
        </p:txBody>
      </p:sp>
      <p:sp>
        <p:nvSpPr>
          <p:cNvPr id="14" name="fb0__7">
            <a:hlinkClick r:id="rId2" tooltip="Go to slide 5" action="ppaction://hlinksldjump"/>
          </p:cNvPr>
          <p:cNvSpPr/>
          <p:nvPr/>
        </p:nvSpPr>
        <p:spPr>
          <a:xfrm>
            <a:off x="548640" y="1664208"/>
            <a:ext cx="11091672" cy="585216"/>
          </a:xfrm>
          <a:prstGeom prst="roundRect">
            <a:avLst>
              <a:gd name="adj" fmla="val 18750"/>
            </a:avLst>
          </a:prstGeom>
          <a:solidFill>
            <a:srgbClr val="070B16">
              <a:alpha val="0"/>
            </a:srgbClr>
          </a:solidFill>
          <a:ln w="9525">
            <a:solidFill>
              <a:srgbClr val="FF4D5E">
                <a:alpha val="25000"/>
              </a:srgbClr>
            </a:solidFill>
            <a:prstDash val="solid"/>
          </a:ln>
        </p:spPr>
      </p:sp>
      <p:sp>
        <p:nvSpPr>
          <p:cNvPr id="15" name="fb1__1"/>
          <p:cNvSpPr/>
          <p:nvPr/>
        </p:nvSpPr>
        <p:spPr>
          <a:xfrm>
            <a:off x="548640" y="2313432"/>
            <a:ext cx="11091672" cy="585216"/>
          </a:xfrm>
          <a:prstGeom prst="roundRect">
            <a:avLst>
              <a:gd name="adj" fmla="val 18750"/>
            </a:avLst>
          </a:prstGeom>
          <a:solidFill>
            <a:srgbClr val="0E1729">
              <a:alpha val="90000"/>
            </a:srgbClr>
          </a:solidFill>
          <a:ln w="12700">
            <a:solidFill>
              <a:srgbClr val="22314F"/>
            </a:solidFill>
            <a:prstDash val="solid"/>
          </a:ln>
        </p:spPr>
      </p:sp>
      <p:sp>
        <p:nvSpPr>
          <p:cNvPr id="16" name="fb1__2"/>
          <p:cNvSpPr/>
          <p:nvPr/>
        </p:nvSpPr>
        <p:spPr>
          <a:xfrm>
            <a:off x="548640" y="2404872"/>
            <a:ext cx="54864" cy="402336"/>
          </a:xfrm>
          <a:prstGeom prst="rect">
            <a:avLst/>
          </a:prstGeom>
          <a:solidFill>
            <a:srgbClr val="A78BFA"/>
          </a:solidFill>
          <a:ln w="12700">
            <a:solidFill>
              <a:srgbClr val="A78BFA"/>
            </a:solidFill>
            <a:prstDash val="solid"/>
          </a:ln>
        </p:spPr>
      </p:sp>
      <p:sp>
        <p:nvSpPr>
          <p:cNvPr id="17" name="fb1__3"/>
          <p:cNvSpPr txBox="1"/>
          <p:nvPr/>
        </p:nvSpPr>
        <p:spPr>
          <a:xfrm>
            <a:off x="777240" y="2313432"/>
            <a:ext cx="2377440" cy="585216"/>
          </a:xfrm>
          <a:prstGeom prst="rect">
            <a:avLst/>
          </a:prstGeom>
          <a:noFill/>
          <a:ln/>
        </p:spPr>
        <p:txBody>
          <a:bodyPr wrap="square" lIns="0" tIns="0" rIns="0" bIns="0" rtlCol="0" anchor="ctr"/>
          <a:lstStyle/>
          <a:p>
            <a:pPr indent="0" marL="0">
              <a:buNone/>
            </a:pPr>
            <a:r>
              <a:rPr lang="en-US" sz="1400" b="1" dirty="0">
                <a:solidFill>
                  <a:srgbClr val="F1F5FB"/>
                </a:solidFill>
                <a:latin typeface="Arial" pitchFamily="34" charset="0"/>
                <a:ea typeface="Arial" pitchFamily="34" charset="-122"/>
                <a:cs typeface="Arial" pitchFamily="34" charset="-120"/>
              </a:rPr>
              <a:t>AI/ML depth</a:t>
            </a:r>
            <a:endParaRPr lang="en-US" sz="1400" dirty="0"/>
          </a:p>
        </p:txBody>
      </p:sp>
      <p:sp>
        <p:nvSpPr>
          <p:cNvPr id="18" name="fb1__4"/>
          <p:cNvSpPr txBox="1"/>
          <p:nvPr/>
        </p:nvSpPr>
        <p:spPr>
          <a:xfrm>
            <a:off x="3108960" y="2313432"/>
            <a:ext cx="960120" cy="585216"/>
          </a:xfrm>
          <a:prstGeom prst="rect">
            <a:avLst/>
          </a:prstGeom>
          <a:noFill/>
          <a:ln/>
        </p:spPr>
        <p:txBody>
          <a:bodyPr wrap="square" lIns="0" tIns="0" rIns="0" bIns="0" rtlCol="0" anchor="ctr"/>
          <a:lstStyle/>
          <a:p>
            <a:pPr indent="0" marL="0">
              <a:buNone/>
            </a:pPr>
            <a:r>
              <a:rPr lang="en-US" sz="1300" b="1" dirty="0">
                <a:solidFill>
                  <a:srgbClr val="A78BFA"/>
                </a:solidFill>
                <a:latin typeface="Arial" pitchFamily="34" charset="0"/>
                <a:ea typeface="Arial" pitchFamily="34" charset="-122"/>
                <a:cs typeface="Arial" pitchFamily="34" charset="-120"/>
              </a:rPr>
              <a:t>20%</a:t>
            </a:r>
            <a:endParaRPr lang="en-US" sz="1300" dirty="0"/>
          </a:p>
        </p:txBody>
      </p:sp>
      <p:sp>
        <p:nvSpPr>
          <p:cNvPr id="19" name="fb1__5"/>
          <p:cNvSpPr txBox="1"/>
          <p:nvPr/>
        </p:nvSpPr>
        <p:spPr>
          <a:xfrm>
            <a:off x="4160520" y="2313432"/>
            <a:ext cx="6629400" cy="585216"/>
          </a:xfrm>
          <a:prstGeom prst="rect">
            <a:avLst/>
          </a:prstGeom>
          <a:noFill/>
          <a:ln/>
        </p:spPr>
        <p:txBody>
          <a:bodyPr wrap="square" lIns="0" tIns="0" rIns="0" bIns="0" rtlCol="0" anchor="ctr"/>
          <a:lstStyle/>
          <a:p>
            <a:pPr indent="0" marL="0">
              <a:buNone/>
            </a:pPr>
            <a:r>
              <a:rPr lang="en-US" sz="1300" dirty="0">
                <a:solidFill>
                  <a:srgbClr val="F1F5FB"/>
                </a:solidFill>
                <a:latin typeface="Calibri" pitchFamily="34" charset="0"/>
                <a:ea typeface="Calibri" pitchFamily="34" charset="-122"/>
                <a:cs typeface="Calibri" pitchFamily="34" charset="-120"/>
              </a:rPr>
              <a:t>8 models compared on 423k held-out transactions: best F1 0.89, PR-AUC 0.94, false positives 0.12%</a:t>
            </a:r>
            <a:endParaRPr lang="en-US" sz="1300" dirty="0"/>
          </a:p>
        </p:txBody>
      </p:sp>
      <p:sp>
        <p:nvSpPr>
          <p:cNvPr id="20" name="fb1__6"/>
          <p:cNvSpPr txBox="1"/>
          <p:nvPr/>
        </p:nvSpPr>
        <p:spPr>
          <a:xfrm>
            <a:off x="10881360" y="2313432"/>
            <a:ext cx="640080" cy="585216"/>
          </a:xfrm>
          <a:prstGeom prst="rect">
            <a:avLst/>
          </a:prstGeom>
          <a:noFill/>
          <a:ln/>
        </p:spPr>
        <p:txBody>
          <a:bodyPr wrap="square" lIns="0" tIns="0" rIns="0" bIns="0" rtlCol="0" anchor="ctr"/>
          <a:lstStyle/>
          <a:p>
            <a:pPr algn="ctr" indent="0" marL="0">
              <a:buNone/>
            </a:pPr>
            <a:r>
              <a:rPr lang="en-US" sz="1300" b="1" dirty="0">
                <a:solidFill>
                  <a:srgbClr val="A78BFA"/>
                </a:solidFill>
                <a:latin typeface="Arial" pitchFamily="34" charset="0"/>
                <a:ea typeface="Arial" pitchFamily="34" charset="-122"/>
                <a:cs typeface="Arial" pitchFamily="34" charset="-120"/>
              </a:rPr>
              <a:t>16 ▸</a:t>
            </a:r>
            <a:endParaRPr lang="en-US" sz="1300" dirty="0"/>
          </a:p>
        </p:txBody>
      </p:sp>
      <p:sp>
        <p:nvSpPr>
          <p:cNvPr id="21" name="fb1__7">
            <a:hlinkClick r:id="rId3" tooltip="Go to slide 16" action="ppaction://hlinksldjump"/>
          </p:cNvPr>
          <p:cNvSpPr/>
          <p:nvPr/>
        </p:nvSpPr>
        <p:spPr>
          <a:xfrm>
            <a:off x="548640" y="2313432"/>
            <a:ext cx="11091672" cy="585216"/>
          </a:xfrm>
          <a:prstGeom prst="roundRect">
            <a:avLst>
              <a:gd name="adj" fmla="val 18750"/>
            </a:avLst>
          </a:prstGeom>
          <a:solidFill>
            <a:srgbClr val="070B16">
              <a:alpha val="0"/>
            </a:srgbClr>
          </a:solidFill>
          <a:ln w="9525">
            <a:solidFill>
              <a:srgbClr val="A78BFA">
                <a:alpha val="25000"/>
              </a:srgbClr>
            </a:solidFill>
            <a:prstDash val="solid"/>
          </a:ln>
        </p:spPr>
      </p:sp>
      <p:sp>
        <p:nvSpPr>
          <p:cNvPr id="22" name="fb2__1"/>
          <p:cNvSpPr/>
          <p:nvPr/>
        </p:nvSpPr>
        <p:spPr>
          <a:xfrm>
            <a:off x="548640" y="2962656"/>
            <a:ext cx="11091672" cy="585216"/>
          </a:xfrm>
          <a:prstGeom prst="roundRect">
            <a:avLst>
              <a:gd name="adj" fmla="val 18750"/>
            </a:avLst>
          </a:prstGeom>
          <a:solidFill>
            <a:srgbClr val="0E1729">
              <a:alpha val="90000"/>
            </a:srgbClr>
          </a:solidFill>
          <a:ln w="12700">
            <a:solidFill>
              <a:srgbClr val="22314F"/>
            </a:solidFill>
            <a:prstDash val="solid"/>
          </a:ln>
        </p:spPr>
      </p:sp>
      <p:sp>
        <p:nvSpPr>
          <p:cNvPr id="23" name="fb2__2"/>
          <p:cNvSpPr/>
          <p:nvPr/>
        </p:nvSpPr>
        <p:spPr>
          <a:xfrm>
            <a:off x="548640" y="3054096"/>
            <a:ext cx="54864" cy="402336"/>
          </a:xfrm>
          <a:prstGeom prst="rect">
            <a:avLst/>
          </a:prstGeom>
          <a:solidFill>
            <a:srgbClr val="34D399"/>
          </a:solidFill>
          <a:ln w="12700">
            <a:solidFill>
              <a:srgbClr val="34D399"/>
            </a:solidFill>
            <a:prstDash val="solid"/>
          </a:ln>
        </p:spPr>
      </p:sp>
      <p:sp>
        <p:nvSpPr>
          <p:cNvPr id="24" name="fb2__3"/>
          <p:cNvSpPr txBox="1"/>
          <p:nvPr/>
        </p:nvSpPr>
        <p:spPr>
          <a:xfrm>
            <a:off x="777240" y="2962656"/>
            <a:ext cx="2377440" cy="585216"/>
          </a:xfrm>
          <a:prstGeom prst="rect">
            <a:avLst/>
          </a:prstGeom>
          <a:noFill/>
          <a:ln/>
        </p:spPr>
        <p:txBody>
          <a:bodyPr wrap="square" lIns="0" tIns="0" rIns="0" bIns="0" rtlCol="0" anchor="ctr"/>
          <a:lstStyle/>
          <a:p>
            <a:pPr indent="0" marL="0">
              <a:buNone/>
            </a:pPr>
            <a:r>
              <a:rPr lang="en-US" sz="1400" b="1" dirty="0">
                <a:solidFill>
                  <a:srgbClr val="F1F5FB"/>
                </a:solidFill>
                <a:latin typeface="Arial" pitchFamily="34" charset="0"/>
                <a:ea typeface="Arial" pitchFamily="34" charset="-122"/>
                <a:cs typeface="Arial" pitchFamily="34" charset="-120"/>
              </a:rPr>
              <a:t>Business impact</a:t>
            </a:r>
            <a:endParaRPr lang="en-US" sz="1400" dirty="0"/>
          </a:p>
        </p:txBody>
      </p:sp>
      <p:sp>
        <p:nvSpPr>
          <p:cNvPr id="25" name="fb2__4"/>
          <p:cNvSpPr txBox="1"/>
          <p:nvPr/>
        </p:nvSpPr>
        <p:spPr>
          <a:xfrm>
            <a:off x="3108960" y="2962656"/>
            <a:ext cx="960120" cy="585216"/>
          </a:xfrm>
          <a:prstGeom prst="rect">
            <a:avLst/>
          </a:prstGeom>
          <a:noFill/>
          <a:ln/>
        </p:spPr>
        <p:txBody>
          <a:bodyPr wrap="square" lIns="0" tIns="0" rIns="0" bIns="0" rtlCol="0" anchor="ctr"/>
          <a:lstStyle/>
          <a:p>
            <a:pPr indent="0" marL="0">
              <a:buNone/>
            </a:pPr>
            <a:r>
              <a:rPr lang="en-US" sz="1300" b="1" dirty="0">
                <a:solidFill>
                  <a:srgbClr val="34D399"/>
                </a:solidFill>
                <a:latin typeface="Arial" pitchFamily="34" charset="0"/>
                <a:ea typeface="Arial" pitchFamily="34" charset="-122"/>
                <a:cs typeface="Arial" pitchFamily="34" charset="-120"/>
              </a:rPr>
              <a:t>20%</a:t>
            </a:r>
            <a:endParaRPr lang="en-US" sz="1300" dirty="0"/>
          </a:p>
        </p:txBody>
      </p:sp>
      <p:sp>
        <p:nvSpPr>
          <p:cNvPr id="26" name="fb2__5"/>
          <p:cNvSpPr txBox="1"/>
          <p:nvPr/>
        </p:nvSpPr>
        <p:spPr>
          <a:xfrm>
            <a:off x="4160520" y="2962656"/>
            <a:ext cx="6629400" cy="585216"/>
          </a:xfrm>
          <a:prstGeom prst="rect">
            <a:avLst/>
          </a:prstGeom>
          <a:noFill/>
          <a:ln/>
        </p:spPr>
        <p:txBody>
          <a:bodyPr wrap="square" lIns="0" tIns="0" rIns="0" bIns="0" rtlCol="0" anchor="ctr"/>
          <a:lstStyle/>
          <a:p>
            <a:pPr indent="0" marL="0">
              <a:buNone/>
            </a:pPr>
            <a:r>
              <a:rPr lang="en-US" sz="1300" dirty="0">
                <a:solidFill>
                  <a:srgbClr val="F1F5FB"/>
                </a:solidFill>
                <a:latin typeface="Calibri" pitchFamily="34" charset="0"/>
                <a:ea typeface="Calibri" pitchFamily="34" charset="-122"/>
                <a:cs typeface="Calibri" pitchFamily="34" charset="-120"/>
              </a:rPr>
              <a:t>73.6% fewer alerts at equal recall, false alarms 904 → 46, and an 8-week upay pilot to measure real savings</a:t>
            </a:r>
            <a:endParaRPr lang="en-US" sz="1300" dirty="0"/>
          </a:p>
        </p:txBody>
      </p:sp>
      <p:sp>
        <p:nvSpPr>
          <p:cNvPr id="27" name="fb2__6"/>
          <p:cNvSpPr txBox="1"/>
          <p:nvPr/>
        </p:nvSpPr>
        <p:spPr>
          <a:xfrm>
            <a:off x="10881360" y="2962656"/>
            <a:ext cx="640080" cy="585216"/>
          </a:xfrm>
          <a:prstGeom prst="rect">
            <a:avLst/>
          </a:prstGeom>
          <a:noFill/>
          <a:ln/>
        </p:spPr>
        <p:txBody>
          <a:bodyPr wrap="square" lIns="0" tIns="0" rIns="0" bIns="0" rtlCol="0" anchor="ctr"/>
          <a:lstStyle/>
          <a:p>
            <a:pPr algn="ctr" indent="0" marL="0">
              <a:buNone/>
            </a:pPr>
            <a:r>
              <a:rPr lang="en-US" sz="1300" b="1" dirty="0">
                <a:solidFill>
                  <a:srgbClr val="34D399"/>
                </a:solidFill>
                <a:latin typeface="Arial" pitchFamily="34" charset="0"/>
                <a:ea typeface="Arial" pitchFamily="34" charset="-122"/>
                <a:cs typeface="Arial" pitchFamily="34" charset="-120"/>
              </a:rPr>
              <a:t>21 ▸</a:t>
            </a:r>
            <a:endParaRPr lang="en-US" sz="1300" dirty="0"/>
          </a:p>
        </p:txBody>
      </p:sp>
      <p:sp>
        <p:nvSpPr>
          <p:cNvPr id="28" name="fb2__7">
            <a:hlinkClick r:id="rId4" tooltip="Go to slide 21" action="ppaction://hlinksldjump"/>
          </p:cNvPr>
          <p:cNvSpPr/>
          <p:nvPr/>
        </p:nvSpPr>
        <p:spPr>
          <a:xfrm>
            <a:off x="548640" y="2962656"/>
            <a:ext cx="11091672" cy="585216"/>
          </a:xfrm>
          <a:prstGeom prst="roundRect">
            <a:avLst>
              <a:gd name="adj" fmla="val 18750"/>
            </a:avLst>
          </a:prstGeom>
          <a:solidFill>
            <a:srgbClr val="070B16">
              <a:alpha val="0"/>
            </a:srgbClr>
          </a:solidFill>
          <a:ln w="9525">
            <a:solidFill>
              <a:srgbClr val="34D399">
                <a:alpha val="25000"/>
              </a:srgbClr>
            </a:solidFill>
            <a:prstDash val="solid"/>
          </a:ln>
        </p:spPr>
      </p:sp>
      <p:sp>
        <p:nvSpPr>
          <p:cNvPr id="29" name="fb3__1"/>
          <p:cNvSpPr/>
          <p:nvPr/>
        </p:nvSpPr>
        <p:spPr>
          <a:xfrm>
            <a:off x="548640" y="3611880"/>
            <a:ext cx="11091672" cy="585216"/>
          </a:xfrm>
          <a:prstGeom prst="roundRect">
            <a:avLst>
              <a:gd name="adj" fmla="val 18750"/>
            </a:avLst>
          </a:prstGeom>
          <a:solidFill>
            <a:srgbClr val="0E1729">
              <a:alpha val="90000"/>
            </a:srgbClr>
          </a:solidFill>
          <a:ln w="12700">
            <a:solidFill>
              <a:srgbClr val="22314F"/>
            </a:solidFill>
            <a:prstDash val="solid"/>
          </a:ln>
        </p:spPr>
      </p:sp>
      <p:sp>
        <p:nvSpPr>
          <p:cNvPr id="30" name="fb3__2"/>
          <p:cNvSpPr/>
          <p:nvPr/>
        </p:nvSpPr>
        <p:spPr>
          <a:xfrm>
            <a:off x="548640" y="3703320"/>
            <a:ext cx="54864" cy="402336"/>
          </a:xfrm>
          <a:prstGeom prst="rect">
            <a:avLst/>
          </a:prstGeom>
          <a:solidFill>
            <a:srgbClr val="38BDF8"/>
          </a:solidFill>
          <a:ln w="12700">
            <a:solidFill>
              <a:srgbClr val="38BDF8"/>
            </a:solidFill>
            <a:prstDash val="solid"/>
          </a:ln>
        </p:spPr>
      </p:sp>
      <p:sp>
        <p:nvSpPr>
          <p:cNvPr id="31" name="fb3__3"/>
          <p:cNvSpPr txBox="1"/>
          <p:nvPr/>
        </p:nvSpPr>
        <p:spPr>
          <a:xfrm>
            <a:off x="777240" y="3611880"/>
            <a:ext cx="2377440" cy="585216"/>
          </a:xfrm>
          <a:prstGeom prst="rect">
            <a:avLst/>
          </a:prstGeom>
          <a:noFill/>
          <a:ln/>
        </p:spPr>
        <p:txBody>
          <a:bodyPr wrap="square" lIns="0" tIns="0" rIns="0" bIns="0" rtlCol="0" anchor="ctr"/>
          <a:lstStyle/>
          <a:p>
            <a:pPr indent="0" marL="0">
              <a:buNone/>
            </a:pPr>
            <a:r>
              <a:rPr lang="en-US" sz="1400" b="1" dirty="0">
                <a:solidFill>
                  <a:srgbClr val="F1F5FB"/>
                </a:solidFill>
                <a:latin typeface="Arial" pitchFamily="34" charset="0"/>
                <a:ea typeface="Arial" pitchFamily="34" charset="-122"/>
                <a:cs typeface="Arial" pitchFamily="34" charset="-120"/>
              </a:rPr>
              <a:t>Prototype quality</a:t>
            </a:r>
            <a:endParaRPr lang="en-US" sz="1400" dirty="0"/>
          </a:p>
        </p:txBody>
      </p:sp>
      <p:sp>
        <p:nvSpPr>
          <p:cNvPr id="32" name="fb3__4"/>
          <p:cNvSpPr txBox="1"/>
          <p:nvPr/>
        </p:nvSpPr>
        <p:spPr>
          <a:xfrm>
            <a:off x="3108960" y="3611880"/>
            <a:ext cx="960120" cy="585216"/>
          </a:xfrm>
          <a:prstGeom prst="rect">
            <a:avLst/>
          </a:prstGeom>
          <a:noFill/>
          <a:ln/>
        </p:spPr>
        <p:txBody>
          <a:bodyPr wrap="square" lIns="0" tIns="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15%</a:t>
            </a:r>
            <a:endParaRPr lang="en-US" sz="1300" dirty="0"/>
          </a:p>
        </p:txBody>
      </p:sp>
      <p:sp>
        <p:nvSpPr>
          <p:cNvPr id="33" name="fb3__5"/>
          <p:cNvSpPr txBox="1"/>
          <p:nvPr/>
        </p:nvSpPr>
        <p:spPr>
          <a:xfrm>
            <a:off x="4160520" y="3611880"/>
            <a:ext cx="6629400" cy="585216"/>
          </a:xfrm>
          <a:prstGeom prst="rect">
            <a:avLst/>
          </a:prstGeom>
          <a:noFill/>
          <a:ln/>
        </p:spPr>
        <p:txBody>
          <a:bodyPr wrap="square" lIns="0" tIns="0" rIns="0" bIns="0" rtlCol="0" anchor="ctr"/>
          <a:lstStyle/>
          <a:p>
            <a:pPr indent="0" marL="0">
              <a:buNone/>
            </a:pPr>
            <a:r>
              <a:rPr lang="en-US" sz="1300" dirty="0">
                <a:solidFill>
                  <a:srgbClr val="F1F5FB"/>
                </a:solidFill>
                <a:latin typeface="Calibri" pitchFamily="34" charset="0"/>
                <a:ea typeface="Calibri" pitchFamily="34" charset="-122"/>
                <a:cs typeface="Calibri" pitchFamily="34" charset="-120"/>
              </a:rPr>
              <a:t>Working analyst flow: sign in, alert, trace, investigate, open case, escalate, STR/SAR export, audit trail</a:t>
            </a:r>
            <a:endParaRPr lang="en-US" sz="1300" dirty="0"/>
          </a:p>
        </p:txBody>
      </p:sp>
      <p:sp>
        <p:nvSpPr>
          <p:cNvPr id="34" name="fb3__6"/>
          <p:cNvSpPr txBox="1"/>
          <p:nvPr/>
        </p:nvSpPr>
        <p:spPr>
          <a:xfrm>
            <a:off x="10881360" y="3611880"/>
            <a:ext cx="640080" cy="585216"/>
          </a:xfrm>
          <a:prstGeom prst="rect">
            <a:avLst/>
          </a:prstGeom>
          <a:noFill/>
          <a:ln/>
        </p:spPr>
        <p:txBody>
          <a:bodyPr wrap="square" lIns="0" tIns="0" rIns="0" bIns="0" rtlCol="0" anchor="ctr"/>
          <a:lstStyle/>
          <a:p>
            <a:pPr algn="ctr" indent="0" marL="0">
              <a:buNone/>
            </a:pPr>
            <a:r>
              <a:rPr lang="en-US" sz="1300" b="1" dirty="0">
                <a:solidFill>
                  <a:srgbClr val="38BDF8"/>
                </a:solidFill>
                <a:latin typeface="Arial" pitchFamily="34" charset="0"/>
                <a:ea typeface="Arial" pitchFamily="34" charset="-122"/>
                <a:cs typeface="Arial" pitchFamily="34" charset="-120"/>
              </a:rPr>
              <a:t>13 ▸</a:t>
            </a:r>
            <a:endParaRPr lang="en-US" sz="1300" dirty="0"/>
          </a:p>
        </p:txBody>
      </p:sp>
      <p:sp>
        <p:nvSpPr>
          <p:cNvPr id="35" name="fb3__7">
            <a:hlinkClick r:id="rId5" tooltip="Go to slide 13" action="ppaction://hlinksldjump"/>
          </p:cNvPr>
          <p:cNvSpPr/>
          <p:nvPr/>
        </p:nvSpPr>
        <p:spPr>
          <a:xfrm>
            <a:off x="548640" y="3611880"/>
            <a:ext cx="11091672" cy="585216"/>
          </a:xfrm>
          <a:prstGeom prst="roundRect">
            <a:avLst>
              <a:gd name="adj" fmla="val 18750"/>
            </a:avLst>
          </a:prstGeom>
          <a:solidFill>
            <a:srgbClr val="070B16">
              <a:alpha val="0"/>
            </a:srgbClr>
          </a:solidFill>
          <a:ln w="9525">
            <a:solidFill>
              <a:srgbClr val="38BDF8">
                <a:alpha val="25000"/>
              </a:srgbClr>
            </a:solidFill>
            <a:prstDash val="solid"/>
          </a:ln>
        </p:spPr>
      </p:sp>
      <p:sp>
        <p:nvSpPr>
          <p:cNvPr id="36" name="fb4__1"/>
          <p:cNvSpPr/>
          <p:nvPr/>
        </p:nvSpPr>
        <p:spPr>
          <a:xfrm>
            <a:off x="548640" y="4261104"/>
            <a:ext cx="11091672" cy="585216"/>
          </a:xfrm>
          <a:prstGeom prst="roundRect">
            <a:avLst>
              <a:gd name="adj" fmla="val 18750"/>
            </a:avLst>
          </a:prstGeom>
          <a:solidFill>
            <a:srgbClr val="0E1729">
              <a:alpha val="90000"/>
            </a:srgbClr>
          </a:solidFill>
          <a:ln w="12700">
            <a:solidFill>
              <a:srgbClr val="22314F"/>
            </a:solidFill>
            <a:prstDash val="solid"/>
          </a:ln>
        </p:spPr>
      </p:sp>
      <p:sp>
        <p:nvSpPr>
          <p:cNvPr id="37" name="fb4__2"/>
          <p:cNvSpPr/>
          <p:nvPr/>
        </p:nvSpPr>
        <p:spPr>
          <a:xfrm>
            <a:off x="548640" y="4352544"/>
            <a:ext cx="54864" cy="402336"/>
          </a:xfrm>
          <a:prstGeom prst="rect">
            <a:avLst/>
          </a:prstGeom>
          <a:solidFill>
            <a:srgbClr val="F5A524"/>
          </a:solidFill>
          <a:ln w="12700">
            <a:solidFill>
              <a:srgbClr val="F5A524"/>
            </a:solidFill>
            <a:prstDash val="solid"/>
          </a:ln>
        </p:spPr>
      </p:sp>
      <p:sp>
        <p:nvSpPr>
          <p:cNvPr id="38" name="fb4__3"/>
          <p:cNvSpPr txBox="1"/>
          <p:nvPr/>
        </p:nvSpPr>
        <p:spPr>
          <a:xfrm>
            <a:off x="777240" y="4261104"/>
            <a:ext cx="2377440" cy="585216"/>
          </a:xfrm>
          <a:prstGeom prst="rect">
            <a:avLst/>
          </a:prstGeom>
          <a:noFill/>
          <a:ln/>
        </p:spPr>
        <p:txBody>
          <a:bodyPr wrap="square" lIns="0" tIns="0" rIns="0" bIns="0" rtlCol="0" anchor="ctr"/>
          <a:lstStyle/>
          <a:p>
            <a:pPr indent="0" marL="0">
              <a:buNone/>
            </a:pPr>
            <a:r>
              <a:rPr lang="en-US" sz="1400" b="1" dirty="0">
                <a:solidFill>
                  <a:srgbClr val="F1F5FB"/>
                </a:solidFill>
                <a:latin typeface="Arial" pitchFamily="34" charset="0"/>
                <a:ea typeface="Arial" pitchFamily="34" charset="-122"/>
                <a:cs typeface="Arial" pitchFamily="34" charset="-120"/>
              </a:rPr>
              <a:t>Innovation</a:t>
            </a:r>
            <a:endParaRPr lang="en-US" sz="1400" dirty="0"/>
          </a:p>
        </p:txBody>
      </p:sp>
      <p:sp>
        <p:nvSpPr>
          <p:cNvPr id="39" name="fb4__4"/>
          <p:cNvSpPr txBox="1"/>
          <p:nvPr/>
        </p:nvSpPr>
        <p:spPr>
          <a:xfrm>
            <a:off x="3108960" y="4261104"/>
            <a:ext cx="960120" cy="585216"/>
          </a:xfrm>
          <a:prstGeom prst="rect">
            <a:avLst/>
          </a:prstGeom>
          <a:noFill/>
          <a:ln/>
        </p:spPr>
        <p:txBody>
          <a:bodyPr wrap="square" lIns="0" tIns="0" rIns="0" bIns="0" rtlCol="0" anchor="ctr"/>
          <a:lstStyle/>
          <a:p>
            <a:pPr indent="0" marL="0">
              <a:buNone/>
            </a:pPr>
            <a:r>
              <a:rPr lang="en-US" sz="1300" b="1" dirty="0">
                <a:solidFill>
                  <a:srgbClr val="F5A524"/>
                </a:solidFill>
                <a:latin typeface="Arial" pitchFamily="34" charset="0"/>
                <a:ea typeface="Arial" pitchFamily="34" charset="-122"/>
                <a:cs typeface="Arial" pitchFamily="34" charset="-120"/>
              </a:rPr>
              <a:t>10%</a:t>
            </a:r>
            <a:endParaRPr lang="en-US" sz="1300" dirty="0"/>
          </a:p>
        </p:txBody>
      </p:sp>
      <p:sp>
        <p:nvSpPr>
          <p:cNvPr id="40" name="fb4__5"/>
          <p:cNvSpPr txBox="1"/>
          <p:nvPr/>
        </p:nvSpPr>
        <p:spPr>
          <a:xfrm>
            <a:off x="4160520" y="4261104"/>
            <a:ext cx="6629400" cy="585216"/>
          </a:xfrm>
          <a:prstGeom prst="rect">
            <a:avLst/>
          </a:prstGeom>
          <a:noFill/>
          <a:ln/>
        </p:spPr>
        <p:txBody>
          <a:bodyPr wrap="square" lIns="0" tIns="0" rIns="0" bIns="0" rtlCol="0" anchor="ctr"/>
          <a:lstStyle/>
          <a:p>
            <a:pPr indent="0" marL="0">
              <a:buNone/>
            </a:pPr>
            <a:r>
              <a:rPr lang="en-US" sz="1300" dirty="0">
                <a:solidFill>
                  <a:srgbClr val="F1F5FB"/>
                </a:solidFill>
                <a:latin typeface="Calibri" pitchFamily="34" charset="0"/>
                <a:ea typeface="Calibri" pitchFamily="34" charset="-122"/>
                <a:cs typeface="Calibri" pitchFamily="34" charset="-120"/>
              </a:rPr>
              <a:t>Rules miss 686 of 1,010 suspicious accounts; the graph model catches 561 of those</a:t>
            </a:r>
            <a:endParaRPr lang="en-US" sz="1300" dirty="0"/>
          </a:p>
        </p:txBody>
      </p:sp>
      <p:sp>
        <p:nvSpPr>
          <p:cNvPr id="41" name="fb4__6"/>
          <p:cNvSpPr txBox="1"/>
          <p:nvPr/>
        </p:nvSpPr>
        <p:spPr>
          <a:xfrm>
            <a:off x="10881360" y="4261104"/>
            <a:ext cx="640080" cy="585216"/>
          </a:xfrm>
          <a:prstGeom prst="rect">
            <a:avLst/>
          </a:prstGeom>
          <a:noFill/>
          <a:ln/>
        </p:spPr>
        <p:txBody>
          <a:bodyPr wrap="square" lIns="0" tIns="0" rIns="0" bIns="0" rtlCol="0" anchor="ctr"/>
          <a:lstStyle/>
          <a:p>
            <a:pPr algn="ctr" indent="0" marL="0">
              <a:buNone/>
            </a:pPr>
            <a:r>
              <a:rPr lang="en-US" sz="1300" b="1" dirty="0">
                <a:solidFill>
                  <a:srgbClr val="F5A524"/>
                </a:solidFill>
                <a:latin typeface="Arial" pitchFamily="34" charset="0"/>
                <a:ea typeface="Arial" pitchFamily="34" charset="-122"/>
                <a:cs typeface="Arial" pitchFamily="34" charset="-120"/>
              </a:rPr>
              <a:t>17 ▸</a:t>
            </a:r>
            <a:endParaRPr lang="en-US" sz="1300" dirty="0"/>
          </a:p>
        </p:txBody>
      </p:sp>
      <p:sp>
        <p:nvSpPr>
          <p:cNvPr id="42" name="fb4__7">
            <a:hlinkClick r:id="rId6" tooltip="Go to slide 17" action="ppaction://hlinksldjump"/>
          </p:cNvPr>
          <p:cNvSpPr/>
          <p:nvPr/>
        </p:nvSpPr>
        <p:spPr>
          <a:xfrm>
            <a:off x="548640" y="4261104"/>
            <a:ext cx="11091672" cy="585216"/>
          </a:xfrm>
          <a:prstGeom prst="roundRect">
            <a:avLst>
              <a:gd name="adj" fmla="val 18750"/>
            </a:avLst>
          </a:prstGeom>
          <a:solidFill>
            <a:srgbClr val="070B16">
              <a:alpha val="0"/>
            </a:srgbClr>
          </a:solidFill>
          <a:ln w="9525">
            <a:solidFill>
              <a:srgbClr val="F5A524">
                <a:alpha val="25000"/>
              </a:srgbClr>
            </a:solidFill>
            <a:prstDash val="solid"/>
          </a:ln>
        </p:spPr>
      </p:sp>
      <p:sp>
        <p:nvSpPr>
          <p:cNvPr id="43" name="fb5__1"/>
          <p:cNvSpPr/>
          <p:nvPr/>
        </p:nvSpPr>
        <p:spPr>
          <a:xfrm>
            <a:off x="548640" y="4910328"/>
            <a:ext cx="11091672" cy="585216"/>
          </a:xfrm>
          <a:prstGeom prst="roundRect">
            <a:avLst>
              <a:gd name="adj" fmla="val 18750"/>
            </a:avLst>
          </a:prstGeom>
          <a:solidFill>
            <a:srgbClr val="0E1729">
              <a:alpha val="90000"/>
            </a:srgbClr>
          </a:solidFill>
          <a:ln w="12700">
            <a:solidFill>
              <a:srgbClr val="22314F"/>
            </a:solidFill>
            <a:prstDash val="solid"/>
          </a:ln>
        </p:spPr>
      </p:sp>
      <p:sp>
        <p:nvSpPr>
          <p:cNvPr id="44" name="fb5__2"/>
          <p:cNvSpPr/>
          <p:nvPr/>
        </p:nvSpPr>
        <p:spPr>
          <a:xfrm>
            <a:off x="548640" y="5001768"/>
            <a:ext cx="54864" cy="402336"/>
          </a:xfrm>
          <a:prstGeom prst="rect">
            <a:avLst/>
          </a:prstGeom>
          <a:solidFill>
            <a:srgbClr val="38BDF8"/>
          </a:solidFill>
          <a:ln w="12700">
            <a:solidFill>
              <a:srgbClr val="38BDF8"/>
            </a:solidFill>
            <a:prstDash val="solid"/>
          </a:ln>
        </p:spPr>
      </p:sp>
      <p:sp>
        <p:nvSpPr>
          <p:cNvPr id="45" name="fb5__3"/>
          <p:cNvSpPr txBox="1"/>
          <p:nvPr/>
        </p:nvSpPr>
        <p:spPr>
          <a:xfrm>
            <a:off x="777240" y="4910328"/>
            <a:ext cx="2377440" cy="585216"/>
          </a:xfrm>
          <a:prstGeom prst="rect">
            <a:avLst/>
          </a:prstGeom>
          <a:noFill/>
          <a:ln/>
        </p:spPr>
        <p:txBody>
          <a:bodyPr wrap="square" lIns="0" tIns="0" rIns="0" bIns="0" rtlCol="0" anchor="ctr"/>
          <a:lstStyle/>
          <a:p>
            <a:pPr indent="0" marL="0">
              <a:buNone/>
            </a:pPr>
            <a:r>
              <a:rPr lang="en-US" sz="1400" b="1" dirty="0">
                <a:solidFill>
                  <a:srgbClr val="F1F5FB"/>
                </a:solidFill>
                <a:latin typeface="Arial" pitchFamily="34" charset="0"/>
                <a:ea typeface="Arial" pitchFamily="34" charset="-122"/>
                <a:cs typeface="Arial" pitchFamily="34" charset="-120"/>
              </a:rPr>
              <a:t>Scalability</a:t>
            </a:r>
            <a:endParaRPr lang="en-US" sz="1400" dirty="0"/>
          </a:p>
        </p:txBody>
      </p:sp>
      <p:sp>
        <p:nvSpPr>
          <p:cNvPr id="46" name="fb5__4"/>
          <p:cNvSpPr txBox="1"/>
          <p:nvPr/>
        </p:nvSpPr>
        <p:spPr>
          <a:xfrm>
            <a:off x="3108960" y="4910328"/>
            <a:ext cx="960120" cy="585216"/>
          </a:xfrm>
          <a:prstGeom prst="rect">
            <a:avLst/>
          </a:prstGeom>
          <a:noFill/>
          <a:ln/>
        </p:spPr>
        <p:txBody>
          <a:bodyPr wrap="square" lIns="0" tIns="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10%</a:t>
            </a:r>
            <a:endParaRPr lang="en-US" sz="1300" dirty="0"/>
          </a:p>
        </p:txBody>
      </p:sp>
      <p:sp>
        <p:nvSpPr>
          <p:cNvPr id="47" name="fb5__5"/>
          <p:cNvSpPr txBox="1"/>
          <p:nvPr/>
        </p:nvSpPr>
        <p:spPr>
          <a:xfrm>
            <a:off x="4160520" y="4910328"/>
            <a:ext cx="6629400" cy="585216"/>
          </a:xfrm>
          <a:prstGeom prst="rect">
            <a:avLst/>
          </a:prstGeom>
          <a:noFill/>
          <a:ln/>
        </p:spPr>
        <p:txBody>
          <a:bodyPr wrap="square" lIns="0" tIns="0" rIns="0" bIns="0" rtlCol="0" anchor="ctr"/>
          <a:lstStyle/>
          <a:p>
            <a:pPr indent="0" marL="0">
              <a:buNone/>
            </a:pPr>
            <a:r>
              <a:rPr lang="en-US" sz="1300" dirty="0">
                <a:solidFill>
                  <a:srgbClr val="F1F5FB"/>
                </a:solidFill>
                <a:latin typeface="Calibri" pitchFamily="34" charset="0"/>
                <a:ea typeface="Calibri" pitchFamily="34" charset="-122"/>
                <a:cs typeface="Calibri" pitchFamily="34" charset="-120"/>
              </a:rPr>
              <a:t>1.06M transactions scored in 18.9 s on one laptop process; API p95 under 6 ms; streaming + graph-DB path</a:t>
            </a:r>
            <a:endParaRPr lang="en-US" sz="1300" dirty="0"/>
          </a:p>
        </p:txBody>
      </p:sp>
      <p:sp>
        <p:nvSpPr>
          <p:cNvPr id="48" name="fb5__6"/>
          <p:cNvSpPr txBox="1"/>
          <p:nvPr/>
        </p:nvSpPr>
        <p:spPr>
          <a:xfrm>
            <a:off x="10881360" y="4910328"/>
            <a:ext cx="640080" cy="585216"/>
          </a:xfrm>
          <a:prstGeom prst="rect">
            <a:avLst/>
          </a:prstGeom>
          <a:noFill/>
          <a:ln/>
        </p:spPr>
        <p:txBody>
          <a:bodyPr wrap="square" lIns="0" tIns="0" rIns="0" bIns="0" rtlCol="0" anchor="ctr"/>
          <a:lstStyle/>
          <a:p>
            <a:pPr algn="ctr" indent="0" marL="0">
              <a:buNone/>
            </a:pPr>
            <a:r>
              <a:rPr lang="en-US" sz="1300" b="1" dirty="0">
                <a:solidFill>
                  <a:srgbClr val="38BDF8"/>
                </a:solidFill>
                <a:latin typeface="Arial" pitchFamily="34" charset="0"/>
                <a:ea typeface="Arial" pitchFamily="34" charset="-122"/>
                <a:cs typeface="Arial" pitchFamily="34" charset="-120"/>
              </a:rPr>
              <a:t>19 ▸</a:t>
            </a:r>
            <a:endParaRPr lang="en-US" sz="1300" dirty="0"/>
          </a:p>
        </p:txBody>
      </p:sp>
      <p:sp>
        <p:nvSpPr>
          <p:cNvPr id="49" name="fb5__7">
            <a:hlinkClick r:id="rId7" tooltip="Go to slide 19" action="ppaction://hlinksldjump"/>
          </p:cNvPr>
          <p:cNvSpPr/>
          <p:nvPr/>
        </p:nvSpPr>
        <p:spPr>
          <a:xfrm>
            <a:off x="548640" y="4910328"/>
            <a:ext cx="11091672" cy="585216"/>
          </a:xfrm>
          <a:prstGeom prst="roundRect">
            <a:avLst>
              <a:gd name="adj" fmla="val 18750"/>
            </a:avLst>
          </a:prstGeom>
          <a:solidFill>
            <a:srgbClr val="070B16">
              <a:alpha val="0"/>
            </a:srgbClr>
          </a:solidFill>
          <a:ln w="9525">
            <a:solidFill>
              <a:srgbClr val="38BDF8">
                <a:alpha val="25000"/>
              </a:srgbClr>
            </a:solidFill>
            <a:prstDash val="solid"/>
          </a:ln>
        </p:spPr>
      </p:sp>
      <p:sp>
        <p:nvSpPr>
          <p:cNvPr id="50" name="fb6__1"/>
          <p:cNvSpPr/>
          <p:nvPr/>
        </p:nvSpPr>
        <p:spPr>
          <a:xfrm>
            <a:off x="548640" y="5559552"/>
            <a:ext cx="11091672" cy="585216"/>
          </a:xfrm>
          <a:prstGeom prst="roundRect">
            <a:avLst>
              <a:gd name="adj" fmla="val 18750"/>
            </a:avLst>
          </a:prstGeom>
          <a:solidFill>
            <a:srgbClr val="0E1729">
              <a:alpha val="90000"/>
            </a:srgbClr>
          </a:solidFill>
          <a:ln w="12700">
            <a:solidFill>
              <a:srgbClr val="22314F"/>
            </a:solidFill>
            <a:prstDash val="solid"/>
          </a:ln>
        </p:spPr>
      </p:sp>
      <p:sp>
        <p:nvSpPr>
          <p:cNvPr id="51" name="fb6__2"/>
          <p:cNvSpPr/>
          <p:nvPr/>
        </p:nvSpPr>
        <p:spPr>
          <a:xfrm>
            <a:off x="548640" y="5650992"/>
            <a:ext cx="54864" cy="402336"/>
          </a:xfrm>
          <a:prstGeom prst="rect">
            <a:avLst/>
          </a:prstGeom>
          <a:solidFill>
            <a:srgbClr val="34D399"/>
          </a:solidFill>
          <a:ln w="12700">
            <a:solidFill>
              <a:srgbClr val="34D399"/>
            </a:solidFill>
            <a:prstDash val="solid"/>
          </a:ln>
        </p:spPr>
      </p:sp>
      <p:sp>
        <p:nvSpPr>
          <p:cNvPr id="52" name="fb6__3"/>
          <p:cNvSpPr txBox="1"/>
          <p:nvPr/>
        </p:nvSpPr>
        <p:spPr>
          <a:xfrm>
            <a:off x="777240" y="5559552"/>
            <a:ext cx="2377440" cy="585216"/>
          </a:xfrm>
          <a:prstGeom prst="rect">
            <a:avLst/>
          </a:prstGeom>
          <a:noFill/>
          <a:ln/>
        </p:spPr>
        <p:txBody>
          <a:bodyPr wrap="square" lIns="0" tIns="0" rIns="0" bIns="0" rtlCol="0" anchor="ctr"/>
          <a:lstStyle/>
          <a:p>
            <a:pPr indent="0" marL="0">
              <a:buNone/>
            </a:pPr>
            <a:r>
              <a:rPr lang="en-US" sz="1400" b="1" dirty="0">
                <a:solidFill>
                  <a:srgbClr val="F1F5FB"/>
                </a:solidFill>
                <a:latin typeface="Arial" pitchFamily="34" charset="0"/>
                <a:ea typeface="Arial" pitchFamily="34" charset="-122"/>
                <a:cs typeface="Arial" pitchFamily="34" charset="-120"/>
              </a:rPr>
              <a:t>Responsible AI</a:t>
            </a:r>
            <a:endParaRPr lang="en-US" sz="1400" dirty="0"/>
          </a:p>
        </p:txBody>
      </p:sp>
      <p:sp>
        <p:nvSpPr>
          <p:cNvPr id="53" name="fb6__4"/>
          <p:cNvSpPr txBox="1"/>
          <p:nvPr/>
        </p:nvSpPr>
        <p:spPr>
          <a:xfrm>
            <a:off x="3108960" y="5559552"/>
            <a:ext cx="960120" cy="585216"/>
          </a:xfrm>
          <a:prstGeom prst="rect">
            <a:avLst/>
          </a:prstGeom>
          <a:noFill/>
          <a:ln/>
        </p:spPr>
        <p:txBody>
          <a:bodyPr wrap="square" lIns="0" tIns="0" rIns="0" bIns="0" rtlCol="0" anchor="ctr"/>
          <a:lstStyle/>
          <a:p>
            <a:pPr indent="0" marL="0">
              <a:buNone/>
            </a:pPr>
            <a:r>
              <a:rPr lang="en-US" sz="1300" b="1" dirty="0">
                <a:solidFill>
                  <a:srgbClr val="34D399"/>
                </a:solidFill>
                <a:latin typeface="Arial" pitchFamily="34" charset="0"/>
                <a:ea typeface="Arial" pitchFamily="34" charset="-122"/>
                <a:cs typeface="Arial" pitchFamily="34" charset="-120"/>
              </a:rPr>
              <a:t>5%</a:t>
            </a:r>
            <a:endParaRPr lang="en-US" sz="1300" dirty="0"/>
          </a:p>
        </p:txBody>
      </p:sp>
      <p:sp>
        <p:nvSpPr>
          <p:cNvPr id="54" name="fb6__5"/>
          <p:cNvSpPr txBox="1"/>
          <p:nvPr/>
        </p:nvSpPr>
        <p:spPr>
          <a:xfrm>
            <a:off x="4160520" y="5559552"/>
            <a:ext cx="6629400" cy="585216"/>
          </a:xfrm>
          <a:prstGeom prst="rect">
            <a:avLst/>
          </a:prstGeom>
          <a:noFill/>
          <a:ln/>
        </p:spPr>
        <p:txBody>
          <a:bodyPr wrap="square" lIns="0" tIns="0" rIns="0" bIns="0" rtlCol="0" anchor="ctr"/>
          <a:lstStyle/>
          <a:p>
            <a:pPr indent="0" marL="0">
              <a:buNone/>
            </a:pPr>
            <a:r>
              <a:rPr lang="en-US" sz="1300" dirty="0">
                <a:solidFill>
                  <a:srgbClr val="F1F5FB"/>
                </a:solidFill>
                <a:latin typeface="Calibri" pitchFamily="34" charset="0"/>
                <a:ea typeface="Calibri" pitchFamily="34" charset="-122"/>
                <a:cs typeface="Calibri" pitchFamily="34" charset="-120"/>
              </a:rPr>
              <a:t>Two roles, hash-chained audit log, PII masking with logged reveal, bias check by account tier and district</a:t>
            </a:r>
            <a:endParaRPr lang="en-US" sz="1300" dirty="0"/>
          </a:p>
        </p:txBody>
      </p:sp>
      <p:sp>
        <p:nvSpPr>
          <p:cNvPr id="55" name="fb6__6"/>
          <p:cNvSpPr txBox="1"/>
          <p:nvPr/>
        </p:nvSpPr>
        <p:spPr>
          <a:xfrm>
            <a:off x="10881360" y="5559552"/>
            <a:ext cx="640080" cy="585216"/>
          </a:xfrm>
          <a:prstGeom prst="rect">
            <a:avLst/>
          </a:prstGeom>
          <a:noFill/>
          <a:ln/>
        </p:spPr>
        <p:txBody>
          <a:bodyPr wrap="square" lIns="0" tIns="0" rIns="0" bIns="0" rtlCol="0" anchor="ctr"/>
          <a:lstStyle/>
          <a:p>
            <a:pPr algn="ctr" indent="0" marL="0">
              <a:buNone/>
            </a:pPr>
            <a:r>
              <a:rPr lang="en-US" sz="1300" b="1" dirty="0">
                <a:solidFill>
                  <a:srgbClr val="34D399"/>
                </a:solidFill>
                <a:latin typeface="Arial" pitchFamily="34" charset="0"/>
                <a:ea typeface="Arial" pitchFamily="34" charset="-122"/>
                <a:cs typeface="Arial" pitchFamily="34" charset="-120"/>
              </a:rPr>
              <a:t>20 ▸</a:t>
            </a:r>
            <a:endParaRPr lang="en-US" sz="1300" dirty="0"/>
          </a:p>
        </p:txBody>
      </p:sp>
      <p:sp>
        <p:nvSpPr>
          <p:cNvPr id="56" name="fb6__7">
            <a:hlinkClick r:id="rId8" tooltip="Go to slide 20" action="ppaction://hlinksldjump"/>
          </p:cNvPr>
          <p:cNvSpPr/>
          <p:nvPr/>
        </p:nvSpPr>
        <p:spPr>
          <a:xfrm>
            <a:off x="548640" y="5559552"/>
            <a:ext cx="11091672" cy="585216"/>
          </a:xfrm>
          <a:prstGeom prst="roundRect">
            <a:avLst>
              <a:gd name="adj" fmla="val 18750"/>
            </a:avLst>
          </a:prstGeom>
          <a:solidFill>
            <a:srgbClr val="070B16">
              <a:alpha val="0"/>
            </a:srgbClr>
          </a:solidFill>
          <a:ln w="9525">
            <a:solidFill>
              <a:srgbClr val="34D399">
                <a:alpha val="25000"/>
              </a:srgbClr>
            </a:solidFill>
            <a:prstDash val="solid"/>
          </a:ln>
        </p:spPr>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anim calcmode="lin" valueType="num">
                                      <p:cBhvr additive="base">
                                        <p:cTn id="8" dur="400" fill="hold"/>
                                        <p:tgtEl>
                                          <p:spTgt spid="8"/>
                                        </p:tgtEl>
                                        <p:attrNameLst>
                                          <p:attrName>ppt_x</p:attrName>
                                        </p:attrNameLst>
                                      </p:cBhvr>
                                      <p:tavLst>
                                        <p:tav tm="0">
                                          <p:val>
                                            <p:strVal val="#ppt_x"/>
                                          </p:val>
                                        </p:tav>
                                        <p:tav tm="100000">
                                          <p:val>
                                            <p:strVal val="#ppt_x"/>
                                          </p:val>
                                        </p:tav>
                                      </p:tavLst>
                                    </p:anim>
                                    <p:anim calcmode="lin" valueType="num">
                                      <p:cBhvr additive="base">
                                        <p:cTn id="9" dur="4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anim calcmode="lin" valueType="num">
                                      <p:cBhvr additive="base">
                                        <p:cTn id="13" dur="400" fill="hold"/>
                                        <p:tgtEl>
                                          <p:spTgt spid="9"/>
                                        </p:tgtEl>
                                        <p:attrNameLst>
                                          <p:attrName>ppt_x</p:attrName>
                                        </p:attrNameLst>
                                      </p:cBhvr>
                                      <p:tavLst>
                                        <p:tav tm="0">
                                          <p:val>
                                            <p:strVal val="#ppt_x"/>
                                          </p:val>
                                        </p:tav>
                                        <p:tav tm="100000">
                                          <p:val>
                                            <p:strVal val="#ppt_x"/>
                                          </p:val>
                                        </p:tav>
                                      </p:tavLst>
                                    </p:anim>
                                    <p:anim calcmode="lin" valueType="num">
                                      <p:cBhvr additive="base">
                                        <p:cTn id="14" dur="4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anim calcmode="lin" valueType="num">
                                      <p:cBhvr additive="base">
                                        <p:cTn id="18" dur="400" fill="hold"/>
                                        <p:tgtEl>
                                          <p:spTgt spid="10"/>
                                        </p:tgtEl>
                                        <p:attrNameLst>
                                          <p:attrName>ppt_x</p:attrName>
                                        </p:attrNameLst>
                                      </p:cBhvr>
                                      <p:tavLst>
                                        <p:tav tm="0">
                                          <p:val>
                                            <p:strVal val="#ppt_x"/>
                                          </p:val>
                                        </p:tav>
                                        <p:tav tm="100000">
                                          <p:val>
                                            <p:strVal val="#ppt_x"/>
                                          </p:val>
                                        </p:tav>
                                      </p:tavLst>
                                    </p:anim>
                                    <p:anim calcmode="lin" valueType="num">
                                      <p:cBhvr additive="base">
                                        <p:cTn id="19" dur="4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anim calcmode="lin" valueType="num">
                                      <p:cBhvr additive="base">
                                        <p:cTn id="23" dur="400" fill="hold"/>
                                        <p:tgtEl>
                                          <p:spTgt spid="11"/>
                                        </p:tgtEl>
                                        <p:attrNameLst>
                                          <p:attrName>ppt_x</p:attrName>
                                        </p:attrNameLst>
                                      </p:cBhvr>
                                      <p:tavLst>
                                        <p:tav tm="0">
                                          <p:val>
                                            <p:strVal val="#ppt_x"/>
                                          </p:val>
                                        </p:tav>
                                        <p:tav tm="100000">
                                          <p:val>
                                            <p:strVal val="#ppt_x"/>
                                          </p:val>
                                        </p:tav>
                                      </p:tavLst>
                                    </p:anim>
                                    <p:anim calcmode="lin" valueType="num">
                                      <p:cBhvr additive="base">
                                        <p:cTn id="24" dur="4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2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anim calcmode="lin" valueType="num">
                                      <p:cBhvr additive="base">
                                        <p:cTn id="28" dur="400" fill="hold"/>
                                        <p:tgtEl>
                                          <p:spTgt spid="12"/>
                                        </p:tgtEl>
                                        <p:attrNameLst>
                                          <p:attrName>ppt_x</p:attrName>
                                        </p:attrNameLst>
                                      </p:cBhvr>
                                      <p:tavLst>
                                        <p:tav tm="0">
                                          <p:val>
                                            <p:strVal val="#ppt_x"/>
                                          </p:val>
                                        </p:tav>
                                        <p:tav tm="100000">
                                          <p:val>
                                            <p:strVal val="#ppt_x"/>
                                          </p:val>
                                        </p:tav>
                                      </p:tavLst>
                                    </p:anim>
                                    <p:anim calcmode="lin" valueType="num">
                                      <p:cBhvr additive="base">
                                        <p:cTn id="29" dur="400" fill="hold"/>
                                        <p:tgtEl>
                                          <p:spTgt spid="12"/>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20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anim calcmode="lin" valueType="num">
                                      <p:cBhvr additive="base">
                                        <p:cTn id="33" dur="400" fill="hold"/>
                                        <p:tgtEl>
                                          <p:spTgt spid="13"/>
                                        </p:tgtEl>
                                        <p:attrNameLst>
                                          <p:attrName>ppt_x</p:attrName>
                                        </p:attrNameLst>
                                      </p:cBhvr>
                                      <p:tavLst>
                                        <p:tav tm="0">
                                          <p:val>
                                            <p:strVal val="#ppt_x"/>
                                          </p:val>
                                        </p:tav>
                                        <p:tav tm="100000">
                                          <p:val>
                                            <p:strVal val="#ppt_x"/>
                                          </p:val>
                                        </p:tav>
                                      </p:tavLst>
                                    </p:anim>
                                    <p:anim calcmode="lin" valueType="num">
                                      <p:cBhvr additive="base">
                                        <p:cTn id="34" dur="400" fill="hold"/>
                                        <p:tgtEl>
                                          <p:spTgt spid="1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2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anim calcmode="lin" valueType="num">
                                      <p:cBhvr additive="base">
                                        <p:cTn id="38" dur="400" fill="hold"/>
                                        <p:tgtEl>
                                          <p:spTgt spid="14"/>
                                        </p:tgtEl>
                                        <p:attrNameLst>
                                          <p:attrName>ppt_x</p:attrName>
                                        </p:attrNameLst>
                                      </p:cBhvr>
                                      <p:tavLst>
                                        <p:tav tm="0">
                                          <p:val>
                                            <p:strVal val="#ppt_x"/>
                                          </p:val>
                                        </p:tav>
                                        <p:tav tm="100000">
                                          <p:val>
                                            <p:strVal val="#ppt_x"/>
                                          </p:val>
                                        </p:tav>
                                      </p:tavLst>
                                    </p:anim>
                                    <p:anim calcmode="lin" valueType="num">
                                      <p:cBhvr additive="base">
                                        <p:cTn id="39" dur="400" fill="hold"/>
                                        <p:tgtEl>
                                          <p:spTgt spid="14"/>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38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00"/>
                                        <p:tgtEl>
                                          <p:spTgt spid="15"/>
                                        </p:tgtEl>
                                      </p:cBhvr>
                                    </p:animEffect>
                                    <p:anim calcmode="lin" valueType="num">
                                      <p:cBhvr additive="base">
                                        <p:cTn id="43" dur="400" fill="hold"/>
                                        <p:tgtEl>
                                          <p:spTgt spid="15"/>
                                        </p:tgtEl>
                                        <p:attrNameLst>
                                          <p:attrName>ppt_x</p:attrName>
                                        </p:attrNameLst>
                                      </p:cBhvr>
                                      <p:tavLst>
                                        <p:tav tm="0">
                                          <p:val>
                                            <p:strVal val="#ppt_x"/>
                                          </p:val>
                                        </p:tav>
                                        <p:tav tm="100000">
                                          <p:val>
                                            <p:strVal val="#ppt_x"/>
                                          </p:val>
                                        </p:tav>
                                      </p:tavLst>
                                    </p:anim>
                                    <p:anim calcmode="lin" valueType="num">
                                      <p:cBhvr additive="base">
                                        <p:cTn id="44" dur="400" fill="hold"/>
                                        <p:tgtEl>
                                          <p:spTgt spid="1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38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00"/>
                                        <p:tgtEl>
                                          <p:spTgt spid="16"/>
                                        </p:tgtEl>
                                      </p:cBhvr>
                                    </p:animEffect>
                                    <p:anim calcmode="lin" valueType="num">
                                      <p:cBhvr additive="base">
                                        <p:cTn id="48" dur="400" fill="hold"/>
                                        <p:tgtEl>
                                          <p:spTgt spid="16"/>
                                        </p:tgtEl>
                                        <p:attrNameLst>
                                          <p:attrName>ppt_x</p:attrName>
                                        </p:attrNameLst>
                                      </p:cBhvr>
                                      <p:tavLst>
                                        <p:tav tm="0">
                                          <p:val>
                                            <p:strVal val="#ppt_x"/>
                                          </p:val>
                                        </p:tav>
                                        <p:tav tm="100000">
                                          <p:val>
                                            <p:strVal val="#ppt_x"/>
                                          </p:val>
                                        </p:tav>
                                      </p:tavLst>
                                    </p:anim>
                                    <p:anim calcmode="lin" valueType="num">
                                      <p:cBhvr additive="base">
                                        <p:cTn id="49" dur="400" fill="hold"/>
                                        <p:tgtEl>
                                          <p:spTgt spid="16"/>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38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00"/>
                                        <p:tgtEl>
                                          <p:spTgt spid="17"/>
                                        </p:tgtEl>
                                      </p:cBhvr>
                                    </p:animEffect>
                                    <p:anim calcmode="lin" valueType="num">
                                      <p:cBhvr additive="base">
                                        <p:cTn id="53" dur="400" fill="hold"/>
                                        <p:tgtEl>
                                          <p:spTgt spid="17"/>
                                        </p:tgtEl>
                                        <p:attrNameLst>
                                          <p:attrName>ppt_x</p:attrName>
                                        </p:attrNameLst>
                                      </p:cBhvr>
                                      <p:tavLst>
                                        <p:tav tm="0">
                                          <p:val>
                                            <p:strVal val="#ppt_x"/>
                                          </p:val>
                                        </p:tav>
                                        <p:tav tm="100000">
                                          <p:val>
                                            <p:strVal val="#ppt_x"/>
                                          </p:val>
                                        </p:tav>
                                      </p:tavLst>
                                    </p:anim>
                                    <p:anim calcmode="lin" valueType="num">
                                      <p:cBhvr additive="base">
                                        <p:cTn id="54" dur="400" fill="hold"/>
                                        <p:tgtEl>
                                          <p:spTgt spid="17"/>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38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400"/>
                                        <p:tgtEl>
                                          <p:spTgt spid="18"/>
                                        </p:tgtEl>
                                      </p:cBhvr>
                                    </p:animEffect>
                                    <p:anim calcmode="lin" valueType="num">
                                      <p:cBhvr additive="base">
                                        <p:cTn id="58" dur="400" fill="hold"/>
                                        <p:tgtEl>
                                          <p:spTgt spid="18"/>
                                        </p:tgtEl>
                                        <p:attrNameLst>
                                          <p:attrName>ppt_x</p:attrName>
                                        </p:attrNameLst>
                                      </p:cBhvr>
                                      <p:tavLst>
                                        <p:tav tm="0">
                                          <p:val>
                                            <p:strVal val="#ppt_x"/>
                                          </p:val>
                                        </p:tav>
                                        <p:tav tm="100000">
                                          <p:val>
                                            <p:strVal val="#ppt_x"/>
                                          </p:val>
                                        </p:tav>
                                      </p:tavLst>
                                    </p:anim>
                                    <p:anim calcmode="lin" valueType="num">
                                      <p:cBhvr additive="base">
                                        <p:cTn id="59" dur="400" fill="hold"/>
                                        <p:tgtEl>
                                          <p:spTgt spid="18"/>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38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400"/>
                                        <p:tgtEl>
                                          <p:spTgt spid="19"/>
                                        </p:tgtEl>
                                      </p:cBhvr>
                                    </p:animEffect>
                                    <p:anim calcmode="lin" valueType="num">
                                      <p:cBhvr additive="base">
                                        <p:cTn id="63" dur="400" fill="hold"/>
                                        <p:tgtEl>
                                          <p:spTgt spid="19"/>
                                        </p:tgtEl>
                                        <p:attrNameLst>
                                          <p:attrName>ppt_x</p:attrName>
                                        </p:attrNameLst>
                                      </p:cBhvr>
                                      <p:tavLst>
                                        <p:tav tm="0">
                                          <p:val>
                                            <p:strVal val="#ppt_x"/>
                                          </p:val>
                                        </p:tav>
                                        <p:tav tm="100000">
                                          <p:val>
                                            <p:strVal val="#ppt_x"/>
                                          </p:val>
                                        </p:tav>
                                      </p:tavLst>
                                    </p:anim>
                                    <p:anim calcmode="lin" valueType="num">
                                      <p:cBhvr additive="base">
                                        <p:cTn id="64" dur="400" fill="hold"/>
                                        <p:tgtEl>
                                          <p:spTgt spid="19"/>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38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400"/>
                                        <p:tgtEl>
                                          <p:spTgt spid="20"/>
                                        </p:tgtEl>
                                      </p:cBhvr>
                                    </p:animEffect>
                                    <p:anim calcmode="lin" valueType="num">
                                      <p:cBhvr additive="base">
                                        <p:cTn id="68" dur="400" fill="hold"/>
                                        <p:tgtEl>
                                          <p:spTgt spid="20"/>
                                        </p:tgtEl>
                                        <p:attrNameLst>
                                          <p:attrName>ppt_x</p:attrName>
                                        </p:attrNameLst>
                                      </p:cBhvr>
                                      <p:tavLst>
                                        <p:tav tm="0">
                                          <p:val>
                                            <p:strVal val="#ppt_x"/>
                                          </p:val>
                                        </p:tav>
                                        <p:tav tm="100000">
                                          <p:val>
                                            <p:strVal val="#ppt_x"/>
                                          </p:val>
                                        </p:tav>
                                      </p:tavLst>
                                    </p:anim>
                                    <p:anim calcmode="lin" valueType="num">
                                      <p:cBhvr additive="base">
                                        <p:cTn id="69" dur="400" fill="hold"/>
                                        <p:tgtEl>
                                          <p:spTgt spid="20"/>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38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400"/>
                                        <p:tgtEl>
                                          <p:spTgt spid="21"/>
                                        </p:tgtEl>
                                      </p:cBhvr>
                                    </p:animEffect>
                                    <p:anim calcmode="lin" valueType="num">
                                      <p:cBhvr additive="base">
                                        <p:cTn id="73" dur="400" fill="hold"/>
                                        <p:tgtEl>
                                          <p:spTgt spid="21"/>
                                        </p:tgtEl>
                                        <p:attrNameLst>
                                          <p:attrName>ppt_x</p:attrName>
                                        </p:attrNameLst>
                                      </p:cBhvr>
                                      <p:tavLst>
                                        <p:tav tm="0">
                                          <p:val>
                                            <p:strVal val="#ppt_x"/>
                                          </p:val>
                                        </p:tav>
                                        <p:tav tm="100000">
                                          <p:val>
                                            <p:strVal val="#ppt_x"/>
                                          </p:val>
                                        </p:tav>
                                      </p:tavLst>
                                    </p:anim>
                                    <p:anim calcmode="lin" valueType="num">
                                      <p:cBhvr additive="base">
                                        <p:cTn id="74" dur="400" fill="hold"/>
                                        <p:tgtEl>
                                          <p:spTgt spid="21"/>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56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400"/>
                                        <p:tgtEl>
                                          <p:spTgt spid="22"/>
                                        </p:tgtEl>
                                      </p:cBhvr>
                                    </p:animEffect>
                                    <p:anim calcmode="lin" valueType="num">
                                      <p:cBhvr additive="base">
                                        <p:cTn id="78" dur="400" fill="hold"/>
                                        <p:tgtEl>
                                          <p:spTgt spid="22"/>
                                        </p:tgtEl>
                                        <p:attrNameLst>
                                          <p:attrName>ppt_x</p:attrName>
                                        </p:attrNameLst>
                                      </p:cBhvr>
                                      <p:tavLst>
                                        <p:tav tm="0">
                                          <p:val>
                                            <p:strVal val="#ppt_x"/>
                                          </p:val>
                                        </p:tav>
                                        <p:tav tm="100000">
                                          <p:val>
                                            <p:strVal val="#ppt_x"/>
                                          </p:val>
                                        </p:tav>
                                      </p:tavLst>
                                    </p:anim>
                                    <p:anim calcmode="lin" valueType="num">
                                      <p:cBhvr additive="base">
                                        <p:cTn id="79" dur="400" fill="hold"/>
                                        <p:tgtEl>
                                          <p:spTgt spid="22"/>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56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400"/>
                                        <p:tgtEl>
                                          <p:spTgt spid="23"/>
                                        </p:tgtEl>
                                      </p:cBhvr>
                                    </p:animEffect>
                                    <p:anim calcmode="lin" valueType="num">
                                      <p:cBhvr additive="base">
                                        <p:cTn id="83" dur="400" fill="hold"/>
                                        <p:tgtEl>
                                          <p:spTgt spid="23"/>
                                        </p:tgtEl>
                                        <p:attrNameLst>
                                          <p:attrName>ppt_x</p:attrName>
                                        </p:attrNameLst>
                                      </p:cBhvr>
                                      <p:tavLst>
                                        <p:tav tm="0">
                                          <p:val>
                                            <p:strVal val="#ppt_x"/>
                                          </p:val>
                                        </p:tav>
                                        <p:tav tm="100000">
                                          <p:val>
                                            <p:strVal val="#ppt_x"/>
                                          </p:val>
                                        </p:tav>
                                      </p:tavLst>
                                    </p:anim>
                                    <p:anim calcmode="lin" valueType="num">
                                      <p:cBhvr additive="base">
                                        <p:cTn id="84" dur="400" fill="hold"/>
                                        <p:tgtEl>
                                          <p:spTgt spid="23"/>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56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400"/>
                                        <p:tgtEl>
                                          <p:spTgt spid="24"/>
                                        </p:tgtEl>
                                      </p:cBhvr>
                                    </p:animEffect>
                                    <p:anim calcmode="lin" valueType="num">
                                      <p:cBhvr additive="base">
                                        <p:cTn id="88" dur="400" fill="hold"/>
                                        <p:tgtEl>
                                          <p:spTgt spid="24"/>
                                        </p:tgtEl>
                                        <p:attrNameLst>
                                          <p:attrName>ppt_x</p:attrName>
                                        </p:attrNameLst>
                                      </p:cBhvr>
                                      <p:tavLst>
                                        <p:tav tm="0">
                                          <p:val>
                                            <p:strVal val="#ppt_x"/>
                                          </p:val>
                                        </p:tav>
                                        <p:tav tm="100000">
                                          <p:val>
                                            <p:strVal val="#ppt_x"/>
                                          </p:val>
                                        </p:tav>
                                      </p:tavLst>
                                    </p:anim>
                                    <p:anim calcmode="lin" valueType="num">
                                      <p:cBhvr additive="base">
                                        <p:cTn id="89" dur="400" fill="hold"/>
                                        <p:tgtEl>
                                          <p:spTgt spid="24"/>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56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400"/>
                                        <p:tgtEl>
                                          <p:spTgt spid="25"/>
                                        </p:tgtEl>
                                      </p:cBhvr>
                                    </p:animEffect>
                                    <p:anim calcmode="lin" valueType="num">
                                      <p:cBhvr additive="base">
                                        <p:cTn id="93" dur="400" fill="hold"/>
                                        <p:tgtEl>
                                          <p:spTgt spid="25"/>
                                        </p:tgtEl>
                                        <p:attrNameLst>
                                          <p:attrName>ppt_x</p:attrName>
                                        </p:attrNameLst>
                                      </p:cBhvr>
                                      <p:tavLst>
                                        <p:tav tm="0">
                                          <p:val>
                                            <p:strVal val="#ppt_x"/>
                                          </p:val>
                                        </p:tav>
                                        <p:tav tm="100000">
                                          <p:val>
                                            <p:strVal val="#ppt_x"/>
                                          </p:val>
                                        </p:tav>
                                      </p:tavLst>
                                    </p:anim>
                                    <p:anim calcmode="lin" valueType="num">
                                      <p:cBhvr additive="base">
                                        <p:cTn id="94" dur="400" fill="hold"/>
                                        <p:tgtEl>
                                          <p:spTgt spid="25"/>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56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400"/>
                                        <p:tgtEl>
                                          <p:spTgt spid="26"/>
                                        </p:tgtEl>
                                      </p:cBhvr>
                                    </p:animEffect>
                                    <p:anim calcmode="lin" valueType="num">
                                      <p:cBhvr additive="base">
                                        <p:cTn id="98" dur="400" fill="hold"/>
                                        <p:tgtEl>
                                          <p:spTgt spid="26"/>
                                        </p:tgtEl>
                                        <p:attrNameLst>
                                          <p:attrName>ppt_x</p:attrName>
                                        </p:attrNameLst>
                                      </p:cBhvr>
                                      <p:tavLst>
                                        <p:tav tm="0">
                                          <p:val>
                                            <p:strVal val="#ppt_x"/>
                                          </p:val>
                                        </p:tav>
                                        <p:tav tm="100000">
                                          <p:val>
                                            <p:strVal val="#ppt_x"/>
                                          </p:val>
                                        </p:tav>
                                      </p:tavLst>
                                    </p:anim>
                                    <p:anim calcmode="lin" valueType="num">
                                      <p:cBhvr additive="base">
                                        <p:cTn id="99" dur="400" fill="hold"/>
                                        <p:tgtEl>
                                          <p:spTgt spid="26"/>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56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400"/>
                                        <p:tgtEl>
                                          <p:spTgt spid="27"/>
                                        </p:tgtEl>
                                      </p:cBhvr>
                                    </p:animEffect>
                                    <p:anim calcmode="lin" valueType="num">
                                      <p:cBhvr additive="base">
                                        <p:cTn id="103" dur="400" fill="hold"/>
                                        <p:tgtEl>
                                          <p:spTgt spid="27"/>
                                        </p:tgtEl>
                                        <p:attrNameLst>
                                          <p:attrName>ppt_x</p:attrName>
                                        </p:attrNameLst>
                                      </p:cBhvr>
                                      <p:tavLst>
                                        <p:tav tm="0">
                                          <p:val>
                                            <p:strVal val="#ppt_x"/>
                                          </p:val>
                                        </p:tav>
                                        <p:tav tm="100000">
                                          <p:val>
                                            <p:strVal val="#ppt_x"/>
                                          </p:val>
                                        </p:tav>
                                      </p:tavLst>
                                    </p:anim>
                                    <p:anim calcmode="lin" valueType="num">
                                      <p:cBhvr additive="base">
                                        <p:cTn id="104" dur="400" fill="hold"/>
                                        <p:tgtEl>
                                          <p:spTgt spid="27"/>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56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400"/>
                                        <p:tgtEl>
                                          <p:spTgt spid="28"/>
                                        </p:tgtEl>
                                      </p:cBhvr>
                                    </p:animEffect>
                                    <p:anim calcmode="lin" valueType="num">
                                      <p:cBhvr additive="base">
                                        <p:cTn id="108" dur="400" fill="hold"/>
                                        <p:tgtEl>
                                          <p:spTgt spid="28"/>
                                        </p:tgtEl>
                                        <p:attrNameLst>
                                          <p:attrName>ppt_x</p:attrName>
                                        </p:attrNameLst>
                                      </p:cBhvr>
                                      <p:tavLst>
                                        <p:tav tm="0">
                                          <p:val>
                                            <p:strVal val="#ppt_x"/>
                                          </p:val>
                                        </p:tav>
                                        <p:tav tm="100000">
                                          <p:val>
                                            <p:strVal val="#ppt_x"/>
                                          </p:val>
                                        </p:tav>
                                      </p:tavLst>
                                    </p:anim>
                                    <p:anim calcmode="lin" valueType="num">
                                      <p:cBhvr additive="base">
                                        <p:cTn id="109" dur="400" fill="hold"/>
                                        <p:tgtEl>
                                          <p:spTgt spid="28"/>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74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400"/>
                                        <p:tgtEl>
                                          <p:spTgt spid="29"/>
                                        </p:tgtEl>
                                      </p:cBhvr>
                                    </p:animEffect>
                                    <p:anim calcmode="lin" valueType="num">
                                      <p:cBhvr additive="base">
                                        <p:cTn id="113" dur="400" fill="hold"/>
                                        <p:tgtEl>
                                          <p:spTgt spid="29"/>
                                        </p:tgtEl>
                                        <p:attrNameLst>
                                          <p:attrName>ppt_x</p:attrName>
                                        </p:attrNameLst>
                                      </p:cBhvr>
                                      <p:tavLst>
                                        <p:tav tm="0">
                                          <p:val>
                                            <p:strVal val="#ppt_x"/>
                                          </p:val>
                                        </p:tav>
                                        <p:tav tm="100000">
                                          <p:val>
                                            <p:strVal val="#ppt_x"/>
                                          </p:val>
                                        </p:tav>
                                      </p:tavLst>
                                    </p:anim>
                                    <p:anim calcmode="lin" valueType="num">
                                      <p:cBhvr additive="base">
                                        <p:cTn id="114" dur="400" fill="hold"/>
                                        <p:tgtEl>
                                          <p:spTgt spid="29"/>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74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400"/>
                                        <p:tgtEl>
                                          <p:spTgt spid="30"/>
                                        </p:tgtEl>
                                      </p:cBhvr>
                                    </p:animEffect>
                                    <p:anim calcmode="lin" valueType="num">
                                      <p:cBhvr additive="base">
                                        <p:cTn id="118" dur="400" fill="hold"/>
                                        <p:tgtEl>
                                          <p:spTgt spid="30"/>
                                        </p:tgtEl>
                                        <p:attrNameLst>
                                          <p:attrName>ppt_x</p:attrName>
                                        </p:attrNameLst>
                                      </p:cBhvr>
                                      <p:tavLst>
                                        <p:tav tm="0">
                                          <p:val>
                                            <p:strVal val="#ppt_x"/>
                                          </p:val>
                                        </p:tav>
                                        <p:tav tm="100000">
                                          <p:val>
                                            <p:strVal val="#ppt_x"/>
                                          </p:val>
                                        </p:tav>
                                      </p:tavLst>
                                    </p:anim>
                                    <p:anim calcmode="lin" valueType="num">
                                      <p:cBhvr additive="base">
                                        <p:cTn id="119" dur="400" fill="hold"/>
                                        <p:tgtEl>
                                          <p:spTgt spid="30"/>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74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400"/>
                                        <p:tgtEl>
                                          <p:spTgt spid="31"/>
                                        </p:tgtEl>
                                      </p:cBhvr>
                                    </p:animEffect>
                                    <p:anim calcmode="lin" valueType="num">
                                      <p:cBhvr additive="base">
                                        <p:cTn id="123" dur="400" fill="hold"/>
                                        <p:tgtEl>
                                          <p:spTgt spid="31"/>
                                        </p:tgtEl>
                                        <p:attrNameLst>
                                          <p:attrName>ppt_x</p:attrName>
                                        </p:attrNameLst>
                                      </p:cBhvr>
                                      <p:tavLst>
                                        <p:tav tm="0">
                                          <p:val>
                                            <p:strVal val="#ppt_x"/>
                                          </p:val>
                                        </p:tav>
                                        <p:tav tm="100000">
                                          <p:val>
                                            <p:strVal val="#ppt_x"/>
                                          </p:val>
                                        </p:tav>
                                      </p:tavLst>
                                    </p:anim>
                                    <p:anim calcmode="lin" valueType="num">
                                      <p:cBhvr additive="base">
                                        <p:cTn id="124" dur="400" fill="hold"/>
                                        <p:tgtEl>
                                          <p:spTgt spid="31"/>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74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400"/>
                                        <p:tgtEl>
                                          <p:spTgt spid="32"/>
                                        </p:tgtEl>
                                      </p:cBhvr>
                                    </p:animEffect>
                                    <p:anim calcmode="lin" valueType="num">
                                      <p:cBhvr additive="base">
                                        <p:cTn id="128" dur="400" fill="hold"/>
                                        <p:tgtEl>
                                          <p:spTgt spid="32"/>
                                        </p:tgtEl>
                                        <p:attrNameLst>
                                          <p:attrName>ppt_x</p:attrName>
                                        </p:attrNameLst>
                                      </p:cBhvr>
                                      <p:tavLst>
                                        <p:tav tm="0">
                                          <p:val>
                                            <p:strVal val="#ppt_x"/>
                                          </p:val>
                                        </p:tav>
                                        <p:tav tm="100000">
                                          <p:val>
                                            <p:strVal val="#ppt_x"/>
                                          </p:val>
                                        </p:tav>
                                      </p:tavLst>
                                    </p:anim>
                                    <p:anim calcmode="lin" valueType="num">
                                      <p:cBhvr additive="base">
                                        <p:cTn id="129" dur="400" fill="hold"/>
                                        <p:tgtEl>
                                          <p:spTgt spid="32"/>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74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400"/>
                                        <p:tgtEl>
                                          <p:spTgt spid="33"/>
                                        </p:tgtEl>
                                      </p:cBhvr>
                                    </p:animEffect>
                                    <p:anim calcmode="lin" valueType="num">
                                      <p:cBhvr additive="base">
                                        <p:cTn id="133" dur="400" fill="hold"/>
                                        <p:tgtEl>
                                          <p:spTgt spid="33"/>
                                        </p:tgtEl>
                                        <p:attrNameLst>
                                          <p:attrName>ppt_x</p:attrName>
                                        </p:attrNameLst>
                                      </p:cBhvr>
                                      <p:tavLst>
                                        <p:tav tm="0">
                                          <p:val>
                                            <p:strVal val="#ppt_x"/>
                                          </p:val>
                                        </p:tav>
                                        <p:tav tm="100000">
                                          <p:val>
                                            <p:strVal val="#ppt_x"/>
                                          </p:val>
                                        </p:tav>
                                      </p:tavLst>
                                    </p:anim>
                                    <p:anim calcmode="lin" valueType="num">
                                      <p:cBhvr additive="base">
                                        <p:cTn id="134" dur="400" fill="hold"/>
                                        <p:tgtEl>
                                          <p:spTgt spid="33"/>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74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400"/>
                                        <p:tgtEl>
                                          <p:spTgt spid="34"/>
                                        </p:tgtEl>
                                      </p:cBhvr>
                                    </p:animEffect>
                                    <p:anim calcmode="lin" valueType="num">
                                      <p:cBhvr additive="base">
                                        <p:cTn id="138" dur="400" fill="hold"/>
                                        <p:tgtEl>
                                          <p:spTgt spid="34"/>
                                        </p:tgtEl>
                                        <p:attrNameLst>
                                          <p:attrName>ppt_x</p:attrName>
                                        </p:attrNameLst>
                                      </p:cBhvr>
                                      <p:tavLst>
                                        <p:tav tm="0">
                                          <p:val>
                                            <p:strVal val="#ppt_x"/>
                                          </p:val>
                                        </p:tav>
                                        <p:tav tm="100000">
                                          <p:val>
                                            <p:strVal val="#ppt_x"/>
                                          </p:val>
                                        </p:tav>
                                      </p:tavLst>
                                    </p:anim>
                                    <p:anim calcmode="lin" valueType="num">
                                      <p:cBhvr additive="base">
                                        <p:cTn id="139" dur="400" fill="hold"/>
                                        <p:tgtEl>
                                          <p:spTgt spid="34"/>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74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400"/>
                                        <p:tgtEl>
                                          <p:spTgt spid="35"/>
                                        </p:tgtEl>
                                      </p:cBhvr>
                                    </p:animEffect>
                                    <p:anim calcmode="lin" valueType="num">
                                      <p:cBhvr additive="base">
                                        <p:cTn id="143" dur="400" fill="hold"/>
                                        <p:tgtEl>
                                          <p:spTgt spid="35"/>
                                        </p:tgtEl>
                                        <p:attrNameLst>
                                          <p:attrName>ppt_x</p:attrName>
                                        </p:attrNameLst>
                                      </p:cBhvr>
                                      <p:tavLst>
                                        <p:tav tm="0">
                                          <p:val>
                                            <p:strVal val="#ppt_x"/>
                                          </p:val>
                                        </p:tav>
                                        <p:tav tm="100000">
                                          <p:val>
                                            <p:strVal val="#ppt_x"/>
                                          </p:val>
                                        </p:tav>
                                      </p:tavLst>
                                    </p:anim>
                                    <p:anim calcmode="lin" valueType="num">
                                      <p:cBhvr additive="base">
                                        <p:cTn id="144" dur="400" fill="hold"/>
                                        <p:tgtEl>
                                          <p:spTgt spid="35"/>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92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400"/>
                                        <p:tgtEl>
                                          <p:spTgt spid="36"/>
                                        </p:tgtEl>
                                      </p:cBhvr>
                                    </p:animEffect>
                                    <p:anim calcmode="lin" valueType="num">
                                      <p:cBhvr additive="base">
                                        <p:cTn id="148" dur="400" fill="hold"/>
                                        <p:tgtEl>
                                          <p:spTgt spid="36"/>
                                        </p:tgtEl>
                                        <p:attrNameLst>
                                          <p:attrName>ppt_x</p:attrName>
                                        </p:attrNameLst>
                                      </p:cBhvr>
                                      <p:tavLst>
                                        <p:tav tm="0">
                                          <p:val>
                                            <p:strVal val="#ppt_x"/>
                                          </p:val>
                                        </p:tav>
                                        <p:tav tm="100000">
                                          <p:val>
                                            <p:strVal val="#ppt_x"/>
                                          </p:val>
                                        </p:tav>
                                      </p:tavLst>
                                    </p:anim>
                                    <p:anim calcmode="lin" valueType="num">
                                      <p:cBhvr additive="base">
                                        <p:cTn id="149" dur="400" fill="hold"/>
                                        <p:tgtEl>
                                          <p:spTgt spid="36"/>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92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400"/>
                                        <p:tgtEl>
                                          <p:spTgt spid="37"/>
                                        </p:tgtEl>
                                      </p:cBhvr>
                                    </p:animEffect>
                                    <p:anim calcmode="lin" valueType="num">
                                      <p:cBhvr additive="base">
                                        <p:cTn id="153" dur="400" fill="hold"/>
                                        <p:tgtEl>
                                          <p:spTgt spid="37"/>
                                        </p:tgtEl>
                                        <p:attrNameLst>
                                          <p:attrName>ppt_x</p:attrName>
                                        </p:attrNameLst>
                                      </p:cBhvr>
                                      <p:tavLst>
                                        <p:tav tm="0">
                                          <p:val>
                                            <p:strVal val="#ppt_x"/>
                                          </p:val>
                                        </p:tav>
                                        <p:tav tm="100000">
                                          <p:val>
                                            <p:strVal val="#ppt_x"/>
                                          </p:val>
                                        </p:tav>
                                      </p:tavLst>
                                    </p:anim>
                                    <p:anim calcmode="lin" valueType="num">
                                      <p:cBhvr additive="base">
                                        <p:cTn id="154" dur="400" fill="hold"/>
                                        <p:tgtEl>
                                          <p:spTgt spid="37"/>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920"/>
                                  </p:stCondLst>
                                  <p:childTnLst>
                                    <p:set>
                                      <p:cBhvr>
                                        <p:cTn id="156" dur="1" fill="hold">
                                          <p:stCondLst>
                                            <p:cond delay="0"/>
                                          </p:stCondLst>
                                        </p:cTn>
                                        <p:tgtEl>
                                          <p:spTgt spid="38"/>
                                        </p:tgtEl>
                                        <p:attrNameLst>
                                          <p:attrName>style.visibility</p:attrName>
                                        </p:attrNameLst>
                                      </p:cBhvr>
                                      <p:to>
                                        <p:strVal val="visible"/>
                                      </p:to>
                                    </p:set>
                                    <p:animEffect transition="in" filter="fade">
                                      <p:cBhvr>
                                        <p:cTn id="157" dur="400"/>
                                        <p:tgtEl>
                                          <p:spTgt spid="38"/>
                                        </p:tgtEl>
                                      </p:cBhvr>
                                    </p:animEffect>
                                    <p:anim calcmode="lin" valueType="num">
                                      <p:cBhvr additive="base">
                                        <p:cTn id="158" dur="400" fill="hold"/>
                                        <p:tgtEl>
                                          <p:spTgt spid="38"/>
                                        </p:tgtEl>
                                        <p:attrNameLst>
                                          <p:attrName>ppt_x</p:attrName>
                                        </p:attrNameLst>
                                      </p:cBhvr>
                                      <p:tavLst>
                                        <p:tav tm="0">
                                          <p:val>
                                            <p:strVal val="#ppt_x"/>
                                          </p:val>
                                        </p:tav>
                                        <p:tav tm="100000">
                                          <p:val>
                                            <p:strVal val="#ppt_x"/>
                                          </p:val>
                                        </p:tav>
                                      </p:tavLst>
                                    </p:anim>
                                    <p:anim calcmode="lin" valueType="num">
                                      <p:cBhvr additive="base">
                                        <p:cTn id="159" dur="400" fill="hold"/>
                                        <p:tgtEl>
                                          <p:spTgt spid="38"/>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92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2" dur="400"/>
                                        <p:tgtEl>
                                          <p:spTgt spid="39"/>
                                        </p:tgtEl>
                                      </p:cBhvr>
                                    </p:animEffect>
                                    <p:anim calcmode="lin" valueType="num">
                                      <p:cBhvr additive="base">
                                        <p:cTn id="163" dur="400" fill="hold"/>
                                        <p:tgtEl>
                                          <p:spTgt spid="39"/>
                                        </p:tgtEl>
                                        <p:attrNameLst>
                                          <p:attrName>ppt_x</p:attrName>
                                        </p:attrNameLst>
                                      </p:cBhvr>
                                      <p:tavLst>
                                        <p:tav tm="0">
                                          <p:val>
                                            <p:strVal val="#ppt_x"/>
                                          </p:val>
                                        </p:tav>
                                        <p:tav tm="100000">
                                          <p:val>
                                            <p:strVal val="#ppt_x"/>
                                          </p:val>
                                        </p:tav>
                                      </p:tavLst>
                                    </p:anim>
                                    <p:anim calcmode="lin" valueType="num">
                                      <p:cBhvr additive="base">
                                        <p:cTn id="164" dur="400" fill="hold"/>
                                        <p:tgtEl>
                                          <p:spTgt spid="39"/>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920"/>
                                  </p:stCondLst>
                                  <p:childTnLst>
                                    <p:set>
                                      <p:cBhvr>
                                        <p:cTn id="166" dur="1" fill="hold">
                                          <p:stCondLst>
                                            <p:cond delay="0"/>
                                          </p:stCondLst>
                                        </p:cTn>
                                        <p:tgtEl>
                                          <p:spTgt spid="40"/>
                                        </p:tgtEl>
                                        <p:attrNameLst>
                                          <p:attrName>style.visibility</p:attrName>
                                        </p:attrNameLst>
                                      </p:cBhvr>
                                      <p:to>
                                        <p:strVal val="visible"/>
                                      </p:to>
                                    </p:set>
                                    <p:animEffect transition="in" filter="fade">
                                      <p:cBhvr>
                                        <p:cTn id="167" dur="400"/>
                                        <p:tgtEl>
                                          <p:spTgt spid="40"/>
                                        </p:tgtEl>
                                      </p:cBhvr>
                                    </p:animEffect>
                                    <p:anim calcmode="lin" valueType="num">
                                      <p:cBhvr additive="base">
                                        <p:cTn id="168" dur="400" fill="hold"/>
                                        <p:tgtEl>
                                          <p:spTgt spid="40"/>
                                        </p:tgtEl>
                                        <p:attrNameLst>
                                          <p:attrName>ppt_x</p:attrName>
                                        </p:attrNameLst>
                                      </p:cBhvr>
                                      <p:tavLst>
                                        <p:tav tm="0">
                                          <p:val>
                                            <p:strVal val="#ppt_x"/>
                                          </p:val>
                                        </p:tav>
                                        <p:tav tm="100000">
                                          <p:val>
                                            <p:strVal val="#ppt_x"/>
                                          </p:val>
                                        </p:tav>
                                      </p:tavLst>
                                    </p:anim>
                                    <p:anim calcmode="lin" valueType="num">
                                      <p:cBhvr additive="base">
                                        <p:cTn id="169" dur="400" fill="hold"/>
                                        <p:tgtEl>
                                          <p:spTgt spid="40"/>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920"/>
                                  </p:stCondLst>
                                  <p:childTnLst>
                                    <p:set>
                                      <p:cBhvr>
                                        <p:cTn id="171" dur="1" fill="hold">
                                          <p:stCondLst>
                                            <p:cond delay="0"/>
                                          </p:stCondLst>
                                        </p:cTn>
                                        <p:tgtEl>
                                          <p:spTgt spid="41"/>
                                        </p:tgtEl>
                                        <p:attrNameLst>
                                          <p:attrName>style.visibility</p:attrName>
                                        </p:attrNameLst>
                                      </p:cBhvr>
                                      <p:to>
                                        <p:strVal val="visible"/>
                                      </p:to>
                                    </p:set>
                                    <p:animEffect transition="in" filter="fade">
                                      <p:cBhvr>
                                        <p:cTn id="172" dur="400"/>
                                        <p:tgtEl>
                                          <p:spTgt spid="41"/>
                                        </p:tgtEl>
                                      </p:cBhvr>
                                    </p:animEffect>
                                    <p:anim calcmode="lin" valueType="num">
                                      <p:cBhvr additive="base">
                                        <p:cTn id="173" dur="400" fill="hold"/>
                                        <p:tgtEl>
                                          <p:spTgt spid="41"/>
                                        </p:tgtEl>
                                        <p:attrNameLst>
                                          <p:attrName>ppt_x</p:attrName>
                                        </p:attrNameLst>
                                      </p:cBhvr>
                                      <p:tavLst>
                                        <p:tav tm="0">
                                          <p:val>
                                            <p:strVal val="#ppt_x"/>
                                          </p:val>
                                        </p:tav>
                                        <p:tav tm="100000">
                                          <p:val>
                                            <p:strVal val="#ppt_x"/>
                                          </p:val>
                                        </p:tav>
                                      </p:tavLst>
                                    </p:anim>
                                    <p:anim calcmode="lin" valueType="num">
                                      <p:cBhvr additive="base">
                                        <p:cTn id="174" dur="400" fill="hold"/>
                                        <p:tgtEl>
                                          <p:spTgt spid="41"/>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920"/>
                                  </p:stCondLst>
                                  <p:childTnLst>
                                    <p:set>
                                      <p:cBhvr>
                                        <p:cTn id="176" dur="1" fill="hold">
                                          <p:stCondLst>
                                            <p:cond delay="0"/>
                                          </p:stCondLst>
                                        </p:cTn>
                                        <p:tgtEl>
                                          <p:spTgt spid="42"/>
                                        </p:tgtEl>
                                        <p:attrNameLst>
                                          <p:attrName>style.visibility</p:attrName>
                                        </p:attrNameLst>
                                      </p:cBhvr>
                                      <p:to>
                                        <p:strVal val="visible"/>
                                      </p:to>
                                    </p:set>
                                    <p:animEffect transition="in" filter="fade">
                                      <p:cBhvr>
                                        <p:cTn id="177" dur="400"/>
                                        <p:tgtEl>
                                          <p:spTgt spid="42"/>
                                        </p:tgtEl>
                                      </p:cBhvr>
                                    </p:animEffect>
                                    <p:anim calcmode="lin" valueType="num">
                                      <p:cBhvr additive="base">
                                        <p:cTn id="178" dur="400" fill="hold"/>
                                        <p:tgtEl>
                                          <p:spTgt spid="42"/>
                                        </p:tgtEl>
                                        <p:attrNameLst>
                                          <p:attrName>ppt_x</p:attrName>
                                        </p:attrNameLst>
                                      </p:cBhvr>
                                      <p:tavLst>
                                        <p:tav tm="0">
                                          <p:val>
                                            <p:strVal val="#ppt_x"/>
                                          </p:val>
                                        </p:tav>
                                        <p:tav tm="100000">
                                          <p:val>
                                            <p:strVal val="#ppt_x"/>
                                          </p:val>
                                        </p:tav>
                                      </p:tavLst>
                                    </p:anim>
                                    <p:anim calcmode="lin" valueType="num">
                                      <p:cBhvr additive="base">
                                        <p:cTn id="179" dur="400" fill="hold"/>
                                        <p:tgtEl>
                                          <p:spTgt spid="42"/>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1100"/>
                                  </p:stCondLst>
                                  <p:childTnLst>
                                    <p:set>
                                      <p:cBhvr>
                                        <p:cTn id="181" dur="1" fill="hold">
                                          <p:stCondLst>
                                            <p:cond delay="0"/>
                                          </p:stCondLst>
                                        </p:cTn>
                                        <p:tgtEl>
                                          <p:spTgt spid="43"/>
                                        </p:tgtEl>
                                        <p:attrNameLst>
                                          <p:attrName>style.visibility</p:attrName>
                                        </p:attrNameLst>
                                      </p:cBhvr>
                                      <p:to>
                                        <p:strVal val="visible"/>
                                      </p:to>
                                    </p:set>
                                    <p:animEffect transition="in" filter="fade">
                                      <p:cBhvr>
                                        <p:cTn id="182" dur="400"/>
                                        <p:tgtEl>
                                          <p:spTgt spid="43"/>
                                        </p:tgtEl>
                                      </p:cBhvr>
                                    </p:animEffect>
                                    <p:anim calcmode="lin" valueType="num">
                                      <p:cBhvr additive="base">
                                        <p:cTn id="183" dur="400" fill="hold"/>
                                        <p:tgtEl>
                                          <p:spTgt spid="43"/>
                                        </p:tgtEl>
                                        <p:attrNameLst>
                                          <p:attrName>ppt_x</p:attrName>
                                        </p:attrNameLst>
                                      </p:cBhvr>
                                      <p:tavLst>
                                        <p:tav tm="0">
                                          <p:val>
                                            <p:strVal val="#ppt_x"/>
                                          </p:val>
                                        </p:tav>
                                        <p:tav tm="100000">
                                          <p:val>
                                            <p:strVal val="#ppt_x"/>
                                          </p:val>
                                        </p:tav>
                                      </p:tavLst>
                                    </p:anim>
                                    <p:anim calcmode="lin" valueType="num">
                                      <p:cBhvr additive="base">
                                        <p:cTn id="184" dur="400" fill="hold"/>
                                        <p:tgtEl>
                                          <p:spTgt spid="43"/>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1100"/>
                                  </p:stCondLst>
                                  <p:childTnLst>
                                    <p:set>
                                      <p:cBhvr>
                                        <p:cTn id="186" dur="1" fill="hold">
                                          <p:stCondLst>
                                            <p:cond delay="0"/>
                                          </p:stCondLst>
                                        </p:cTn>
                                        <p:tgtEl>
                                          <p:spTgt spid="44"/>
                                        </p:tgtEl>
                                        <p:attrNameLst>
                                          <p:attrName>style.visibility</p:attrName>
                                        </p:attrNameLst>
                                      </p:cBhvr>
                                      <p:to>
                                        <p:strVal val="visible"/>
                                      </p:to>
                                    </p:set>
                                    <p:animEffect transition="in" filter="fade">
                                      <p:cBhvr>
                                        <p:cTn id="187" dur="400"/>
                                        <p:tgtEl>
                                          <p:spTgt spid="44"/>
                                        </p:tgtEl>
                                      </p:cBhvr>
                                    </p:animEffect>
                                    <p:anim calcmode="lin" valueType="num">
                                      <p:cBhvr additive="base">
                                        <p:cTn id="188" dur="400" fill="hold"/>
                                        <p:tgtEl>
                                          <p:spTgt spid="44"/>
                                        </p:tgtEl>
                                        <p:attrNameLst>
                                          <p:attrName>ppt_x</p:attrName>
                                        </p:attrNameLst>
                                      </p:cBhvr>
                                      <p:tavLst>
                                        <p:tav tm="0">
                                          <p:val>
                                            <p:strVal val="#ppt_x"/>
                                          </p:val>
                                        </p:tav>
                                        <p:tav tm="100000">
                                          <p:val>
                                            <p:strVal val="#ppt_x"/>
                                          </p:val>
                                        </p:tav>
                                      </p:tavLst>
                                    </p:anim>
                                    <p:anim calcmode="lin" valueType="num">
                                      <p:cBhvr additive="base">
                                        <p:cTn id="189" dur="400" fill="hold"/>
                                        <p:tgtEl>
                                          <p:spTgt spid="44"/>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1100"/>
                                  </p:stCondLst>
                                  <p:childTnLst>
                                    <p:set>
                                      <p:cBhvr>
                                        <p:cTn id="191" dur="1" fill="hold">
                                          <p:stCondLst>
                                            <p:cond delay="0"/>
                                          </p:stCondLst>
                                        </p:cTn>
                                        <p:tgtEl>
                                          <p:spTgt spid="45"/>
                                        </p:tgtEl>
                                        <p:attrNameLst>
                                          <p:attrName>style.visibility</p:attrName>
                                        </p:attrNameLst>
                                      </p:cBhvr>
                                      <p:to>
                                        <p:strVal val="visible"/>
                                      </p:to>
                                    </p:set>
                                    <p:animEffect transition="in" filter="fade">
                                      <p:cBhvr>
                                        <p:cTn id="192" dur="400"/>
                                        <p:tgtEl>
                                          <p:spTgt spid="45"/>
                                        </p:tgtEl>
                                      </p:cBhvr>
                                    </p:animEffect>
                                    <p:anim calcmode="lin" valueType="num">
                                      <p:cBhvr additive="base">
                                        <p:cTn id="193" dur="400" fill="hold"/>
                                        <p:tgtEl>
                                          <p:spTgt spid="45"/>
                                        </p:tgtEl>
                                        <p:attrNameLst>
                                          <p:attrName>ppt_x</p:attrName>
                                        </p:attrNameLst>
                                      </p:cBhvr>
                                      <p:tavLst>
                                        <p:tav tm="0">
                                          <p:val>
                                            <p:strVal val="#ppt_x"/>
                                          </p:val>
                                        </p:tav>
                                        <p:tav tm="100000">
                                          <p:val>
                                            <p:strVal val="#ppt_x"/>
                                          </p:val>
                                        </p:tav>
                                      </p:tavLst>
                                    </p:anim>
                                    <p:anim calcmode="lin" valueType="num">
                                      <p:cBhvr additive="base">
                                        <p:cTn id="194" dur="400" fill="hold"/>
                                        <p:tgtEl>
                                          <p:spTgt spid="45"/>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1100"/>
                                  </p:stCondLst>
                                  <p:childTnLst>
                                    <p:set>
                                      <p:cBhvr>
                                        <p:cTn id="196" dur="1" fill="hold">
                                          <p:stCondLst>
                                            <p:cond delay="0"/>
                                          </p:stCondLst>
                                        </p:cTn>
                                        <p:tgtEl>
                                          <p:spTgt spid="46"/>
                                        </p:tgtEl>
                                        <p:attrNameLst>
                                          <p:attrName>style.visibility</p:attrName>
                                        </p:attrNameLst>
                                      </p:cBhvr>
                                      <p:to>
                                        <p:strVal val="visible"/>
                                      </p:to>
                                    </p:set>
                                    <p:animEffect transition="in" filter="fade">
                                      <p:cBhvr>
                                        <p:cTn id="197" dur="400"/>
                                        <p:tgtEl>
                                          <p:spTgt spid="46"/>
                                        </p:tgtEl>
                                      </p:cBhvr>
                                    </p:animEffect>
                                    <p:anim calcmode="lin" valueType="num">
                                      <p:cBhvr additive="base">
                                        <p:cTn id="198" dur="400" fill="hold"/>
                                        <p:tgtEl>
                                          <p:spTgt spid="46"/>
                                        </p:tgtEl>
                                        <p:attrNameLst>
                                          <p:attrName>ppt_x</p:attrName>
                                        </p:attrNameLst>
                                      </p:cBhvr>
                                      <p:tavLst>
                                        <p:tav tm="0">
                                          <p:val>
                                            <p:strVal val="#ppt_x"/>
                                          </p:val>
                                        </p:tav>
                                        <p:tav tm="100000">
                                          <p:val>
                                            <p:strVal val="#ppt_x"/>
                                          </p:val>
                                        </p:tav>
                                      </p:tavLst>
                                    </p:anim>
                                    <p:anim calcmode="lin" valueType="num">
                                      <p:cBhvr additive="base">
                                        <p:cTn id="199" dur="400" fill="hold"/>
                                        <p:tgtEl>
                                          <p:spTgt spid="46"/>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1100"/>
                                  </p:stCondLst>
                                  <p:childTnLst>
                                    <p:set>
                                      <p:cBhvr>
                                        <p:cTn id="201" dur="1" fill="hold">
                                          <p:stCondLst>
                                            <p:cond delay="0"/>
                                          </p:stCondLst>
                                        </p:cTn>
                                        <p:tgtEl>
                                          <p:spTgt spid="47"/>
                                        </p:tgtEl>
                                        <p:attrNameLst>
                                          <p:attrName>style.visibility</p:attrName>
                                        </p:attrNameLst>
                                      </p:cBhvr>
                                      <p:to>
                                        <p:strVal val="visible"/>
                                      </p:to>
                                    </p:set>
                                    <p:animEffect transition="in" filter="fade">
                                      <p:cBhvr>
                                        <p:cTn id="202" dur="400"/>
                                        <p:tgtEl>
                                          <p:spTgt spid="47"/>
                                        </p:tgtEl>
                                      </p:cBhvr>
                                    </p:animEffect>
                                    <p:anim calcmode="lin" valueType="num">
                                      <p:cBhvr additive="base">
                                        <p:cTn id="203" dur="400" fill="hold"/>
                                        <p:tgtEl>
                                          <p:spTgt spid="47"/>
                                        </p:tgtEl>
                                        <p:attrNameLst>
                                          <p:attrName>ppt_x</p:attrName>
                                        </p:attrNameLst>
                                      </p:cBhvr>
                                      <p:tavLst>
                                        <p:tav tm="0">
                                          <p:val>
                                            <p:strVal val="#ppt_x"/>
                                          </p:val>
                                        </p:tav>
                                        <p:tav tm="100000">
                                          <p:val>
                                            <p:strVal val="#ppt_x"/>
                                          </p:val>
                                        </p:tav>
                                      </p:tavLst>
                                    </p:anim>
                                    <p:anim calcmode="lin" valueType="num">
                                      <p:cBhvr additive="base">
                                        <p:cTn id="204" dur="400" fill="hold"/>
                                        <p:tgtEl>
                                          <p:spTgt spid="47"/>
                                        </p:tgtEl>
                                        <p:attrNameLst>
                                          <p:attrName>ppt_y</p:attrName>
                                        </p:attrNameLst>
                                      </p:cBhvr>
                                      <p:tavLst>
                                        <p:tav tm="0">
                                          <p:val>
                                            <p:strVal val="#ppt_y+.1"/>
                                          </p:val>
                                        </p:tav>
                                        <p:tav tm="100000">
                                          <p:val>
                                            <p:strVal val="#ppt_y"/>
                                          </p:val>
                                        </p:tav>
                                      </p:tavLst>
                                    </p:anim>
                                  </p:childTnLst>
                                </p:cTn>
                              </p:par>
                              <p:par>
                                <p:cTn id="205" presetID="42" presetClass="entr" presetSubtype="0" fill="hold" nodeType="withEffect">
                                  <p:stCondLst>
                                    <p:cond delay="1100"/>
                                  </p:stCondLst>
                                  <p:childTnLst>
                                    <p:set>
                                      <p:cBhvr>
                                        <p:cTn id="206" dur="1" fill="hold">
                                          <p:stCondLst>
                                            <p:cond delay="0"/>
                                          </p:stCondLst>
                                        </p:cTn>
                                        <p:tgtEl>
                                          <p:spTgt spid="48"/>
                                        </p:tgtEl>
                                        <p:attrNameLst>
                                          <p:attrName>style.visibility</p:attrName>
                                        </p:attrNameLst>
                                      </p:cBhvr>
                                      <p:to>
                                        <p:strVal val="visible"/>
                                      </p:to>
                                    </p:set>
                                    <p:animEffect transition="in" filter="fade">
                                      <p:cBhvr>
                                        <p:cTn id="207" dur="400"/>
                                        <p:tgtEl>
                                          <p:spTgt spid="48"/>
                                        </p:tgtEl>
                                      </p:cBhvr>
                                    </p:animEffect>
                                    <p:anim calcmode="lin" valueType="num">
                                      <p:cBhvr additive="base">
                                        <p:cTn id="208" dur="400" fill="hold"/>
                                        <p:tgtEl>
                                          <p:spTgt spid="48"/>
                                        </p:tgtEl>
                                        <p:attrNameLst>
                                          <p:attrName>ppt_x</p:attrName>
                                        </p:attrNameLst>
                                      </p:cBhvr>
                                      <p:tavLst>
                                        <p:tav tm="0">
                                          <p:val>
                                            <p:strVal val="#ppt_x"/>
                                          </p:val>
                                        </p:tav>
                                        <p:tav tm="100000">
                                          <p:val>
                                            <p:strVal val="#ppt_x"/>
                                          </p:val>
                                        </p:tav>
                                      </p:tavLst>
                                    </p:anim>
                                    <p:anim calcmode="lin" valueType="num">
                                      <p:cBhvr additive="base">
                                        <p:cTn id="209" dur="400" fill="hold"/>
                                        <p:tgtEl>
                                          <p:spTgt spid="48"/>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1100"/>
                                  </p:stCondLst>
                                  <p:childTnLst>
                                    <p:set>
                                      <p:cBhvr>
                                        <p:cTn id="211" dur="1" fill="hold">
                                          <p:stCondLst>
                                            <p:cond delay="0"/>
                                          </p:stCondLst>
                                        </p:cTn>
                                        <p:tgtEl>
                                          <p:spTgt spid="49"/>
                                        </p:tgtEl>
                                        <p:attrNameLst>
                                          <p:attrName>style.visibility</p:attrName>
                                        </p:attrNameLst>
                                      </p:cBhvr>
                                      <p:to>
                                        <p:strVal val="visible"/>
                                      </p:to>
                                    </p:set>
                                    <p:animEffect transition="in" filter="fade">
                                      <p:cBhvr>
                                        <p:cTn id="212" dur="400"/>
                                        <p:tgtEl>
                                          <p:spTgt spid="49"/>
                                        </p:tgtEl>
                                      </p:cBhvr>
                                    </p:animEffect>
                                    <p:anim calcmode="lin" valueType="num">
                                      <p:cBhvr additive="base">
                                        <p:cTn id="213" dur="400" fill="hold"/>
                                        <p:tgtEl>
                                          <p:spTgt spid="49"/>
                                        </p:tgtEl>
                                        <p:attrNameLst>
                                          <p:attrName>ppt_x</p:attrName>
                                        </p:attrNameLst>
                                      </p:cBhvr>
                                      <p:tavLst>
                                        <p:tav tm="0">
                                          <p:val>
                                            <p:strVal val="#ppt_x"/>
                                          </p:val>
                                        </p:tav>
                                        <p:tav tm="100000">
                                          <p:val>
                                            <p:strVal val="#ppt_x"/>
                                          </p:val>
                                        </p:tav>
                                      </p:tavLst>
                                    </p:anim>
                                    <p:anim calcmode="lin" valueType="num">
                                      <p:cBhvr additive="base">
                                        <p:cTn id="214" dur="400" fill="hold"/>
                                        <p:tgtEl>
                                          <p:spTgt spid="49"/>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1280"/>
                                  </p:stCondLst>
                                  <p:childTnLst>
                                    <p:set>
                                      <p:cBhvr>
                                        <p:cTn id="216" dur="1" fill="hold">
                                          <p:stCondLst>
                                            <p:cond delay="0"/>
                                          </p:stCondLst>
                                        </p:cTn>
                                        <p:tgtEl>
                                          <p:spTgt spid="50"/>
                                        </p:tgtEl>
                                        <p:attrNameLst>
                                          <p:attrName>style.visibility</p:attrName>
                                        </p:attrNameLst>
                                      </p:cBhvr>
                                      <p:to>
                                        <p:strVal val="visible"/>
                                      </p:to>
                                    </p:set>
                                    <p:animEffect transition="in" filter="fade">
                                      <p:cBhvr>
                                        <p:cTn id="217" dur="400"/>
                                        <p:tgtEl>
                                          <p:spTgt spid="50"/>
                                        </p:tgtEl>
                                      </p:cBhvr>
                                    </p:animEffect>
                                    <p:anim calcmode="lin" valueType="num">
                                      <p:cBhvr additive="base">
                                        <p:cTn id="218" dur="400" fill="hold"/>
                                        <p:tgtEl>
                                          <p:spTgt spid="50"/>
                                        </p:tgtEl>
                                        <p:attrNameLst>
                                          <p:attrName>ppt_x</p:attrName>
                                        </p:attrNameLst>
                                      </p:cBhvr>
                                      <p:tavLst>
                                        <p:tav tm="0">
                                          <p:val>
                                            <p:strVal val="#ppt_x"/>
                                          </p:val>
                                        </p:tav>
                                        <p:tav tm="100000">
                                          <p:val>
                                            <p:strVal val="#ppt_x"/>
                                          </p:val>
                                        </p:tav>
                                      </p:tavLst>
                                    </p:anim>
                                    <p:anim calcmode="lin" valueType="num">
                                      <p:cBhvr additive="base">
                                        <p:cTn id="219" dur="400" fill="hold"/>
                                        <p:tgtEl>
                                          <p:spTgt spid="50"/>
                                        </p:tgtEl>
                                        <p:attrNameLst>
                                          <p:attrName>ppt_y</p:attrName>
                                        </p:attrNameLst>
                                      </p:cBhvr>
                                      <p:tavLst>
                                        <p:tav tm="0">
                                          <p:val>
                                            <p:strVal val="#ppt_y+.1"/>
                                          </p:val>
                                        </p:tav>
                                        <p:tav tm="100000">
                                          <p:val>
                                            <p:strVal val="#ppt_y"/>
                                          </p:val>
                                        </p:tav>
                                      </p:tavLst>
                                    </p:anim>
                                  </p:childTnLst>
                                </p:cTn>
                              </p:par>
                              <p:par>
                                <p:cTn id="220" presetID="42" presetClass="entr" presetSubtype="0" fill="hold" nodeType="withEffect">
                                  <p:stCondLst>
                                    <p:cond delay="1280"/>
                                  </p:stCondLst>
                                  <p:childTnLst>
                                    <p:set>
                                      <p:cBhvr>
                                        <p:cTn id="221" dur="1" fill="hold">
                                          <p:stCondLst>
                                            <p:cond delay="0"/>
                                          </p:stCondLst>
                                        </p:cTn>
                                        <p:tgtEl>
                                          <p:spTgt spid="51"/>
                                        </p:tgtEl>
                                        <p:attrNameLst>
                                          <p:attrName>style.visibility</p:attrName>
                                        </p:attrNameLst>
                                      </p:cBhvr>
                                      <p:to>
                                        <p:strVal val="visible"/>
                                      </p:to>
                                    </p:set>
                                    <p:animEffect transition="in" filter="fade">
                                      <p:cBhvr>
                                        <p:cTn id="222" dur="400"/>
                                        <p:tgtEl>
                                          <p:spTgt spid="51"/>
                                        </p:tgtEl>
                                      </p:cBhvr>
                                    </p:animEffect>
                                    <p:anim calcmode="lin" valueType="num">
                                      <p:cBhvr additive="base">
                                        <p:cTn id="223" dur="400" fill="hold"/>
                                        <p:tgtEl>
                                          <p:spTgt spid="51"/>
                                        </p:tgtEl>
                                        <p:attrNameLst>
                                          <p:attrName>ppt_x</p:attrName>
                                        </p:attrNameLst>
                                      </p:cBhvr>
                                      <p:tavLst>
                                        <p:tav tm="0">
                                          <p:val>
                                            <p:strVal val="#ppt_x"/>
                                          </p:val>
                                        </p:tav>
                                        <p:tav tm="100000">
                                          <p:val>
                                            <p:strVal val="#ppt_x"/>
                                          </p:val>
                                        </p:tav>
                                      </p:tavLst>
                                    </p:anim>
                                    <p:anim calcmode="lin" valueType="num">
                                      <p:cBhvr additive="base">
                                        <p:cTn id="224" dur="400" fill="hold"/>
                                        <p:tgtEl>
                                          <p:spTgt spid="51"/>
                                        </p:tgtEl>
                                        <p:attrNameLst>
                                          <p:attrName>ppt_y</p:attrName>
                                        </p:attrNameLst>
                                      </p:cBhvr>
                                      <p:tavLst>
                                        <p:tav tm="0">
                                          <p:val>
                                            <p:strVal val="#ppt_y+.1"/>
                                          </p:val>
                                        </p:tav>
                                        <p:tav tm="100000">
                                          <p:val>
                                            <p:strVal val="#ppt_y"/>
                                          </p:val>
                                        </p:tav>
                                      </p:tavLst>
                                    </p:anim>
                                  </p:childTnLst>
                                </p:cTn>
                              </p:par>
                              <p:par>
                                <p:cTn id="225" presetID="42" presetClass="entr" presetSubtype="0" fill="hold" nodeType="withEffect">
                                  <p:stCondLst>
                                    <p:cond delay="1280"/>
                                  </p:stCondLst>
                                  <p:childTnLst>
                                    <p:set>
                                      <p:cBhvr>
                                        <p:cTn id="226" dur="1" fill="hold">
                                          <p:stCondLst>
                                            <p:cond delay="0"/>
                                          </p:stCondLst>
                                        </p:cTn>
                                        <p:tgtEl>
                                          <p:spTgt spid="52"/>
                                        </p:tgtEl>
                                        <p:attrNameLst>
                                          <p:attrName>style.visibility</p:attrName>
                                        </p:attrNameLst>
                                      </p:cBhvr>
                                      <p:to>
                                        <p:strVal val="visible"/>
                                      </p:to>
                                    </p:set>
                                    <p:animEffect transition="in" filter="fade">
                                      <p:cBhvr>
                                        <p:cTn id="227" dur="400"/>
                                        <p:tgtEl>
                                          <p:spTgt spid="52"/>
                                        </p:tgtEl>
                                      </p:cBhvr>
                                    </p:animEffect>
                                    <p:anim calcmode="lin" valueType="num">
                                      <p:cBhvr additive="base">
                                        <p:cTn id="228" dur="400" fill="hold"/>
                                        <p:tgtEl>
                                          <p:spTgt spid="52"/>
                                        </p:tgtEl>
                                        <p:attrNameLst>
                                          <p:attrName>ppt_x</p:attrName>
                                        </p:attrNameLst>
                                      </p:cBhvr>
                                      <p:tavLst>
                                        <p:tav tm="0">
                                          <p:val>
                                            <p:strVal val="#ppt_x"/>
                                          </p:val>
                                        </p:tav>
                                        <p:tav tm="100000">
                                          <p:val>
                                            <p:strVal val="#ppt_x"/>
                                          </p:val>
                                        </p:tav>
                                      </p:tavLst>
                                    </p:anim>
                                    <p:anim calcmode="lin" valueType="num">
                                      <p:cBhvr additive="base">
                                        <p:cTn id="229" dur="400" fill="hold"/>
                                        <p:tgtEl>
                                          <p:spTgt spid="52"/>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1280"/>
                                  </p:stCondLst>
                                  <p:childTnLst>
                                    <p:set>
                                      <p:cBhvr>
                                        <p:cTn id="231" dur="1" fill="hold">
                                          <p:stCondLst>
                                            <p:cond delay="0"/>
                                          </p:stCondLst>
                                        </p:cTn>
                                        <p:tgtEl>
                                          <p:spTgt spid="53"/>
                                        </p:tgtEl>
                                        <p:attrNameLst>
                                          <p:attrName>style.visibility</p:attrName>
                                        </p:attrNameLst>
                                      </p:cBhvr>
                                      <p:to>
                                        <p:strVal val="visible"/>
                                      </p:to>
                                    </p:set>
                                    <p:animEffect transition="in" filter="fade">
                                      <p:cBhvr>
                                        <p:cTn id="232" dur="400"/>
                                        <p:tgtEl>
                                          <p:spTgt spid="53"/>
                                        </p:tgtEl>
                                      </p:cBhvr>
                                    </p:animEffect>
                                    <p:anim calcmode="lin" valueType="num">
                                      <p:cBhvr additive="base">
                                        <p:cTn id="233" dur="400" fill="hold"/>
                                        <p:tgtEl>
                                          <p:spTgt spid="53"/>
                                        </p:tgtEl>
                                        <p:attrNameLst>
                                          <p:attrName>ppt_x</p:attrName>
                                        </p:attrNameLst>
                                      </p:cBhvr>
                                      <p:tavLst>
                                        <p:tav tm="0">
                                          <p:val>
                                            <p:strVal val="#ppt_x"/>
                                          </p:val>
                                        </p:tav>
                                        <p:tav tm="100000">
                                          <p:val>
                                            <p:strVal val="#ppt_x"/>
                                          </p:val>
                                        </p:tav>
                                      </p:tavLst>
                                    </p:anim>
                                    <p:anim calcmode="lin" valueType="num">
                                      <p:cBhvr additive="base">
                                        <p:cTn id="234" dur="400" fill="hold"/>
                                        <p:tgtEl>
                                          <p:spTgt spid="53"/>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1280"/>
                                  </p:stCondLst>
                                  <p:childTnLst>
                                    <p:set>
                                      <p:cBhvr>
                                        <p:cTn id="236" dur="1" fill="hold">
                                          <p:stCondLst>
                                            <p:cond delay="0"/>
                                          </p:stCondLst>
                                        </p:cTn>
                                        <p:tgtEl>
                                          <p:spTgt spid="54"/>
                                        </p:tgtEl>
                                        <p:attrNameLst>
                                          <p:attrName>style.visibility</p:attrName>
                                        </p:attrNameLst>
                                      </p:cBhvr>
                                      <p:to>
                                        <p:strVal val="visible"/>
                                      </p:to>
                                    </p:set>
                                    <p:animEffect transition="in" filter="fade">
                                      <p:cBhvr>
                                        <p:cTn id="237" dur="400"/>
                                        <p:tgtEl>
                                          <p:spTgt spid="54"/>
                                        </p:tgtEl>
                                      </p:cBhvr>
                                    </p:animEffect>
                                    <p:anim calcmode="lin" valueType="num">
                                      <p:cBhvr additive="base">
                                        <p:cTn id="238" dur="400" fill="hold"/>
                                        <p:tgtEl>
                                          <p:spTgt spid="54"/>
                                        </p:tgtEl>
                                        <p:attrNameLst>
                                          <p:attrName>ppt_x</p:attrName>
                                        </p:attrNameLst>
                                      </p:cBhvr>
                                      <p:tavLst>
                                        <p:tav tm="0">
                                          <p:val>
                                            <p:strVal val="#ppt_x"/>
                                          </p:val>
                                        </p:tav>
                                        <p:tav tm="100000">
                                          <p:val>
                                            <p:strVal val="#ppt_x"/>
                                          </p:val>
                                        </p:tav>
                                      </p:tavLst>
                                    </p:anim>
                                    <p:anim calcmode="lin" valueType="num">
                                      <p:cBhvr additive="base">
                                        <p:cTn id="239" dur="400" fill="hold"/>
                                        <p:tgtEl>
                                          <p:spTgt spid="54"/>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1280"/>
                                  </p:stCondLst>
                                  <p:childTnLst>
                                    <p:set>
                                      <p:cBhvr>
                                        <p:cTn id="241" dur="1" fill="hold">
                                          <p:stCondLst>
                                            <p:cond delay="0"/>
                                          </p:stCondLst>
                                        </p:cTn>
                                        <p:tgtEl>
                                          <p:spTgt spid="55"/>
                                        </p:tgtEl>
                                        <p:attrNameLst>
                                          <p:attrName>style.visibility</p:attrName>
                                        </p:attrNameLst>
                                      </p:cBhvr>
                                      <p:to>
                                        <p:strVal val="visible"/>
                                      </p:to>
                                    </p:set>
                                    <p:animEffect transition="in" filter="fade">
                                      <p:cBhvr>
                                        <p:cTn id="242" dur="400"/>
                                        <p:tgtEl>
                                          <p:spTgt spid="55"/>
                                        </p:tgtEl>
                                      </p:cBhvr>
                                    </p:animEffect>
                                    <p:anim calcmode="lin" valueType="num">
                                      <p:cBhvr additive="base">
                                        <p:cTn id="243" dur="400" fill="hold"/>
                                        <p:tgtEl>
                                          <p:spTgt spid="55"/>
                                        </p:tgtEl>
                                        <p:attrNameLst>
                                          <p:attrName>ppt_x</p:attrName>
                                        </p:attrNameLst>
                                      </p:cBhvr>
                                      <p:tavLst>
                                        <p:tav tm="0">
                                          <p:val>
                                            <p:strVal val="#ppt_x"/>
                                          </p:val>
                                        </p:tav>
                                        <p:tav tm="100000">
                                          <p:val>
                                            <p:strVal val="#ppt_x"/>
                                          </p:val>
                                        </p:tav>
                                      </p:tavLst>
                                    </p:anim>
                                    <p:anim calcmode="lin" valueType="num">
                                      <p:cBhvr additive="base">
                                        <p:cTn id="244" dur="400" fill="hold"/>
                                        <p:tgtEl>
                                          <p:spTgt spid="55"/>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1280"/>
                                  </p:stCondLst>
                                  <p:childTnLst>
                                    <p:set>
                                      <p:cBhvr>
                                        <p:cTn id="246" dur="1" fill="hold">
                                          <p:stCondLst>
                                            <p:cond delay="0"/>
                                          </p:stCondLst>
                                        </p:cTn>
                                        <p:tgtEl>
                                          <p:spTgt spid="56"/>
                                        </p:tgtEl>
                                        <p:attrNameLst>
                                          <p:attrName>style.visibility</p:attrName>
                                        </p:attrNameLst>
                                      </p:cBhvr>
                                      <p:to>
                                        <p:strVal val="visible"/>
                                      </p:to>
                                    </p:set>
                                    <p:animEffect transition="in" filter="fade">
                                      <p:cBhvr>
                                        <p:cTn id="247" dur="400"/>
                                        <p:tgtEl>
                                          <p:spTgt spid="56"/>
                                        </p:tgtEl>
                                      </p:cBhvr>
                                    </p:animEffect>
                                    <p:anim calcmode="lin" valueType="num">
                                      <p:cBhvr additive="base">
                                        <p:cTn id="248" dur="400" fill="hold"/>
                                        <p:tgtEl>
                                          <p:spTgt spid="56"/>
                                        </p:tgtEl>
                                        <p:attrNameLst>
                                          <p:attrName>ppt_x</p:attrName>
                                        </p:attrNameLst>
                                      </p:cBhvr>
                                      <p:tavLst>
                                        <p:tav tm="0">
                                          <p:val>
                                            <p:strVal val="#ppt_x"/>
                                          </p:val>
                                        </p:tav>
                                        <p:tav tm="100000">
                                          <p:val>
                                            <p:strVal val="#ppt_x"/>
                                          </p:val>
                                        </p:tav>
                                      </p:tavLst>
                                    </p:anim>
                                    <p:anim calcmode="lin" valueType="num">
                                      <p:cBhvr additive="base">
                                        <p:cTn id="249" dur="4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01  ·  THE PROBLEM</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Fraud hides in the network, not the transaction</a:t>
            </a:r>
            <a:endParaRPr lang="en-US" sz="3400" dirty="0"/>
          </a:p>
        </p:txBody>
      </p:sp>
      <p:sp>
        <p:nvSpPr>
          <p:cNvPr id="5" name="pain0__1"/>
          <p:cNvSpPr/>
          <p:nvPr/>
        </p:nvSpPr>
        <p:spPr>
          <a:xfrm>
            <a:off x="548640" y="1691640"/>
            <a:ext cx="5120640" cy="1280160"/>
          </a:xfrm>
          <a:prstGeom prst="roundRect">
            <a:avLst>
              <a:gd name="adj" fmla="val 8571"/>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pain0__2"/>
          <p:cNvSpPr/>
          <p:nvPr/>
        </p:nvSpPr>
        <p:spPr>
          <a:xfrm>
            <a:off x="777240" y="1993392"/>
            <a:ext cx="676656" cy="676656"/>
          </a:xfrm>
          <a:prstGeom prst="ellipse">
            <a:avLst/>
          </a:prstGeom>
          <a:solidFill>
            <a:srgbClr val="FF4D5E">
              <a:alpha val="18000"/>
            </a:srgbClr>
          </a:solidFill>
          <a:ln w="12700">
            <a:solidFill>
              <a:srgbClr val="FF4D5E">
                <a:alpha val="60000"/>
              </a:srgbClr>
            </a:solidFill>
            <a:prstDash val="solid"/>
          </a:ln>
        </p:spPr>
      </p:sp>
      <p:pic>
        <p:nvPicPr>
          <p:cNvPr id="7" name="pain0__3" descr="preencoded.png">    </p:cNvPr>
          <p:cNvPicPr>
            <a:picLocks noChangeAspect="1"/>
          </p:cNvPicPr>
          <p:nvPr/>
        </p:nvPicPr>
        <p:blipFill>
          <a:blip r:embed="rId2"/>
          <a:stretch>
            <a:fillRect/>
          </a:stretch>
        </p:blipFill>
        <p:spPr>
          <a:xfrm>
            <a:off x="946404" y="2162556"/>
            <a:ext cx="338328" cy="338328"/>
          </a:xfrm>
          <a:prstGeom prst="rect">
            <a:avLst/>
          </a:prstGeom>
        </p:spPr>
      </p:pic>
      <p:sp>
        <p:nvSpPr>
          <p:cNvPr id="8" name="pain0__4"/>
          <p:cNvSpPr txBox="1"/>
          <p:nvPr/>
        </p:nvSpPr>
        <p:spPr>
          <a:xfrm>
            <a:off x="1691640" y="1874520"/>
            <a:ext cx="3794760" cy="384048"/>
          </a:xfrm>
          <a:prstGeom prst="rect">
            <a:avLst/>
          </a:prstGeom>
          <a:noFill/>
          <a:ln/>
        </p:spPr>
        <p:txBody>
          <a:bodyPr wrap="square" lIns="0" tIns="0" rIns="0" bIns="0" rtlCol="0" anchor="ctr"/>
          <a:lstStyle/>
          <a:p>
            <a:pPr indent="0" marL="0">
              <a:buNone/>
            </a:pPr>
            <a:r>
              <a:rPr lang="en-US" sz="1700" b="1" dirty="0">
                <a:solidFill>
                  <a:srgbClr val="F1F5FB"/>
                </a:solidFill>
                <a:latin typeface="Arial" pitchFamily="34" charset="0"/>
                <a:ea typeface="Arial" pitchFamily="34" charset="-122"/>
                <a:cs typeface="Arial" pitchFamily="34" charset="-120"/>
              </a:rPr>
              <a:t>Each transfer looks normal</a:t>
            </a:r>
            <a:endParaRPr lang="en-US" sz="1700" dirty="0"/>
          </a:p>
        </p:txBody>
      </p:sp>
      <p:sp>
        <p:nvSpPr>
          <p:cNvPr id="9" name="pain0__5"/>
          <p:cNvSpPr txBox="1"/>
          <p:nvPr/>
        </p:nvSpPr>
        <p:spPr>
          <a:xfrm>
            <a:off x="1691640" y="2258568"/>
            <a:ext cx="3794760" cy="566928"/>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Mule networks split money so every single payment passes rule-based checks.</a:t>
            </a:r>
            <a:endParaRPr lang="en-US" sz="1400" dirty="0"/>
          </a:p>
        </p:txBody>
      </p:sp>
      <p:sp>
        <p:nvSpPr>
          <p:cNvPr id="10" name="pain1__1"/>
          <p:cNvSpPr/>
          <p:nvPr/>
        </p:nvSpPr>
        <p:spPr>
          <a:xfrm>
            <a:off x="548640" y="3154680"/>
            <a:ext cx="5120640" cy="1280160"/>
          </a:xfrm>
          <a:prstGeom prst="roundRect">
            <a:avLst>
              <a:gd name="adj" fmla="val 8571"/>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1" name="pain1__2"/>
          <p:cNvSpPr/>
          <p:nvPr/>
        </p:nvSpPr>
        <p:spPr>
          <a:xfrm>
            <a:off x="777240" y="3456432"/>
            <a:ext cx="676656" cy="676656"/>
          </a:xfrm>
          <a:prstGeom prst="ellipse">
            <a:avLst/>
          </a:prstGeom>
          <a:solidFill>
            <a:srgbClr val="FF4D5E">
              <a:alpha val="18000"/>
            </a:srgbClr>
          </a:solidFill>
          <a:ln w="12700">
            <a:solidFill>
              <a:srgbClr val="FF4D5E">
                <a:alpha val="60000"/>
              </a:srgbClr>
            </a:solidFill>
            <a:prstDash val="solid"/>
          </a:ln>
        </p:spPr>
      </p:sp>
      <p:pic>
        <p:nvPicPr>
          <p:cNvPr id="12" name="pain1__3" descr="preencoded.png">    </p:cNvPr>
          <p:cNvPicPr>
            <a:picLocks noChangeAspect="1"/>
          </p:cNvPicPr>
          <p:nvPr/>
        </p:nvPicPr>
        <p:blipFill>
          <a:blip r:embed="rId3"/>
          <a:stretch>
            <a:fillRect/>
          </a:stretch>
        </p:blipFill>
        <p:spPr>
          <a:xfrm>
            <a:off x="946404" y="3625596"/>
            <a:ext cx="338328" cy="338328"/>
          </a:xfrm>
          <a:prstGeom prst="rect">
            <a:avLst/>
          </a:prstGeom>
        </p:spPr>
      </p:pic>
      <p:sp>
        <p:nvSpPr>
          <p:cNvPr id="13" name="pain1__4"/>
          <p:cNvSpPr txBox="1"/>
          <p:nvPr/>
        </p:nvSpPr>
        <p:spPr>
          <a:xfrm>
            <a:off x="1691640" y="3337560"/>
            <a:ext cx="3794760" cy="384048"/>
          </a:xfrm>
          <a:prstGeom prst="rect">
            <a:avLst/>
          </a:prstGeom>
          <a:noFill/>
          <a:ln/>
        </p:spPr>
        <p:txBody>
          <a:bodyPr wrap="square" lIns="0" tIns="0" rIns="0" bIns="0" rtlCol="0" anchor="ctr"/>
          <a:lstStyle/>
          <a:p>
            <a:pPr indent="0" marL="0">
              <a:buNone/>
            </a:pPr>
            <a:r>
              <a:rPr lang="en-US" sz="1700" b="1" dirty="0">
                <a:solidFill>
                  <a:srgbClr val="F1F5FB"/>
                </a:solidFill>
                <a:latin typeface="Arial" pitchFamily="34" charset="0"/>
                <a:ea typeface="Arial" pitchFamily="34" charset="-122"/>
                <a:cs typeface="Arial" pitchFamily="34" charset="-120"/>
              </a:rPr>
              <a:t>Investigations take hours</a:t>
            </a:r>
            <a:endParaRPr lang="en-US" sz="1700" dirty="0"/>
          </a:p>
        </p:txBody>
      </p:sp>
      <p:sp>
        <p:nvSpPr>
          <p:cNvPr id="14" name="pain1__5"/>
          <p:cNvSpPr txBox="1"/>
          <p:nvPr/>
        </p:nvSpPr>
        <p:spPr>
          <a:xfrm>
            <a:off x="1691640" y="3721608"/>
            <a:ext cx="3794760" cy="566928"/>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Analysts trace multi-hop flows account by account in flat tables.</a:t>
            </a:r>
            <a:endParaRPr lang="en-US" sz="1400" dirty="0"/>
          </a:p>
        </p:txBody>
      </p:sp>
      <p:sp>
        <p:nvSpPr>
          <p:cNvPr id="15" name="pain2__1"/>
          <p:cNvSpPr/>
          <p:nvPr/>
        </p:nvSpPr>
        <p:spPr>
          <a:xfrm>
            <a:off x="548640" y="4617720"/>
            <a:ext cx="5120640" cy="1280160"/>
          </a:xfrm>
          <a:prstGeom prst="roundRect">
            <a:avLst>
              <a:gd name="adj" fmla="val 8571"/>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6" name="pain2__2"/>
          <p:cNvSpPr/>
          <p:nvPr/>
        </p:nvSpPr>
        <p:spPr>
          <a:xfrm>
            <a:off x="777240" y="4919472"/>
            <a:ext cx="676656" cy="676656"/>
          </a:xfrm>
          <a:prstGeom prst="ellipse">
            <a:avLst/>
          </a:prstGeom>
          <a:solidFill>
            <a:srgbClr val="FF4D5E">
              <a:alpha val="18000"/>
            </a:srgbClr>
          </a:solidFill>
          <a:ln w="12700">
            <a:solidFill>
              <a:srgbClr val="FF4D5E">
                <a:alpha val="60000"/>
              </a:srgbClr>
            </a:solidFill>
            <a:prstDash val="solid"/>
          </a:ln>
        </p:spPr>
      </p:sp>
      <p:pic>
        <p:nvPicPr>
          <p:cNvPr id="17" name="pain2__3" descr="preencoded.png">    </p:cNvPr>
          <p:cNvPicPr>
            <a:picLocks noChangeAspect="1"/>
          </p:cNvPicPr>
          <p:nvPr/>
        </p:nvPicPr>
        <p:blipFill>
          <a:blip r:embed="rId4"/>
          <a:stretch>
            <a:fillRect/>
          </a:stretch>
        </p:blipFill>
        <p:spPr>
          <a:xfrm>
            <a:off x="946404" y="5088636"/>
            <a:ext cx="338328" cy="338328"/>
          </a:xfrm>
          <a:prstGeom prst="rect">
            <a:avLst/>
          </a:prstGeom>
        </p:spPr>
      </p:pic>
      <p:sp>
        <p:nvSpPr>
          <p:cNvPr id="18" name="pain2__4"/>
          <p:cNvSpPr txBox="1"/>
          <p:nvPr/>
        </p:nvSpPr>
        <p:spPr>
          <a:xfrm>
            <a:off x="1691640" y="4800600"/>
            <a:ext cx="3794760" cy="384048"/>
          </a:xfrm>
          <a:prstGeom prst="rect">
            <a:avLst/>
          </a:prstGeom>
          <a:noFill/>
          <a:ln/>
        </p:spPr>
        <p:txBody>
          <a:bodyPr wrap="square" lIns="0" tIns="0" rIns="0" bIns="0" rtlCol="0" anchor="ctr"/>
          <a:lstStyle/>
          <a:p>
            <a:pPr indent="0" marL="0">
              <a:buNone/>
            </a:pPr>
            <a:r>
              <a:rPr lang="en-US" sz="1700" b="1" dirty="0">
                <a:solidFill>
                  <a:srgbClr val="F1F5FB"/>
                </a:solidFill>
                <a:latin typeface="Arial" pitchFamily="34" charset="0"/>
                <a:ea typeface="Arial" pitchFamily="34" charset="-122"/>
                <a:cs typeface="Arial" pitchFamily="34" charset="-120"/>
              </a:rPr>
              <a:t>Alerts without reasons</a:t>
            </a:r>
            <a:endParaRPr lang="en-US" sz="1700" dirty="0"/>
          </a:p>
        </p:txBody>
      </p:sp>
      <p:sp>
        <p:nvSpPr>
          <p:cNvPr id="19" name="pain2__5"/>
          <p:cNvSpPr txBox="1"/>
          <p:nvPr/>
        </p:nvSpPr>
        <p:spPr>
          <a:xfrm>
            <a:off x="1691640" y="5184648"/>
            <a:ext cx="3794760" cy="566928"/>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Black-box scores and threshold alerts are hard to defend to auditors.</a:t>
            </a:r>
            <a:endParaRPr lang="en-US" sz="1400" dirty="0"/>
          </a:p>
        </p:txBody>
      </p:sp>
      <p:sp>
        <p:nvSpPr>
          <p:cNvPr id="20" name="vpanel__1"/>
          <p:cNvSpPr/>
          <p:nvPr/>
        </p:nvSpPr>
        <p:spPr>
          <a:xfrm>
            <a:off x="5989320" y="1691640"/>
            <a:ext cx="5650992" cy="4206240"/>
          </a:xfrm>
          <a:prstGeom prst="roundRect">
            <a:avLst>
              <a:gd name="adj" fmla="val 2609"/>
            </a:avLst>
          </a:prstGeom>
          <a:solidFill>
            <a:srgbClr val="0E1729">
              <a:alpha val="75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1" name="rules__1"/>
          <p:cNvSpPr txBox="1"/>
          <p:nvPr/>
        </p:nvSpPr>
        <p:spPr>
          <a:xfrm>
            <a:off x="6263640" y="1874520"/>
            <a:ext cx="2377440" cy="274320"/>
          </a:xfrm>
          <a:prstGeom prst="rect">
            <a:avLst/>
          </a:prstGeom>
          <a:noFill/>
          <a:ln/>
        </p:spPr>
        <p:txBody>
          <a:bodyPr wrap="square" lIns="0" tIns="0" rIns="0" bIns="0" rtlCol="0" anchor="ctr"/>
          <a:lstStyle/>
          <a:p>
            <a:pPr indent="0" marL="0">
              <a:buNone/>
            </a:pPr>
            <a:r>
              <a:rPr lang="en-US" sz="1100" b="1" spc="200" kern="0" dirty="0">
                <a:solidFill>
                  <a:srgbClr val="9AABC4"/>
                </a:solidFill>
                <a:latin typeface="Arial" pitchFamily="34" charset="0"/>
                <a:ea typeface="Arial" pitchFamily="34" charset="-122"/>
                <a:cs typeface="Arial" pitchFamily="34" charset="-120"/>
              </a:rPr>
              <a:t>WHAT RULES SEE</a:t>
            </a:r>
            <a:endParaRPr lang="en-US" sz="1100" dirty="0"/>
          </a:p>
        </p:txBody>
      </p:sp>
      <p:sp>
        <p:nvSpPr>
          <p:cNvPr id="22" name="graphlbl__1"/>
          <p:cNvSpPr txBox="1"/>
          <p:nvPr/>
        </p:nvSpPr>
        <p:spPr>
          <a:xfrm>
            <a:off x="9098280" y="1874520"/>
            <a:ext cx="2377440" cy="274320"/>
          </a:xfrm>
          <a:prstGeom prst="rect">
            <a:avLst/>
          </a:prstGeom>
          <a:noFill/>
          <a:ln/>
        </p:spPr>
        <p:txBody>
          <a:bodyPr wrap="square" lIns="0" tIns="0" rIns="0" bIns="0" rtlCol="0" anchor="ctr"/>
          <a:lstStyle/>
          <a:p>
            <a:pPr indent="0" marL="0">
              <a:buNone/>
            </a:pPr>
            <a:r>
              <a:rPr lang="en-US" sz="1100" b="1" spc="200" kern="0" dirty="0">
                <a:solidFill>
                  <a:srgbClr val="FF4D5E"/>
                </a:solidFill>
                <a:latin typeface="Arial" pitchFamily="34" charset="0"/>
                <a:ea typeface="Arial" pitchFamily="34" charset="-122"/>
                <a:cs typeface="Arial" pitchFamily="34" charset="-120"/>
              </a:rPr>
              <a:t>WHAT THE GRAPH SEES</a:t>
            </a:r>
            <a:endParaRPr lang="en-US" sz="1100" dirty="0"/>
          </a:p>
        </p:txBody>
      </p:sp>
      <p:sp>
        <p:nvSpPr>
          <p:cNvPr id="23" name="rules__2"/>
          <p:cNvSpPr/>
          <p:nvPr/>
        </p:nvSpPr>
        <p:spPr>
          <a:xfrm>
            <a:off x="6263640" y="2331720"/>
            <a:ext cx="2423160" cy="457200"/>
          </a:xfrm>
          <a:prstGeom prst="roundRect">
            <a:avLst>
              <a:gd name="adj" fmla="val 16000"/>
            </a:avLst>
          </a:prstGeom>
          <a:solidFill>
            <a:srgbClr val="13203A"/>
          </a:solidFill>
          <a:ln w="9525">
            <a:solidFill>
              <a:srgbClr val="22314F"/>
            </a:solidFill>
            <a:prstDash val="solid"/>
          </a:ln>
        </p:spPr>
      </p:sp>
      <p:sp>
        <p:nvSpPr>
          <p:cNvPr id="24" name="rules__3"/>
          <p:cNvSpPr txBox="1"/>
          <p:nvPr/>
        </p:nvSpPr>
        <p:spPr>
          <a:xfrm>
            <a:off x="6400800" y="2331720"/>
            <a:ext cx="1828800" cy="457200"/>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A-214  </a:t>
            </a:r>
            <a:pPr indent="0" marL="0">
              <a:buNone/>
            </a:pPr>
            <a:r>
              <a:rPr lang="en-US" sz="1300" dirty="0">
                <a:solidFill>
                  <a:srgbClr val="9AABC4"/>
                </a:solidFill>
                <a:latin typeface="Calibri" pitchFamily="34" charset="0"/>
                <a:ea typeface="Calibri" pitchFamily="34" charset="-122"/>
                <a:cs typeface="Calibri" pitchFamily="34" charset="-120"/>
              </a:rPr>
              <a:t>BDT 9,800</a:t>
            </a:r>
            <a:endParaRPr lang="en-US" sz="1300" dirty="0"/>
          </a:p>
        </p:txBody>
      </p:sp>
      <p:pic>
        <p:nvPicPr>
          <p:cNvPr id="25" name="rules__4" descr="preencoded.png">    </p:cNvPr>
          <p:cNvPicPr>
            <a:picLocks noChangeAspect="1"/>
          </p:cNvPicPr>
          <p:nvPr/>
        </p:nvPicPr>
        <p:blipFill>
          <a:blip r:embed="rId5"/>
          <a:stretch>
            <a:fillRect/>
          </a:stretch>
        </p:blipFill>
        <p:spPr>
          <a:xfrm>
            <a:off x="8339328" y="2441448"/>
            <a:ext cx="237744" cy="237744"/>
          </a:xfrm>
          <a:prstGeom prst="rect">
            <a:avLst/>
          </a:prstGeom>
        </p:spPr>
      </p:pic>
      <p:sp>
        <p:nvSpPr>
          <p:cNvPr id="26" name="rules__5"/>
          <p:cNvSpPr/>
          <p:nvPr/>
        </p:nvSpPr>
        <p:spPr>
          <a:xfrm>
            <a:off x="6263640" y="2935224"/>
            <a:ext cx="2423160" cy="457200"/>
          </a:xfrm>
          <a:prstGeom prst="roundRect">
            <a:avLst>
              <a:gd name="adj" fmla="val 16000"/>
            </a:avLst>
          </a:prstGeom>
          <a:solidFill>
            <a:srgbClr val="13203A"/>
          </a:solidFill>
          <a:ln w="9525">
            <a:solidFill>
              <a:srgbClr val="22314F"/>
            </a:solidFill>
            <a:prstDash val="solid"/>
          </a:ln>
        </p:spPr>
      </p:sp>
      <p:sp>
        <p:nvSpPr>
          <p:cNvPr id="27" name="rules__6"/>
          <p:cNvSpPr txBox="1"/>
          <p:nvPr/>
        </p:nvSpPr>
        <p:spPr>
          <a:xfrm>
            <a:off x="6400800" y="2935224"/>
            <a:ext cx="1828800" cy="457200"/>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A-377  </a:t>
            </a:r>
            <a:pPr indent="0" marL="0">
              <a:buNone/>
            </a:pPr>
            <a:r>
              <a:rPr lang="en-US" sz="1300" dirty="0">
                <a:solidFill>
                  <a:srgbClr val="9AABC4"/>
                </a:solidFill>
                <a:latin typeface="Calibri" pitchFamily="34" charset="0"/>
                <a:ea typeface="Calibri" pitchFamily="34" charset="-122"/>
                <a:cs typeface="Calibri" pitchFamily="34" charset="-120"/>
              </a:rPr>
              <a:t>BDT 9,650</a:t>
            </a:r>
            <a:endParaRPr lang="en-US" sz="1300" dirty="0"/>
          </a:p>
        </p:txBody>
      </p:sp>
      <p:pic>
        <p:nvPicPr>
          <p:cNvPr id="28" name="rules__7" descr="preencoded.png">    </p:cNvPr>
          <p:cNvPicPr>
            <a:picLocks noChangeAspect="1"/>
          </p:cNvPicPr>
          <p:nvPr/>
        </p:nvPicPr>
        <p:blipFill>
          <a:blip r:embed="rId6"/>
          <a:stretch>
            <a:fillRect/>
          </a:stretch>
        </p:blipFill>
        <p:spPr>
          <a:xfrm>
            <a:off x="8339328" y="3044952"/>
            <a:ext cx="237744" cy="237744"/>
          </a:xfrm>
          <a:prstGeom prst="rect">
            <a:avLst/>
          </a:prstGeom>
        </p:spPr>
      </p:pic>
      <p:sp>
        <p:nvSpPr>
          <p:cNvPr id="29" name="rules__8"/>
          <p:cNvSpPr/>
          <p:nvPr/>
        </p:nvSpPr>
        <p:spPr>
          <a:xfrm>
            <a:off x="6263640" y="3538728"/>
            <a:ext cx="2423160" cy="457200"/>
          </a:xfrm>
          <a:prstGeom prst="roundRect">
            <a:avLst>
              <a:gd name="adj" fmla="val 16000"/>
            </a:avLst>
          </a:prstGeom>
          <a:solidFill>
            <a:srgbClr val="13203A"/>
          </a:solidFill>
          <a:ln w="9525">
            <a:solidFill>
              <a:srgbClr val="22314F"/>
            </a:solidFill>
            <a:prstDash val="solid"/>
          </a:ln>
        </p:spPr>
      </p:sp>
      <p:sp>
        <p:nvSpPr>
          <p:cNvPr id="30" name="rules__9"/>
          <p:cNvSpPr txBox="1"/>
          <p:nvPr/>
        </p:nvSpPr>
        <p:spPr>
          <a:xfrm>
            <a:off x="6400800" y="3538728"/>
            <a:ext cx="1828800" cy="457200"/>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A-108  </a:t>
            </a:r>
            <a:pPr indent="0" marL="0">
              <a:buNone/>
            </a:pPr>
            <a:r>
              <a:rPr lang="en-US" sz="1300" dirty="0">
                <a:solidFill>
                  <a:srgbClr val="9AABC4"/>
                </a:solidFill>
                <a:latin typeface="Calibri" pitchFamily="34" charset="0"/>
                <a:ea typeface="Calibri" pitchFamily="34" charset="-122"/>
                <a:cs typeface="Calibri" pitchFamily="34" charset="-120"/>
              </a:rPr>
              <a:t>BDT 9,900</a:t>
            </a:r>
            <a:endParaRPr lang="en-US" sz="1300" dirty="0"/>
          </a:p>
        </p:txBody>
      </p:sp>
      <p:pic>
        <p:nvPicPr>
          <p:cNvPr id="31" name="rules__10" descr="preencoded.png">    </p:cNvPr>
          <p:cNvPicPr>
            <a:picLocks noChangeAspect="1"/>
          </p:cNvPicPr>
          <p:nvPr/>
        </p:nvPicPr>
        <p:blipFill>
          <a:blip r:embed="rId7"/>
          <a:stretch>
            <a:fillRect/>
          </a:stretch>
        </p:blipFill>
        <p:spPr>
          <a:xfrm>
            <a:off x="8339328" y="3648456"/>
            <a:ext cx="237744" cy="237744"/>
          </a:xfrm>
          <a:prstGeom prst="rect">
            <a:avLst/>
          </a:prstGeom>
        </p:spPr>
      </p:pic>
      <p:sp>
        <p:nvSpPr>
          <p:cNvPr id="32" name="rules__11"/>
          <p:cNvSpPr/>
          <p:nvPr/>
        </p:nvSpPr>
        <p:spPr>
          <a:xfrm>
            <a:off x="6263640" y="4142232"/>
            <a:ext cx="2423160" cy="457200"/>
          </a:xfrm>
          <a:prstGeom prst="roundRect">
            <a:avLst>
              <a:gd name="adj" fmla="val 16000"/>
            </a:avLst>
          </a:prstGeom>
          <a:solidFill>
            <a:srgbClr val="13203A"/>
          </a:solidFill>
          <a:ln w="9525">
            <a:solidFill>
              <a:srgbClr val="22314F"/>
            </a:solidFill>
            <a:prstDash val="solid"/>
          </a:ln>
        </p:spPr>
      </p:sp>
      <p:sp>
        <p:nvSpPr>
          <p:cNvPr id="33" name="rules__12"/>
          <p:cNvSpPr txBox="1"/>
          <p:nvPr/>
        </p:nvSpPr>
        <p:spPr>
          <a:xfrm>
            <a:off x="6400800" y="4142232"/>
            <a:ext cx="1828800" cy="457200"/>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A-652  </a:t>
            </a:r>
            <a:pPr indent="0" marL="0">
              <a:buNone/>
            </a:pPr>
            <a:r>
              <a:rPr lang="en-US" sz="1300" dirty="0">
                <a:solidFill>
                  <a:srgbClr val="9AABC4"/>
                </a:solidFill>
                <a:latin typeface="Calibri" pitchFamily="34" charset="0"/>
                <a:ea typeface="Calibri" pitchFamily="34" charset="-122"/>
                <a:cs typeface="Calibri" pitchFamily="34" charset="-120"/>
              </a:rPr>
              <a:t>BDT 9,700</a:t>
            </a:r>
            <a:endParaRPr lang="en-US" sz="1300" dirty="0"/>
          </a:p>
        </p:txBody>
      </p:sp>
      <p:pic>
        <p:nvPicPr>
          <p:cNvPr id="34" name="rules__13" descr="preencoded.png">    </p:cNvPr>
          <p:cNvPicPr>
            <a:picLocks noChangeAspect="1"/>
          </p:cNvPicPr>
          <p:nvPr/>
        </p:nvPicPr>
        <p:blipFill>
          <a:blip r:embed="rId8"/>
          <a:stretch>
            <a:fillRect/>
          </a:stretch>
        </p:blipFill>
        <p:spPr>
          <a:xfrm>
            <a:off x="8339328" y="4251960"/>
            <a:ext cx="237744" cy="237744"/>
          </a:xfrm>
          <a:prstGeom prst="rect">
            <a:avLst/>
          </a:prstGeom>
        </p:spPr>
      </p:pic>
      <p:sp>
        <p:nvSpPr>
          <p:cNvPr id="35" name="rules__14"/>
          <p:cNvSpPr/>
          <p:nvPr/>
        </p:nvSpPr>
        <p:spPr>
          <a:xfrm>
            <a:off x="6263640" y="4745736"/>
            <a:ext cx="2423160" cy="457200"/>
          </a:xfrm>
          <a:prstGeom prst="roundRect">
            <a:avLst>
              <a:gd name="adj" fmla="val 16000"/>
            </a:avLst>
          </a:prstGeom>
          <a:solidFill>
            <a:srgbClr val="13203A"/>
          </a:solidFill>
          <a:ln w="9525">
            <a:solidFill>
              <a:srgbClr val="22314F"/>
            </a:solidFill>
            <a:prstDash val="solid"/>
          </a:ln>
        </p:spPr>
      </p:sp>
      <p:sp>
        <p:nvSpPr>
          <p:cNvPr id="36" name="rules__15"/>
          <p:cNvSpPr txBox="1"/>
          <p:nvPr/>
        </p:nvSpPr>
        <p:spPr>
          <a:xfrm>
            <a:off x="6400800" y="4745736"/>
            <a:ext cx="1828800" cy="457200"/>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A-590  </a:t>
            </a:r>
            <a:pPr indent="0" marL="0">
              <a:buNone/>
            </a:pPr>
            <a:r>
              <a:rPr lang="en-US" sz="1300" dirty="0">
                <a:solidFill>
                  <a:srgbClr val="9AABC4"/>
                </a:solidFill>
                <a:latin typeface="Calibri" pitchFamily="34" charset="0"/>
                <a:ea typeface="Calibri" pitchFamily="34" charset="-122"/>
                <a:cs typeface="Calibri" pitchFamily="34" charset="-120"/>
              </a:rPr>
              <a:t>BDT 9,850</a:t>
            </a:r>
            <a:endParaRPr lang="en-US" sz="1300" dirty="0"/>
          </a:p>
        </p:txBody>
      </p:sp>
      <p:pic>
        <p:nvPicPr>
          <p:cNvPr id="37" name="rules__16" descr="preencoded.png">    </p:cNvPr>
          <p:cNvPicPr>
            <a:picLocks noChangeAspect="1"/>
          </p:cNvPicPr>
          <p:nvPr/>
        </p:nvPicPr>
        <p:blipFill>
          <a:blip r:embed="rId9"/>
          <a:stretch>
            <a:fillRect/>
          </a:stretch>
        </p:blipFill>
        <p:spPr>
          <a:xfrm>
            <a:off x="8339328" y="4855464"/>
            <a:ext cx="237744" cy="237744"/>
          </a:xfrm>
          <a:prstGeom prst="rect">
            <a:avLst/>
          </a:prstGeom>
        </p:spPr>
      </p:pic>
      <p:sp>
        <p:nvSpPr>
          <p:cNvPr id="38" name="gedge__1"/>
          <p:cNvSpPr/>
          <p:nvPr/>
        </p:nvSpPr>
        <p:spPr>
          <a:xfrm>
            <a:off x="9466454" y="2617168"/>
            <a:ext cx="1224786" cy="741870"/>
          </a:xfrm>
          <a:prstGeom prst="line">
            <a:avLst/>
          </a:prstGeom>
          <a:noFill/>
          <a:ln w="19050">
            <a:solidFill>
              <a:srgbClr val="FF4D5E">
                <a:alpha val="85000"/>
              </a:srgbClr>
            </a:solidFill>
            <a:prstDash val="solid"/>
            <a:tailEnd type="triangle"/>
          </a:ln>
        </p:spPr>
      </p:sp>
      <p:sp>
        <p:nvSpPr>
          <p:cNvPr id="39" name="gedge__2"/>
          <p:cNvSpPr/>
          <p:nvPr/>
        </p:nvSpPr>
        <p:spPr>
          <a:xfrm>
            <a:off x="9479569" y="3188274"/>
            <a:ext cx="1172323" cy="267960"/>
          </a:xfrm>
          <a:prstGeom prst="line">
            <a:avLst/>
          </a:prstGeom>
          <a:noFill/>
          <a:ln w="19050">
            <a:solidFill>
              <a:srgbClr val="FF4D5E">
                <a:alpha val="85000"/>
              </a:srgbClr>
            </a:solidFill>
            <a:prstDash val="solid"/>
            <a:tailEnd type="triangle"/>
          </a:ln>
        </p:spPr>
      </p:sp>
      <p:sp>
        <p:nvSpPr>
          <p:cNvPr id="40" name="gedge__3"/>
          <p:cNvSpPr/>
          <p:nvPr/>
        </p:nvSpPr>
        <p:spPr>
          <a:xfrm flipV="1">
            <a:off x="9481137" y="3577960"/>
            <a:ext cx="1166053" cy="173242"/>
          </a:xfrm>
          <a:prstGeom prst="line">
            <a:avLst/>
          </a:prstGeom>
          <a:noFill/>
          <a:ln w="19050">
            <a:solidFill>
              <a:srgbClr val="FF4D5E">
                <a:alpha val="85000"/>
              </a:srgbClr>
            </a:solidFill>
            <a:prstDash val="solid"/>
            <a:tailEnd type="triangle"/>
          </a:ln>
        </p:spPr>
      </p:sp>
      <p:sp>
        <p:nvSpPr>
          <p:cNvPr id="41" name="gedge__4"/>
          <p:cNvSpPr/>
          <p:nvPr/>
        </p:nvSpPr>
        <p:spPr>
          <a:xfrm flipV="1">
            <a:off x="9469724" y="3682763"/>
            <a:ext cx="1211703" cy="637009"/>
          </a:xfrm>
          <a:prstGeom prst="line">
            <a:avLst/>
          </a:prstGeom>
          <a:noFill/>
          <a:ln w="19050">
            <a:solidFill>
              <a:srgbClr val="FF4D5E">
                <a:alpha val="85000"/>
              </a:srgbClr>
            </a:solidFill>
            <a:prstDash val="solid"/>
            <a:tailEnd type="triangle"/>
          </a:ln>
        </p:spPr>
      </p:sp>
      <p:sp>
        <p:nvSpPr>
          <p:cNvPr id="42" name="gedge__5"/>
          <p:cNvSpPr/>
          <p:nvPr/>
        </p:nvSpPr>
        <p:spPr>
          <a:xfrm flipV="1">
            <a:off x="9454044" y="3750182"/>
            <a:ext cx="1274423" cy="1150621"/>
          </a:xfrm>
          <a:prstGeom prst="line">
            <a:avLst/>
          </a:prstGeom>
          <a:noFill/>
          <a:ln w="19050">
            <a:solidFill>
              <a:srgbClr val="FF4D5E">
                <a:alpha val="85000"/>
              </a:srgbClr>
            </a:solidFill>
            <a:prstDash val="solid"/>
            <a:tailEnd type="triangle"/>
          </a:ln>
        </p:spPr>
      </p:sp>
      <p:sp>
        <p:nvSpPr>
          <p:cNvPr id="43" name="gnode__1"/>
          <p:cNvSpPr/>
          <p:nvPr/>
        </p:nvSpPr>
        <p:spPr>
          <a:xfrm>
            <a:off x="9262872" y="2450592"/>
            <a:ext cx="219456" cy="219456"/>
          </a:xfrm>
          <a:prstGeom prst="ellipse">
            <a:avLst/>
          </a:prstGeom>
          <a:solidFill>
            <a:srgbClr val="38BDF8"/>
          </a:solidFill>
          <a:ln w="12700">
            <a:solidFill>
              <a:srgbClr val="38BDF8"/>
            </a:solidFill>
            <a:prstDash val="solid"/>
          </a:ln>
        </p:spPr>
      </p:sp>
      <p:sp>
        <p:nvSpPr>
          <p:cNvPr id="44" name="gnode__2"/>
          <p:cNvSpPr/>
          <p:nvPr/>
        </p:nvSpPr>
        <p:spPr>
          <a:xfrm>
            <a:off x="9262872" y="3054096"/>
            <a:ext cx="219456" cy="219456"/>
          </a:xfrm>
          <a:prstGeom prst="ellipse">
            <a:avLst/>
          </a:prstGeom>
          <a:solidFill>
            <a:srgbClr val="38BDF8"/>
          </a:solidFill>
          <a:ln w="12700">
            <a:solidFill>
              <a:srgbClr val="38BDF8"/>
            </a:solidFill>
            <a:prstDash val="solid"/>
          </a:ln>
        </p:spPr>
      </p:sp>
      <p:sp>
        <p:nvSpPr>
          <p:cNvPr id="45" name="gnode__3"/>
          <p:cNvSpPr/>
          <p:nvPr/>
        </p:nvSpPr>
        <p:spPr>
          <a:xfrm>
            <a:off x="9262872" y="3657600"/>
            <a:ext cx="219456" cy="219456"/>
          </a:xfrm>
          <a:prstGeom prst="ellipse">
            <a:avLst/>
          </a:prstGeom>
          <a:solidFill>
            <a:srgbClr val="38BDF8"/>
          </a:solidFill>
          <a:ln w="12700">
            <a:solidFill>
              <a:srgbClr val="38BDF8"/>
            </a:solidFill>
            <a:prstDash val="solid"/>
          </a:ln>
        </p:spPr>
      </p:sp>
      <p:sp>
        <p:nvSpPr>
          <p:cNvPr id="46" name="gnode__4"/>
          <p:cNvSpPr/>
          <p:nvPr/>
        </p:nvSpPr>
        <p:spPr>
          <a:xfrm>
            <a:off x="9262872" y="4261104"/>
            <a:ext cx="219456" cy="219456"/>
          </a:xfrm>
          <a:prstGeom prst="ellipse">
            <a:avLst/>
          </a:prstGeom>
          <a:solidFill>
            <a:srgbClr val="38BDF8"/>
          </a:solidFill>
          <a:ln w="12700">
            <a:solidFill>
              <a:srgbClr val="38BDF8"/>
            </a:solidFill>
            <a:prstDash val="solid"/>
          </a:ln>
        </p:spPr>
      </p:sp>
      <p:sp>
        <p:nvSpPr>
          <p:cNvPr id="47" name="gnode__5"/>
          <p:cNvSpPr/>
          <p:nvPr/>
        </p:nvSpPr>
        <p:spPr>
          <a:xfrm>
            <a:off x="9262872" y="4864608"/>
            <a:ext cx="219456" cy="219456"/>
          </a:xfrm>
          <a:prstGeom prst="ellipse">
            <a:avLst/>
          </a:prstGeom>
          <a:solidFill>
            <a:srgbClr val="38BDF8"/>
          </a:solidFill>
          <a:ln w="12700">
            <a:solidFill>
              <a:srgbClr val="38BDF8"/>
            </a:solidFill>
            <a:prstDash val="solid"/>
          </a:ln>
        </p:spPr>
      </p:sp>
      <p:sp>
        <p:nvSpPr>
          <p:cNvPr id="48" name="ghub__1"/>
          <p:cNvSpPr/>
          <p:nvPr/>
        </p:nvSpPr>
        <p:spPr>
          <a:xfrm>
            <a:off x="10451592" y="3008376"/>
            <a:ext cx="1042416" cy="1042416"/>
          </a:xfrm>
          <a:prstGeom prst="ellipse">
            <a:avLst/>
          </a:prstGeom>
          <a:solidFill>
            <a:srgbClr val="FF4D5E">
              <a:alpha val="18000"/>
            </a:srgbClr>
          </a:solidFill>
          <a:ln w="9525">
            <a:solidFill>
              <a:srgbClr val="FF4D5E">
                <a:alpha val="45000"/>
              </a:srgbClr>
            </a:solidFill>
            <a:prstDash val="solid"/>
          </a:ln>
        </p:spPr>
      </p:sp>
      <p:sp>
        <p:nvSpPr>
          <p:cNvPr id="49" name="ghub__2"/>
          <p:cNvSpPr/>
          <p:nvPr/>
        </p:nvSpPr>
        <p:spPr>
          <a:xfrm>
            <a:off x="10698480" y="3255264"/>
            <a:ext cx="548640" cy="548640"/>
          </a:xfrm>
          <a:prstGeom prst="ellipse">
            <a:avLst/>
          </a:prstGeom>
          <a:solidFill>
            <a:srgbClr val="FF4D5E"/>
          </a:solidFill>
          <a:ln w="12700">
            <a:solidFill>
              <a:srgbClr val="FF4D5E"/>
            </a:solidFill>
            <a:prstDash val="solid"/>
          </a:ln>
        </p:spPr>
      </p:sp>
      <p:sp>
        <p:nvSpPr>
          <p:cNvPr id="50" name="ghub__3"/>
          <p:cNvSpPr txBox="1"/>
          <p:nvPr/>
        </p:nvSpPr>
        <p:spPr>
          <a:xfrm>
            <a:off x="10287000" y="3941064"/>
            <a:ext cx="1371600" cy="274320"/>
          </a:xfrm>
          <a:prstGeom prst="rect">
            <a:avLst/>
          </a:prstGeom>
          <a:noFill/>
          <a:ln/>
        </p:spPr>
        <p:txBody>
          <a:bodyPr wrap="square" lIns="0" tIns="0" rIns="0" bIns="0" rtlCol="0" anchor="ctr"/>
          <a:lstStyle/>
          <a:p>
            <a:pPr algn="ctr" indent="0" marL="0">
              <a:buNone/>
            </a:pPr>
            <a:r>
              <a:rPr lang="en-US" sz="1200" b="1" dirty="0">
                <a:solidFill>
                  <a:srgbClr val="FF4D5E"/>
                </a:solidFill>
                <a:latin typeface="Calibri" pitchFamily="34" charset="0"/>
                <a:ea typeface="Calibri" pitchFamily="34" charset="-122"/>
                <a:cs typeface="Calibri" pitchFamily="34" charset="-120"/>
              </a:rPr>
              <a:t>1 collector</a:t>
            </a:r>
            <a:endParaRPr lang="en-US" sz="1200" dirty="0"/>
          </a:p>
        </p:txBody>
      </p:sp>
      <p:sp>
        <p:nvSpPr>
          <p:cNvPr id="51" name="vcap__1"/>
          <p:cNvSpPr txBox="1"/>
          <p:nvPr/>
        </p:nvSpPr>
        <p:spPr>
          <a:xfrm>
            <a:off x="6263640" y="5349240"/>
            <a:ext cx="5166360" cy="365760"/>
          </a:xfrm>
          <a:prstGeom prst="rect">
            <a:avLst/>
          </a:prstGeom>
          <a:noFill/>
          <a:ln/>
        </p:spPr>
        <p:txBody>
          <a:bodyPr wrap="square" lIns="0" tIns="0" rIns="0" bIns="0" rtlCol="0" anchor="ctr"/>
          <a:lstStyle/>
          <a:p>
            <a:pPr indent="0" marL="0">
              <a:buNone/>
            </a:pPr>
            <a:r>
              <a:rPr lang="en-US" sz="1400" dirty="0">
                <a:solidFill>
                  <a:srgbClr val="F1F5FB"/>
                </a:solidFill>
                <a:latin typeface="Calibri" pitchFamily="34" charset="0"/>
                <a:ea typeface="Calibri" pitchFamily="34" charset="-122"/>
                <a:cs typeface="Calibri" pitchFamily="34" charset="-120"/>
              </a:rPr>
              <a:t>Five 'clean' transfers are really one </a:t>
            </a:r>
            <a:pPr indent="0" marL="0">
              <a:buNone/>
            </a:pPr>
            <a:r>
              <a:rPr lang="en-US" sz="1400" b="1" dirty="0">
                <a:solidFill>
                  <a:srgbClr val="FF4D5E"/>
                </a:solidFill>
                <a:latin typeface="Calibri" pitchFamily="34" charset="0"/>
                <a:ea typeface="Calibri" pitchFamily="34" charset="-122"/>
                <a:cs typeface="Calibri" pitchFamily="34" charset="-120"/>
              </a:rPr>
              <a:t>fan-in collector</a:t>
            </a:r>
            <a:pPr indent="0" marL="0">
              <a:buNone/>
            </a:pPr>
            <a:r>
              <a:rPr lang="en-US" sz="1400" dirty="0">
                <a:solidFill>
                  <a:srgbClr val="F1F5FB"/>
                </a:solidFill>
                <a:latin typeface="Calibri" pitchFamily="34" charset="0"/>
                <a:ea typeface="Calibri" pitchFamily="34" charset="-122"/>
                <a:cs typeface="Calibri" pitchFamily="34" charset="-120"/>
              </a:rPr>
              <a:t> account.</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3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3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6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65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6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65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65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0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0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0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100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100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anim calcmode="lin" valueType="num">
                                      <p:cBhvr additive="base">
                                        <p:cTn id="78" dur="500" fill="hold"/>
                                        <p:tgtEl>
                                          <p:spTgt spid="19"/>
                                        </p:tgtEl>
                                        <p:attrNameLst>
                                          <p:attrName>ppt_x</p:attrName>
                                        </p:attrNameLst>
                                      </p:cBhvr>
                                      <p:tavLst>
                                        <p:tav tm="0">
                                          <p:val>
                                            <p:strVal val="#ppt_x"/>
                                          </p:val>
                                        </p:tav>
                                        <p:tav tm="100000">
                                          <p:val>
                                            <p:strVal val="#ppt_x"/>
                                          </p:val>
                                        </p:tav>
                                      </p:tavLst>
                                    </p:anim>
                                    <p:anim calcmode="lin" valueType="num">
                                      <p:cBhvr additive="base">
                                        <p:cTn id="79" dur="500" fill="hold"/>
                                        <p:tgtEl>
                                          <p:spTgt spid="19"/>
                                        </p:tgtEl>
                                        <p:attrNameLst>
                                          <p:attrName>ppt_y</p:attrName>
                                        </p:attrNameLst>
                                      </p:cBhvr>
                                      <p:tavLst>
                                        <p:tav tm="0">
                                          <p:val>
                                            <p:strVal val="#ppt_y+.1"/>
                                          </p:val>
                                        </p:tav>
                                        <p:tav tm="100000">
                                          <p:val>
                                            <p:strVal val="#ppt_y"/>
                                          </p:val>
                                        </p:tav>
                                      </p:tavLst>
                                    </p:anim>
                                  </p:childTnLst>
                                </p:cTn>
                              </p:par>
                              <p:par>
                                <p:cTn id="80" presetID="10" presetClass="entr" presetSubtype="0" fill="hold" nodeType="withEffect">
                                  <p:stCondLst>
                                    <p:cond delay="130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400"/>
                                        <p:tgtEl>
                                          <p:spTgt spid="20"/>
                                        </p:tgtEl>
                                      </p:cBhvr>
                                    </p:animEffect>
                                  </p:childTnLst>
                                </p:cTn>
                              </p:par>
                              <p:par>
                                <p:cTn id="83" presetID="22" presetClass="entr" presetSubtype="8" fill="hold" nodeType="withEffect">
                                  <p:stCondLst>
                                    <p:cond delay="1500"/>
                                  </p:stCondLst>
                                  <p:childTnLst>
                                    <p:set>
                                      <p:cBhvr>
                                        <p:cTn id="84" dur="1" fill="hold">
                                          <p:stCondLst>
                                            <p:cond delay="0"/>
                                          </p:stCondLst>
                                        </p:cTn>
                                        <p:tgtEl>
                                          <p:spTgt spid="21"/>
                                        </p:tgtEl>
                                        <p:attrNameLst>
                                          <p:attrName>style.visibility</p:attrName>
                                        </p:attrNameLst>
                                      </p:cBhvr>
                                      <p:to>
                                        <p:strVal val="visible"/>
                                      </p:to>
                                    </p:set>
                                    <p:animEffect transition="in" filter="wipe(left)">
                                      <p:cBhvr>
                                        <p:cTn id="85" dur="700"/>
                                        <p:tgtEl>
                                          <p:spTgt spid="21"/>
                                        </p:tgtEl>
                                      </p:cBhvr>
                                    </p:animEffect>
                                  </p:childTnLst>
                                </p:cTn>
                              </p:par>
                              <p:par>
                                <p:cTn id="86" presetID="22" presetClass="entr" presetSubtype="8" fill="hold" nodeType="withEffect">
                                  <p:stCondLst>
                                    <p:cond delay="1500"/>
                                  </p:stCondLst>
                                  <p:childTnLst>
                                    <p:set>
                                      <p:cBhvr>
                                        <p:cTn id="87" dur="1" fill="hold">
                                          <p:stCondLst>
                                            <p:cond delay="0"/>
                                          </p:stCondLst>
                                        </p:cTn>
                                        <p:tgtEl>
                                          <p:spTgt spid="23"/>
                                        </p:tgtEl>
                                        <p:attrNameLst>
                                          <p:attrName>style.visibility</p:attrName>
                                        </p:attrNameLst>
                                      </p:cBhvr>
                                      <p:to>
                                        <p:strVal val="visible"/>
                                      </p:to>
                                    </p:set>
                                    <p:animEffect transition="in" filter="wipe(left)">
                                      <p:cBhvr>
                                        <p:cTn id="88" dur="700"/>
                                        <p:tgtEl>
                                          <p:spTgt spid="23"/>
                                        </p:tgtEl>
                                      </p:cBhvr>
                                    </p:animEffect>
                                  </p:childTnLst>
                                </p:cTn>
                              </p:par>
                              <p:par>
                                <p:cTn id="89" presetID="22" presetClass="entr" presetSubtype="8" fill="hold" nodeType="withEffect">
                                  <p:stCondLst>
                                    <p:cond delay="1500"/>
                                  </p:stCondLst>
                                  <p:childTnLst>
                                    <p:set>
                                      <p:cBhvr>
                                        <p:cTn id="90" dur="1" fill="hold">
                                          <p:stCondLst>
                                            <p:cond delay="0"/>
                                          </p:stCondLst>
                                        </p:cTn>
                                        <p:tgtEl>
                                          <p:spTgt spid="24"/>
                                        </p:tgtEl>
                                        <p:attrNameLst>
                                          <p:attrName>style.visibility</p:attrName>
                                        </p:attrNameLst>
                                      </p:cBhvr>
                                      <p:to>
                                        <p:strVal val="visible"/>
                                      </p:to>
                                    </p:set>
                                    <p:animEffect transition="in" filter="wipe(left)">
                                      <p:cBhvr>
                                        <p:cTn id="91" dur="700"/>
                                        <p:tgtEl>
                                          <p:spTgt spid="24"/>
                                        </p:tgtEl>
                                      </p:cBhvr>
                                    </p:animEffect>
                                  </p:childTnLst>
                                </p:cTn>
                              </p:par>
                              <p:par>
                                <p:cTn id="92" presetID="22" presetClass="entr" presetSubtype="8" fill="hold" nodeType="withEffect">
                                  <p:stCondLst>
                                    <p:cond delay="1500"/>
                                  </p:stCondLst>
                                  <p:childTnLst>
                                    <p:set>
                                      <p:cBhvr>
                                        <p:cTn id="93" dur="1" fill="hold">
                                          <p:stCondLst>
                                            <p:cond delay="0"/>
                                          </p:stCondLst>
                                        </p:cTn>
                                        <p:tgtEl>
                                          <p:spTgt spid="25"/>
                                        </p:tgtEl>
                                        <p:attrNameLst>
                                          <p:attrName>style.visibility</p:attrName>
                                        </p:attrNameLst>
                                      </p:cBhvr>
                                      <p:to>
                                        <p:strVal val="visible"/>
                                      </p:to>
                                    </p:set>
                                    <p:animEffect transition="in" filter="wipe(left)">
                                      <p:cBhvr>
                                        <p:cTn id="94" dur="700"/>
                                        <p:tgtEl>
                                          <p:spTgt spid="25"/>
                                        </p:tgtEl>
                                      </p:cBhvr>
                                    </p:animEffect>
                                  </p:childTnLst>
                                </p:cTn>
                              </p:par>
                              <p:par>
                                <p:cTn id="95" presetID="22" presetClass="entr" presetSubtype="8" fill="hold" nodeType="withEffect">
                                  <p:stCondLst>
                                    <p:cond delay="1500"/>
                                  </p:stCondLst>
                                  <p:childTnLst>
                                    <p:set>
                                      <p:cBhvr>
                                        <p:cTn id="96" dur="1" fill="hold">
                                          <p:stCondLst>
                                            <p:cond delay="0"/>
                                          </p:stCondLst>
                                        </p:cTn>
                                        <p:tgtEl>
                                          <p:spTgt spid="26"/>
                                        </p:tgtEl>
                                        <p:attrNameLst>
                                          <p:attrName>style.visibility</p:attrName>
                                        </p:attrNameLst>
                                      </p:cBhvr>
                                      <p:to>
                                        <p:strVal val="visible"/>
                                      </p:to>
                                    </p:set>
                                    <p:animEffect transition="in" filter="wipe(left)">
                                      <p:cBhvr>
                                        <p:cTn id="97" dur="700"/>
                                        <p:tgtEl>
                                          <p:spTgt spid="26"/>
                                        </p:tgtEl>
                                      </p:cBhvr>
                                    </p:animEffect>
                                  </p:childTnLst>
                                </p:cTn>
                              </p:par>
                              <p:par>
                                <p:cTn id="98" presetID="22" presetClass="entr" presetSubtype="8" fill="hold" nodeType="withEffect">
                                  <p:stCondLst>
                                    <p:cond delay="1500"/>
                                  </p:stCondLst>
                                  <p:childTnLst>
                                    <p:set>
                                      <p:cBhvr>
                                        <p:cTn id="99" dur="1" fill="hold">
                                          <p:stCondLst>
                                            <p:cond delay="0"/>
                                          </p:stCondLst>
                                        </p:cTn>
                                        <p:tgtEl>
                                          <p:spTgt spid="27"/>
                                        </p:tgtEl>
                                        <p:attrNameLst>
                                          <p:attrName>style.visibility</p:attrName>
                                        </p:attrNameLst>
                                      </p:cBhvr>
                                      <p:to>
                                        <p:strVal val="visible"/>
                                      </p:to>
                                    </p:set>
                                    <p:animEffect transition="in" filter="wipe(left)">
                                      <p:cBhvr>
                                        <p:cTn id="100" dur="700"/>
                                        <p:tgtEl>
                                          <p:spTgt spid="27"/>
                                        </p:tgtEl>
                                      </p:cBhvr>
                                    </p:animEffect>
                                  </p:childTnLst>
                                </p:cTn>
                              </p:par>
                              <p:par>
                                <p:cTn id="101" presetID="22" presetClass="entr" presetSubtype="8" fill="hold" nodeType="withEffect">
                                  <p:stCondLst>
                                    <p:cond delay="1500"/>
                                  </p:stCondLst>
                                  <p:childTnLst>
                                    <p:set>
                                      <p:cBhvr>
                                        <p:cTn id="102" dur="1" fill="hold">
                                          <p:stCondLst>
                                            <p:cond delay="0"/>
                                          </p:stCondLst>
                                        </p:cTn>
                                        <p:tgtEl>
                                          <p:spTgt spid="28"/>
                                        </p:tgtEl>
                                        <p:attrNameLst>
                                          <p:attrName>style.visibility</p:attrName>
                                        </p:attrNameLst>
                                      </p:cBhvr>
                                      <p:to>
                                        <p:strVal val="visible"/>
                                      </p:to>
                                    </p:set>
                                    <p:animEffect transition="in" filter="wipe(left)">
                                      <p:cBhvr>
                                        <p:cTn id="103" dur="700"/>
                                        <p:tgtEl>
                                          <p:spTgt spid="28"/>
                                        </p:tgtEl>
                                      </p:cBhvr>
                                    </p:animEffect>
                                  </p:childTnLst>
                                </p:cTn>
                              </p:par>
                              <p:par>
                                <p:cTn id="104" presetID="22" presetClass="entr" presetSubtype="8" fill="hold" nodeType="withEffect">
                                  <p:stCondLst>
                                    <p:cond delay="1500"/>
                                  </p:stCondLst>
                                  <p:childTnLst>
                                    <p:set>
                                      <p:cBhvr>
                                        <p:cTn id="105" dur="1" fill="hold">
                                          <p:stCondLst>
                                            <p:cond delay="0"/>
                                          </p:stCondLst>
                                        </p:cTn>
                                        <p:tgtEl>
                                          <p:spTgt spid="29"/>
                                        </p:tgtEl>
                                        <p:attrNameLst>
                                          <p:attrName>style.visibility</p:attrName>
                                        </p:attrNameLst>
                                      </p:cBhvr>
                                      <p:to>
                                        <p:strVal val="visible"/>
                                      </p:to>
                                    </p:set>
                                    <p:animEffect transition="in" filter="wipe(left)">
                                      <p:cBhvr>
                                        <p:cTn id="106" dur="700"/>
                                        <p:tgtEl>
                                          <p:spTgt spid="29"/>
                                        </p:tgtEl>
                                      </p:cBhvr>
                                    </p:animEffect>
                                  </p:childTnLst>
                                </p:cTn>
                              </p:par>
                              <p:par>
                                <p:cTn id="107" presetID="22" presetClass="entr" presetSubtype="8" fill="hold" nodeType="withEffect">
                                  <p:stCondLst>
                                    <p:cond delay="1500"/>
                                  </p:stCondLst>
                                  <p:childTnLst>
                                    <p:set>
                                      <p:cBhvr>
                                        <p:cTn id="108" dur="1" fill="hold">
                                          <p:stCondLst>
                                            <p:cond delay="0"/>
                                          </p:stCondLst>
                                        </p:cTn>
                                        <p:tgtEl>
                                          <p:spTgt spid="30"/>
                                        </p:tgtEl>
                                        <p:attrNameLst>
                                          <p:attrName>style.visibility</p:attrName>
                                        </p:attrNameLst>
                                      </p:cBhvr>
                                      <p:to>
                                        <p:strVal val="visible"/>
                                      </p:to>
                                    </p:set>
                                    <p:animEffect transition="in" filter="wipe(left)">
                                      <p:cBhvr>
                                        <p:cTn id="109" dur="700"/>
                                        <p:tgtEl>
                                          <p:spTgt spid="30"/>
                                        </p:tgtEl>
                                      </p:cBhvr>
                                    </p:animEffect>
                                  </p:childTnLst>
                                </p:cTn>
                              </p:par>
                              <p:par>
                                <p:cTn id="110" presetID="22" presetClass="entr" presetSubtype="8" fill="hold" nodeType="withEffect">
                                  <p:stCondLst>
                                    <p:cond delay="1500"/>
                                  </p:stCondLst>
                                  <p:childTnLst>
                                    <p:set>
                                      <p:cBhvr>
                                        <p:cTn id="111" dur="1" fill="hold">
                                          <p:stCondLst>
                                            <p:cond delay="0"/>
                                          </p:stCondLst>
                                        </p:cTn>
                                        <p:tgtEl>
                                          <p:spTgt spid="31"/>
                                        </p:tgtEl>
                                        <p:attrNameLst>
                                          <p:attrName>style.visibility</p:attrName>
                                        </p:attrNameLst>
                                      </p:cBhvr>
                                      <p:to>
                                        <p:strVal val="visible"/>
                                      </p:to>
                                    </p:set>
                                    <p:animEffect transition="in" filter="wipe(left)">
                                      <p:cBhvr>
                                        <p:cTn id="112" dur="700"/>
                                        <p:tgtEl>
                                          <p:spTgt spid="31"/>
                                        </p:tgtEl>
                                      </p:cBhvr>
                                    </p:animEffect>
                                  </p:childTnLst>
                                </p:cTn>
                              </p:par>
                              <p:par>
                                <p:cTn id="113" presetID="22" presetClass="entr" presetSubtype="8" fill="hold" nodeType="withEffect">
                                  <p:stCondLst>
                                    <p:cond delay="1500"/>
                                  </p:stCondLst>
                                  <p:childTnLst>
                                    <p:set>
                                      <p:cBhvr>
                                        <p:cTn id="114" dur="1" fill="hold">
                                          <p:stCondLst>
                                            <p:cond delay="0"/>
                                          </p:stCondLst>
                                        </p:cTn>
                                        <p:tgtEl>
                                          <p:spTgt spid="32"/>
                                        </p:tgtEl>
                                        <p:attrNameLst>
                                          <p:attrName>style.visibility</p:attrName>
                                        </p:attrNameLst>
                                      </p:cBhvr>
                                      <p:to>
                                        <p:strVal val="visible"/>
                                      </p:to>
                                    </p:set>
                                    <p:animEffect transition="in" filter="wipe(left)">
                                      <p:cBhvr>
                                        <p:cTn id="115" dur="700"/>
                                        <p:tgtEl>
                                          <p:spTgt spid="32"/>
                                        </p:tgtEl>
                                      </p:cBhvr>
                                    </p:animEffect>
                                  </p:childTnLst>
                                </p:cTn>
                              </p:par>
                              <p:par>
                                <p:cTn id="116" presetID="22" presetClass="entr" presetSubtype="8" fill="hold" nodeType="withEffect">
                                  <p:stCondLst>
                                    <p:cond delay="1500"/>
                                  </p:stCondLst>
                                  <p:childTnLst>
                                    <p:set>
                                      <p:cBhvr>
                                        <p:cTn id="117" dur="1" fill="hold">
                                          <p:stCondLst>
                                            <p:cond delay="0"/>
                                          </p:stCondLst>
                                        </p:cTn>
                                        <p:tgtEl>
                                          <p:spTgt spid="33"/>
                                        </p:tgtEl>
                                        <p:attrNameLst>
                                          <p:attrName>style.visibility</p:attrName>
                                        </p:attrNameLst>
                                      </p:cBhvr>
                                      <p:to>
                                        <p:strVal val="visible"/>
                                      </p:to>
                                    </p:set>
                                    <p:animEffect transition="in" filter="wipe(left)">
                                      <p:cBhvr>
                                        <p:cTn id="118" dur="700"/>
                                        <p:tgtEl>
                                          <p:spTgt spid="33"/>
                                        </p:tgtEl>
                                      </p:cBhvr>
                                    </p:animEffect>
                                  </p:childTnLst>
                                </p:cTn>
                              </p:par>
                              <p:par>
                                <p:cTn id="119" presetID="22" presetClass="entr" presetSubtype="8" fill="hold" nodeType="withEffect">
                                  <p:stCondLst>
                                    <p:cond delay="1500"/>
                                  </p:stCondLst>
                                  <p:childTnLst>
                                    <p:set>
                                      <p:cBhvr>
                                        <p:cTn id="120" dur="1" fill="hold">
                                          <p:stCondLst>
                                            <p:cond delay="0"/>
                                          </p:stCondLst>
                                        </p:cTn>
                                        <p:tgtEl>
                                          <p:spTgt spid="34"/>
                                        </p:tgtEl>
                                        <p:attrNameLst>
                                          <p:attrName>style.visibility</p:attrName>
                                        </p:attrNameLst>
                                      </p:cBhvr>
                                      <p:to>
                                        <p:strVal val="visible"/>
                                      </p:to>
                                    </p:set>
                                    <p:animEffect transition="in" filter="wipe(left)">
                                      <p:cBhvr>
                                        <p:cTn id="121" dur="700"/>
                                        <p:tgtEl>
                                          <p:spTgt spid="34"/>
                                        </p:tgtEl>
                                      </p:cBhvr>
                                    </p:animEffect>
                                  </p:childTnLst>
                                </p:cTn>
                              </p:par>
                              <p:par>
                                <p:cTn id="122" presetID="22" presetClass="entr" presetSubtype="8" fill="hold" nodeType="withEffect">
                                  <p:stCondLst>
                                    <p:cond delay="1500"/>
                                  </p:stCondLst>
                                  <p:childTnLst>
                                    <p:set>
                                      <p:cBhvr>
                                        <p:cTn id="123" dur="1" fill="hold">
                                          <p:stCondLst>
                                            <p:cond delay="0"/>
                                          </p:stCondLst>
                                        </p:cTn>
                                        <p:tgtEl>
                                          <p:spTgt spid="35"/>
                                        </p:tgtEl>
                                        <p:attrNameLst>
                                          <p:attrName>style.visibility</p:attrName>
                                        </p:attrNameLst>
                                      </p:cBhvr>
                                      <p:to>
                                        <p:strVal val="visible"/>
                                      </p:to>
                                    </p:set>
                                    <p:animEffect transition="in" filter="wipe(left)">
                                      <p:cBhvr>
                                        <p:cTn id="124" dur="700"/>
                                        <p:tgtEl>
                                          <p:spTgt spid="35"/>
                                        </p:tgtEl>
                                      </p:cBhvr>
                                    </p:animEffect>
                                  </p:childTnLst>
                                </p:cTn>
                              </p:par>
                              <p:par>
                                <p:cTn id="125" presetID="22" presetClass="entr" presetSubtype="8" fill="hold" nodeType="withEffect">
                                  <p:stCondLst>
                                    <p:cond delay="1500"/>
                                  </p:stCondLst>
                                  <p:childTnLst>
                                    <p:set>
                                      <p:cBhvr>
                                        <p:cTn id="126" dur="1" fill="hold">
                                          <p:stCondLst>
                                            <p:cond delay="0"/>
                                          </p:stCondLst>
                                        </p:cTn>
                                        <p:tgtEl>
                                          <p:spTgt spid="36"/>
                                        </p:tgtEl>
                                        <p:attrNameLst>
                                          <p:attrName>style.visibility</p:attrName>
                                        </p:attrNameLst>
                                      </p:cBhvr>
                                      <p:to>
                                        <p:strVal val="visible"/>
                                      </p:to>
                                    </p:set>
                                    <p:animEffect transition="in" filter="wipe(left)">
                                      <p:cBhvr>
                                        <p:cTn id="127" dur="700"/>
                                        <p:tgtEl>
                                          <p:spTgt spid="36"/>
                                        </p:tgtEl>
                                      </p:cBhvr>
                                    </p:animEffect>
                                  </p:childTnLst>
                                </p:cTn>
                              </p:par>
                              <p:par>
                                <p:cTn id="128" presetID="22" presetClass="entr" presetSubtype="8" fill="hold" nodeType="withEffect">
                                  <p:stCondLst>
                                    <p:cond delay="1500"/>
                                  </p:stCondLst>
                                  <p:childTnLst>
                                    <p:set>
                                      <p:cBhvr>
                                        <p:cTn id="129" dur="1" fill="hold">
                                          <p:stCondLst>
                                            <p:cond delay="0"/>
                                          </p:stCondLst>
                                        </p:cTn>
                                        <p:tgtEl>
                                          <p:spTgt spid="37"/>
                                        </p:tgtEl>
                                        <p:attrNameLst>
                                          <p:attrName>style.visibility</p:attrName>
                                        </p:attrNameLst>
                                      </p:cBhvr>
                                      <p:to>
                                        <p:strVal val="visible"/>
                                      </p:to>
                                    </p:set>
                                    <p:animEffect transition="in" filter="wipe(left)">
                                      <p:cBhvr>
                                        <p:cTn id="130" dur="700"/>
                                        <p:tgtEl>
                                          <p:spTgt spid="37"/>
                                        </p:tgtEl>
                                      </p:cBhvr>
                                    </p:animEffect>
                                  </p:childTnLst>
                                </p:cTn>
                              </p:par>
                              <p:par>
                                <p:cTn id="131" presetID="10" presetClass="entr" presetSubtype="0" fill="hold" nodeType="withEffect">
                                  <p:stCondLst>
                                    <p:cond delay="2300"/>
                                  </p:stCondLst>
                                  <p:childTnLst>
                                    <p:set>
                                      <p:cBhvr>
                                        <p:cTn id="132" dur="1" fill="hold">
                                          <p:stCondLst>
                                            <p:cond delay="0"/>
                                          </p:stCondLst>
                                        </p:cTn>
                                        <p:tgtEl>
                                          <p:spTgt spid="22"/>
                                        </p:tgtEl>
                                        <p:attrNameLst>
                                          <p:attrName>style.visibility</p:attrName>
                                        </p:attrNameLst>
                                      </p:cBhvr>
                                      <p:to>
                                        <p:strVal val="visible"/>
                                      </p:to>
                                    </p:set>
                                    <p:animEffect transition="in" filter="fade">
                                      <p:cBhvr>
                                        <p:cTn id="133" dur="400"/>
                                        <p:tgtEl>
                                          <p:spTgt spid="22"/>
                                        </p:tgtEl>
                                      </p:cBhvr>
                                    </p:animEffect>
                                  </p:childTnLst>
                                </p:cTn>
                              </p:par>
                              <p:par>
                                <p:cTn id="134" presetID="53" presetClass="entr" presetSubtype="16" fill="hold" nodeType="withEffect">
                                  <p:stCondLst>
                                    <p:cond delay="2300"/>
                                  </p:stCondLst>
                                  <p:childTnLst>
                                    <p:set>
                                      <p:cBhvr>
                                        <p:cTn id="135" dur="1" fill="hold">
                                          <p:stCondLst>
                                            <p:cond delay="0"/>
                                          </p:stCondLst>
                                        </p:cTn>
                                        <p:tgtEl>
                                          <p:spTgt spid="43"/>
                                        </p:tgtEl>
                                        <p:attrNameLst>
                                          <p:attrName>style.visibility</p:attrName>
                                        </p:attrNameLst>
                                      </p:cBhvr>
                                      <p:to>
                                        <p:strVal val="visible"/>
                                      </p:to>
                                    </p:set>
                                    <p:anim calcmode="lin" valueType="num">
                                      <p:cBhvr additive="base">
                                        <p:cTn id="136" dur="400" fill="hold"/>
                                        <p:tgtEl>
                                          <p:spTgt spid="43"/>
                                        </p:tgtEl>
                                        <p:attrNameLst>
                                          <p:attrName>ppt_w</p:attrName>
                                        </p:attrNameLst>
                                      </p:cBhvr>
                                      <p:tavLst>
                                        <p:tav tm="0">
                                          <p:val>
                                            <p:strVal val="0"/>
                                          </p:val>
                                        </p:tav>
                                        <p:tav tm="100000">
                                          <p:val>
                                            <p:strVal val="#ppt_w"/>
                                          </p:val>
                                        </p:tav>
                                      </p:tavLst>
                                    </p:anim>
                                    <p:anim calcmode="lin" valueType="num">
                                      <p:cBhvr additive="base">
                                        <p:cTn id="137" dur="400" fill="hold"/>
                                        <p:tgtEl>
                                          <p:spTgt spid="43"/>
                                        </p:tgtEl>
                                        <p:attrNameLst>
                                          <p:attrName>ppt_h</p:attrName>
                                        </p:attrNameLst>
                                      </p:cBhvr>
                                      <p:tavLst>
                                        <p:tav tm="0">
                                          <p:val>
                                            <p:strVal val="0"/>
                                          </p:val>
                                        </p:tav>
                                        <p:tav tm="100000">
                                          <p:val>
                                            <p:strVal val="#ppt_h"/>
                                          </p:val>
                                        </p:tav>
                                      </p:tavLst>
                                    </p:anim>
                                    <p:animEffect transition="in" filter="fade">
                                      <p:cBhvr>
                                        <p:cTn id="138" dur="400"/>
                                        <p:tgtEl>
                                          <p:spTgt spid="43"/>
                                        </p:tgtEl>
                                      </p:cBhvr>
                                    </p:animEffect>
                                  </p:childTnLst>
                                </p:cTn>
                              </p:par>
                              <p:par>
                                <p:cTn id="139" presetID="53" presetClass="entr" presetSubtype="16" fill="hold" nodeType="withEffect">
                                  <p:stCondLst>
                                    <p:cond delay="2300"/>
                                  </p:stCondLst>
                                  <p:childTnLst>
                                    <p:set>
                                      <p:cBhvr>
                                        <p:cTn id="140" dur="1" fill="hold">
                                          <p:stCondLst>
                                            <p:cond delay="0"/>
                                          </p:stCondLst>
                                        </p:cTn>
                                        <p:tgtEl>
                                          <p:spTgt spid="44"/>
                                        </p:tgtEl>
                                        <p:attrNameLst>
                                          <p:attrName>style.visibility</p:attrName>
                                        </p:attrNameLst>
                                      </p:cBhvr>
                                      <p:to>
                                        <p:strVal val="visible"/>
                                      </p:to>
                                    </p:set>
                                    <p:anim calcmode="lin" valueType="num">
                                      <p:cBhvr additive="base">
                                        <p:cTn id="141" dur="400" fill="hold"/>
                                        <p:tgtEl>
                                          <p:spTgt spid="44"/>
                                        </p:tgtEl>
                                        <p:attrNameLst>
                                          <p:attrName>ppt_w</p:attrName>
                                        </p:attrNameLst>
                                      </p:cBhvr>
                                      <p:tavLst>
                                        <p:tav tm="0">
                                          <p:val>
                                            <p:strVal val="0"/>
                                          </p:val>
                                        </p:tav>
                                        <p:tav tm="100000">
                                          <p:val>
                                            <p:strVal val="#ppt_w"/>
                                          </p:val>
                                        </p:tav>
                                      </p:tavLst>
                                    </p:anim>
                                    <p:anim calcmode="lin" valueType="num">
                                      <p:cBhvr additive="base">
                                        <p:cTn id="142" dur="400" fill="hold"/>
                                        <p:tgtEl>
                                          <p:spTgt spid="44"/>
                                        </p:tgtEl>
                                        <p:attrNameLst>
                                          <p:attrName>ppt_h</p:attrName>
                                        </p:attrNameLst>
                                      </p:cBhvr>
                                      <p:tavLst>
                                        <p:tav tm="0">
                                          <p:val>
                                            <p:strVal val="0"/>
                                          </p:val>
                                        </p:tav>
                                        <p:tav tm="100000">
                                          <p:val>
                                            <p:strVal val="#ppt_h"/>
                                          </p:val>
                                        </p:tav>
                                      </p:tavLst>
                                    </p:anim>
                                    <p:animEffect transition="in" filter="fade">
                                      <p:cBhvr>
                                        <p:cTn id="143" dur="400"/>
                                        <p:tgtEl>
                                          <p:spTgt spid="44"/>
                                        </p:tgtEl>
                                      </p:cBhvr>
                                    </p:animEffect>
                                  </p:childTnLst>
                                </p:cTn>
                              </p:par>
                              <p:par>
                                <p:cTn id="144" presetID="53" presetClass="entr" presetSubtype="16" fill="hold" nodeType="withEffect">
                                  <p:stCondLst>
                                    <p:cond delay="2300"/>
                                  </p:stCondLst>
                                  <p:childTnLst>
                                    <p:set>
                                      <p:cBhvr>
                                        <p:cTn id="145" dur="1" fill="hold">
                                          <p:stCondLst>
                                            <p:cond delay="0"/>
                                          </p:stCondLst>
                                        </p:cTn>
                                        <p:tgtEl>
                                          <p:spTgt spid="45"/>
                                        </p:tgtEl>
                                        <p:attrNameLst>
                                          <p:attrName>style.visibility</p:attrName>
                                        </p:attrNameLst>
                                      </p:cBhvr>
                                      <p:to>
                                        <p:strVal val="visible"/>
                                      </p:to>
                                    </p:set>
                                    <p:anim calcmode="lin" valueType="num">
                                      <p:cBhvr additive="base">
                                        <p:cTn id="146" dur="400" fill="hold"/>
                                        <p:tgtEl>
                                          <p:spTgt spid="45"/>
                                        </p:tgtEl>
                                        <p:attrNameLst>
                                          <p:attrName>ppt_w</p:attrName>
                                        </p:attrNameLst>
                                      </p:cBhvr>
                                      <p:tavLst>
                                        <p:tav tm="0">
                                          <p:val>
                                            <p:strVal val="0"/>
                                          </p:val>
                                        </p:tav>
                                        <p:tav tm="100000">
                                          <p:val>
                                            <p:strVal val="#ppt_w"/>
                                          </p:val>
                                        </p:tav>
                                      </p:tavLst>
                                    </p:anim>
                                    <p:anim calcmode="lin" valueType="num">
                                      <p:cBhvr additive="base">
                                        <p:cTn id="147" dur="400" fill="hold"/>
                                        <p:tgtEl>
                                          <p:spTgt spid="45"/>
                                        </p:tgtEl>
                                        <p:attrNameLst>
                                          <p:attrName>ppt_h</p:attrName>
                                        </p:attrNameLst>
                                      </p:cBhvr>
                                      <p:tavLst>
                                        <p:tav tm="0">
                                          <p:val>
                                            <p:strVal val="0"/>
                                          </p:val>
                                        </p:tav>
                                        <p:tav tm="100000">
                                          <p:val>
                                            <p:strVal val="#ppt_h"/>
                                          </p:val>
                                        </p:tav>
                                      </p:tavLst>
                                    </p:anim>
                                    <p:animEffect transition="in" filter="fade">
                                      <p:cBhvr>
                                        <p:cTn id="148" dur="400"/>
                                        <p:tgtEl>
                                          <p:spTgt spid="45"/>
                                        </p:tgtEl>
                                      </p:cBhvr>
                                    </p:animEffect>
                                  </p:childTnLst>
                                </p:cTn>
                              </p:par>
                              <p:par>
                                <p:cTn id="149" presetID="53" presetClass="entr" presetSubtype="16" fill="hold" nodeType="withEffect">
                                  <p:stCondLst>
                                    <p:cond delay="2300"/>
                                  </p:stCondLst>
                                  <p:childTnLst>
                                    <p:set>
                                      <p:cBhvr>
                                        <p:cTn id="150" dur="1" fill="hold">
                                          <p:stCondLst>
                                            <p:cond delay="0"/>
                                          </p:stCondLst>
                                        </p:cTn>
                                        <p:tgtEl>
                                          <p:spTgt spid="46"/>
                                        </p:tgtEl>
                                        <p:attrNameLst>
                                          <p:attrName>style.visibility</p:attrName>
                                        </p:attrNameLst>
                                      </p:cBhvr>
                                      <p:to>
                                        <p:strVal val="visible"/>
                                      </p:to>
                                    </p:set>
                                    <p:anim calcmode="lin" valueType="num">
                                      <p:cBhvr additive="base">
                                        <p:cTn id="151" dur="400" fill="hold"/>
                                        <p:tgtEl>
                                          <p:spTgt spid="46"/>
                                        </p:tgtEl>
                                        <p:attrNameLst>
                                          <p:attrName>ppt_w</p:attrName>
                                        </p:attrNameLst>
                                      </p:cBhvr>
                                      <p:tavLst>
                                        <p:tav tm="0">
                                          <p:val>
                                            <p:strVal val="0"/>
                                          </p:val>
                                        </p:tav>
                                        <p:tav tm="100000">
                                          <p:val>
                                            <p:strVal val="#ppt_w"/>
                                          </p:val>
                                        </p:tav>
                                      </p:tavLst>
                                    </p:anim>
                                    <p:anim calcmode="lin" valueType="num">
                                      <p:cBhvr additive="base">
                                        <p:cTn id="152" dur="400" fill="hold"/>
                                        <p:tgtEl>
                                          <p:spTgt spid="46"/>
                                        </p:tgtEl>
                                        <p:attrNameLst>
                                          <p:attrName>ppt_h</p:attrName>
                                        </p:attrNameLst>
                                      </p:cBhvr>
                                      <p:tavLst>
                                        <p:tav tm="0">
                                          <p:val>
                                            <p:strVal val="0"/>
                                          </p:val>
                                        </p:tav>
                                        <p:tav tm="100000">
                                          <p:val>
                                            <p:strVal val="#ppt_h"/>
                                          </p:val>
                                        </p:tav>
                                      </p:tavLst>
                                    </p:anim>
                                    <p:animEffect transition="in" filter="fade">
                                      <p:cBhvr>
                                        <p:cTn id="153" dur="400"/>
                                        <p:tgtEl>
                                          <p:spTgt spid="46"/>
                                        </p:tgtEl>
                                      </p:cBhvr>
                                    </p:animEffect>
                                  </p:childTnLst>
                                </p:cTn>
                              </p:par>
                              <p:par>
                                <p:cTn id="154" presetID="53" presetClass="entr" presetSubtype="16" fill="hold" nodeType="withEffect">
                                  <p:stCondLst>
                                    <p:cond delay="2300"/>
                                  </p:stCondLst>
                                  <p:childTnLst>
                                    <p:set>
                                      <p:cBhvr>
                                        <p:cTn id="155" dur="1" fill="hold">
                                          <p:stCondLst>
                                            <p:cond delay="0"/>
                                          </p:stCondLst>
                                        </p:cTn>
                                        <p:tgtEl>
                                          <p:spTgt spid="47"/>
                                        </p:tgtEl>
                                        <p:attrNameLst>
                                          <p:attrName>style.visibility</p:attrName>
                                        </p:attrNameLst>
                                      </p:cBhvr>
                                      <p:to>
                                        <p:strVal val="visible"/>
                                      </p:to>
                                    </p:set>
                                    <p:anim calcmode="lin" valueType="num">
                                      <p:cBhvr additive="base">
                                        <p:cTn id="156" dur="400" fill="hold"/>
                                        <p:tgtEl>
                                          <p:spTgt spid="47"/>
                                        </p:tgtEl>
                                        <p:attrNameLst>
                                          <p:attrName>ppt_w</p:attrName>
                                        </p:attrNameLst>
                                      </p:cBhvr>
                                      <p:tavLst>
                                        <p:tav tm="0">
                                          <p:val>
                                            <p:strVal val="0"/>
                                          </p:val>
                                        </p:tav>
                                        <p:tav tm="100000">
                                          <p:val>
                                            <p:strVal val="#ppt_w"/>
                                          </p:val>
                                        </p:tav>
                                      </p:tavLst>
                                    </p:anim>
                                    <p:anim calcmode="lin" valueType="num">
                                      <p:cBhvr additive="base">
                                        <p:cTn id="157" dur="400" fill="hold"/>
                                        <p:tgtEl>
                                          <p:spTgt spid="47"/>
                                        </p:tgtEl>
                                        <p:attrNameLst>
                                          <p:attrName>ppt_h</p:attrName>
                                        </p:attrNameLst>
                                      </p:cBhvr>
                                      <p:tavLst>
                                        <p:tav tm="0">
                                          <p:val>
                                            <p:strVal val="0"/>
                                          </p:val>
                                        </p:tav>
                                        <p:tav tm="100000">
                                          <p:val>
                                            <p:strVal val="#ppt_h"/>
                                          </p:val>
                                        </p:tav>
                                      </p:tavLst>
                                    </p:anim>
                                    <p:animEffect transition="in" filter="fade">
                                      <p:cBhvr>
                                        <p:cTn id="158" dur="400"/>
                                        <p:tgtEl>
                                          <p:spTgt spid="47"/>
                                        </p:tgtEl>
                                      </p:cBhvr>
                                    </p:animEffect>
                                  </p:childTnLst>
                                </p:cTn>
                              </p:par>
                              <p:par>
                                <p:cTn id="159" presetID="22" presetClass="entr" presetSubtype="8" fill="hold" nodeType="withEffect">
                                  <p:stCondLst>
                                    <p:cond delay="2700"/>
                                  </p:stCondLst>
                                  <p:childTnLst>
                                    <p:set>
                                      <p:cBhvr>
                                        <p:cTn id="160" dur="1" fill="hold">
                                          <p:stCondLst>
                                            <p:cond delay="0"/>
                                          </p:stCondLst>
                                        </p:cTn>
                                        <p:tgtEl>
                                          <p:spTgt spid="38"/>
                                        </p:tgtEl>
                                        <p:attrNameLst>
                                          <p:attrName>style.visibility</p:attrName>
                                        </p:attrNameLst>
                                      </p:cBhvr>
                                      <p:to>
                                        <p:strVal val="visible"/>
                                      </p:to>
                                    </p:set>
                                    <p:animEffect transition="in" filter="wipe(left)">
                                      <p:cBhvr>
                                        <p:cTn id="161" dur="700"/>
                                        <p:tgtEl>
                                          <p:spTgt spid="38"/>
                                        </p:tgtEl>
                                      </p:cBhvr>
                                    </p:animEffect>
                                  </p:childTnLst>
                                </p:cTn>
                              </p:par>
                              <p:par>
                                <p:cTn id="162" presetID="22" presetClass="entr" presetSubtype="8" fill="hold" nodeType="withEffect">
                                  <p:stCondLst>
                                    <p:cond delay="2700"/>
                                  </p:stCondLst>
                                  <p:childTnLst>
                                    <p:set>
                                      <p:cBhvr>
                                        <p:cTn id="163" dur="1" fill="hold">
                                          <p:stCondLst>
                                            <p:cond delay="0"/>
                                          </p:stCondLst>
                                        </p:cTn>
                                        <p:tgtEl>
                                          <p:spTgt spid="39"/>
                                        </p:tgtEl>
                                        <p:attrNameLst>
                                          <p:attrName>style.visibility</p:attrName>
                                        </p:attrNameLst>
                                      </p:cBhvr>
                                      <p:to>
                                        <p:strVal val="visible"/>
                                      </p:to>
                                    </p:set>
                                    <p:animEffect transition="in" filter="wipe(left)">
                                      <p:cBhvr>
                                        <p:cTn id="164" dur="700"/>
                                        <p:tgtEl>
                                          <p:spTgt spid="39"/>
                                        </p:tgtEl>
                                      </p:cBhvr>
                                    </p:animEffect>
                                  </p:childTnLst>
                                </p:cTn>
                              </p:par>
                              <p:par>
                                <p:cTn id="165" presetID="22" presetClass="entr" presetSubtype="8" fill="hold" nodeType="withEffect">
                                  <p:stCondLst>
                                    <p:cond delay="2700"/>
                                  </p:stCondLst>
                                  <p:childTnLst>
                                    <p:set>
                                      <p:cBhvr>
                                        <p:cTn id="166" dur="1" fill="hold">
                                          <p:stCondLst>
                                            <p:cond delay="0"/>
                                          </p:stCondLst>
                                        </p:cTn>
                                        <p:tgtEl>
                                          <p:spTgt spid="40"/>
                                        </p:tgtEl>
                                        <p:attrNameLst>
                                          <p:attrName>style.visibility</p:attrName>
                                        </p:attrNameLst>
                                      </p:cBhvr>
                                      <p:to>
                                        <p:strVal val="visible"/>
                                      </p:to>
                                    </p:set>
                                    <p:animEffect transition="in" filter="wipe(left)">
                                      <p:cBhvr>
                                        <p:cTn id="167" dur="700"/>
                                        <p:tgtEl>
                                          <p:spTgt spid="40"/>
                                        </p:tgtEl>
                                      </p:cBhvr>
                                    </p:animEffect>
                                  </p:childTnLst>
                                </p:cTn>
                              </p:par>
                              <p:par>
                                <p:cTn id="168" presetID="22" presetClass="entr" presetSubtype="8" fill="hold" nodeType="withEffect">
                                  <p:stCondLst>
                                    <p:cond delay="2700"/>
                                  </p:stCondLst>
                                  <p:childTnLst>
                                    <p:set>
                                      <p:cBhvr>
                                        <p:cTn id="169" dur="1" fill="hold">
                                          <p:stCondLst>
                                            <p:cond delay="0"/>
                                          </p:stCondLst>
                                        </p:cTn>
                                        <p:tgtEl>
                                          <p:spTgt spid="41"/>
                                        </p:tgtEl>
                                        <p:attrNameLst>
                                          <p:attrName>style.visibility</p:attrName>
                                        </p:attrNameLst>
                                      </p:cBhvr>
                                      <p:to>
                                        <p:strVal val="visible"/>
                                      </p:to>
                                    </p:set>
                                    <p:animEffect transition="in" filter="wipe(left)">
                                      <p:cBhvr>
                                        <p:cTn id="170" dur="700"/>
                                        <p:tgtEl>
                                          <p:spTgt spid="41"/>
                                        </p:tgtEl>
                                      </p:cBhvr>
                                    </p:animEffect>
                                  </p:childTnLst>
                                </p:cTn>
                              </p:par>
                              <p:par>
                                <p:cTn id="171" presetID="22" presetClass="entr" presetSubtype="8" fill="hold" nodeType="withEffect">
                                  <p:stCondLst>
                                    <p:cond delay="2700"/>
                                  </p:stCondLst>
                                  <p:childTnLst>
                                    <p:set>
                                      <p:cBhvr>
                                        <p:cTn id="172" dur="1" fill="hold">
                                          <p:stCondLst>
                                            <p:cond delay="0"/>
                                          </p:stCondLst>
                                        </p:cTn>
                                        <p:tgtEl>
                                          <p:spTgt spid="42"/>
                                        </p:tgtEl>
                                        <p:attrNameLst>
                                          <p:attrName>style.visibility</p:attrName>
                                        </p:attrNameLst>
                                      </p:cBhvr>
                                      <p:to>
                                        <p:strVal val="visible"/>
                                      </p:to>
                                    </p:set>
                                    <p:animEffect transition="in" filter="wipe(left)">
                                      <p:cBhvr>
                                        <p:cTn id="173" dur="700"/>
                                        <p:tgtEl>
                                          <p:spTgt spid="42"/>
                                        </p:tgtEl>
                                      </p:cBhvr>
                                    </p:animEffect>
                                  </p:childTnLst>
                                </p:cTn>
                              </p:par>
                              <p:par>
                                <p:cTn id="174" presetID="53" presetClass="entr" presetSubtype="16" fill="hold" nodeType="withEffect">
                                  <p:stCondLst>
                                    <p:cond delay="3300"/>
                                  </p:stCondLst>
                                  <p:childTnLst>
                                    <p:set>
                                      <p:cBhvr>
                                        <p:cTn id="175" dur="1" fill="hold">
                                          <p:stCondLst>
                                            <p:cond delay="0"/>
                                          </p:stCondLst>
                                        </p:cTn>
                                        <p:tgtEl>
                                          <p:spTgt spid="48"/>
                                        </p:tgtEl>
                                        <p:attrNameLst>
                                          <p:attrName>style.visibility</p:attrName>
                                        </p:attrNameLst>
                                      </p:cBhvr>
                                      <p:to>
                                        <p:strVal val="visible"/>
                                      </p:to>
                                    </p:set>
                                    <p:anim calcmode="lin" valueType="num">
                                      <p:cBhvr additive="base">
                                        <p:cTn id="176" dur="500" fill="hold"/>
                                        <p:tgtEl>
                                          <p:spTgt spid="48"/>
                                        </p:tgtEl>
                                        <p:attrNameLst>
                                          <p:attrName>ppt_w</p:attrName>
                                        </p:attrNameLst>
                                      </p:cBhvr>
                                      <p:tavLst>
                                        <p:tav tm="0">
                                          <p:val>
                                            <p:strVal val="0"/>
                                          </p:val>
                                        </p:tav>
                                        <p:tav tm="100000">
                                          <p:val>
                                            <p:strVal val="#ppt_w"/>
                                          </p:val>
                                        </p:tav>
                                      </p:tavLst>
                                    </p:anim>
                                    <p:anim calcmode="lin" valueType="num">
                                      <p:cBhvr additive="base">
                                        <p:cTn id="177" dur="500" fill="hold"/>
                                        <p:tgtEl>
                                          <p:spTgt spid="48"/>
                                        </p:tgtEl>
                                        <p:attrNameLst>
                                          <p:attrName>ppt_h</p:attrName>
                                        </p:attrNameLst>
                                      </p:cBhvr>
                                      <p:tavLst>
                                        <p:tav tm="0">
                                          <p:val>
                                            <p:strVal val="0"/>
                                          </p:val>
                                        </p:tav>
                                        <p:tav tm="100000">
                                          <p:val>
                                            <p:strVal val="#ppt_h"/>
                                          </p:val>
                                        </p:tav>
                                      </p:tavLst>
                                    </p:anim>
                                    <p:animEffect transition="in" filter="fade">
                                      <p:cBhvr>
                                        <p:cTn id="178" dur="500"/>
                                        <p:tgtEl>
                                          <p:spTgt spid="48"/>
                                        </p:tgtEl>
                                      </p:cBhvr>
                                    </p:animEffect>
                                  </p:childTnLst>
                                </p:cTn>
                              </p:par>
                              <p:par>
                                <p:cTn id="179" presetID="53" presetClass="entr" presetSubtype="16" fill="hold" nodeType="withEffect">
                                  <p:stCondLst>
                                    <p:cond delay="3300"/>
                                  </p:stCondLst>
                                  <p:childTnLst>
                                    <p:set>
                                      <p:cBhvr>
                                        <p:cTn id="180" dur="1" fill="hold">
                                          <p:stCondLst>
                                            <p:cond delay="0"/>
                                          </p:stCondLst>
                                        </p:cTn>
                                        <p:tgtEl>
                                          <p:spTgt spid="49"/>
                                        </p:tgtEl>
                                        <p:attrNameLst>
                                          <p:attrName>style.visibility</p:attrName>
                                        </p:attrNameLst>
                                      </p:cBhvr>
                                      <p:to>
                                        <p:strVal val="visible"/>
                                      </p:to>
                                    </p:set>
                                    <p:anim calcmode="lin" valueType="num">
                                      <p:cBhvr additive="base">
                                        <p:cTn id="181" dur="500" fill="hold"/>
                                        <p:tgtEl>
                                          <p:spTgt spid="49"/>
                                        </p:tgtEl>
                                        <p:attrNameLst>
                                          <p:attrName>ppt_w</p:attrName>
                                        </p:attrNameLst>
                                      </p:cBhvr>
                                      <p:tavLst>
                                        <p:tav tm="0">
                                          <p:val>
                                            <p:strVal val="0"/>
                                          </p:val>
                                        </p:tav>
                                        <p:tav tm="100000">
                                          <p:val>
                                            <p:strVal val="#ppt_w"/>
                                          </p:val>
                                        </p:tav>
                                      </p:tavLst>
                                    </p:anim>
                                    <p:anim calcmode="lin" valueType="num">
                                      <p:cBhvr additive="base">
                                        <p:cTn id="182" dur="500" fill="hold"/>
                                        <p:tgtEl>
                                          <p:spTgt spid="49"/>
                                        </p:tgtEl>
                                        <p:attrNameLst>
                                          <p:attrName>ppt_h</p:attrName>
                                        </p:attrNameLst>
                                      </p:cBhvr>
                                      <p:tavLst>
                                        <p:tav tm="0">
                                          <p:val>
                                            <p:strVal val="0"/>
                                          </p:val>
                                        </p:tav>
                                        <p:tav tm="100000">
                                          <p:val>
                                            <p:strVal val="#ppt_h"/>
                                          </p:val>
                                        </p:tav>
                                      </p:tavLst>
                                    </p:anim>
                                    <p:animEffect transition="in" filter="fade">
                                      <p:cBhvr>
                                        <p:cTn id="183" dur="500"/>
                                        <p:tgtEl>
                                          <p:spTgt spid="49"/>
                                        </p:tgtEl>
                                      </p:cBhvr>
                                    </p:animEffect>
                                  </p:childTnLst>
                                </p:cTn>
                              </p:par>
                              <p:par>
                                <p:cTn id="184" presetID="53" presetClass="entr" presetSubtype="16" fill="hold" nodeType="withEffect">
                                  <p:stCondLst>
                                    <p:cond delay="3300"/>
                                  </p:stCondLst>
                                  <p:childTnLst>
                                    <p:set>
                                      <p:cBhvr>
                                        <p:cTn id="185" dur="1" fill="hold">
                                          <p:stCondLst>
                                            <p:cond delay="0"/>
                                          </p:stCondLst>
                                        </p:cTn>
                                        <p:tgtEl>
                                          <p:spTgt spid="50"/>
                                        </p:tgtEl>
                                        <p:attrNameLst>
                                          <p:attrName>style.visibility</p:attrName>
                                        </p:attrNameLst>
                                      </p:cBhvr>
                                      <p:to>
                                        <p:strVal val="visible"/>
                                      </p:to>
                                    </p:set>
                                    <p:anim calcmode="lin" valueType="num">
                                      <p:cBhvr additive="base">
                                        <p:cTn id="186" dur="500" fill="hold"/>
                                        <p:tgtEl>
                                          <p:spTgt spid="50"/>
                                        </p:tgtEl>
                                        <p:attrNameLst>
                                          <p:attrName>ppt_w</p:attrName>
                                        </p:attrNameLst>
                                      </p:cBhvr>
                                      <p:tavLst>
                                        <p:tav tm="0">
                                          <p:val>
                                            <p:strVal val="0"/>
                                          </p:val>
                                        </p:tav>
                                        <p:tav tm="100000">
                                          <p:val>
                                            <p:strVal val="#ppt_w"/>
                                          </p:val>
                                        </p:tav>
                                      </p:tavLst>
                                    </p:anim>
                                    <p:anim calcmode="lin" valueType="num">
                                      <p:cBhvr additive="base">
                                        <p:cTn id="187" dur="500" fill="hold"/>
                                        <p:tgtEl>
                                          <p:spTgt spid="50"/>
                                        </p:tgtEl>
                                        <p:attrNameLst>
                                          <p:attrName>ppt_h</p:attrName>
                                        </p:attrNameLst>
                                      </p:cBhvr>
                                      <p:tavLst>
                                        <p:tav tm="0">
                                          <p:val>
                                            <p:strVal val="0"/>
                                          </p:val>
                                        </p:tav>
                                        <p:tav tm="100000">
                                          <p:val>
                                            <p:strVal val="#ppt_h"/>
                                          </p:val>
                                        </p:tav>
                                      </p:tavLst>
                                    </p:anim>
                                    <p:animEffect transition="in" filter="fade">
                                      <p:cBhvr>
                                        <p:cTn id="188" dur="500"/>
                                        <p:tgtEl>
                                          <p:spTgt spid="50"/>
                                        </p:tgtEl>
                                      </p:cBhvr>
                                    </p:animEffect>
                                  </p:childTnLst>
                                </p:cTn>
                              </p:par>
                              <p:par>
                                <p:cTn id="189" presetID="10" presetClass="entr" presetSubtype="0" fill="hold" nodeType="withEffect">
                                  <p:stCondLst>
                                    <p:cond delay="3800"/>
                                  </p:stCondLst>
                                  <p:childTnLst>
                                    <p:set>
                                      <p:cBhvr>
                                        <p:cTn id="190" dur="1" fill="hold">
                                          <p:stCondLst>
                                            <p:cond delay="0"/>
                                          </p:stCondLst>
                                        </p:cTn>
                                        <p:tgtEl>
                                          <p:spTgt spid="51"/>
                                        </p:tgtEl>
                                        <p:attrNameLst>
                                          <p:attrName>style.visibility</p:attrName>
                                        </p:attrNameLst>
                                      </p:cBhvr>
                                      <p:to>
                                        <p:strVal val="visible"/>
                                      </p:to>
                                    </p:set>
                                    <p:animEffect transition="in" filter="fade">
                                      <p:cBhvr>
                                        <p:cTn id="19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02  ·  THE SIZE OF THE PROBLEM</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Bangladesh MFS: huge volume, real laundering</a:t>
            </a:r>
            <a:endParaRPr lang="en-US" sz="3400" dirty="0"/>
          </a:p>
        </p:txBody>
      </p:sp>
      <p:sp>
        <p:nvSpPr>
          <p:cNvPr id="5" name="bds0__1"/>
          <p:cNvSpPr/>
          <p:nvPr/>
        </p:nvSpPr>
        <p:spPr>
          <a:xfrm>
            <a:off x="548640" y="1645920"/>
            <a:ext cx="2606040" cy="2011680"/>
          </a:xfrm>
          <a:prstGeom prst="roundRect">
            <a:avLst>
              <a:gd name="adj" fmla="val 5455"/>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bds0__2"/>
          <p:cNvSpPr txBox="1"/>
          <p:nvPr/>
        </p:nvSpPr>
        <p:spPr>
          <a:xfrm>
            <a:off x="749808" y="1810512"/>
            <a:ext cx="2286000" cy="685800"/>
          </a:xfrm>
          <a:prstGeom prst="rect">
            <a:avLst/>
          </a:prstGeom>
          <a:noFill/>
          <a:ln/>
        </p:spPr>
        <p:txBody>
          <a:bodyPr wrap="square" lIns="0" tIns="0" rIns="0" bIns="0" rtlCol="0" anchor="ctr"/>
          <a:lstStyle/>
          <a:p>
            <a:pPr indent="0" marL="0">
              <a:buNone/>
            </a:pPr>
            <a:r>
              <a:rPr lang="en-US" sz="3600" b="1" dirty="0">
                <a:solidFill>
                  <a:srgbClr val="38BDF8"/>
                </a:solidFill>
                <a:latin typeface="Arial" pitchFamily="34" charset="0"/>
                <a:ea typeface="Arial" pitchFamily="34" charset="-122"/>
                <a:cs typeface="Arial" pitchFamily="34" charset="-120"/>
              </a:rPr>
              <a:t>239.3M</a:t>
            </a:r>
            <a:endParaRPr lang="en-US" sz="3600" dirty="0"/>
          </a:p>
        </p:txBody>
      </p:sp>
      <p:sp>
        <p:nvSpPr>
          <p:cNvPr id="7" name="bds0__3"/>
          <p:cNvSpPr txBox="1"/>
          <p:nvPr/>
        </p:nvSpPr>
        <p:spPr>
          <a:xfrm>
            <a:off x="749808" y="2514600"/>
            <a:ext cx="2286000" cy="347472"/>
          </a:xfrm>
          <a:prstGeom prst="rect">
            <a:avLst/>
          </a:prstGeom>
          <a:noFill/>
          <a:ln/>
        </p:spPr>
        <p:txBody>
          <a:bodyPr wrap="square" lIns="0" tIns="0" rIns="0" bIns="0" rtlCol="0" anchor="ctr"/>
          <a:lstStyle/>
          <a:p>
            <a:pPr indent="0" marL="0">
              <a:buNone/>
            </a:pPr>
            <a:r>
              <a:rPr lang="en-US" sz="1400" b="1" dirty="0">
                <a:solidFill>
                  <a:srgbClr val="F1F5FB"/>
                </a:solidFill>
                <a:latin typeface="Arial" pitchFamily="34" charset="0"/>
                <a:ea typeface="Arial" pitchFamily="34" charset="-122"/>
                <a:cs typeface="Arial" pitchFamily="34" charset="-120"/>
              </a:rPr>
              <a:t>MFS accounts</a:t>
            </a:r>
            <a:endParaRPr lang="en-US" sz="1400" dirty="0"/>
          </a:p>
        </p:txBody>
      </p:sp>
      <p:sp>
        <p:nvSpPr>
          <p:cNvPr id="8" name="bds0__4"/>
          <p:cNvSpPr txBox="1"/>
          <p:nvPr/>
        </p:nvSpPr>
        <p:spPr>
          <a:xfrm>
            <a:off x="749808" y="2880360"/>
            <a:ext cx="2286000" cy="68580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January 2025 </a:t>
            </a:r>
            <a:pPr indent="0" marL="0">
              <a:buNone/>
            </a:pPr>
            <a:r>
              <a:rPr lang="en-US" sz="1200" dirty="0">
                <a:solidFill>
                  <a:srgbClr val="5F7090"/>
                </a:solidFill>
                <a:latin typeface="Calibri" pitchFamily="34" charset="0"/>
                <a:ea typeface="Calibri" pitchFamily="34" charset="-122"/>
                <a:cs typeface="Calibri" pitchFamily="34" charset="-120"/>
              </a:rPr>
              <a:t>[1]</a:t>
            </a:r>
            <a:endParaRPr lang="en-US" sz="1200" dirty="0"/>
          </a:p>
        </p:txBody>
      </p:sp>
      <p:sp>
        <p:nvSpPr>
          <p:cNvPr id="9" name="bds1__1"/>
          <p:cNvSpPr/>
          <p:nvPr/>
        </p:nvSpPr>
        <p:spPr>
          <a:xfrm>
            <a:off x="3376879" y="1645920"/>
            <a:ext cx="2606040" cy="2011680"/>
          </a:xfrm>
          <a:prstGeom prst="roundRect">
            <a:avLst>
              <a:gd name="adj" fmla="val 5455"/>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0" name="bds1__2"/>
          <p:cNvSpPr txBox="1"/>
          <p:nvPr/>
        </p:nvSpPr>
        <p:spPr>
          <a:xfrm>
            <a:off x="3578047" y="1810512"/>
            <a:ext cx="2286000" cy="685800"/>
          </a:xfrm>
          <a:prstGeom prst="rect">
            <a:avLst/>
          </a:prstGeom>
          <a:noFill/>
          <a:ln/>
        </p:spPr>
        <p:txBody>
          <a:bodyPr wrap="square" lIns="0" tIns="0" rIns="0" bIns="0" rtlCol="0" anchor="ctr"/>
          <a:lstStyle/>
          <a:p>
            <a:pPr indent="0" marL="0">
              <a:buNone/>
            </a:pPr>
            <a:r>
              <a:rPr lang="en-US" sz="3600" b="1" dirty="0">
                <a:solidFill>
                  <a:srgbClr val="38BDF8"/>
                </a:solidFill>
                <a:latin typeface="Arial" pitchFamily="34" charset="0"/>
                <a:ea typeface="Arial" pitchFamily="34" charset="-122"/>
                <a:cs typeface="Arial" pitchFamily="34" charset="-120"/>
              </a:rPr>
              <a:t>~22M</a:t>
            </a:r>
            <a:endParaRPr lang="en-US" sz="3600" dirty="0"/>
          </a:p>
        </p:txBody>
      </p:sp>
      <p:sp>
        <p:nvSpPr>
          <p:cNvPr id="11" name="bds1__3"/>
          <p:cNvSpPr txBox="1"/>
          <p:nvPr/>
        </p:nvSpPr>
        <p:spPr>
          <a:xfrm>
            <a:off x="3578047" y="2514600"/>
            <a:ext cx="2286000" cy="347472"/>
          </a:xfrm>
          <a:prstGeom prst="rect">
            <a:avLst/>
          </a:prstGeom>
          <a:noFill/>
          <a:ln/>
        </p:spPr>
        <p:txBody>
          <a:bodyPr wrap="square" lIns="0" tIns="0" rIns="0" bIns="0" rtlCol="0" anchor="ctr"/>
          <a:lstStyle/>
          <a:p>
            <a:pPr indent="0" marL="0">
              <a:buNone/>
            </a:pPr>
            <a:r>
              <a:rPr lang="en-US" sz="1400" b="1" dirty="0">
                <a:solidFill>
                  <a:srgbClr val="F1F5FB"/>
                </a:solidFill>
                <a:latin typeface="Arial" pitchFamily="34" charset="0"/>
                <a:ea typeface="Arial" pitchFamily="34" charset="-122"/>
                <a:cs typeface="Arial" pitchFamily="34" charset="-120"/>
              </a:rPr>
              <a:t>MFS transfers a day</a:t>
            </a:r>
            <a:endParaRPr lang="en-US" sz="1400" dirty="0"/>
          </a:p>
        </p:txBody>
      </p:sp>
      <p:sp>
        <p:nvSpPr>
          <p:cNvPr id="12" name="bds1__4"/>
          <p:cNvSpPr txBox="1"/>
          <p:nvPr/>
        </p:nvSpPr>
        <p:spPr>
          <a:xfrm>
            <a:off x="3578047" y="2880360"/>
            <a:ext cx="2286000" cy="68580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678.6M in Oct 2025, worth Tk 1.58 trillion </a:t>
            </a:r>
            <a:pPr indent="0" marL="0">
              <a:buNone/>
            </a:pPr>
            <a:r>
              <a:rPr lang="en-US" sz="1200" dirty="0">
                <a:solidFill>
                  <a:srgbClr val="5F7090"/>
                </a:solidFill>
                <a:latin typeface="Calibri" pitchFamily="34" charset="0"/>
                <a:ea typeface="Calibri" pitchFamily="34" charset="-122"/>
                <a:cs typeface="Calibri" pitchFamily="34" charset="-120"/>
              </a:rPr>
              <a:t>[2]</a:t>
            </a:r>
            <a:endParaRPr lang="en-US" sz="1200" dirty="0"/>
          </a:p>
        </p:txBody>
      </p:sp>
      <p:sp>
        <p:nvSpPr>
          <p:cNvPr id="13" name="bds2__1"/>
          <p:cNvSpPr/>
          <p:nvPr/>
        </p:nvSpPr>
        <p:spPr>
          <a:xfrm>
            <a:off x="6205118" y="1645920"/>
            <a:ext cx="2606040" cy="2011680"/>
          </a:xfrm>
          <a:prstGeom prst="roundRect">
            <a:avLst>
              <a:gd name="adj" fmla="val 5455"/>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4" name="bds2__2"/>
          <p:cNvSpPr txBox="1"/>
          <p:nvPr/>
        </p:nvSpPr>
        <p:spPr>
          <a:xfrm>
            <a:off x="6406286" y="1810512"/>
            <a:ext cx="2286000" cy="685800"/>
          </a:xfrm>
          <a:prstGeom prst="rect">
            <a:avLst/>
          </a:prstGeom>
          <a:noFill/>
          <a:ln/>
        </p:spPr>
        <p:txBody>
          <a:bodyPr wrap="square" lIns="0" tIns="0" rIns="0" bIns="0" rtlCol="0" anchor="ctr"/>
          <a:lstStyle/>
          <a:p>
            <a:pPr indent="0" marL="0">
              <a:buNone/>
            </a:pPr>
            <a:r>
              <a:rPr lang="en-US" sz="3600" b="1" dirty="0">
                <a:solidFill>
                  <a:srgbClr val="F5A524"/>
                </a:solidFill>
                <a:latin typeface="Arial" pitchFamily="34" charset="0"/>
                <a:ea typeface="Arial" pitchFamily="34" charset="-122"/>
                <a:cs typeface="Arial" pitchFamily="34" charset="-120"/>
              </a:rPr>
              <a:t>30,199</a:t>
            </a:r>
            <a:endParaRPr lang="en-US" sz="3600" dirty="0"/>
          </a:p>
        </p:txBody>
      </p:sp>
      <p:sp>
        <p:nvSpPr>
          <p:cNvPr id="15" name="bds2__3"/>
          <p:cNvSpPr txBox="1"/>
          <p:nvPr/>
        </p:nvSpPr>
        <p:spPr>
          <a:xfrm>
            <a:off x="6406286" y="2514600"/>
            <a:ext cx="2286000" cy="347472"/>
          </a:xfrm>
          <a:prstGeom prst="rect">
            <a:avLst/>
          </a:prstGeom>
          <a:noFill/>
          <a:ln/>
        </p:spPr>
        <p:txBody>
          <a:bodyPr wrap="square" lIns="0" tIns="0" rIns="0" bIns="0" rtlCol="0" anchor="ctr"/>
          <a:lstStyle/>
          <a:p>
            <a:pPr indent="0" marL="0">
              <a:buNone/>
            </a:pPr>
            <a:r>
              <a:rPr lang="en-US" sz="1400" b="1" dirty="0">
                <a:solidFill>
                  <a:srgbClr val="F1F5FB"/>
                </a:solidFill>
                <a:latin typeface="Arial" pitchFamily="34" charset="0"/>
                <a:ea typeface="Arial" pitchFamily="34" charset="-122"/>
                <a:cs typeface="Arial" pitchFamily="34" charset="-120"/>
              </a:rPr>
              <a:t>STRs / SARs to BFIU</a:t>
            </a:r>
            <a:endParaRPr lang="en-US" sz="1400" dirty="0"/>
          </a:p>
        </p:txBody>
      </p:sp>
      <p:sp>
        <p:nvSpPr>
          <p:cNvPr id="16" name="bds2__4"/>
          <p:cNvSpPr txBox="1"/>
          <p:nvPr/>
        </p:nvSpPr>
        <p:spPr>
          <a:xfrm>
            <a:off x="6406286" y="2880360"/>
            <a:ext cx="2286000" cy="68580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FY2024-25, up 74% in one year </a:t>
            </a:r>
            <a:pPr indent="0" marL="0">
              <a:buNone/>
            </a:pPr>
            <a:r>
              <a:rPr lang="en-US" sz="1200" dirty="0">
                <a:solidFill>
                  <a:srgbClr val="5F7090"/>
                </a:solidFill>
                <a:latin typeface="Calibri" pitchFamily="34" charset="0"/>
                <a:ea typeface="Calibri" pitchFamily="34" charset="-122"/>
                <a:cs typeface="Calibri" pitchFamily="34" charset="-120"/>
              </a:rPr>
              <a:t>[3]</a:t>
            </a:r>
            <a:endParaRPr lang="en-US" sz="1200" dirty="0"/>
          </a:p>
        </p:txBody>
      </p:sp>
      <p:sp>
        <p:nvSpPr>
          <p:cNvPr id="17" name="bds3__1"/>
          <p:cNvSpPr/>
          <p:nvPr/>
        </p:nvSpPr>
        <p:spPr>
          <a:xfrm>
            <a:off x="9033358" y="1645920"/>
            <a:ext cx="2606040" cy="2011680"/>
          </a:xfrm>
          <a:prstGeom prst="roundRect">
            <a:avLst>
              <a:gd name="adj" fmla="val 5455"/>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8" name="bds3__2"/>
          <p:cNvSpPr txBox="1"/>
          <p:nvPr/>
        </p:nvSpPr>
        <p:spPr>
          <a:xfrm>
            <a:off x="9234526" y="1810512"/>
            <a:ext cx="2286000" cy="685800"/>
          </a:xfrm>
          <a:prstGeom prst="rect">
            <a:avLst/>
          </a:prstGeom>
          <a:noFill/>
          <a:ln/>
        </p:spPr>
        <p:txBody>
          <a:bodyPr wrap="square" lIns="0" tIns="0" rIns="0" bIns="0" rtlCol="0" anchor="ctr"/>
          <a:lstStyle/>
          <a:p>
            <a:pPr indent="0" marL="0">
              <a:buNone/>
            </a:pPr>
            <a:r>
              <a:rPr lang="en-US" sz="2800" b="1" dirty="0">
                <a:solidFill>
                  <a:srgbClr val="FF4D5E"/>
                </a:solidFill>
                <a:latin typeface="Arial" pitchFamily="34" charset="0"/>
                <a:ea typeface="Arial" pitchFamily="34" charset="-122"/>
                <a:cs typeface="Arial" pitchFamily="34" charset="-120"/>
              </a:rPr>
              <a:t>Tk 75,000 cr</a:t>
            </a:r>
            <a:endParaRPr lang="en-US" sz="2800" dirty="0"/>
          </a:p>
        </p:txBody>
      </p:sp>
      <p:sp>
        <p:nvSpPr>
          <p:cNvPr id="19" name="bds3__3"/>
          <p:cNvSpPr txBox="1"/>
          <p:nvPr/>
        </p:nvSpPr>
        <p:spPr>
          <a:xfrm>
            <a:off x="9234526" y="2514600"/>
            <a:ext cx="2286000" cy="347472"/>
          </a:xfrm>
          <a:prstGeom prst="rect">
            <a:avLst/>
          </a:prstGeom>
          <a:noFill/>
          <a:ln/>
        </p:spPr>
        <p:txBody>
          <a:bodyPr wrap="square" lIns="0" tIns="0" rIns="0" bIns="0" rtlCol="0" anchor="ctr"/>
          <a:lstStyle/>
          <a:p>
            <a:pPr indent="0" marL="0">
              <a:buNone/>
            </a:pPr>
            <a:r>
              <a:rPr lang="en-US" sz="1400" b="1" dirty="0">
                <a:solidFill>
                  <a:srgbClr val="F1F5FB"/>
                </a:solidFill>
                <a:latin typeface="Arial" pitchFamily="34" charset="0"/>
                <a:ea typeface="Arial" pitchFamily="34" charset="-122"/>
                <a:cs typeface="Arial" pitchFamily="34" charset="-120"/>
              </a:rPr>
              <a:t>moved by digital hundi</a:t>
            </a:r>
            <a:endParaRPr lang="en-US" sz="1400" dirty="0"/>
          </a:p>
        </p:txBody>
      </p:sp>
      <p:sp>
        <p:nvSpPr>
          <p:cNvPr id="20" name="bds3__4"/>
          <p:cNvSpPr txBox="1"/>
          <p:nvPr/>
        </p:nvSpPr>
        <p:spPr>
          <a:xfrm>
            <a:off x="9234526" y="2880360"/>
            <a:ext cx="2286000" cy="68580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in one year, via ~5,000 MFS agents (bKash, Nagad, upay, Rocket) </a:t>
            </a:r>
            <a:pPr indent="0" marL="0">
              <a:buNone/>
            </a:pPr>
            <a:r>
              <a:rPr lang="en-US" sz="1200" dirty="0">
                <a:solidFill>
                  <a:srgbClr val="5F7090"/>
                </a:solidFill>
                <a:latin typeface="Calibri" pitchFamily="34" charset="0"/>
                <a:ea typeface="Calibri" pitchFamily="34" charset="-122"/>
                <a:cs typeface="Calibri" pitchFamily="34" charset="-120"/>
              </a:rPr>
              <a:t>[4]</a:t>
            </a:r>
            <a:endParaRPr lang="en-US" sz="1200" dirty="0"/>
          </a:p>
        </p:txBody>
      </p:sp>
      <p:sp>
        <p:nvSpPr>
          <p:cNvPr id="21" name="bdt__1"/>
          <p:cNvSpPr/>
          <p:nvPr/>
        </p:nvSpPr>
        <p:spPr>
          <a:xfrm>
            <a:off x="548640" y="3840480"/>
            <a:ext cx="6949440" cy="2103120"/>
          </a:xfrm>
          <a:prstGeom prst="roundRect">
            <a:avLst>
              <a:gd name="adj" fmla="val 5217"/>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2" name="bdt__2"/>
          <p:cNvSpPr txBox="1"/>
          <p:nvPr/>
        </p:nvSpPr>
        <p:spPr>
          <a:xfrm>
            <a:off x="777240" y="3950208"/>
            <a:ext cx="6583680" cy="274320"/>
          </a:xfrm>
          <a:prstGeom prst="rect">
            <a:avLst/>
          </a:prstGeom>
          <a:noFill/>
          <a:ln/>
        </p:spPr>
        <p:txBody>
          <a:bodyPr wrap="square" lIns="0" tIns="0" rIns="0" bIns="0" rtlCol="0" anchor="ctr"/>
          <a:lstStyle/>
          <a:p>
            <a:pPr indent="0" marL="0">
              <a:buNone/>
            </a:pPr>
            <a:r>
              <a:rPr lang="en-US" sz="1000" b="1" spc="200" kern="0" dirty="0">
                <a:solidFill>
                  <a:srgbClr val="38BDF8"/>
                </a:solidFill>
                <a:latin typeface="Arial" pitchFamily="34" charset="0"/>
                <a:ea typeface="Arial" pitchFamily="34" charset="-122"/>
                <a:cs typeface="Arial" pitchFamily="34" charset="-120"/>
              </a:rPr>
              <a:t>BANGLADESH TYPOLOGIES IN OUR SYNTHETIC DATA</a:t>
            </a:r>
            <a:endParaRPr lang="en-US" sz="1000" dirty="0"/>
          </a:p>
        </p:txBody>
      </p:sp>
      <p:sp>
        <p:nvSpPr>
          <p:cNvPr id="23" name="bdt__3"/>
          <p:cNvSpPr txBox="1"/>
          <p:nvPr/>
        </p:nvSpPr>
        <p:spPr>
          <a:xfrm>
            <a:off x="777240" y="4315968"/>
            <a:ext cx="6583680" cy="301752"/>
          </a:xfrm>
          <a:prstGeom prst="rect">
            <a:avLst/>
          </a:prstGeom>
          <a:noFill/>
          <a:ln/>
        </p:spPr>
        <p:txBody>
          <a:bodyPr wrap="square" lIns="0" tIns="0" rIns="0" bIns="0" rtlCol="0" anchor="ctr"/>
          <a:lstStyle/>
          <a:p>
            <a:pPr indent="0" marL="0">
              <a:buNone/>
            </a:pPr>
            <a:r>
              <a:rPr lang="en-US" sz="1200" b="1" dirty="0">
                <a:solidFill>
                  <a:srgbClr val="F1F5FB"/>
                </a:solidFill>
                <a:latin typeface="Calibri" pitchFamily="34" charset="0"/>
                <a:ea typeface="Calibri" pitchFamily="34" charset="-122"/>
                <a:cs typeface="Calibri" pitchFamily="34" charset="-120"/>
              </a:rPr>
              <a:t>Digital hundi via agents:  </a:t>
            </a:r>
            <a:pPr indent="0" marL="0">
              <a:buNone/>
            </a:pPr>
            <a:r>
              <a:rPr lang="en-US" sz="1200" dirty="0">
                <a:solidFill>
                  <a:srgbClr val="9AABC4"/>
                </a:solidFill>
                <a:latin typeface="Calibri" pitchFamily="34" charset="0"/>
                <a:ea typeface="Calibri" pitchFamily="34" charset="-122"/>
                <a:cs typeface="Calibri" pitchFamily="34" charset="-120"/>
              </a:rPr>
              <a:t>an agent wallet funded every month pays the same local wallets</a:t>
            </a:r>
            <a:endParaRPr lang="en-US" sz="1200" dirty="0"/>
          </a:p>
        </p:txBody>
      </p:sp>
      <p:sp>
        <p:nvSpPr>
          <p:cNvPr id="24" name="bdt__4"/>
          <p:cNvSpPr txBox="1"/>
          <p:nvPr/>
        </p:nvSpPr>
        <p:spPr>
          <a:xfrm>
            <a:off x="777240" y="4636008"/>
            <a:ext cx="6583680" cy="301752"/>
          </a:xfrm>
          <a:prstGeom prst="rect">
            <a:avLst/>
          </a:prstGeom>
          <a:noFill/>
          <a:ln/>
        </p:spPr>
        <p:txBody>
          <a:bodyPr wrap="square" lIns="0" tIns="0" rIns="0" bIns="0" rtlCol="0" anchor="ctr"/>
          <a:lstStyle/>
          <a:p>
            <a:pPr indent="0" marL="0">
              <a:buNone/>
            </a:pPr>
            <a:r>
              <a:rPr lang="en-US" sz="1200" b="1" dirty="0">
                <a:solidFill>
                  <a:srgbClr val="F1F5FB"/>
                </a:solidFill>
                <a:latin typeface="Calibri" pitchFamily="34" charset="0"/>
                <a:ea typeface="Calibri" pitchFamily="34" charset="-122"/>
                <a:cs typeface="Calibri" pitchFamily="34" charset="-120"/>
              </a:rPr>
              <a:t>Gambling collection:  </a:t>
            </a:r>
            <a:pPr indent="0" marL="0">
              <a:buNone/>
            </a:pPr>
            <a:r>
              <a:rPr lang="en-US" sz="1200" dirty="0">
                <a:solidFill>
                  <a:srgbClr val="9AABC4"/>
                </a:solidFill>
                <a:latin typeface="Calibri" pitchFamily="34" charset="0"/>
                <a:ea typeface="Calibri" pitchFamily="34" charset="-122"/>
                <a:cs typeface="Calibri" pitchFamily="34" charset="-120"/>
              </a:rPr>
              <a:t>hundreds of small deposits into a few collector wallets</a:t>
            </a:r>
            <a:endParaRPr lang="en-US" sz="1200" dirty="0"/>
          </a:p>
        </p:txBody>
      </p:sp>
      <p:sp>
        <p:nvSpPr>
          <p:cNvPr id="25" name="bdt__5"/>
          <p:cNvSpPr txBox="1"/>
          <p:nvPr/>
        </p:nvSpPr>
        <p:spPr>
          <a:xfrm>
            <a:off x="777240" y="4956048"/>
            <a:ext cx="6583680" cy="301752"/>
          </a:xfrm>
          <a:prstGeom prst="rect">
            <a:avLst/>
          </a:prstGeom>
          <a:noFill/>
          <a:ln/>
        </p:spPr>
        <p:txBody>
          <a:bodyPr wrap="square" lIns="0" tIns="0" rIns="0" bIns="0" rtlCol="0" anchor="ctr"/>
          <a:lstStyle/>
          <a:p>
            <a:pPr indent="0" marL="0">
              <a:buNone/>
            </a:pPr>
            <a:r>
              <a:rPr lang="en-US" sz="1200" b="1" dirty="0">
                <a:solidFill>
                  <a:srgbClr val="F1F5FB"/>
                </a:solidFill>
                <a:latin typeface="Calibri" pitchFamily="34" charset="0"/>
                <a:ea typeface="Calibri" pitchFamily="34" charset="-122"/>
                <a:cs typeface="Calibri" pitchFamily="34" charset="-120"/>
              </a:rPr>
              <a:t>Mule rings:  </a:t>
            </a:r>
            <a:pPr indent="0" marL="0">
              <a:buNone/>
            </a:pPr>
            <a:r>
              <a:rPr lang="en-US" sz="1200" dirty="0">
                <a:solidFill>
                  <a:srgbClr val="9AABC4"/>
                </a:solidFill>
                <a:latin typeface="Calibri" pitchFamily="34" charset="0"/>
                <a:ea typeface="Calibri" pitchFamily="34" charset="-122"/>
                <a:cs typeface="Calibri" pitchFamily="34" charset="-120"/>
              </a:rPr>
              <a:t>recruited wallets forward money within minutes and cash out</a:t>
            </a:r>
            <a:endParaRPr lang="en-US" sz="1200" dirty="0"/>
          </a:p>
        </p:txBody>
      </p:sp>
      <p:sp>
        <p:nvSpPr>
          <p:cNvPr id="26" name="bdt__6"/>
          <p:cNvSpPr txBox="1"/>
          <p:nvPr/>
        </p:nvSpPr>
        <p:spPr>
          <a:xfrm>
            <a:off x="777240" y="5276088"/>
            <a:ext cx="6583680" cy="301752"/>
          </a:xfrm>
          <a:prstGeom prst="rect">
            <a:avLst/>
          </a:prstGeom>
          <a:noFill/>
          <a:ln/>
        </p:spPr>
        <p:txBody>
          <a:bodyPr wrap="square" lIns="0" tIns="0" rIns="0" bIns="0" rtlCol="0" anchor="ctr"/>
          <a:lstStyle/>
          <a:p>
            <a:pPr indent="0" marL="0">
              <a:buNone/>
            </a:pPr>
            <a:r>
              <a:rPr lang="en-US" sz="1200" b="1" dirty="0">
                <a:solidFill>
                  <a:srgbClr val="F1F5FB"/>
                </a:solidFill>
                <a:latin typeface="Calibri" pitchFamily="34" charset="0"/>
                <a:ea typeface="Calibri" pitchFamily="34" charset="-122"/>
                <a:cs typeface="Calibri" pitchFamily="34" charset="-120"/>
              </a:rPr>
              <a:t>Structuring:  </a:t>
            </a:r>
            <a:pPr indent="0" marL="0">
              <a:buNone/>
            </a:pPr>
            <a:r>
              <a:rPr lang="en-US" sz="1200" dirty="0">
                <a:solidFill>
                  <a:srgbClr val="9AABC4"/>
                </a:solidFill>
                <a:latin typeface="Calibri" pitchFamily="34" charset="0"/>
                <a:ea typeface="Calibri" pitchFamily="34" charset="-122"/>
                <a:cs typeface="Calibri" pitchFamily="34" charset="-120"/>
              </a:rPr>
              <a:t>repeated transfers just under a reporting threshold</a:t>
            </a:r>
            <a:endParaRPr lang="en-US" sz="1200" dirty="0"/>
          </a:p>
        </p:txBody>
      </p:sp>
      <p:sp>
        <p:nvSpPr>
          <p:cNvPr id="27" name="bdt__7"/>
          <p:cNvSpPr txBox="1"/>
          <p:nvPr/>
        </p:nvSpPr>
        <p:spPr>
          <a:xfrm>
            <a:off x="777240" y="5596128"/>
            <a:ext cx="6583680" cy="301752"/>
          </a:xfrm>
          <a:prstGeom prst="rect">
            <a:avLst/>
          </a:prstGeom>
          <a:noFill/>
          <a:ln/>
        </p:spPr>
        <p:txBody>
          <a:bodyPr wrap="square" lIns="0" tIns="0" rIns="0" bIns="0" rtlCol="0" anchor="ctr"/>
          <a:lstStyle/>
          <a:p>
            <a:pPr indent="0" marL="0">
              <a:buNone/>
            </a:pPr>
            <a:r>
              <a:rPr lang="en-US" sz="1200" b="1" dirty="0">
                <a:solidFill>
                  <a:srgbClr val="F1F5FB"/>
                </a:solidFill>
                <a:latin typeface="Calibri" pitchFamily="34" charset="0"/>
                <a:ea typeface="Calibri" pitchFamily="34" charset="-122"/>
                <a:cs typeface="Calibri" pitchFamily="34" charset="-120"/>
              </a:rPr>
              <a:t>Circular layering:  </a:t>
            </a:r>
            <a:pPr indent="0" marL="0">
              <a:buNone/>
            </a:pPr>
            <a:r>
              <a:rPr lang="en-US" sz="1200" dirty="0">
                <a:solidFill>
                  <a:srgbClr val="9AABC4"/>
                </a:solidFill>
                <a:latin typeface="Calibri" pitchFamily="34" charset="0"/>
                <a:ea typeface="Calibri" pitchFamily="34" charset="-122"/>
                <a:cs typeface="Calibri" pitchFamily="34" charset="-120"/>
              </a:rPr>
              <a:t>money loops through 3 to 6 wallets back to its origin</a:t>
            </a:r>
            <a:endParaRPr lang="en-US" sz="1200" dirty="0"/>
          </a:p>
        </p:txBody>
      </p:sp>
      <p:sp>
        <p:nvSpPr>
          <p:cNvPr id="28" name="bdt__8"/>
          <p:cNvSpPr txBox="1"/>
          <p:nvPr/>
        </p:nvSpPr>
        <p:spPr>
          <a:xfrm>
            <a:off x="777240" y="5916168"/>
            <a:ext cx="6583680" cy="301752"/>
          </a:xfrm>
          <a:prstGeom prst="rect">
            <a:avLst/>
          </a:prstGeom>
          <a:noFill/>
          <a:ln/>
        </p:spPr>
        <p:txBody>
          <a:bodyPr wrap="square" lIns="0" tIns="0" rIns="0" bIns="0" rtlCol="0" anchor="ctr"/>
          <a:lstStyle/>
          <a:p>
            <a:pPr indent="0" marL="0">
              <a:buNone/>
            </a:pPr>
            <a:r>
              <a:rPr lang="en-US" sz="1200" b="1" dirty="0">
                <a:solidFill>
                  <a:srgbClr val="F1F5FB"/>
                </a:solidFill>
                <a:latin typeface="Calibri" pitchFamily="34" charset="0"/>
                <a:ea typeface="Calibri" pitchFamily="34" charset="-122"/>
                <a:cs typeface="Calibri" pitchFamily="34" charset="-120"/>
              </a:rPr>
              <a:t>Stolen-device takeover:  </a:t>
            </a:r>
            <a:pPr indent="0" marL="0">
              <a:buNone/>
            </a:pPr>
            <a:r>
              <a:rPr lang="en-US" sz="1200" dirty="0">
                <a:solidFill>
                  <a:srgbClr val="9AABC4"/>
                </a:solidFill>
                <a:latin typeface="Calibri" pitchFamily="34" charset="0"/>
                <a:ea typeface="Calibri" pitchFamily="34" charset="-122"/>
                <a:cs typeface="Calibri" pitchFamily="34" charset="-120"/>
              </a:rPr>
              <a:t>a wallet suddenly used from an unfamiliar risk area on a new device</a:t>
            </a:r>
            <a:endParaRPr lang="en-US" sz="1200" dirty="0"/>
          </a:p>
        </p:txBody>
      </p:sp>
      <p:sp>
        <p:nvSpPr>
          <p:cNvPr id="29" name="bdq__1"/>
          <p:cNvSpPr/>
          <p:nvPr/>
        </p:nvSpPr>
        <p:spPr>
          <a:xfrm>
            <a:off x="7726680" y="3840480"/>
            <a:ext cx="3913632" cy="2103120"/>
          </a:xfrm>
          <a:prstGeom prst="roundRect">
            <a:avLst>
              <a:gd name="adj" fmla="val 5217"/>
            </a:avLst>
          </a:prstGeom>
          <a:solidFill>
            <a:srgbClr val="FF4D5E">
              <a:alpha val="12000"/>
            </a:srgbClr>
          </a:solidFill>
          <a:ln w="12700">
            <a:solidFill>
              <a:srgbClr val="FF4D5E"/>
            </a:solidFill>
            <a:prstDash val="solid"/>
          </a:ln>
          <a:effectLst>
            <a:outerShdw sx="100000" sy="100000" kx="0" ky="0" algn="bl" rotWithShape="0" blurRad="101600" dist="38100" dir="5400000">
              <a:srgbClr val="000000">
                <a:alpha val="45000"/>
              </a:srgbClr>
            </a:outerShdw>
          </a:effectLst>
        </p:spPr>
      </p:sp>
      <p:sp>
        <p:nvSpPr>
          <p:cNvPr id="30" name="bdq__2"/>
          <p:cNvSpPr txBox="1"/>
          <p:nvPr/>
        </p:nvSpPr>
        <p:spPr>
          <a:xfrm>
            <a:off x="7955280" y="3977640"/>
            <a:ext cx="3520440" cy="1874520"/>
          </a:xfrm>
          <a:prstGeom prst="rect">
            <a:avLst/>
          </a:prstGeom>
          <a:noFill/>
          <a:ln/>
        </p:spPr>
        <p:txBody>
          <a:bodyPr wrap="square" lIns="0" tIns="0" rIns="0" bIns="0" rtlCol="0" anchor="t"/>
          <a:lstStyle/>
          <a:p>
            <a:pPr indent="0" marL="0">
              <a:buNone/>
            </a:pPr>
            <a:r>
              <a:rPr lang="en-US" sz="2000" b="1" dirty="0">
                <a:solidFill>
                  <a:srgbClr val="FF4D5E"/>
                </a:solidFill>
                <a:latin typeface="Arial" pitchFamily="34" charset="0"/>
                <a:ea typeface="Arial" pitchFamily="34" charset="-122"/>
                <a:cs typeface="Arial" pitchFamily="34" charset="-120"/>
              </a:rPr>
              <a:t>21,725 MFS accounts</a:t>
            </a:r>
            <a:endParaRPr lang="en-US" sz="2000" dirty="0"/>
          </a:p>
          <a:p>
            <a:pPr indent="0" marL="0">
              <a:buNone/>
            </a:pPr>
            <a:r>
              <a:rPr lang="en-US" sz="1300" dirty="0">
                <a:solidFill>
                  <a:srgbClr val="F1F5FB"/>
                </a:solidFill>
                <a:latin typeface="Calibri" pitchFamily="34" charset="0"/>
                <a:ea typeface="Calibri" pitchFamily="34" charset="-122"/>
                <a:cs typeface="Calibri" pitchFamily="34" charset="-120"/>
              </a:rPr>
              <a:t>suspended by BFIU in nine months of 2023 for online gambling and hundi [5].</a:t>
            </a:r>
            <a:endParaRPr lang="en-US" sz="2000" dirty="0"/>
          </a:p>
          <a:p>
            <a:pPr indent="0" marL="0">
              <a:buNone/>
            </a:pPr>
            <a:r>
              <a:rPr lang="en-US" sz="600" dirty="0">
                <a:solidFill>
                  <a:srgbClr val="F1F5FB"/>
                </a:solidFill>
                <a:latin typeface="Calibri" pitchFamily="34" charset="0"/>
                <a:ea typeface="Calibri" pitchFamily="34" charset="-122"/>
                <a:cs typeface="Calibri" pitchFamily="34" charset="-120"/>
              </a:rPr>
              <a:t> </a:t>
            </a:r>
            <a:endParaRPr lang="en-US" sz="2000" dirty="0"/>
          </a:p>
          <a:p>
            <a:pPr indent="0" marL="0">
              <a:buNone/>
            </a:pPr>
            <a:r>
              <a:rPr lang="en-US" sz="1300" b="1" dirty="0">
                <a:solidFill>
                  <a:srgbClr val="F1F5FB"/>
                </a:solidFill>
                <a:latin typeface="Calibri" pitchFamily="34" charset="0"/>
                <a:ea typeface="Calibri" pitchFamily="34" charset="-122"/>
                <a:cs typeface="Calibri" pitchFamily="34" charset="-120"/>
              </a:rPr>
              <a:t>At ~22M transfers a day, nobody can read rows. The network has to surface itself.</a:t>
            </a:r>
            <a:endParaRPr lang="en-US" sz="2000" dirty="0"/>
          </a:p>
        </p:txBody>
      </p:sp>
      <p:sp>
        <p:nvSpPr>
          <p:cNvPr id="31" name="bdsrc__1"/>
          <p:cNvSpPr txBox="1"/>
          <p:nvPr/>
        </p:nvSpPr>
        <p:spPr>
          <a:xfrm>
            <a:off x="548640" y="6035040"/>
            <a:ext cx="11091672" cy="274320"/>
          </a:xfrm>
          <a:prstGeom prst="rect">
            <a:avLst/>
          </a:prstGeom>
          <a:noFill/>
          <a:ln/>
        </p:spPr>
        <p:txBody>
          <a:bodyPr wrap="square" lIns="0" tIns="0" rIns="0" bIns="0" rtlCol="0" anchor="t"/>
          <a:lstStyle/>
          <a:p>
            <a:pPr indent="0" marL="0">
              <a:buNone/>
            </a:pPr>
            <a:r>
              <a:rPr lang="en-US" sz="900" dirty="0">
                <a:solidFill>
                  <a:srgbClr val="5F7090"/>
                </a:solidFill>
                <a:latin typeface="Calibri" pitchFamily="34" charset="0"/>
                <a:ea typeface="Calibri" pitchFamily="34" charset="-122"/>
                <a:cs typeface="Calibri" pitchFamily="34" charset="-120"/>
              </a:rPr>
              <a:t>[1] Bangladesh Bank via Financial Express, 23 Mar 2025  [2] Bangladesh Bank via Financial Express, 3 Jan 2026  [3] BFIU via Financial Express, 15 Jul 2026  [4] CID via Business Standard, 8 Sep 2022  [5] BFIU via Business Standard, 27 Sep 2023</a:t>
            </a:r>
            <a:endParaRPr lang="en-US" sz="9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anim calcmode="lin" valueType="num">
                                      <p:cBhvr additive="base">
                                        <p:cTn id="13" dur="450" fill="hold"/>
                                        <p:tgtEl>
                                          <p:spTgt spid="6"/>
                                        </p:tgtEl>
                                        <p:attrNameLst>
                                          <p:attrName>ppt_x</p:attrName>
                                        </p:attrNameLst>
                                      </p:cBhvr>
                                      <p:tavLst>
                                        <p:tav tm="0">
                                          <p:val>
                                            <p:strVal val="#ppt_x"/>
                                          </p:val>
                                        </p:tav>
                                        <p:tav tm="100000">
                                          <p:val>
                                            <p:strVal val="#ppt_x"/>
                                          </p:val>
                                        </p:tav>
                                      </p:tavLst>
                                    </p:anim>
                                    <p:anim calcmode="lin" valueType="num">
                                      <p:cBhvr additive="base">
                                        <p:cTn id="14" dur="45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anim calcmode="lin" valueType="num">
                                      <p:cBhvr additive="base">
                                        <p:cTn id="18" dur="450" fill="hold"/>
                                        <p:tgtEl>
                                          <p:spTgt spid="7"/>
                                        </p:tgtEl>
                                        <p:attrNameLst>
                                          <p:attrName>ppt_x</p:attrName>
                                        </p:attrNameLst>
                                      </p:cBhvr>
                                      <p:tavLst>
                                        <p:tav tm="0">
                                          <p:val>
                                            <p:strVal val="#ppt_x"/>
                                          </p:val>
                                        </p:tav>
                                        <p:tav tm="100000">
                                          <p:val>
                                            <p:strVal val="#ppt_x"/>
                                          </p:val>
                                        </p:tav>
                                      </p:tavLst>
                                    </p:anim>
                                    <p:anim calcmode="lin" valueType="num">
                                      <p:cBhvr additive="base">
                                        <p:cTn id="19" dur="45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anim calcmode="lin" valueType="num">
                                      <p:cBhvr additive="base">
                                        <p:cTn id="23" dur="450" fill="hold"/>
                                        <p:tgtEl>
                                          <p:spTgt spid="8"/>
                                        </p:tgtEl>
                                        <p:attrNameLst>
                                          <p:attrName>ppt_x</p:attrName>
                                        </p:attrNameLst>
                                      </p:cBhvr>
                                      <p:tavLst>
                                        <p:tav tm="0">
                                          <p:val>
                                            <p:strVal val="#ppt_x"/>
                                          </p:val>
                                        </p:tav>
                                        <p:tav tm="100000">
                                          <p:val>
                                            <p:strVal val="#ppt_x"/>
                                          </p:val>
                                        </p:tav>
                                      </p:tavLst>
                                    </p:anim>
                                    <p:anim calcmode="lin" valueType="num">
                                      <p:cBhvr additive="base">
                                        <p:cTn id="24" dur="45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4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ppt_x</p:attrName>
                                        </p:attrNameLst>
                                      </p:cBhvr>
                                      <p:tavLst>
                                        <p:tav tm="0">
                                          <p:val>
                                            <p:strVal val="#ppt_x"/>
                                          </p:val>
                                        </p:tav>
                                        <p:tav tm="100000">
                                          <p:val>
                                            <p:strVal val="#ppt_x"/>
                                          </p:val>
                                        </p:tav>
                                      </p:tavLst>
                                    </p:anim>
                                    <p:anim calcmode="lin" valueType="num">
                                      <p:cBhvr additive="base">
                                        <p:cTn id="29" dur="45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4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anim calcmode="lin" valueType="num">
                                      <p:cBhvr additive="base">
                                        <p:cTn id="33" dur="450" fill="hold"/>
                                        <p:tgtEl>
                                          <p:spTgt spid="10"/>
                                        </p:tgtEl>
                                        <p:attrNameLst>
                                          <p:attrName>ppt_x</p:attrName>
                                        </p:attrNameLst>
                                      </p:cBhvr>
                                      <p:tavLst>
                                        <p:tav tm="0">
                                          <p:val>
                                            <p:strVal val="#ppt_x"/>
                                          </p:val>
                                        </p:tav>
                                        <p:tav tm="100000">
                                          <p:val>
                                            <p:strVal val="#ppt_x"/>
                                          </p:val>
                                        </p:tav>
                                      </p:tavLst>
                                    </p:anim>
                                    <p:anim calcmode="lin" valueType="num">
                                      <p:cBhvr additive="base">
                                        <p:cTn id="34" dur="45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45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50"/>
                                        <p:tgtEl>
                                          <p:spTgt spid="11"/>
                                        </p:tgtEl>
                                      </p:cBhvr>
                                    </p:animEffect>
                                    <p:anim calcmode="lin" valueType="num">
                                      <p:cBhvr additive="base">
                                        <p:cTn id="38" dur="450" fill="hold"/>
                                        <p:tgtEl>
                                          <p:spTgt spid="11"/>
                                        </p:tgtEl>
                                        <p:attrNameLst>
                                          <p:attrName>ppt_x</p:attrName>
                                        </p:attrNameLst>
                                      </p:cBhvr>
                                      <p:tavLst>
                                        <p:tav tm="0">
                                          <p:val>
                                            <p:strVal val="#ppt_x"/>
                                          </p:val>
                                        </p:tav>
                                        <p:tav tm="100000">
                                          <p:val>
                                            <p:strVal val="#ppt_x"/>
                                          </p:val>
                                        </p:tav>
                                      </p:tavLst>
                                    </p:anim>
                                    <p:anim calcmode="lin" valueType="num">
                                      <p:cBhvr additive="base">
                                        <p:cTn id="39" dur="45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4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50"/>
                                        <p:tgtEl>
                                          <p:spTgt spid="12"/>
                                        </p:tgtEl>
                                      </p:cBhvr>
                                    </p:animEffect>
                                    <p:anim calcmode="lin" valueType="num">
                                      <p:cBhvr additive="base">
                                        <p:cTn id="43" dur="450" fill="hold"/>
                                        <p:tgtEl>
                                          <p:spTgt spid="12"/>
                                        </p:tgtEl>
                                        <p:attrNameLst>
                                          <p:attrName>ppt_x</p:attrName>
                                        </p:attrNameLst>
                                      </p:cBhvr>
                                      <p:tavLst>
                                        <p:tav tm="0">
                                          <p:val>
                                            <p:strVal val="#ppt_x"/>
                                          </p:val>
                                        </p:tav>
                                        <p:tav tm="100000">
                                          <p:val>
                                            <p:strVal val="#ppt_x"/>
                                          </p:val>
                                        </p:tav>
                                      </p:tavLst>
                                    </p:anim>
                                    <p:anim calcmode="lin" valueType="num">
                                      <p:cBhvr additive="base">
                                        <p:cTn id="44" dur="45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70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50"/>
                                        <p:tgtEl>
                                          <p:spTgt spid="13"/>
                                        </p:tgtEl>
                                      </p:cBhvr>
                                    </p:animEffect>
                                    <p:anim calcmode="lin" valueType="num">
                                      <p:cBhvr additive="base">
                                        <p:cTn id="48" dur="450" fill="hold"/>
                                        <p:tgtEl>
                                          <p:spTgt spid="13"/>
                                        </p:tgtEl>
                                        <p:attrNameLst>
                                          <p:attrName>ppt_x</p:attrName>
                                        </p:attrNameLst>
                                      </p:cBhvr>
                                      <p:tavLst>
                                        <p:tav tm="0">
                                          <p:val>
                                            <p:strVal val="#ppt_x"/>
                                          </p:val>
                                        </p:tav>
                                        <p:tav tm="100000">
                                          <p:val>
                                            <p:strVal val="#ppt_x"/>
                                          </p:val>
                                        </p:tav>
                                      </p:tavLst>
                                    </p:anim>
                                    <p:anim calcmode="lin" valueType="num">
                                      <p:cBhvr additive="base">
                                        <p:cTn id="49" dur="45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70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anim calcmode="lin" valueType="num">
                                      <p:cBhvr additive="base">
                                        <p:cTn id="53" dur="450" fill="hold"/>
                                        <p:tgtEl>
                                          <p:spTgt spid="14"/>
                                        </p:tgtEl>
                                        <p:attrNameLst>
                                          <p:attrName>ppt_x</p:attrName>
                                        </p:attrNameLst>
                                      </p:cBhvr>
                                      <p:tavLst>
                                        <p:tav tm="0">
                                          <p:val>
                                            <p:strVal val="#ppt_x"/>
                                          </p:val>
                                        </p:tav>
                                        <p:tav tm="100000">
                                          <p:val>
                                            <p:strVal val="#ppt_x"/>
                                          </p:val>
                                        </p:tav>
                                      </p:tavLst>
                                    </p:anim>
                                    <p:anim calcmode="lin" valueType="num">
                                      <p:cBhvr additive="base">
                                        <p:cTn id="54" dur="45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7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50"/>
                                        <p:tgtEl>
                                          <p:spTgt spid="15"/>
                                        </p:tgtEl>
                                      </p:cBhvr>
                                    </p:animEffect>
                                    <p:anim calcmode="lin" valueType="num">
                                      <p:cBhvr additive="base">
                                        <p:cTn id="58" dur="450" fill="hold"/>
                                        <p:tgtEl>
                                          <p:spTgt spid="15"/>
                                        </p:tgtEl>
                                        <p:attrNameLst>
                                          <p:attrName>ppt_x</p:attrName>
                                        </p:attrNameLst>
                                      </p:cBhvr>
                                      <p:tavLst>
                                        <p:tav tm="0">
                                          <p:val>
                                            <p:strVal val="#ppt_x"/>
                                          </p:val>
                                        </p:tav>
                                        <p:tav tm="100000">
                                          <p:val>
                                            <p:strVal val="#ppt_x"/>
                                          </p:val>
                                        </p:tav>
                                      </p:tavLst>
                                    </p:anim>
                                    <p:anim calcmode="lin" valueType="num">
                                      <p:cBhvr additive="base">
                                        <p:cTn id="59" dur="45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7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50"/>
                                        <p:tgtEl>
                                          <p:spTgt spid="16"/>
                                        </p:tgtEl>
                                      </p:cBhvr>
                                    </p:animEffect>
                                    <p:anim calcmode="lin" valueType="num">
                                      <p:cBhvr additive="base">
                                        <p:cTn id="63" dur="450" fill="hold"/>
                                        <p:tgtEl>
                                          <p:spTgt spid="16"/>
                                        </p:tgtEl>
                                        <p:attrNameLst>
                                          <p:attrName>ppt_x</p:attrName>
                                        </p:attrNameLst>
                                      </p:cBhvr>
                                      <p:tavLst>
                                        <p:tav tm="0">
                                          <p:val>
                                            <p:strVal val="#ppt_x"/>
                                          </p:val>
                                        </p:tav>
                                        <p:tav tm="100000">
                                          <p:val>
                                            <p:strVal val="#ppt_x"/>
                                          </p:val>
                                        </p:tav>
                                      </p:tavLst>
                                    </p:anim>
                                    <p:anim calcmode="lin" valueType="num">
                                      <p:cBhvr additive="base">
                                        <p:cTn id="64" dur="45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95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50"/>
                                        <p:tgtEl>
                                          <p:spTgt spid="17"/>
                                        </p:tgtEl>
                                      </p:cBhvr>
                                    </p:animEffect>
                                    <p:anim calcmode="lin" valueType="num">
                                      <p:cBhvr additive="base">
                                        <p:cTn id="68" dur="450" fill="hold"/>
                                        <p:tgtEl>
                                          <p:spTgt spid="17"/>
                                        </p:tgtEl>
                                        <p:attrNameLst>
                                          <p:attrName>ppt_x</p:attrName>
                                        </p:attrNameLst>
                                      </p:cBhvr>
                                      <p:tavLst>
                                        <p:tav tm="0">
                                          <p:val>
                                            <p:strVal val="#ppt_x"/>
                                          </p:val>
                                        </p:tav>
                                        <p:tav tm="100000">
                                          <p:val>
                                            <p:strVal val="#ppt_x"/>
                                          </p:val>
                                        </p:tav>
                                      </p:tavLst>
                                    </p:anim>
                                    <p:anim calcmode="lin" valueType="num">
                                      <p:cBhvr additive="base">
                                        <p:cTn id="69" dur="45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95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450"/>
                                        <p:tgtEl>
                                          <p:spTgt spid="18"/>
                                        </p:tgtEl>
                                      </p:cBhvr>
                                    </p:animEffect>
                                    <p:anim calcmode="lin" valueType="num">
                                      <p:cBhvr additive="base">
                                        <p:cTn id="73" dur="450" fill="hold"/>
                                        <p:tgtEl>
                                          <p:spTgt spid="18"/>
                                        </p:tgtEl>
                                        <p:attrNameLst>
                                          <p:attrName>ppt_x</p:attrName>
                                        </p:attrNameLst>
                                      </p:cBhvr>
                                      <p:tavLst>
                                        <p:tav tm="0">
                                          <p:val>
                                            <p:strVal val="#ppt_x"/>
                                          </p:val>
                                        </p:tav>
                                        <p:tav tm="100000">
                                          <p:val>
                                            <p:strVal val="#ppt_x"/>
                                          </p:val>
                                        </p:tav>
                                      </p:tavLst>
                                    </p:anim>
                                    <p:anim calcmode="lin" valueType="num">
                                      <p:cBhvr additive="base">
                                        <p:cTn id="74" dur="45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95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450"/>
                                        <p:tgtEl>
                                          <p:spTgt spid="19"/>
                                        </p:tgtEl>
                                      </p:cBhvr>
                                    </p:animEffect>
                                    <p:anim calcmode="lin" valueType="num">
                                      <p:cBhvr additive="base">
                                        <p:cTn id="78" dur="450" fill="hold"/>
                                        <p:tgtEl>
                                          <p:spTgt spid="19"/>
                                        </p:tgtEl>
                                        <p:attrNameLst>
                                          <p:attrName>ppt_x</p:attrName>
                                        </p:attrNameLst>
                                      </p:cBhvr>
                                      <p:tavLst>
                                        <p:tav tm="0">
                                          <p:val>
                                            <p:strVal val="#ppt_x"/>
                                          </p:val>
                                        </p:tav>
                                        <p:tav tm="100000">
                                          <p:val>
                                            <p:strVal val="#ppt_x"/>
                                          </p:val>
                                        </p:tav>
                                      </p:tavLst>
                                    </p:anim>
                                    <p:anim calcmode="lin" valueType="num">
                                      <p:cBhvr additive="base">
                                        <p:cTn id="79" dur="45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95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450"/>
                                        <p:tgtEl>
                                          <p:spTgt spid="20"/>
                                        </p:tgtEl>
                                      </p:cBhvr>
                                    </p:animEffect>
                                    <p:anim calcmode="lin" valueType="num">
                                      <p:cBhvr additive="base">
                                        <p:cTn id="83" dur="450" fill="hold"/>
                                        <p:tgtEl>
                                          <p:spTgt spid="20"/>
                                        </p:tgtEl>
                                        <p:attrNameLst>
                                          <p:attrName>ppt_x</p:attrName>
                                        </p:attrNameLst>
                                      </p:cBhvr>
                                      <p:tavLst>
                                        <p:tav tm="0">
                                          <p:val>
                                            <p:strVal val="#ppt_x"/>
                                          </p:val>
                                        </p:tav>
                                        <p:tav tm="100000">
                                          <p:val>
                                            <p:strVal val="#ppt_x"/>
                                          </p:val>
                                        </p:tav>
                                      </p:tavLst>
                                    </p:anim>
                                    <p:anim calcmode="lin" valueType="num">
                                      <p:cBhvr additive="base">
                                        <p:cTn id="84" dur="450" fill="hold"/>
                                        <p:tgtEl>
                                          <p:spTgt spid="20"/>
                                        </p:tgtEl>
                                        <p:attrNameLst>
                                          <p:attrName>ppt_y</p:attrName>
                                        </p:attrNameLst>
                                      </p:cBhvr>
                                      <p:tavLst>
                                        <p:tav tm="0">
                                          <p:val>
                                            <p:strVal val="#ppt_y+.1"/>
                                          </p:val>
                                        </p:tav>
                                        <p:tav tm="100000">
                                          <p:val>
                                            <p:strVal val="#ppt_y"/>
                                          </p:val>
                                        </p:tav>
                                      </p:tavLst>
                                    </p:anim>
                                  </p:childTnLst>
                                </p:cTn>
                              </p:par>
                              <p:par>
                                <p:cTn id="85" presetID="10" presetClass="entr" presetSubtype="0" fill="hold" nodeType="withEffect">
                                  <p:stCondLst>
                                    <p:cond delay="130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childTnLst>
                                </p:cTn>
                              </p:par>
                              <p:par>
                                <p:cTn id="88" presetID="10" presetClass="entr" presetSubtype="0" fill="hold" nodeType="withEffect">
                                  <p:stCondLst>
                                    <p:cond delay="130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childTnLst>
                                </p:cTn>
                              </p:par>
                              <p:par>
                                <p:cTn id="91" presetID="10" presetClass="entr" presetSubtype="0" fill="hold" nodeType="withEffect">
                                  <p:stCondLst>
                                    <p:cond delay="130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500"/>
                                        <p:tgtEl>
                                          <p:spTgt spid="23"/>
                                        </p:tgtEl>
                                      </p:cBhvr>
                                    </p:animEffect>
                                  </p:childTnLst>
                                </p:cTn>
                              </p:par>
                              <p:par>
                                <p:cTn id="94" presetID="10" presetClass="entr" presetSubtype="0" fill="hold" nodeType="withEffect">
                                  <p:stCondLst>
                                    <p:cond delay="130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500"/>
                                        <p:tgtEl>
                                          <p:spTgt spid="24"/>
                                        </p:tgtEl>
                                      </p:cBhvr>
                                    </p:animEffect>
                                  </p:childTnLst>
                                </p:cTn>
                              </p:par>
                              <p:par>
                                <p:cTn id="97" presetID="10" presetClass="entr" presetSubtype="0" fill="hold" nodeType="withEffect">
                                  <p:stCondLst>
                                    <p:cond delay="13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500"/>
                                        <p:tgtEl>
                                          <p:spTgt spid="25"/>
                                        </p:tgtEl>
                                      </p:cBhvr>
                                    </p:animEffect>
                                  </p:childTnLst>
                                </p:cTn>
                              </p:par>
                              <p:par>
                                <p:cTn id="100" presetID="10" presetClass="entr" presetSubtype="0" fill="hold" nodeType="withEffect">
                                  <p:stCondLst>
                                    <p:cond delay="130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childTnLst>
                                </p:cTn>
                              </p:par>
                              <p:par>
                                <p:cTn id="103" presetID="10" presetClass="entr" presetSubtype="0" fill="hold" nodeType="withEffect">
                                  <p:stCondLst>
                                    <p:cond delay="1300"/>
                                  </p:stCondLst>
                                  <p:childTnLst>
                                    <p:set>
                                      <p:cBhvr>
                                        <p:cTn id="104" dur="1" fill="hold">
                                          <p:stCondLst>
                                            <p:cond delay="0"/>
                                          </p:stCondLst>
                                        </p:cTn>
                                        <p:tgtEl>
                                          <p:spTgt spid="27"/>
                                        </p:tgtEl>
                                        <p:attrNameLst>
                                          <p:attrName>style.visibility</p:attrName>
                                        </p:attrNameLst>
                                      </p:cBhvr>
                                      <p:to>
                                        <p:strVal val="visible"/>
                                      </p:to>
                                    </p:set>
                                    <p:animEffect transition="in" filter="fade">
                                      <p:cBhvr>
                                        <p:cTn id="105" dur="500"/>
                                        <p:tgtEl>
                                          <p:spTgt spid="27"/>
                                        </p:tgtEl>
                                      </p:cBhvr>
                                    </p:animEffect>
                                  </p:childTnLst>
                                </p:cTn>
                              </p:par>
                              <p:par>
                                <p:cTn id="106" presetID="10" presetClass="entr" presetSubtype="0" fill="hold" nodeType="withEffect">
                                  <p:stCondLst>
                                    <p:cond delay="1300"/>
                                  </p:stCondLst>
                                  <p:childTnLst>
                                    <p:set>
                                      <p:cBhvr>
                                        <p:cTn id="107" dur="1" fill="hold">
                                          <p:stCondLst>
                                            <p:cond delay="0"/>
                                          </p:stCondLst>
                                        </p:cTn>
                                        <p:tgtEl>
                                          <p:spTgt spid="28"/>
                                        </p:tgtEl>
                                        <p:attrNameLst>
                                          <p:attrName>style.visibility</p:attrName>
                                        </p:attrNameLst>
                                      </p:cBhvr>
                                      <p:to>
                                        <p:strVal val="visible"/>
                                      </p:to>
                                    </p:set>
                                    <p:animEffect transition="in" filter="fade">
                                      <p:cBhvr>
                                        <p:cTn id="108" dur="500"/>
                                        <p:tgtEl>
                                          <p:spTgt spid="28"/>
                                        </p:tgtEl>
                                      </p:cBhvr>
                                    </p:animEffect>
                                  </p:childTnLst>
                                </p:cTn>
                              </p:par>
                              <p:par>
                                <p:cTn id="109" presetID="53" presetClass="entr" presetSubtype="16" fill="hold" nodeType="withEffect">
                                  <p:stCondLst>
                                    <p:cond delay="180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500" fill="hold"/>
                                        <p:tgtEl>
                                          <p:spTgt spid="29"/>
                                        </p:tgtEl>
                                        <p:attrNameLst>
                                          <p:attrName>ppt_w</p:attrName>
                                        </p:attrNameLst>
                                      </p:cBhvr>
                                      <p:tavLst>
                                        <p:tav tm="0">
                                          <p:val>
                                            <p:strVal val="0"/>
                                          </p:val>
                                        </p:tav>
                                        <p:tav tm="100000">
                                          <p:val>
                                            <p:strVal val="#ppt_w"/>
                                          </p:val>
                                        </p:tav>
                                      </p:tavLst>
                                    </p:anim>
                                    <p:anim calcmode="lin" valueType="num">
                                      <p:cBhvr additive="base">
                                        <p:cTn id="112" dur="500" fill="hold"/>
                                        <p:tgtEl>
                                          <p:spTgt spid="29"/>
                                        </p:tgtEl>
                                        <p:attrNameLst>
                                          <p:attrName>ppt_h</p:attrName>
                                        </p:attrNameLst>
                                      </p:cBhvr>
                                      <p:tavLst>
                                        <p:tav tm="0">
                                          <p:val>
                                            <p:strVal val="0"/>
                                          </p:val>
                                        </p:tav>
                                        <p:tav tm="100000">
                                          <p:val>
                                            <p:strVal val="#ppt_h"/>
                                          </p:val>
                                        </p:tav>
                                      </p:tavLst>
                                    </p:anim>
                                    <p:animEffect transition="in" filter="fade">
                                      <p:cBhvr>
                                        <p:cTn id="113" dur="500"/>
                                        <p:tgtEl>
                                          <p:spTgt spid="29"/>
                                        </p:tgtEl>
                                      </p:cBhvr>
                                    </p:animEffect>
                                  </p:childTnLst>
                                </p:cTn>
                              </p:par>
                              <p:par>
                                <p:cTn id="114" presetID="53" presetClass="entr" presetSubtype="16" fill="hold" nodeType="withEffect">
                                  <p:stCondLst>
                                    <p:cond delay="1800"/>
                                  </p:stCondLst>
                                  <p:childTnLst>
                                    <p:set>
                                      <p:cBhvr>
                                        <p:cTn id="115" dur="1" fill="hold">
                                          <p:stCondLst>
                                            <p:cond delay="0"/>
                                          </p:stCondLst>
                                        </p:cTn>
                                        <p:tgtEl>
                                          <p:spTgt spid="30"/>
                                        </p:tgtEl>
                                        <p:attrNameLst>
                                          <p:attrName>style.visibility</p:attrName>
                                        </p:attrNameLst>
                                      </p:cBhvr>
                                      <p:to>
                                        <p:strVal val="visible"/>
                                      </p:to>
                                    </p:set>
                                    <p:anim calcmode="lin" valueType="num">
                                      <p:cBhvr additive="base">
                                        <p:cTn id="116" dur="500" fill="hold"/>
                                        <p:tgtEl>
                                          <p:spTgt spid="30"/>
                                        </p:tgtEl>
                                        <p:attrNameLst>
                                          <p:attrName>ppt_w</p:attrName>
                                        </p:attrNameLst>
                                      </p:cBhvr>
                                      <p:tavLst>
                                        <p:tav tm="0">
                                          <p:val>
                                            <p:strVal val="0"/>
                                          </p:val>
                                        </p:tav>
                                        <p:tav tm="100000">
                                          <p:val>
                                            <p:strVal val="#ppt_w"/>
                                          </p:val>
                                        </p:tav>
                                      </p:tavLst>
                                    </p:anim>
                                    <p:anim calcmode="lin" valueType="num">
                                      <p:cBhvr additive="base">
                                        <p:cTn id="117" dur="500" fill="hold"/>
                                        <p:tgtEl>
                                          <p:spTgt spid="30"/>
                                        </p:tgtEl>
                                        <p:attrNameLst>
                                          <p:attrName>ppt_h</p:attrName>
                                        </p:attrNameLst>
                                      </p:cBhvr>
                                      <p:tavLst>
                                        <p:tav tm="0">
                                          <p:val>
                                            <p:strVal val="0"/>
                                          </p:val>
                                        </p:tav>
                                        <p:tav tm="100000">
                                          <p:val>
                                            <p:strVal val="#ppt_h"/>
                                          </p:val>
                                        </p:tav>
                                      </p:tavLst>
                                    </p:anim>
                                    <p:animEffect transition="in" filter="fade">
                                      <p:cBhvr>
                                        <p:cTn id="118" dur="500"/>
                                        <p:tgtEl>
                                          <p:spTgt spid="30"/>
                                        </p:tgtEl>
                                      </p:cBhvr>
                                    </p:animEffect>
                                  </p:childTnLst>
                                </p:cTn>
                              </p:par>
                              <p:par>
                                <p:cTn id="119" presetID="10" presetClass="entr" presetSubtype="0" fill="hold" nodeType="withEffect">
                                  <p:stCondLst>
                                    <p:cond delay="2200"/>
                                  </p:stCondLst>
                                  <p:childTnLst>
                                    <p:set>
                                      <p:cBhvr>
                                        <p:cTn id="120" dur="1" fill="hold">
                                          <p:stCondLst>
                                            <p:cond delay="0"/>
                                          </p:stCondLst>
                                        </p:cTn>
                                        <p:tgtEl>
                                          <p:spTgt spid="31"/>
                                        </p:tgtEl>
                                        <p:attrNameLst>
                                          <p:attrName>style.visibility</p:attrName>
                                        </p:attrNameLst>
                                      </p:cBhvr>
                                      <p:to>
                                        <p:strVal val="visible"/>
                                      </p:to>
                                    </p:set>
                                    <p:animEffect transition="in" filter="fade">
                                      <p:cBhvr>
                                        <p:cTn id="121"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03  ·  WHY IT MATTERS FOR UPAY</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One mule ring, one trail across Bangladesh</a:t>
            </a:r>
            <a:endParaRPr lang="en-US" sz="3400" dirty="0"/>
          </a:p>
        </p:txBody>
      </p:sp>
      <p:pic>
        <p:nvPicPr>
          <p:cNvPr id="5" name="map__1" descr="/tmp/claude-0/-home-claude/f925570b-377a-5c3c-9531-1679f3895fd9/scratchpad/deck/img/bd_map.png">    </p:cNvPr>
          <p:cNvPicPr>
            <a:picLocks noChangeAspect="1"/>
          </p:cNvPicPr>
          <p:nvPr/>
        </p:nvPicPr>
        <p:blipFill>
          <a:blip r:embed="rId2"/>
          <a:stretch>
            <a:fillRect/>
          </a:stretch>
        </p:blipFill>
        <p:spPr>
          <a:xfrm>
            <a:off x="8092440" y="1572768"/>
            <a:ext cx="3246120" cy="4510096"/>
          </a:xfrm>
          <a:prstGeom prst="rect">
            <a:avLst/>
          </a:prstGeom>
        </p:spPr>
      </p:pic>
      <p:sp>
        <p:nvSpPr>
          <p:cNvPr id="6" name="bs0__1"/>
          <p:cNvSpPr/>
          <p:nvPr/>
        </p:nvSpPr>
        <p:spPr>
          <a:xfrm>
            <a:off x="548640" y="1691640"/>
            <a:ext cx="7132320" cy="914400"/>
          </a:xfrm>
          <a:prstGeom prst="roundRect">
            <a:avLst>
              <a:gd name="adj" fmla="val 12000"/>
            </a:avLst>
          </a:prstGeom>
          <a:solidFill>
            <a:srgbClr val="0E1729">
              <a:alpha val="90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7" name="bs0__2"/>
          <p:cNvSpPr/>
          <p:nvPr/>
        </p:nvSpPr>
        <p:spPr>
          <a:xfrm>
            <a:off x="749808" y="1920240"/>
            <a:ext cx="457200" cy="457200"/>
          </a:xfrm>
          <a:prstGeom prst="ellipse">
            <a:avLst/>
          </a:prstGeom>
          <a:solidFill>
            <a:srgbClr val="38BDF8">
              <a:alpha val="20000"/>
            </a:srgbClr>
          </a:solidFill>
          <a:ln w="15875">
            <a:solidFill>
              <a:srgbClr val="38BDF8"/>
            </a:solidFill>
            <a:prstDash val="solid"/>
          </a:ln>
        </p:spPr>
      </p:sp>
      <p:sp>
        <p:nvSpPr>
          <p:cNvPr id="8" name="bs0__3"/>
          <p:cNvSpPr txBox="1"/>
          <p:nvPr/>
        </p:nvSpPr>
        <p:spPr>
          <a:xfrm>
            <a:off x="749808" y="1920240"/>
            <a:ext cx="457200" cy="457200"/>
          </a:xfrm>
          <a:prstGeom prst="rect">
            <a:avLst/>
          </a:prstGeom>
          <a:noFill/>
          <a:ln/>
        </p:spPr>
        <p:txBody>
          <a:bodyPr wrap="square" lIns="0" tIns="0" rIns="0" bIns="0" rtlCol="0" anchor="ctr"/>
          <a:lstStyle/>
          <a:p>
            <a:pPr algn="ctr" indent="0" marL="0">
              <a:buNone/>
            </a:pPr>
            <a:r>
              <a:rPr lang="en-US" sz="1500" b="1" dirty="0">
                <a:solidFill>
                  <a:srgbClr val="38BDF8"/>
                </a:solidFill>
                <a:latin typeface="Arial" pitchFamily="34" charset="0"/>
                <a:ea typeface="Arial" pitchFamily="34" charset="-122"/>
                <a:cs typeface="Arial" pitchFamily="34" charset="-120"/>
              </a:rPr>
              <a:t>1</a:t>
            </a:r>
            <a:endParaRPr lang="en-US" sz="1500" dirty="0"/>
          </a:p>
        </p:txBody>
      </p:sp>
      <p:sp>
        <p:nvSpPr>
          <p:cNvPr id="9" name="bs0__4"/>
          <p:cNvSpPr txBox="1"/>
          <p:nvPr/>
        </p:nvSpPr>
        <p:spPr>
          <a:xfrm>
            <a:off x="1417320" y="1783080"/>
            <a:ext cx="6126480" cy="347472"/>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Feeders pay in   </a:t>
            </a:r>
            <a:pPr indent="0" marL="0">
              <a:buNone/>
            </a:pPr>
            <a:r>
              <a:rPr lang="en-US" sz="1000" b="1" spc="200" kern="0" dirty="0">
                <a:solidFill>
                  <a:srgbClr val="38BDF8"/>
                </a:solidFill>
                <a:latin typeface="Arial" pitchFamily="34" charset="0"/>
                <a:ea typeface="Arial" pitchFamily="34" charset="-122"/>
                <a:cs typeface="Arial" pitchFamily="34" charset="-120"/>
              </a:rPr>
              <a:t>FAN-IN + STRUCTURING</a:t>
            </a:r>
            <a:endParaRPr lang="en-US" sz="1500" dirty="0"/>
          </a:p>
        </p:txBody>
      </p:sp>
      <p:sp>
        <p:nvSpPr>
          <p:cNvPr id="10" name="bs0__5"/>
          <p:cNvSpPr txBox="1"/>
          <p:nvPr/>
        </p:nvSpPr>
        <p:spPr>
          <a:xfrm>
            <a:off x="1417320" y="2121408"/>
            <a:ext cx="6126480" cy="41148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Eight upay wallets send deposits just under BDT 10,000 to one hub wallet in Dhaka.</a:t>
            </a:r>
            <a:endParaRPr lang="en-US" sz="1300" dirty="0"/>
          </a:p>
        </p:txBody>
      </p:sp>
      <p:sp>
        <p:nvSpPr>
          <p:cNvPr id="11" name="bs1__1"/>
          <p:cNvSpPr/>
          <p:nvPr/>
        </p:nvSpPr>
        <p:spPr>
          <a:xfrm>
            <a:off x="548640" y="2770632"/>
            <a:ext cx="7132320" cy="914400"/>
          </a:xfrm>
          <a:prstGeom prst="roundRect">
            <a:avLst>
              <a:gd name="adj" fmla="val 12000"/>
            </a:avLst>
          </a:prstGeom>
          <a:solidFill>
            <a:srgbClr val="0E1729">
              <a:alpha val="90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2" name="bs1__2"/>
          <p:cNvSpPr/>
          <p:nvPr/>
        </p:nvSpPr>
        <p:spPr>
          <a:xfrm>
            <a:off x="749808" y="2999232"/>
            <a:ext cx="457200" cy="457200"/>
          </a:xfrm>
          <a:prstGeom prst="ellipse">
            <a:avLst/>
          </a:prstGeom>
          <a:solidFill>
            <a:srgbClr val="F5A524">
              <a:alpha val="20000"/>
            </a:srgbClr>
          </a:solidFill>
          <a:ln w="15875">
            <a:solidFill>
              <a:srgbClr val="F5A524"/>
            </a:solidFill>
            <a:prstDash val="solid"/>
          </a:ln>
        </p:spPr>
      </p:sp>
      <p:sp>
        <p:nvSpPr>
          <p:cNvPr id="13" name="bs1__3"/>
          <p:cNvSpPr txBox="1"/>
          <p:nvPr/>
        </p:nvSpPr>
        <p:spPr>
          <a:xfrm>
            <a:off x="749808" y="2999232"/>
            <a:ext cx="457200" cy="457200"/>
          </a:xfrm>
          <a:prstGeom prst="rect">
            <a:avLst/>
          </a:prstGeom>
          <a:noFill/>
          <a:ln/>
        </p:spPr>
        <p:txBody>
          <a:bodyPr wrap="square" lIns="0" tIns="0" rIns="0" bIns="0" rtlCol="0" anchor="ctr"/>
          <a:lstStyle/>
          <a:p>
            <a:pPr algn="ctr" indent="0" marL="0">
              <a:buNone/>
            </a:pPr>
            <a:r>
              <a:rPr lang="en-US" sz="1500" b="1" dirty="0">
                <a:solidFill>
                  <a:srgbClr val="F5A524"/>
                </a:solidFill>
                <a:latin typeface="Arial" pitchFamily="34" charset="0"/>
                <a:ea typeface="Arial" pitchFamily="34" charset="-122"/>
                <a:cs typeface="Arial" pitchFamily="34" charset="-120"/>
              </a:rPr>
              <a:t>2</a:t>
            </a:r>
            <a:endParaRPr lang="en-US" sz="1500" dirty="0"/>
          </a:p>
        </p:txBody>
      </p:sp>
      <p:sp>
        <p:nvSpPr>
          <p:cNvPr id="14" name="bs1__4"/>
          <p:cNvSpPr txBox="1"/>
          <p:nvPr/>
        </p:nvSpPr>
        <p:spPr>
          <a:xfrm>
            <a:off x="1417320" y="2862072"/>
            <a:ext cx="6126480" cy="347472"/>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Moved on in minutes   </a:t>
            </a:r>
            <a:pPr indent="0" marL="0">
              <a:buNone/>
            </a:pPr>
            <a:r>
              <a:rPr lang="en-US" sz="1000" b="1" spc="200" kern="0" dirty="0">
                <a:solidFill>
                  <a:srgbClr val="F5A524"/>
                </a:solidFill>
                <a:latin typeface="Arial" pitchFamily="34" charset="0"/>
                <a:ea typeface="Arial" pitchFamily="34" charset="-122"/>
                <a:cs typeface="Arial" pitchFamily="34" charset="-120"/>
              </a:rPr>
              <a:t>RAPID MOVEMENT</a:t>
            </a:r>
            <a:endParaRPr lang="en-US" sz="1500" dirty="0"/>
          </a:p>
        </p:txBody>
      </p:sp>
      <p:sp>
        <p:nvSpPr>
          <p:cNvPr id="15" name="bs1__5"/>
          <p:cNvSpPr txBox="1"/>
          <p:nvPr/>
        </p:nvSpPr>
        <p:spPr>
          <a:xfrm>
            <a:off x="1417320" y="3200400"/>
            <a:ext cx="6126480" cy="41148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Within 1 to 3 minutes the hub forwards each deposit to four mule wallets.</a:t>
            </a:r>
            <a:endParaRPr lang="en-US" sz="1300" dirty="0"/>
          </a:p>
        </p:txBody>
      </p:sp>
      <p:sp>
        <p:nvSpPr>
          <p:cNvPr id="16" name="bs2__1"/>
          <p:cNvSpPr/>
          <p:nvPr/>
        </p:nvSpPr>
        <p:spPr>
          <a:xfrm>
            <a:off x="548640" y="3849624"/>
            <a:ext cx="7132320" cy="914400"/>
          </a:xfrm>
          <a:prstGeom prst="roundRect">
            <a:avLst>
              <a:gd name="adj" fmla="val 12000"/>
            </a:avLst>
          </a:prstGeom>
          <a:solidFill>
            <a:srgbClr val="0E1729">
              <a:alpha val="90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7" name="bs2__2"/>
          <p:cNvSpPr/>
          <p:nvPr/>
        </p:nvSpPr>
        <p:spPr>
          <a:xfrm>
            <a:off x="749808" y="4078224"/>
            <a:ext cx="457200" cy="457200"/>
          </a:xfrm>
          <a:prstGeom prst="ellipse">
            <a:avLst/>
          </a:prstGeom>
          <a:solidFill>
            <a:srgbClr val="FF4D5E">
              <a:alpha val="20000"/>
            </a:srgbClr>
          </a:solidFill>
          <a:ln w="15875">
            <a:solidFill>
              <a:srgbClr val="FF4D5E"/>
            </a:solidFill>
            <a:prstDash val="solid"/>
          </a:ln>
        </p:spPr>
      </p:sp>
      <p:sp>
        <p:nvSpPr>
          <p:cNvPr id="18" name="bs2__3"/>
          <p:cNvSpPr txBox="1"/>
          <p:nvPr/>
        </p:nvSpPr>
        <p:spPr>
          <a:xfrm>
            <a:off x="749808" y="4078224"/>
            <a:ext cx="457200" cy="457200"/>
          </a:xfrm>
          <a:prstGeom prst="rect">
            <a:avLst/>
          </a:prstGeom>
          <a:noFill/>
          <a:ln/>
        </p:spPr>
        <p:txBody>
          <a:bodyPr wrap="square" lIns="0" tIns="0" rIns="0" bIns="0" rtlCol="0" anchor="ctr"/>
          <a:lstStyle/>
          <a:p>
            <a:pPr algn="ctr" indent="0" marL="0">
              <a:buNone/>
            </a:pPr>
            <a:r>
              <a:rPr lang="en-US" sz="1500" b="1" dirty="0">
                <a:solidFill>
                  <a:srgbClr val="FF4D5E"/>
                </a:solidFill>
                <a:latin typeface="Arial" pitchFamily="34" charset="0"/>
                <a:ea typeface="Arial" pitchFamily="34" charset="-122"/>
                <a:cs typeface="Arial" pitchFamily="34" charset="-120"/>
              </a:rPr>
              <a:t>3</a:t>
            </a:r>
            <a:endParaRPr lang="en-US" sz="1500" dirty="0"/>
          </a:p>
        </p:txBody>
      </p:sp>
      <p:sp>
        <p:nvSpPr>
          <p:cNvPr id="19" name="bs2__4"/>
          <p:cNvSpPr txBox="1"/>
          <p:nvPr/>
        </p:nvSpPr>
        <p:spPr>
          <a:xfrm>
            <a:off x="1417320" y="3941064"/>
            <a:ext cx="6126480" cy="347472"/>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Cash-out and loop back   </a:t>
            </a:r>
            <a:pPr indent="0" marL="0">
              <a:buNone/>
            </a:pPr>
            <a:r>
              <a:rPr lang="en-US" sz="1000" b="1" spc="200" kern="0" dirty="0">
                <a:solidFill>
                  <a:srgbClr val="FF4D5E"/>
                </a:solidFill>
                <a:latin typeface="Arial" pitchFamily="34" charset="0"/>
                <a:ea typeface="Arial" pitchFamily="34" charset="-122"/>
                <a:cs typeface="Arial" pitchFamily="34" charset="-120"/>
              </a:rPr>
              <a:t>CIRCULAR FLOW</a:t>
            </a:r>
            <a:endParaRPr lang="en-US" sz="1500" dirty="0"/>
          </a:p>
        </p:txBody>
      </p:sp>
      <p:sp>
        <p:nvSpPr>
          <p:cNvPr id="20" name="bs2__5"/>
          <p:cNvSpPr txBox="1"/>
          <p:nvPr/>
        </p:nvSpPr>
        <p:spPr>
          <a:xfrm>
            <a:off x="1417320" y="4279392"/>
            <a:ext cx="6126480" cy="41148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The mules pay a cash-out agent in Chattogram, and 90% flows back to the hub.</a:t>
            </a:r>
            <a:endParaRPr lang="en-US" sz="1300" dirty="0"/>
          </a:p>
        </p:txBody>
      </p:sp>
      <p:sp>
        <p:nvSpPr>
          <p:cNvPr id="21" name="bs3__1"/>
          <p:cNvSpPr/>
          <p:nvPr/>
        </p:nvSpPr>
        <p:spPr>
          <a:xfrm>
            <a:off x="548640" y="4928616"/>
            <a:ext cx="7132320" cy="914400"/>
          </a:xfrm>
          <a:prstGeom prst="roundRect">
            <a:avLst>
              <a:gd name="adj" fmla="val 12000"/>
            </a:avLst>
          </a:prstGeom>
          <a:solidFill>
            <a:srgbClr val="0E1729">
              <a:alpha val="90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2" name="bs3__2"/>
          <p:cNvSpPr/>
          <p:nvPr/>
        </p:nvSpPr>
        <p:spPr>
          <a:xfrm>
            <a:off x="749808" y="5157216"/>
            <a:ext cx="457200" cy="457200"/>
          </a:xfrm>
          <a:prstGeom prst="ellipse">
            <a:avLst/>
          </a:prstGeom>
          <a:solidFill>
            <a:srgbClr val="34D399">
              <a:alpha val="20000"/>
            </a:srgbClr>
          </a:solidFill>
          <a:ln w="15875">
            <a:solidFill>
              <a:srgbClr val="34D399"/>
            </a:solidFill>
            <a:prstDash val="solid"/>
          </a:ln>
        </p:spPr>
      </p:sp>
      <p:sp>
        <p:nvSpPr>
          <p:cNvPr id="23" name="bs3__3"/>
          <p:cNvSpPr txBox="1"/>
          <p:nvPr/>
        </p:nvSpPr>
        <p:spPr>
          <a:xfrm>
            <a:off x="749808" y="5157216"/>
            <a:ext cx="457200" cy="457200"/>
          </a:xfrm>
          <a:prstGeom prst="rect">
            <a:avLst/>
          </a:prstGeom>
          <a:noFill/>
          <a:ln/>
        </p:spPr>
        <p:txBody>
          <a:bodyPr wrap="square" lIns="0" tIns="0" rIns="0" bIns="0" rtlCol="0" anchor="ctr"/>
          <a:lstStyle/>
          <a:p>
            <a:pPr algn="ctr" indent="0" marL="0">
              <a:buNone/>
            </a:pPr>
            <a:r>
              <a:rPr lang="en-US" sz="1500" b="1" dirty="0">
                <a:solidFill>
                  <a:srgbClr val="34D399"/>
                </a:solidFill>
                <a:latin typeface="Arial" pitchFamily="34" charset="0"/>
                <a:ea typeface="Arial" pitchFamily="34" charset="-122"/>
                <a:cs typeface="Arial" pitchFamily="34" charset="-120"/>
              </a:rPr>
              <a:t>4</a:t>
            </a:r>
            <a:endParaRPr lang="en-US" sz="1500" dirty="0"/>
          </a:p>
        </p:txBody>
      </p:sp>
      <p:sp>
        <p:nvSpPr>
          <p:cNvPr id="24" name="bs3__4"/>
          <p:cNvSpPr txBox="1"/>
          <p:nvPr/>
        </p:nvSpPr>
        <p:spPr>
          <a:xfrm>
            <a:off x="1417320" y="5020056"/>
            <a:ext cx="6126480" cy="347472"/>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Cygnus AI flags the ring   </a:t>
            </a:r>
            <a:pPr indent="0" marL="0">
              <a:buNone/>
            </a:pPr>
            <a:r>
              <a:rPr lang="en-US" sz="1000" b="1" spc="200" kern="0" dirty="0">
                <a:solidFill>
                  <a:srgbClr val="34D399"/>
                </a:solidFill>
                <a:latin typeface="Arial" pitchFamily="34" charset="0"/>
                <a:ea typeface="Arial" pitchFamily="34" charset="-122"/>
                <a:cs typeface="Arial" pitchFamily="34" charset="-120"/>
              </a:rPr>
              <a:t>92.3 CRITICAL</a:t>
            </a:r>
            <a:endParaRPr lang="en-US" sz="1500" dirty="0"/>
          </a:p>
        </p:txBody>
      </p:sp>
      <p:sp>
        <p:nvSpPr>
          <p:cNvPr id="25" name="bs3__5"/>
          <p:cNvSpPr txBox="1"/>
          <p:nvPr/>
        </p:nvSpPr>
        <p:spPr>
          <a:xfrm>
            <a:off x="1417320" y="5358384"/>
            <a:ext cx="6126480" cy="41148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Every transfer looked normal on its own. The graph scores the hub 92.3 CRITICAL, with evidence and next steps.</a:t>
            </a:r>
            <a:endParaRPr lang="en-US" sz="1300" dirty="0"/>
          </a:p>
        </p:txBody>
      </p:sp>
      <p:sp>
        <p:nvSpPr>
          <p:cNvPr id="26" name="bm1__1"/>
          <p:cNvSpPr/>
          <p:nvPr/>
        </p:nvSpPr>
        <p:spPr>
          <a:xfrm>
            <a:off x="8972929" y="2406547"/>
            <a:ext cx="715223" cy="1171387"/>
          </a:xfrm>
          <a:prstGeom prst="line">
            <a:avLst/>
          </a:prstGeom>
          <a:noFill/>
          <a:ln w="12700">
            <a:solidFill>
              <a:srgbClr val="38BDF8">
                <a:alpha val="85000"/>
              </a:srgbClr>
            </a:solidFill>
            <a:prstDash val="solid"/>
            <a:tailEnd type="triangle"/>
          </a:ln>
        </p:spPr>
      </p:sp>
      <p:sp>
        <p:nvSpPr>
          <p:cNvPr id="27" name="bv1__1"/>
          <p:cNvSpPr/>
          <p:nvPr/>
        </p:nvSpPr>
        <p:spPr>
          <a:xfrm>
            <a:off x="8898618" y="2314001"/>
            <a:ext cx="91440" cy="91440"/>
          </a:xfrm>
          <a:prstGeom prst="ellipse">
            <a:avLst/>
          </a:prstGeom>
          <a:solidFill>
            <a:srgbClr val="38BDF8"/>
          </a:solidFill>
          <a:ln w="12700">
            <a:solidFill>
              <a:srgbClr val="38BDF8"/>
            </a:solidFill>
            <a:prstDash val="solid"/>
          </a:ln>
        </p:spPr>
      </p:sp>
      <p:sp>
        <p:nvSpPr>
          <p:cNvPr id="28" name="bm1__2"/>
          <p:cNvSpPr/>
          <p:nvPr/>
        </p:nvSpPr>
        <p:spPr>
          <a:xfrm>
            <a:off x="9205369" y="2500838"/>
            <a:ext cx="500461" cy="1067593"/>
          </a:xfrm>
          <a:prstGeom prst="line">
            <a:avLst/>
          </a:prstGeom>
          <a:noFill/>
          <a:ln w="12700">
            <a:solidFill>
              <a:srgbClr val="38BDF8">
                <a:alpha val="85000"/>
              </a:srgbClr>
            </a:solidFill>
            <a:prstDash val="solid"/>
            <a:tailEnd type="triangle"/>
          </a:ln>
        </p:spPr>
      </p:sp>
      <p:sp>
        <p:nvSpPr>
          <p:cNvPr id="29" name="bv1__2"/>
          <p:cNvSpPr/>
          <p:nvPr/>
        </p:nvSpPr>
        <p:spPr>
          <a:xfrm>
            <a:off x="9136362" y="2405441"/>
            <a:ext cx="91440" cy="91440"/>
          </a:xfrm>
          <a:prstGeom prst="ellipse">
            <a:avLst/>
          </a:prstGeom>
          <a:solidFill>
            <a:srgbClr val="38BDF8"/>
          </a:solidFill>
          <a:ln w="12700">
            <a:solidFill>
              <a:srgbClr val="38BDF8"/>
            </a:solidFill>
            <a:prstDash val="solid"/>
          </a:ln>
        </p:spPr>
      </p:sp>
      <p:sp>
        <p:nvSpPr>
          <p:cNvPr id="30" name="bm1__3"/>
          <p:cNvSpPr/>
          <p:nvPr/>
        </p:nvSpPr>
        <p:spPr>
          <a:xfrm>
            <a:off x="8788997" y="3249559"/>
            <a:ext cx="830048" cy="404367"/>
          </a:xfrm>
          <a:prstGeom prst="line">
            <a:avLst/>
          </a:prstGeom>
          <a:noFill/>
          <a:ln w="12700">
            <a:solidFill>
              <a:srgbClr val="38BDF8">
                <a:alpha val="85000"/>
              </a:srgbClr>
            </a:solidFill>
            <a:prstDash val="solid"/>
            <a:tailEnd type="triangle"/>
          </a:ln>
        </p:spPr>
      </p:sp>
      <p:sp>
        <p:nvSpPr>
          <p:cNvPr id="31" name="bv1__3"/>
          <p:cNvSpPr/>
          <p:nvPr/>
        </p:nvSpPr>
        <p:spPr>
          <a:xfrm>
            <a:off x="8693955" y="3179811"/>
            <a:ext cx="91440" cy="91440"/>
          </a:xfrm>
          <a:prstGeom prst="ellipse">
            <a:avLst/>
          </a:prstGeom>
          <a:solidFill>
            <a:srgbClr val="38BDF8"/>
          </a:solidFill>
          <a:ln w="12700">
            <a:solidFill>
              <a:srgbClr val="38BDF8"/>
            </a:solidFill>
            <a:prstDash val="solid"/>
          </a:ln>
        </p:spPr>
      </p:sp>
      <p:sp>
        <p:nvSpPr>
          <p:cNvPr id="32" name="bm1__4"/>
          <p:cNvSpPr/>
          <p:nvPr/>
        </p:nvSpPr>
        <p:spPr>
          <a:xfrm>
            <a:off x="8883614" y="3460921"/>
            <a:ext cx="724841" cy="219987"/>
          </a:xfrm>
          <a:prstGeom prst="line">
            <a:avLst/>
          </a:prstGeom>
          <a:noFill/>
          <a:ln w="12700">
            <a:solidFill>
              <a:srgbClr val="38BDF8">
                <a:alpha val="85000"/>
              </a:srgbClr>
            </a:solidFill>
            <a:prstDash val="solid"/>
            <a:tailEnd type="triangle"/>
          </a:ln>
        </p:spPr>
      </p:sp>
      <p:sp>
        <p:nvSpPr>
          <p:cNvPr id="33" name="bv1__4"/>
          <p:cNvSpPr/>
          <p:nvPr/>
        </p:nvSpPr>
        <p:spPr>
          <a:xfrm>
            <a:off x="8785395" y="3399267"/>
            <a:ext cx="91440" cy="91440"/>
          </a:xfrm>
          <a:prstGeom prst="ellipse">
            <a:avLst/>
          </a:prstGeom>
          <a:solidFill>
            <a:srgbClr val="38BDF8"/>
          </a:solidFill>
          <a:ln w="12700">
            <a:solidFill>
              <a:srgbClr val="38BDF8"/>
            </a:solidFill>
            <a:prstDash val="solid"/>
          </a:ln>
        </p:spPr>
      </p:sp>
      <p:sp>
        <p:nvSpPr>
          <p:cNvPr id="34" name="bm1__5"/>
          <p:cNvSpPr/>
          <p:nvPr/>
        </p:nvSpPr>
        <p:spPr>
          <a:xfrm>
            <a:off x="8739095" y="3580959"/>
            <a:ext cx="863412" cy="126541"/>
          </a:xfrm>
          <a:prstGeom prst="line">
            <a:avLst/>
          </a:prstGeom>
          <a:noFill/>
          <a:ln w="12700">
            <a:solidFill>
              <a:srgbClr val="38BDF8">
                <a:alpha val="85000"/>
              </a:srgbClr>
            </a:solidFill>
            <a:prstDash val="solid"/>
            <a:tailEnd type="triangle"/>
          </a:ln>
        </p:spPr>
      </p:sp>
      <p:sp>
        <p:nvSpPr>
          <p:cNvPr id="35" name="bv1__5"/>
          <p:cNvSpPr/>
          <p:nvPr/>
        </p:nvSpPr>
        <p:spPr>
          <a:xfrm>
            <a:off x="8639091" y="3527283"/>
            <a:ext cx="91440" cy="91440"/>
          </a:xfrm>
          <a:prstGeom prst="ellipse">
            <a:avLst/>
          </a:prstGeom>
          <a:solidFill>
            <a:srgbClr val="38BDF8"/>
          </a:solidFill>
          <a:ln w="12700">
            <a:solidFill>
              <a:srgbClr val="38BDF8"/>
            </a:solidFill>
            <a:prstDash val="solid"/>
          </a:ln>
        </p:spPr>
      </p:sp>
      <p:sp>
        <p:nvSpPr>
          <p:cNvPr id="36" name="bm1__6"/>
          <p:cNvSpPr/>
          <p:nvPr/>
        </p:nvSpPr>
        <p:spPr>
          <a:xfrm flipV="1">
            <a:off x="9166042" y="3861434"/>
            <a:ext cx="486222" cy="472230"/>
          </a:xfrm>
          <a:prstGeom prst="line">
            <a:avLst/>
          </a:prstGeom>
          <a:noFill/>
          <a:ln w="12700">
            <a:solidFill>
              <a:srgbClr val="38BDF8">
                <a:alpha val="85000"/>
              </a:srgbClr>
            </a:solidFill>
            <a:prstDash val="solid"/>
            <a:tailEnd type="triangle"/>
          </a:ln>
        </p:spPr>
      </p:sp>
      <p:sp>
        <p:nvSpPr>
          <p:cNvPr id="37" name="bv1__6"/>
          <p:cNvSpPr/>
          <p:nvPr/>
        </p:nvSpPr>
        <p:spPr>
          <a:xfrm>
            <a:off x="9080965" y="4326168"/>
            <a:ext cx="91440" cy="91440"/>
          </a:xfrm>
          <a:prstGeom prst="ellipse">
            <a:avLst/>
          </a:prstGeom>
          <a:solidFill>
            <a:srgbClr val="38BDF8"/>
          </a:solidFill>
          <a:ln w="12700">
            <a:solidFill>
              <a:srgbClr val="38BDF8"/>
            </a:solidFill>
            <a:prstDash val="solid"/>
          </a:ln>
        </p:spPr>
      </p:sp>
      <p:sp>
        <p:nvSpPr>
          <p:cNvPr id="38" name="bm1__7"/>
          <p:cNvSpPr/>
          <p:nvPr/>
        </p:nvSpPr>
        <p:spPr>
          <a:xfrm flipV="1">
            <a:off x="9356151" y="3890695"/>
            <a:ext cx="332975" cy="553062"/>
          </a:xfrm>
          <a:prstGeom prst="line">
            <a:avLst/>
          </a:prstGeom>
          <a:noFill/>
          <a:ln w="12700">
            <a:solidFill>
              <a:srgbClr val="38BDF8">
                <a:alpha val="85000"/>
              </a:srgbClr>
            </a:solidFill>
            <a:prstDash val="solid"/>
            <a:tailEnd type="triangle"/>
          </a:ln>
        </p:spPr>
      </p:sp>
      <p:sp>
        <p:nvSpPr>
          <p:cNvPr id="39" name="bv1__7"/>
          <p:cNvSpPr/>
          <p:nvPr/>
        </p:nvSpPr>
        <p:spPr>
          <a:xfrm>
            <a:off x="9282133" y="4445040"/>
            <a:ext cx="91440" cy="91440"/>
          </a:xfrm>
          <a:prstGeom prst="ellipse">
            <a:avLst/>
          </a:prstGeom>
          <a:solidFill>
            <a:srgbClr val="38BDF8"/>
          </a:solidFill>
          <a:ln w="12700">
            <a:solidFill>
              <a:srgbClr val="38BDF8"/>
            </a:solidFill>
            <a:prstDash val="solid"/>
          </a:ln>
        </p:spPr>
      </p:sp>
      <p:sp>
        <p:nvSpPr>
          <p:cNvPr id="40" name="bm1__8"/>
          <p:cNvSpPr/>
          <p:nvPr/>
        </p:nvSpPr>
        <p:spPr>
          <a:xfrm flipV="1">
            <a:off x="9247237" y="3889030"/>
            <a:ext cx="439176" cy="701531"/>
          </a:xfrm>
          <a:prstGeom prst="line">
            <a:avLst/>
          </a:prstGeom>
          <a:noFill/>
          <a:ln w="12700">
            <a:solidFill>
              <a:srgbClr val="38BDF8">
                <a:alpha val="85000"/>
              </a:srgbClr>
            </a:solidFill>
            <a:prstDash val="solid"/>
            <a:tailEnd type="triangle"/>
          </a:ln>
        </p:spPr>
      </p:sp>
      <p:sp>
        <p:nvSpPr>
          <p:cNvPr id="41" name="bv1__8"/>
          <p:cNvSpPr/>
          <p:nvPr/>
        </p:nvSpPr>
        <p:spPr>
          <a:xfrm>
            <a:off x="9172405" y="4591344"/>
            <a:ext cx="91440" cy="91440"/>
          </a:xfrm>
          <a:prstGeom prst="ellipse">
            <a:avLst/>
          </a:prstGeom>
          <a:solidFill>
            <a:srgbClr val="38BDF8"/>
          </a:solidFill>
          <a:ln w="12700">
            <a:solidFill>
              <a:srgbClr val="38BDF8"/>
            </a:solidFill>
            <a:prstDash val="solid"/>
          </a:ln>
        </p:spPr>
      </p:sp>
      <p:sp>
        <p:nvSpPr>
          <p:cNvPr id="42" name="bd__1"/>
          <p:cNvSpPr/>
          <p:nvPr/>
        </p:nvSpPr>
        <p:spPr>
          <a:xfrm>
            <a:off x="9540223" y="3490789"/>
            <a:ext cx="486461" cy="486461"/>
          </a:xfrm>
          <a:prstGeom prst="ellipse">
            <a:avLst/>
          </a:prstGeom>
          <a:solidFill>
            <a:srgbClr val="FF4D5E">
              <a:alpha val="18000"/>
            </a:srgbClr>
          </a:solidFill>
          <a:ln w="9525">
            <a:solidFill>
              <a:srgbClr val="FF4D5E">
                <a:alpha val="45000"/>
              </a:srgbClr>
            </a:solidFill>
            <a:prstDash val="solid"/>
          </a:ln>
        </p:spPr>
      </p:sp>
      <p:sp>
        <p:nvSpPr>
          <p:cNvPr id="43" name="bd__2"/>
          <p:cNvSpPr/>
          <p:nvPr/>
        </p:nvSpPr>
        <p:spPr>
          <a:xfrm>
            <a:off x="9655438" y="3606003"/>
            <a:ext cx="256032" cy="256032"/>
          </a:xfrm>
          <a:prstGeom prst="ellipse">
            <a:avLst/>
          </a:prstGeom>
          <a:solidFill>
            <a:srgbClr val="FF4D5E"/>
          </a:solidFill>
          <a:ln w="12700">
            <a:solidFill>
              <a:srgbClr val="FF4D5E"/>
            </a:solidFill>
            <a:prstDash val="solid"/>
          </a:ln>
        </p:spPr>
      </p:sp>
      <p:sp>
        <p:nvSpPr>
          <p:cNvPr id="44" name="bd__3"/>
          <p:cNvSpPr txBox="1"/>
          <p:nvPr/>
        </p:nvSpPr>
        <p:spPr>
          <a:xfrm>
            <a:off x="9097654" y="3276819"/>
            <a:ext cx="914400" cy="237744"/>
          </a:xfrm>
          <a:prstGeom prst="rect">
            <a:avLst/>
          </a:prstGeom>
          <a:noFill/>
          <a:ln/>
        </p:spPr>
        <p:txBody>
          <a:bodyPr wrap="square" lIns="0" tIns="0" rIns="0" bIns="0" rtlCol="0" anchor="ctr"/>
          <a:lstStyle/>
          <a:p>
            <a:pPr algn="r" indent="0" marL="0">
              <a:buNone/>
            </a:pPr>
            <a:r>
              <a:rPr lang="en-US" sz="1000" b="1" dirty="0">
                <a:solidFill>
                  <a:srgbClr val="F1F5FB"/>
                </a:solidFill>
                <a:latin typeface="Calibri" pitchFamily="34" charset="0"/>
                <a:ea typeface="Calibri" pitchFamily="34" charset="-122"/>
                <a:cs typeface="Calibri" pitchFamily="34" charset="-120"/>
              </a:rPr>
              <a:t>Dhaka</a:t>
            </a:r>
            <a:endParaRPr lang="en-US" sz="1000" dirty="0"/>
          </a:p>
        </p:txBody>
      </p:sp>
      <p:sp>
        <p:nvSpPr>
          <p:cNvPr id="45" name="bv1__9"/>
          <p:cNvSpPr txBox="1"/>
          <p:nvPr/>
        </p:nvSpPr>
        <p:spPr>
          <a:xfrm>
            <a:off x="9236946" y="2240849"/>
            <a:ext cx="1188720" cy="237744"/>
          </a:xfrm>
          <a:prstGeom prst="rect">
            <a:avLst/>
          </a:prstGeom>
          <a:noFill/>
          <a:ln/>
        </p:spPr>
        <p:txBody>
          <a:bodyPr wrap="square" lIns="0" tIns="0" rIns="0" bIns="0" rtlCol="0" anchor="ctr"/>
          <a:lstStyle/>
          <a:p>
            <a:pPr algn="l" indent="0" marL="0">
              <a:buNone/>
            </a:pPr>
            <a:r>
              <a:rPr lang="en-US" sz="1000" b="1" dirty="0">
                <a:solidFill>
                  <a:srgbClr val="38BDF8"/>
                </a:solidFill>
                <a:latin typeface="Calibri" pitchFamily="34" charset="0"/>
                <a:ea typeface="Calibri" pitchFamily="34" charset="-122"/>
                <a:cs typeface="Calibri" pitchFamily="34" charset="-120"/>
              </a:rPr>
              <a:t>Rangpur</a:t>
            </a:r>
            <a:endParaRPr lang="en-US" sz="1000" dirty="0"/>
          </a:p>
        </p:txBody>
      </p:sp>
      <p:sp>
        <p:nvSpPr>
          <p:cNvPr id="46" name="bv1__10"/>
          <p:cNvSpPr txBox="1"/>
          <p:nvPr/>
        </p:nvSpPr>
        <p:spPr>
          <a:xfrm>
            <a:off x="7413795" y="3042651"/>
            <a:ext cx="1188720" cy="237744"/>
          </a:xfrm>
          <a:prstGeom prst="rect">
            <a:avLst/>
          </a:prstGeom>
          <a:noFill/>
          <a:ln/>
        </p:spPr>
        <p:txBody>
          <a:bodyPr wrap="square" lIns="0" tIns="0" rIns="0" bIns="0" rtlCol="0" anchor="ctr"/>
          <a:lstStyle/>
          <a:p>
            <a:pPr algn="r" indent="0" marL="0">
              <a:buNone/>
            </a:pPr>
            <a:r>
              <a:rPr lang="en-US" sz="1000" b="1" dirty="0">
                <a:solidFill>
                  <a:srgbClr val="38BDF8"/>
                </a:solidFill>
                <a:latin typeface="Calibri" pitchFamily="34" charset="0"/>
                <a:ea typeface="Calibri" pitchFamily="34" charset="-122"/>
                <a:cs typeface="Calibri" pitchFamily="34" charset="-120"/>
              </a:rPr>
              <a:t>Rajshahi</a:t>
            </a:r>
            <a:endParaRPr lang="en-US" sz="1000" dirty="0"/>
          </a:p>
        </p:txBody>
      </p:sp>
      <p:sp>
        <p:nvSpPr>
          <p:cNvPr id="47" name="bv1__11"/>
          <p:cNvSpPr txBox="1"/>
          <p:nvPr/>
        </p:nvSpPr>
        <p:spPr>
          <a:xfrm>
            <a:off x="7910533" y="4527336"/>
            <a:ext cx="1188720" cy="237744"/>
          </a:xfrm>
          <a:prstGeom prst="rect">
            <a:avLst/>
          </a:prstGeom>
          <a:noFill/>
          <a:ln/>
        </p:spPr>
        <p:txBody>
          <a:bodyPr wrap="square" lIns="0" tIns="0" rIns="0" bIns="0" rtlCol="0" anchor="ctr"/>
          <a:lstStyle/>
          <a:p>
            <a:pPr algn="r" indent="0" marL="0">
              <a:buNone/>
            </a:pPr>
            <a:r>
              <a:rPr lang="en-US" sz="1000" b="1" dirty="0">
                <a:solidFill>
                  <a:srgbClr val="38BDF8"/>
                </a:solidFill>
                <a:latin typeface="Calibri" pitchFamily="34" charset="0"/>
                <a:ea typeface="Calibri" pitchFamily="34" charset="-122"/>
                <a:cs typeface="Calibri" pitchFamily="34" charset="-120"/>
              </a:rPr>
              <a:t>Khulna</a:t>
            </a:r>
            <a:endParaRPr lang="en-US" sz="1000" dirty="0"/>
          </a:p>
        </p:txBody>
      </p:sp>
      <p:sp>
        <p:nvSpPr>
          <p:cNvPr id="48" name="bm2__1"/>
          <p:cNvSpPr/>
          <p:nvPr/>
        </p:nvSpPr>
        <p:spPr>
          <a:xfrm flipV="1">
            <a:off x="9783454" y="3146968"/>
            <a:ext cx="914" cy="431603"/>
          </a:xfrm>
          <a:prstGeom prst="line">
            <a:avLst/>
          </a:prstGeom>
          <a:noFill/>
          <a:ln w="19050">
            <a:solidFill>
              <a:srgbClr val="F5A524"/>
            </a:solidFill>
            <a:prstDash val="solid"/>
            <a:tailEnd type="triangle"/>
          </a:ln>
        </p:spPr>
      </p:sp>
      <p:sp>
        <p:nvSpPr>
          <p:cNvPr id="49" name="bv2__1"/>
          <p:cNvSpPr/>
          <p:nvPr/>
        </p:nvSpPr>
        <p:spPr>
          <a:xfrm>
            <a:off x="9714874" y="2996092"/>
            <a:ext cx="137160" cy="137160"/>
          </a:xfrm>
          <a:prstGeom prst="ellipse">
            <a:avLst/>
          </a:prstGeom>
          <a:solidFill>
            <a:srgbClr val="F5A524"/>
          </a:solidFill>
          <a:ln w="12700">
            <a:solidFill>
              <a:srgbClr val="F5A524"/>
            </a:solidFill>
            <a:prstDash val="solid"/>
          </a:ln>
        </p:spPr>
      </p:sp>
      <p:sp>
        <p:nvSpPr>
          <p:cNvPr id="50" name="bm2__2"/>
          <p:cNvSpPr/>
          <p:nvPr/>
        </p:nvSpPr>
        <p:spPr>
          <a:xfrm flipV="1">
            <a:off x="9902615" y="3017829"/>
            <a:ext cx="735775" cy="616367"/>
          </a:xfrm>
          <a:prstGeom prst="line">
            <a:avLst/>
          </a:prstGeom>
          <a:noFill/>
          <a:ln w="19050">
            <a:solidFill>
              <a:srgbClr val="F5A524"/>
            </a:solidFill>
            <a:prstDash val="solid"/>
            <a:tailEnd type="triangle"/>
          </a:ln>
        </p:spPr>
      </p:sp>
      <p:sp>
        <p:nvSpPr>
          <p:cNvPr id="51" name="bv2__2"/>
          <p:cNvSpPr/>
          <p:nvPr/>
        </p:nvSpPr>
        <p:spPr>
          <a:xfrm>
            <a:off x="10632896" y="2896402"/>
            <a:ext cx="137160" cy="137160"/>
          </a:xfrm>
          <a:prstGeom prst="ellipse">
            <a:avLst/>
          </a:prstGeom>
          <a:solidFill>
            <a:srgbClr val="F5A524"/>
          </a:solidFill>
          <a:ln w="12700">
            <a:solidFill>
              <a:srgbClr val="F5A524"/>
            </a:solidFill>
            <a:prstDash val="solid"/>
          </a:ln>
        </p:spPr>
      </p:sp>
      <p:sp>
        <p:nvSpPr>
          <p:cNvPr id="52" name="bm2__3"/>
          <p:cNvSpPr/>
          <p:nvPr/>
        </p:nvSpPr>
        <p:spPr>
          <a:xfrm>
            <a:off x="9921665" y="3805164"/>
            <a:ext cx="272780" cy="140415"/>
          </a:xfrm>
          <a:prstGeom prst="line">
            <a:avLst/>
          </a:prstGeom>
          <a:noFill/>
          <a:ln w="19050">
            <a:solidFill>
              <a:srgbClr val="F5A524"/>
            </a:solidFill>
            <a:prstDash val="solid"/>
            <a:tailEnd type="triangle"/>
          </a:ln>
        </p:spPr>
      </p:sp>
      <p:sp>
        <p:nvSpPr>
          <p:cNvPr id="53" name="bv2__3"/>
          <p:cNvSpPr/>
          <p:nvPr/>
        </p:nvSpPr>
        <p:spPr>
          <a:xfrm>
            <a:off x="10199036" y="3914664"/>
            <a:ext cx="137160" cy="137160"/>
          </a:xfrm>
          <a:prstGeom prst="ellipse">
            <a:avLst/>
          </a:prstGeom>
          <a:solidFill>
            <a:srgbClr val="F5A524"/>
          </a:solidFill>
          <a:ln w="12700">
            <a:solidFill>
              <a:srgbClr val="F5A524"/>
            </a:solidFill>
            <a:prstDash val="solid"/>
          </a:ln>
        </p:spPr>
      </p:sp>
      <p:sp>
        <p:nvSpPr>
          <p:cNvPr id="54" name="bm2__4"/>
          <p:cNvSpPr/>
          <p:nvPr/>
        </p:nvSpPr>
        <p:spPr>
          <a:xfrm flipH="1">
            <a:off x="9760920" y="3889389"/>
            <a:ext cx="17590" cy="552776"/>
          </a:xfrm>
          <a:prstGeom prst="line">
            <a:avLst/>
          </a:prstGeom>
          <a:noFill/>
          <a:ln w="19050">
            <a:solidFill>
              <a:srgbClr val="F5A524"/>
            </a:solidFill>
            <a:prstDash val="solid"/>
            <a:tailEnd type="triangle"/>
          </a:ln>
        </p:spPr>
      </p:sp>
      <p:sp>
        <p:nvSpPr>
          <p:cNvPr id="55" name="bv2__4"/>
          <p:cNvSpPr/>
          <p:nvPr/>
        </p:nvSpPr>
        <p:spPr>
          <a:xfrm>
            <a:off x="9689722" y="4455839"/>
            <a:ext cx="137160" cy="137160"/>
          </a:xfrm>
          <a:prstGeom prst="ellipse">
            <a:avLst/>
          </a:prstGeom>
          <a:solidFill>
            <a:srgbClr val="F5A524"/>
          </a:solidFill>
          <a:ln w="12700">
            <a:solidFill>
              <a:srgbClr val="F5A524"/>
            </a:solidFill>
            <a:prstDash val="solid"/>
          </a:ln>
        </p:spPr>
      </p:sp>
      <p:sp>
        <p:nvSpPr>
          <p:cNvPr id="56" name="bv2__5"/>
          <p:cNvSpPr txBox="1"/>
          <p:nvPr/>
        </p:nvSpPr>
        <p:spPr>
          <a:xfrm>
            <a:off x="10820348" y="2846110"/>
            <a:ext cx="1188720" cy="237744"/>
          </a:xfrm>
          <a:prstGeom prst="rect">
            <a:avLst/>
          </a:prstGeom>
          <a:noFill/>
          <a:ln/>
        </p:spPr>
        <p:txBody>
          <a:bodyPr wrap="square" lIns="0" tIns="0" rIns="0" bIns="0" rtlCol="0" anchor="ctr"/>
          <a:lstStyle/>
          <a:p>
            <a:pPr algn="l" indent="0" marL="0">
              <a:buNone/>
            </a:pPr>
            <a:r>
              <a:rPr lang="en-US" sz="1000" b="1" dirty="0">
                <a:solidFill>
                  <a:srgbClr val="F5A524"/>
                </a:solidFill>
                <a:latin typeface="Calibri" pitchFamily="34" charset="0"/>
                <a:ea typeface="Calibri" pitchFamily="34" charset="-122"/>
                <a:cs typeface="Calibri" pitchFamily="34" charset="-120"/>
              </a:rPr>
              <a:t>Sylhet</a:t>
            </a:r>
            <a:endParaRPr lang="en-US" sz="1000" dirty="0"/>
          </a:p>
        </p:txBody>
      </p:sp>
      <p:sp>
        <p:nvSpPr>
          <p:cNvPr id="57" name="bv2__6"/>
          <p:cNvSpPr txBox="1"/>
          <p:nvPr/>
        </p:nvSpPr>
        <p:spPr>
          <a:xfrm>
            <a:off x="9893182" y="2790352"/>
            <a:ext cx="1188720" cy="237744"/>
          </a:xfrm>
          <a:prstGeom prst="rect">
            <a:avLst/>
          </a:prstGeom>
          <a:noFill/>
          <a:ln/>
        </p:spPr>
        <p:txBody>
          <a:bodyPr wrap="square" lIns="0" tIns="0" rIns="0" bIns="0" rtlCol="0" anchor="ctr"/>
          <a:lstStyle/>
          <a:p>
            <a:pPr algn="l" indent="0" marL="0">
              <a:buNone/>
            </a:pPr>
            <a:r>
              <a:rPr lang="en-US" sz="1000" b="1" dirty="0">
                <a:solidFill>
                  <a:srgbClr val="F5A524"/>
                </a:solidFill>
                <a:latin typeface="Calibri" pitchFamily="34" charset="0"/>
                <a:ea typeface="Calibri" pitchFamily="34" charset="-122"/>
                <a:cs typeface="Calibri" pitchFamily="34" charset="-120"/>
              </a:rPr>
              <a:t>Mymensingh</a:t>
            </a:r>
            <a:endParaRPr lang="en-US" sz="1000" dirty="0"/>
          </a:p>
        </p:txBody>
      </p:sp>
      <p:sp>
        <p:nvSpPr>
          <p:cNvPr id="58" name="bm3__1"/>
          <p:cNvSpPr/>
          <p:nvPr/>
        </p:nvSpPr>
        <p:spPr>
          <a:xfrm>
            <a:off x="9816490" y="3129939"/>
            <a:ext cx="770581" cy="1522366"/>
          </a:xfrm>
          <a:prstGeom prst="line">
            <a:avLst/>
          </a:prstGeom>
          <a:noFill/>
          <a:ln w="12700">
            <a:solidFill>
              <a:srgbClr val="FF4D5E">
                <a:alpha val="80000"/>
              </a:srgbClr>
            </a:solidFill>
            <a:prstDash val="solid"/>
            <a:tailEnd type="triangle"/>
          </a:ln>
        </p:spPr>
      </p:sp>
      <p:sp>
        <p:nvSpPr>
          <p:cNvPr id="59" name="bm3__2"/>
          <p:cNvSpPr/>
          <p:nvPr/>
        </p:nvSpPr>
        <p:spPr>
          <a:xfrm flipH="1">
            <a:off x="10648905" y="3038098"/>
            <a:ext cx="50274" cy="1600472"/>
          </a:xfrm>
          <a:prstGeom prst="line">
            <a:avLst/>
          </a:prstGeom>
          <a:noFill/>
          <a:ln w="12700">
            <a:solidFill>
              <a:srgbClr val="FF4D5E">
                <a:alpha val="80000"/>
              </a:srgbClr>
            </a:solidFill>
            <a:prstDash val="solid"/>
            <a:tailEnd type="triangle"/>
          </a:ln>
        </p:spPr>
      </p:sp>
      <p:sp>
        <p:nvSpPr>
          <p:cNvPr id="60" name="bm3__3"/>
          <p:cNvSpPr/>
          <p:nvPr/>
        </p:nvSpPr>
        <p:spPr>
          <a:xfrm>
            <a:off x="10299360" y="4049150"/>
            <a:ext cx="289974" cy="602038"/>
          </a:xfrm>
          <a:prstGeom prst="line">
            <a:avLst/>
          </a:prstGeom>
          <a:noFill/>
          <a:ln w="12700">
            <a:solidFill>
              <a:srgbClr val="FF4D5E">
                <a:alpha val="80000"/>
              </a:srgbClr>
            </a:solidFill>
            <a:prstDash val="solid"/>
            <a:tailEnd type="triangle"/>
          </a:ln>
        </p:spPr>
      </p:sp>
      <p:sp>
        <p:nvSpPr>
          <p:cNvPr id="61" name="bm3__4"/>
          <p:cNvSpPr/>
          <p:nvPr/>
        </p:nvSpPr>
        <p:spPr>
          <a:xfrm>
            <a:off x="9828871" y="4543689"/>
            <a:ext cx="692521" cy="189111"/>
          </a:xfrm>
          <a:prstGeom prst="line">
            <a:avLst/>
          </a:prstGeom>
          <a:noFill/>
          <a:ln w="12700">
            <a:solidFill>
              <a:srgbClr val="FF4D5E">
                <a:alpha val="80000"/>
              </a:srgbClr>
            </a:solidFill>
            <a:prstDash val="solid"/>
            <a:tailEnd type="triangle"/>
          </a:ln>
        </p:spPr>
      </p:sp>
      <p:sp>
        <p:nvSpPr>
          <p:cNvPr id="62" name="bc3__1"/>
          <p:cNvSpPr/>
          <p:nvPr/>
        </p:nvSpPr>
        <p:spPr>
          <a:xfrm>
            <a:off x="10436402" y="4558040"/>
            <a:ext cx="416966" cy="416966"/>
          </a:xfrm>
          <a:prstGeom prst="ellipse">
            <a:avLst/>
          </a:prstGeom>
          <a:solidFill>
            <a:srgbClr val="FF4D5E">
              <a:alpha val="18000"/>
            </a:srgbClr>
          </a:solidFill>
          <a:ln w="9525">
            <a:solidFill>
              <a:srgbClr val="FF4D5E">
                <a:alpha val="45000"/>
              </a:srgbClr>
            </a:solidFill>
            <a:prstDash val="solid"/>
          </a:ln>
        </p:spPr>
      </p:sp>
      <p:sp>
        <p:nvSpPr>
          <p:cNvPr id="63" name="bc3__2"/>
          <p:cNvSpPr/>
          <p:nvPr/>
        </p:nvSpPr>
        <p:spPr>
          <a:xfrm>
            <a:off x="10535158" y="4656795"/>
            <a:ext cx="219456" cy="219456"/>
          </a:xfrm>
          <a:prstGeom prst="ellipse">
            <a:avLst/>
          </a:prstGeom>
          <a:solidFill>
            <a:srgbClr val="FF4D5E"/>
          </a:solidFill>
          <a:ln w="12700">
            <a:solidFill>
              <a:srgbClr val="FF4D5E"/>
            </a:solidFill>
            <a:prstDash val="solid"/>
          </a:ln>
        </p:spPr>
      </p:sp>
      <p:sp>
        <p:nvSpPr>
          <p:cNvPr id="64" name="bc3__3"/>
          <p:cNvSpPr txBox="1"/>
          <p:nvPr/>
        </p:nvSpPr>
        <p:spPr>
          <a:xfrm>
            <a:off x="10827766" y="4766523"/>
            <a:ext cx="1188720" cy="237744"/>
          </a:xfrm>
          <a:prstGeom prst="rect">
            <a:avLst/>
          </a:prstGeom>
          <a:noFill/>
          <a:ln/>
        </p:spPr>
        <p:txBody>
          <a:bodyPr wrap="square" lIns="0" tIns="0" rIns="0" bIns="0" rtlCol="0" anchor="ctr"/>
          <a:lstStyle/>
          <a:p>
            <a:pPr algn="l" indent="0" marL="0">
              <a:buNone/>
            </a:pPr>
            <a:r>
              <a:rPr lang="en-US" sz="1000" b="1" dirty="0">
                <a:solidFill>
                  <a:srgbClr val="FF4D5E"/>
                </a:solidFill>
                <a:latin typeface="Calibri" pitchFamily="34" charset="0"/>
                <a:ea typeface="Calibri" pitchFamily="34" charset="-122"/>
                <a:cs typeface="Calibri" pitchFamily="34" charset="-120"/>
              </a:rPr>
              <a:t>Chattogram</a:t>
            </a:r>
            <a:endParaRPr lang="en-US" sz="1000" dirty="0"/>
          </a:p>
        </p:txBody>
      </p:sp>
      <p:sp>
        <p:nvSpPr>
          <p:cNvPr id="65" name="bloop__1"/>
          <p:cNvSpPr/>
          <p:nvPr/>
        </p:nvSpPr>
        <p:spPr>
          <a:xfrm flipH="1" flipV="1">
            <a:off x="9929758" y="3779739"/>
            <a:ext cx="605400" cy="877056"/>
          </a:xfrm>
          <a:prstGeom prst="line">
            <a:avLst/>
          </a:prstGeom>
          <a:noFill/>
          <a:ln w="25400">
            <a:solidFill>
              <a:srgbClr val="FF4D5E"/>
            </a:solidFill>
            <a:prstDash val="dash"/>
            <a:tailEnd type="triangle"/>
          </a:ln>
        </p:spPr>
      </p:sp>
      <p:sp>
        <p:nvSpPr>
          <p:cNvPr id="66" name="bring__1"/>
          <p:cNvSpPr/>
          <p:nvPr/>
        </p:nvSpPr>
        <p:spPr>
          <a:xfrm>
            <a:off x="8229600" y="2075688"/>
            <a:ext cx="3063240" cy="3778576"/>
          </a:xfrm>
          <a:prstGeom prst="ellipse">
            <a:avLst/>
          </a:prstGeom>
          <a:solidFill>
            <a:srgbClr val="34D399">
              <a:alpha val="7000"/>
            </a:srgbClr>
          </a:solidFill>
          <a:ln w="19050">
            <a:solidFill>
              <a:srgbClr val="34D399"/>
            </a:solidFill>
            <a:prstDash val="dash"/>
          </a:ln>
        </p:spPr>
      </p:sp>
      <p:sp>
        <p:nvSpPr>
          <p:cNvPr id="67" name="bhint__1"/>
          <p:cNvSpPr txBox="1"/>
          <p:nvPr/>
        </p:nvSpPr>
        <p:spPr>
          <a:xfrm>
            <a:off x="548640" y="6035040"/>
            <a:ext cx="4572000" cy="274320"/>
          </a:xfrm>
          <a:prstGeom prst="rect">
            <a:avLst/>
          </a:prstGeom>
          <a:noFill/>
          <a:ln/>
        </p:spPr>
        <p:txBody>
          <a:bodyPr wrap="square" lIns="0" tIns="0" rIns="0" bIns="0" rtlCol="0" anchor="ctr"/>
          <a:lstStyle/>
          <a:p>
            <a:pPr indent="0" marL="0">
              <a:buNone/>
            </a:pPr>
            <a:r>
              <a:rPr lang="en-US" sz="1100" i="1" dirty="0">
                <a:solidFill>
                  <a:srgbClr val="5F7090"/>
                </a:solidFill>
                <a:latin typeface="Calibri" pitchFamily="34" charset="0"/>
                <a:ea typeface="Calibri" pitchFamily="34" charset="-122"/>
                <a:cs typeface="Calibri" pitchFamily="34" charset="-120"/>
              </a:rPr>
              <a:t>Click to reveal each step</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p:tgtEl>
                                          <p:spTgt spid="5"/>
                                        </p:tgtEl>
                                      </p:cBhvr>
                                    </p:animEffect>
                                  </p:childTnLst>
                                </p:cTn>
                              </p:par>
                              <p:par>
                                <p:cTn id="8" presetID="10" presetClass="entr" presetSubtype="0" fill="hold" nodeType="withEffect">
                                  <p:stCondLst>
                                    <p:cond delay="600"/>
                                  </p:stCondLst>
                                  <p:childTnLst>
                                    <p:set>
                                      <p:cBhvr>
                                        <p:cTn id="9" dur="1" fill="hold">
                                          <p:stCondLst>
                                            <p:cond delay="0"/>
                                          </p:stCondLst>
                                        </p:cTn>
                                        <p:tgtEl>
                                          <p:spTgt spid="67"/>
                                        </p:tgtEl>
                                        <p:attrNameLst>
                                          <p:attrName>style.visibility</p:attrName>
                                        </p:attrNameLst>
                                      </p:cBhvr>
                                      <p:to>
                                        <p:strVal val="visible"/>
                                      </p:to>
                                    </p:set>
                                    <p:animEffect transition="in" filter="fade">
                                      <p:cBhvr>
                                        <p:cTn id="10" dur="400"/>
                                        <p:tgtEl>
                                          <p:spTgt spid="67"/>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additive="base">
                                        <p:cTn id="16" dur="400" fill="hold"/>
                                        <p:tgtEl>
                                          <p:spTgt spid="6"/>
                                        </p:tgtEl>
                                        <p:attrNameLst>
                                          <p:attrName>ppt_x</p:attrName>
                                        </p:attrNameLst>
                                      </p:cBhvr>
                                      <p:tavLst>
                                        <p:tav tm="0">
                                          <p:val>
                                            <p:strVal val="#ppt_x"/>
                                          </p:val>
                                        </p:tav>
                                        <p:tav tm="100000">
                                          <p:val>
                                            <p:strVal val="#ppt_x"/>
                                          </p:val>
                                        </p:tav>
                                      </p:tavLst>
                                    </p:anim>
                                    <p:anim calcmode="lin" valueType="num">
                                      <p:cBhvr additive="base">
                                        <p:cTn id="17" dur="4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anim calcmode="lin" valueType="num">
                                      <p:cBhvr additive="base">
                                        <p:cTn id="21" dur="400" fill="hold"/>
                                        <p:tgtEl>
                                          <p:spTgt spid="7"/>
                                        </p:tgtEl>
                                        <p:attrNameLst>
                                          <p:attrName>ppt_x</p:attrName>
                                        </p:attrNameLst>
                                      </p:cBhvr>
                                      <p:tavLst>
                                        <p:tav tm="0">
                                          <p:val>
                                            <p:strVal val="#ppt_x"/>
                                          </p:val>
                                        </p:tav>
                                        <p:tav tm="100000">
                                          <p:val>
                                            <p:strVal val="#ppt_x"/>
                                          </p:val>
                                        </p:tav>
                                      </p:tavLst>
                                    </p:anim>
                                    <p:anim calcmode="lin" valueType="num">
                                      <p:cBhvr additive="base">
                                        <p:cTn id="22" dur="4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anim calcmode="lin" valueType="num">
                                      <p:cBhvr additive="base">
                                        <p:cTn id="26" dur="400" fill="hold"/>
                                        <p:tgtEl>
                                          <p:spTgt spid="8"/>
                                        </p:tgtEl>
                                        <p:attrNameLst>
                                          <p:attrName>ppt_x</p:attrName>
                                        </p:attrNameLst>
                                      </p:cBhvr>
                                      <p:tavLst>
                                        <p:tav tm="0">
                                          <p:val>
                                            <p:strVal val="#ppt_x"/>
                                          </p:val>
                                        </p:tav>
                                        <p:tav tm="100000">
                                          <p:val>
                                            <p:strVal val="#ppt_x"/>
                                          </p:val>
                                        </p:tav>
                                      </p:tavLst>
                                    </p:anim>
                                    <p:anim calcmode="lin" valueType="num">
                                      <p:cBhvr additive="base">
                                        <p:cTn id="27" dur="400" fill="hold"/>
                                        <p:tgtEl>
                                          <p:spTgt spid="8"/>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anim calcmode="lin" valueType="num">
                                      <p:cBhvr additive="base">
                                        <p:cTn id="31" dur="400" fill="hold"/>
                                        <p:tgtEl>
                                          <p:spTgt spid="9"/>
                                        </p:tgtEl>
                                        <p:attrNameLst>
                                          <p:attrName>ppt_x</p:attrName>
                                        </p:attrNameLst>
                                      </p:cBhvr>
                                      <p:tavLst>
                                        <p:tav tm="0">
                                          <p:val>
                                            <p:strVal val="#ppt_x"/>
                                          </p:val>
                                        </p:tav>
                                        <p:tav tm="100000">
                                          <p:val>
                                            <p:strVal val="#ppt_x"/>
                                          </p:val>
                                        </p:tav>
                                      </p:tavLst>
                                    </p:anim>
                                    <p:anim calcmode="lin" valueType="num">
                                      <p:cBhvr additive="base">
                                        <p:cTn id="32" dur="40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00"/>
                                        <p:tgtEl>
                                          <p:spTgt spid="10"/>
                                        </p:tgtEl>
                                      </p:cBhvr>
                                    </p:animEffect>
                                    <p:anim calcmode="lin" valueType="num">
                                      <p:cBhvr additive="base">
                                        <p:cTn id="36" dur="400" fill="hold"/>
                                        <p:tgtEl>
                                          <p:spTgt spid="10"/>
                                        </p:tgtEl>
                                        <p:attrNameLst>
                                          <p:attrName>ppt_x</p:attrName>
                                        </p:attrNameLst>
                                      </p:cBhvr>
                                      <p:tavLst>
                                        <p:tav tm="0">
                                          <p:val>
                                            <p:strVal val="#ppt_x"/>
                                          </p:val>
                                        </p:tav>
                                        <p:tav tm="100000">
                                          <p:val>
                                            <p:strVal val="#ppt_x"/>
                                          </p:val>
                                        </p:tav>
                                      </p:tavLst>
                                    </p:anim>
                                    <p:anim calcmode="lin" valueType="num">
                                      <p:cBhvr additive="base">
                                        <p:cTn id="37" dur="400" fill="hold"/>
                                        <p:tgtEl>
                                          <p:spTgt spid="10"/>
                                        </p:tgtEl>
                                        <p:attrNameLst>
                                          <p:attrName>ppt_y</p:attrName>
                                        </p:attrNameLst>
                                      </p:cBhvr>
                                      <p:tavLst>
                                        <p:tav tm="0">
                                          <p:val>
                                            <p:strVal val="#ppt_y+.1"/>
                                          </p:val>
                                        </p:tav>
                                        <p:tav tm="100000">
                                          <p:val>
                                            <p:strVal val="#ppt_y"/>
                                          </p:val>
                                        </p:tav>
                                      </p:tavLst>
                                    </p:anim>
                                  </p:childTnLst>
                                </p:cTn>
                              </p:par>
                              <p:par>
                                <p:cTn id="38" presetID="53" presetClass="entr" presetSubtype="16" fill="hold" nodeType="withEffect">
                                  <p:stCondLst>
                                    <p:cond delay="20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400" fill="hold"/>
                                        <p:tgtEl>
                                          <p:spTgt spid="27"/>
                                        </p:tgtEl>
                                        <p:attrNameLst>
                                          <p:attrName>ppt_w</p:attrName>
                                        </p:attrNameLst>
                                      </p:cBhvr>
                                      <p:tavLst>
                                        <p:tav tm="0">
                                          <p:val>
                                            <p:strVal val="0"/>
                                          </p:val>
                                        </p:tav>
                                        <p:tav tm="100000">
                                          <p:val>
                                            <p:strVal val="#ppt_w"/>
                                          </p:val>
                                        </p:tav>
                                      </p:tavLst>
                                    </p:anim>
                                    <p:anim calcmode="lin" valueType="num">
                                      <p:cBhvr additive="base">
                                        <p:cTn id="41" dur="400" fill="hold"/>
                                        <p:tgtEl>
                                          <p:spTgt spid="27"/>
                                        </p:tgtEl>
                                        <p:attrNameLst>
                                          <p:attrName>ppt_h</p:attrName>
                                        </p:attrNameLst>
                                      </p:cBhvr>
                                      <p:tavLst>
                                        <p:tav tm="0">
                                          <p:val>
                                            <p:strVal val="0"/>
                                          </p:val>
                                        </p:tav>
                                        <p:tav tm="100000">
                                          <p:val>
                                            <p:strVal val="#ppt_h"/>
                                          </p:val>
                                        </p:tav>
                                      </p:tavLst>
                                    </p:anim>
                                    <p:animEffect transition="in" filter="fade">
                                      <p:cBhvr>
                                        <p:cTn id="42" dur="400"/>
                                        <p:tgtEl>
                                          <p:spTgt spid="27"/>
                                        </p:tgtEl>
                                      </p:cBhvr>
                                    </p:animEffect>
                                  </p:childTnLst>
                                </p:cTn>
                              </p:par>
                              <p:par>
                                <p:cTn id="43" presetID="53" presetClass="entr" presetSubtype="16" fill="hold" nodeType="withEffect">
                                  <p:stCondLst>
                                    <p:cond delay="200"/>
                                  </p:stCondLst>
                                  <p:childTnLst>
                                    <p:set>
                                      <p:cBhvr>
                                        <p:cTn id="44" dur="1" fill="hold">
                                          <p:stCondLst>
                                            <p:cond delay="0"/>
                                          </p:stCondLst>
                                        </p:cTn>
                                        <p:tgtEl>
                                          <p:spTgt spid="29"/>
                                        </p:tgtEl>
                                        <p:attrNameLst>
                                          <p:attrName>style.visibility</p:attrName>
                                        </p:attrNameLst>
                                      </p:cBhvr>
                                      <p:to>
                                        <p:strVal val="visible"/>
                                      </p:to>
                                    </p:set>
                                    <p:anim calcmode="lin" valueType="num">
                                      <p:cBhvr additive="base">
                                        <p:cTn id="45" dur="400" fill="hold"/>
                                        <p:tgtEl>
                                          <p:spTgt spid="29"/>
                                        </p:tgtEl>
                                        <p:attrNameLst>
                                          <p:attrName>ppt_w</p:attrName>
                                        </p:attrNameLst>
                                      </p:cBhvr>
                                      <p:tavLst>
                                        <p:tav tm="0">
                                          <p:val>
                                            <p:strVal val="0"/>
                                          </p:val>
                                        </p:tav>
                                        <p:tav tm="100000">
                                          <p:val>
                                            <p:strVal val="#ppt_w"/>
                                          </p:val>
                                        </p:tav>
                                      </p:tavLst>
                                    </p:anim>
                                    <p:anim calcmode="lin" valueType="num">
                                      <p:cBhvr additive="base">
                                        <p:cTn id="46" dur="400" fill="hold"/>
                                        <p:tgtEl>
                                          <p:spTgt spid="29"/>
                                        </p:tgtEl>
                                        <p:attrNameLst>
                                          <p:attrName>ppt_h</p:attrName>
                                        </p:attrNameLst>
                                      </p:cBhvr>
                                      <p:tavLst>
                                        <p:tav tm="0">
                                          <p:val>
                                            <p:strVal val="0"/>
                                          </p:val>
                                        </p:tav>
                                        <p:tav tm="100000">
                                          <p:val>
                                            <p:strVal val="#ppt_h"/>
                                          </p:val>
                                        </p:tav>
                                      </p:tavLst>
                                    </p:anim>
                                    <p:animEffect transition="in" filter="fade">
                                      <p:cBhvr>
                                        <p:cTn id="47" dur="400"/>
                                        <p:tgtEl>
                                          <p:spTgt spid="29"/>
                                        </p:tgtEl>
                                      </p:cBhvr>
                                    </p:animEffect>
                                  </p:childTnLst>
                                </p:cTn>
                              </p:par>
                              <p:par>
                                <p:cTn id="48" presetID="53" presetClass="entr" presetSubtype="16" fill="hold" nodeType="withEffect">
                                  <p:stCondLst>
                                    <p:cond delay="200"/>
                                  </p:stCondLst>
                                  <p:childTnLst>
                                    <p:set>
                                      <p:cBhvr>
                                        <p:cTn id="49" dur="1" fill="hold">
                                          <p:stCondLst>
                                            <p:cond delay="0"/>
                                          </p:stCondLst>
                                        </p:cTn>
                                        <p:tgtEl>
                                          <p:spTgt spid="31"/>
                                        </p:tgtEl>
                                        <p:attrNameLst>
                                          <p:attrName>style.visibility</p:attrName>
                                        </p:attrNameLst>
                                      </p:cBhvr>
                                      <p:to>
                                        <p:strVal val="visible"/>
                                      </p:to>
                                    </p:set>
                                    <p:anim calcmode="lin" valueType="num">
                                      <p:cBhvr additive="base">
                                        <p:cTn id="50" dur="400" fill="hold"/>
                                        <p:tgtEl>
                                          <p:spTgt spid="31"/>
                                        </p:tgtEl>
                                        <p:attrNameLst>
                                          <p:attrName>ppt_w</p:attrName>
                                        </p:attrNameLst>
                                      </p:cBhvr>
                                      <p:tavLst>
                                        <p:tav tm="0">
                                          <p:val>
                                            <p:strVal val="0"/>
                                          </p:val>
                                        </p:tav>
                                        <p:tav tm="100000">
                                          <p:val>
                                            <p:strVal val="#ppt_w"/>
                                          </p:val>
                                        </p:tav>
                                      </p:tavLst>
                                    </p:anim>
                                    <p:anim calcmode="lin" valueType="num">
                                      <p:cBhvr additive="base">
                                        <p:cTn id="51" dur="400" fill="hold"/>
                                        <p:tgtEl>
                                          <p:spTgt spid="31"/>
                                        </p:tgtEl>
                                        <p:attrNameLst>
                                          <p:attrName>ppt_h</p:attrName>
                                        </p:attrNameLst>
                                      </p:cBhvr>
                                      <p:tavLst>
                                        <p:tav tm="0">
                                          <p:val>
                                            <p:strVal val="0"/>
                                          </p:val>
                                        </p:tav>
                                        <p:tav tm="100000">
                                          <p:val>
                                            <p:strVal val="#ppt_h"/>
                                          </p:val>
                                        </p:tav>
                                      </p:tavLst>
                                    </p:anim>
                                    <p:animEffect transition="in" filter="fade">
                                      <p:cBhvr>
                                        <p:cTn id="52" dur="400"/>
                                        <p:tgtEl>
                                          <p:spTgt spid="31"/>
                                        </p:tgtEl>
                                      </p:cBhvr>
                                    </p:animEffect>
                                  </p:childTnLst>
                                </p:cTn>
                              </p:par>
                              <p:par>
                                <p:cTn id="53" presetID="53" presetClass="entr" presetSubtype="16" fill="hold" nodeType="withEffect">
                                  <p:stCondLst>
                                    <p:cond delay="200"/>
                                  </p:stCondLst>
                                  <p:childTnLst>
                                    <p:set>
                                      <p:cBhvr>
                                        <p:cTn id="54" dur="1" fill="hold">
                                          <p:stCondLst>
                                            <p:cond delay="0"/>
                                          </p:stCondLst>
                                        </p:cTn>
                                        <p:tgtEl>
                                          <p:spTgt spid="33"/>
                                        </p:tgtEl>
                                        <p:attrNameLst>
                                          <p:attrName>style.visibility</p:attrName>
                                        </p:attrNameLst>
                                      </p:cBhvr>
                                      <p:to>
                                        <p:strVal val="visible"/>
                                      </p:to>
                                    </p:set>
                                    <p:anim calcmode="lin" valueType="num">
                                      <p:cBhvr additive="base">
                                        <p:cTn id="55" dur="400" fill="hold"/>
                                        <p:tgtEl>
                                          <p:spTgt spid="33"/>
                                        </p:tgtEl>
                                        <p:attrNameLst>
                                          <p:attrName>ppt_w</p:attrName>
                                        </p:attrNameLst>
                                      </p:cBhvr>
                                      <p:tavLst>
                                        <p:tav tm="0">
                                          <p:val>
                                            <p:strVal val="0"/>
                                          </p:val>
                                        </p:tav>
                                        <p:tav tm="100000">
                                          <p:val>
                                            <p:strVal val="#ppt_w"/>
                                          </p:val>
                                        </p:tav>
                                      </p:tavLst>
                                    </p:anim>
                                    <p:anim calcmode="lin" valueType="num">
                                      <p:cBhvr additive="base">
                                        <p:cTn id="56" dur="400" fill="hold"/>
                                        <p:tgtEl>
                                          <p:spTgt spid="33"/>
                                        </p:tgtEl>
                                        <p:attrNameLst>
                                          <p:attrName>ppt_h</p:attrName>
                                        </p:attrNameLst>
                                      </p:cBhvr>
                                      <p:tavLst>
                                        <p:tav tm="0">
                                          <p:val>
                                            <p:strVal val="0"/>
                                          </p:val>
                                        </p:tav>
                                        <p:tav tm="100000">
                                          <p:val>
                                            <p:strVal val="#ppt_h"/>
                                          </p:val>
                                        </p:tav>
                                      </p:tavLst>
                                    </p:anim>
                                    <p:animEffect transition="in" filter="fade">
                                      <p:cBhvr>
                                        <p:cTn id="57" dur="400"/>
                                        <p:tgtEl>
                                          <p:spTgt spid="33"/>
                                        </p:tgtEl>
                                      </p:cBhvr>
                                    </p:animEffect>
                                  </p:childTnLst>
                                </p:cTn>
                              </p:par>
                              <p:par>
                                <p:cTn id="58" presetID="53" presetClass="entr" presetSubtype="16" fill="hold" nodeType="withEffect">
                                  <p:stCondLst>
                                    <p:cond delay="200"/>
                                  </p:stCondLst>
                                  <p:childTnLst>
                                    <p:set>
                                      <p:cBhvr>
                                        <p:cTn id="59" dur="1" fill="hold">
                                          <p:stCondLst>
                                            <p:cond delay="0"/>
                                          </p:stCondLst>
                                        </p:cTn>
                                        <p:tgtEl>
                                          <p:spTgt spid="35"/>
                                        </p:tgtEl>
                                        <p:attrNameLst>
                                          <p:attrName>style.visibility</p:attrName>
                                        </p:attrNameLst>
                                      </p:cBhvr>
                                      <p:to>
                                        <p:strVal val="visible"/>
                                      </p:to>
                                    </p:set>
                                    <p:anim calcmode="lin" valueType="num">
                                      <p:cBhvr additive="base">
                                        <p:cTn id="60" dur="400" fill="hold"/>
                                        <p:tgtEl>
                                          <p:spTgt spid="35"/>
                                        </p:tgtEl>
                                        <p:attrNameLst>
                                          <p:attrName>ppt_w</p:attrName>
                                        </p:attrNameLst>
                                      </p:cBhvr>
                                      <p:tavLst>
                                        <p:tav tm="0">
                                          <p:val>
                                            <p:strVal val="0"/>
                                          </p:val>
                                        </p:tav>
                                        <p:tav tm="100000">
                                          <p:val>
                                            <p:strVal val="#ppt_w"/>
                                          </p:val>
                                        </p:tav>
                                      </p:tavLst>
                                    </p:anim>
                                    <p:anim calcmode="lin" valueType="num">
                                      <p:cBhvr additive="base">
                                        <p:cTn id="61" dur="400" fill="hold"/>
                                        <p:tgtEl>
                                          <p:spTgt spid="35"/>
                                        </p:tgtEl>
                                        <p:attrNameLst>
                                          <p:attrName>ppt_h</p:attrName>
                                        </p:attrNameLst>
                                      </p:cBhvr>
                                      <p:tavLst>
                                        <p:tav tm="0">
                                          <p:val>
                                            <p:strVal val="0"/>
                                          </p:val>
                                        </p:tav>
                                        <p:tav tm="100000">
                                          <p:val>
                                            <p:strVal val="#ppt_h"/>
                                          </p:val>
                                        </p:tav>
                                      </p:tavLst>
                                    </p:anim>
                                    <p:animEffect transition="in" filter="fade">
                                      <p:cBhvr>
                                        <p:cTn id="62" dur="400"/>
                                        <p:tgtEl>
                                          <p:spTgt spid="35"/>
                                        </p:tgtEl>
                                      </p:cBhvr>
                                    </p:animEffect>
                                  </p:childTnLst>
                                </p:cTn>
                              </p:par>
                              <p:par>
                                <p:cTn id="63" presetID="53" presetClass="entr" presetSubtype="16" fill="hold" nodeType="withEffect">
                                  <p:stCondLst>
                                    <p:cond delay="20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400" fill="hold"/>
                                        <p:tgtEl>
                                          <p:spTgt spid="37"/>
                                        </p:tgtEl>
                                        <p:attrNameLst>
                                          <p:attrName>ppt_w</p:attrName>
                                        </p:attrNameLst>
                                      </p:cBhvr>
                                      <p:tavLst>
                                        <p:tav tm="0">
                                          <p:val>
                                            <p:strVal val="0"/>
                                          </p:val>
                                        </p:tav>
                                        <p:tav tm="100000">
                                          <p:val>
                                            <p:strVal val="#ppt_w"/>
                                          </p:val>
                                        </p:tav>
                                      </p:tavLst>
                                    </p:anim>
                                    <p:anim calcmode="lin" valueType="num">
                                      <p:cBhvr additive="base">
                                        <p:cTn id="66" dur="400" fill="hold"/>
                                        <p:tgtEl>
                                          <p:spTgt spid="37"/>
                                        </p:tgtEl>
                                        <p:attrNameLst>
                                          <p:attrName>ppt_h</p:attrName>
                                        </p:attrNameLst>
                                      </p:cBhvr>
                                      <p:tavLst>
                                        <p:tav tm="0">
                                          <p:val>
                                            <p:strVal val="0"/>
                                          </p:val>
                                        </p:tav>
                                        <p:tav tm="100000">
                                          <p:val>
                                            <p:strVal val="#ppt_h"/>
                                          </p:val>
                                        </p:tav>
                                      </p:tavLst>
                                    </p:anim>
                                    <p:animEffect transition="in" filter="fade">
                                      <p:cBhvr>
                                        <p:cTn id="67" dur="400"/>
                                        <p:tgtEl>
                                          <p:spTgt spid="37"/>
                                        </p:tgtEl>
                                      </p:cBhvr>
                                    </p:animEffect>
                                  </p:childTnLst>
                                </p:cTn>
                              </p:par>
                              <p:par>
                                <p:cTn id="68" presetID="53" presetClass="entr" presetSubtype="16" fill="hold" nodeType="withEffect">
                                  <p:stCondLst>
                                    <p:cond delay="200"/>
                                  </p:stCondLst>
                                  <p:childTnLst>
                                    <p:set>
                                      <p:cBhvr>
                                        <p:cTn id="69" dur="1" fill="hold">
                                          <p:stCondLst>
                                            <p:cond delay="0"/>
                                          </p:stCondLst>
                                        </p:cTn>
                                        <p:tgtEl>
                                          <p:spTgt spid="39"/>
                                        </p:tgtEl>
                                        <p:attrNameLst>
                                          <p:attrName>style.visibility</p:attrName>
                                        </p:attrNameLst>
                                      </p:cBhvr>
                                      <p:to>
                                        <p:strVal val="visible"/>
                                      </p:to>
                                    </p:set>
                                    <p:anim calcmode="lin" valueType="num">
                                      <p:cBhvr additive="base">
                                        <p:cTn id="70" dur="400" fill="hold"/>
                                        <p:tgtEl>
                                          <p:spTgt spid="39"/>
                                        </p:tgtEl>
                                        <p:attrNameLst>
                                          <p:attrName>ppt_w</p:attrName>
                                        </p:attrNameLst>
                                      </p:cBhvr>
                                      <p:tavLst>
                                        <p:tav tm="0">
                                          <p:val>
                                            <p:strVal val="0"/>
                                          </p:val>
                                        </p:tav>
                                        <p:tav tm="100000">
                                          <p:val>
                                            <p:strVal val="#ppt_w"/>
                                          </p:val>
                                        </p:tav>
                                      </p:tavLst>
                                    </p:anim>
                                    <p:anim calcmode="lin" valueType="num">
                                      <p:cBhvr additive="base">
                                        <p:cTn id="71" dur="400" fill="hold"/>
                                        <p:tgtEl>
                                          <p:spTgt spid="39"/>
                                        </p:tgtEl>
                                        <p:attrNameLst>
                                          <p:attrName>ppt_h</p:attrName>
                                        </p:attrNameLst>
                                      </p:cBhvr>
                                      <p:tavLst>
                                        <p:tav tm="0">
                                          <p:val>
                                            <p:strVal val="0"/>
                                          </p:val>
                                        </p:tav>
                                        <p:tav tm="100000">
                                          <p:val>
                                            <p:strVal val="#ppt_h"/>
                                          </p:val>
                                        </p:tav>
                                      </p:tavLst>
                                    </p:anim>
                                    <p:animEffect transition="in" filter="fade">
                                      <p:cBhvr>
                                        <p:cTn id="72" dur="400"/>
                                        <p:tgtEl>
                                          <p:spTgt spid="39"/>
                                        </p:tgtEl>
                                      </p:cBhvr>
                                    </p:animEffect>
                                  </p:childTnLst>
                                </p:cTn>
                              </p:par>
                              <p:par>
                                <p:cTn id="73" presetID="53" presetClass="entr" presetSubtype="16" fill="hold" nodeType="withEffect">
                                  <p:stCondLst>
                                    <p:cond delay="200"/>
                                  </p:stCondLst>
                                  <p:childTnLst>
                                    <p:set>
                                      <p:cBhvr>
                                        <p:cTn id="74" dur="1" fill="hold">
                                          <p:stCondLst>
                                            <p:cond delay="0"/>
                                          </p:stCondLst>
                                        </p:cTn>
                                        <p:tgtEl>
                                          <p:spTgt spid="41"/>
                                        </p:tgtEl>
                                        <p:attrNameLst>
                                          <p:attrName>style.visibility</p:attrName>
                                        </p:attrNameLst>
                                      </p:cBhvr>
                                      <p:to>
                                        <p:strVal val="visible"/>
                                      </p:to>
                                    </p:set>
                                    <p:anim calcmode="lin" valueType="num">
                                      <p:cBhvr additive="base">
                                        <p:cTn id="75" dur="400" fill="hold"/>
                                        <p:tgtEl>
                                          <p:spTgt spid="41"/>
                                        </p:tgtEl>
                                        <p:attrNameLst>
                                          <p:attrName>ppt_w</p:attrName>
                                        </p:attrNameLst>
                                      </p:cBhvr>
                                      <p:tavLst>
                                        <p:tav tm="0">
                                          <p:val>
                                            <p:strVal val="0"/>
                                          </p:val>
                                        </p:tav>
                                        <p:tav tm="100000">
                                          <p:val>
                                            <p:strVal val="#ppt_w"/>
                                          </p:val>
                                        </p:tav>
                                      </p:tavLst>
                                    </p:anim>
                                    <p:anim calcmode="lin" valueType="num">
                                      <p:cBhvr additive="base">
                                        <p:cTn id="76" dur="400" fill="hold"/>
                                        <p:tgtEl>
                                          <p:spTgt spid="41"/>
                                        </p:tgtEl>
                                        <p:attrNameLst>
                                          <p:attrName>ppt_h</p:attrName>
                                        </p:attrNameLst>
                                      </p:cBhvr>
                                      <p:tavLst>
                                        <p:tav tm="0">
                                          <p:val>
                                            <p:strVal val="0"/>
                                          </p:val>
                                        </p:tav>
                                        <p:tav tm="100000">
                                          <p:val>
                                            <p:strVal val="#ppt_h"/>
                                          </p:val>
                                        </p:tav>
                                      </p:tavLst>
                                    </p:anim>
                                    <p:animEffect transition="in" filter="fade">
                                      <p:cBhvr>
                                        <p:cTn id="77" dur="400"/>
                                        <p:tgtEl>
                                          <p:spTgt spid="41"/>
                                        </p:tgtEl>
                                      </p:cBhvr>
                                    </p:animEffect>
                                  </p:childTnLst>
                                </p:cTn>
                              </p:par>
                              <p:par>
                                <p:cTn id="78" presetID="53" presetClass="entr" presetSubtype="16" fill="hold" nodeType="withEffect">
                                  <p:stCondLst>
                                    <p:cond delay="200"/>
                                  </p:stCondLst>
                                  <p:childTnLst>
                                    <p:set>
                                      <p:cBhvr>
                                        <p:cTn id="79" dur="1" fill="hold">
                                          <p:stCondLst>
                                            <p:cond delay="0"/>
                                          </p:stCondLst>
                                        </p:cTn>
                                        <p:tgtEl>
                                          <p:spTgt spid="45"/>
                                        </p:tgtEl>
                                        <p:attrNameLst>
                                          <p:attrName>style.visibility</p:attrName>
                                        </p:attrNameLst>
                                      </p:cBhvr>
                                      <p:to>
                                        <p:strVal val="visible"/>
                                      </p:to>
                                    </p:set>
                                    <p:anim calcmode="lin" valueType="num">
                                      <p:cBhvr additive="base">
                                        <p:cTn id="80" dur="400" fill="hold"/>
                                        <p:tgtEl>
                                          <p:spTgt spid="45"/>
                                        </p:tgtEl>
                                        <p:attrNameLst>
                                          <p:attrName>ppt_w</p:attrName>
                                        </p:attrNameLst>
                                      </p:cBhvr>
                                      <p:tavLst>
                                        <p:tav tm="0">
                                          <p:val>
                                            <p:strVal val="0"/>
                                          </p:val>
                                        </p:tav>
                                        <p:tav tm="100000">
                                          <p:val>
                                            <p:strVal val="#ppt_w"/>
                                          </p:val>
                                        </p:tav>
                                      </p:tavLst>
                                    </p:anim>
                                    <p:anim calcmode="lin" valueType="num">
                                      <p:cBhvr additive="base">
                                        <p:cTn id="81" dur="400" fill="hold"/>
                                        <p:tgtEl>
                                          <p:spTgt spid="45"/>
                                        </p:tgtEl>
                                        <p:attrNameLst>
                                          <p:attrName>ppt_h</p:attrName>
                                        </p:attrNameLst>
                                      </p:cBhvr>
                                      <p:tavLst>
                                        <p:tav tm="0">
                                          <p:val>
                                            <p:strVal val="0"/>
                                          </p:val>
                                        </p:tav>
                                        <p:tav tm="100000">
                                          <p:val>
                                            <p:strVal val="#ppt_h"/>
                                          </p:val>
                                        </p:tav>
                                      </p:tavLst>
                                    </p:anim>
                                    <p:animEffect transition="in" filter="fade">
                                      <p:cBhvr>
                                        <p:cTn id="82" dur="400"/>
                                        <p:tgtEl>
                                          <p:spTgt spid="45"/>
                                        </p:tgtEl>
                                      </p:cBhvr>
                                    </p:animEffect>
                                  </p:childTnLst>
                                </p:cTn>
                              </p:par>
                              <p:par>
                                <p:cTn id="83" presetID="53" presetClass="entr" presetSubtype="16" fill="hold" nodeType="withEffect">
                                  <p:stCondLst>
                                    <p:cond delay="200"/>
                                  </p:stCondLst>
                                  <p:childTnLst>
                                    <p:set>
                                      <p:cBhvr>
                                        <p:cTn id="84" dur="1" fill="hold">
                                          <p:stCondLst>
                                            <p:cond delay="0"/>
                                          </p:stCondLst>
                                        </p:cTn>
                                        <p:tgtEl>
                                          <p:spTgt spid="46"/>
                                        </p:tgtEl>
                                        <p:attrNameLst>
                                          <p:attrName>style.visibility</p:attrName>
                                        </p:attrNameLst>
                                      </p:cBhvr>
                                      <p:to>
                                        <p:strVal val="visible"/>
                                      </p:to>
                                    </p:set>
                                    <p:anim calcmode="lin" valueType="num">
                                      <p:cBhvr additive="base">
                                        <p:cTn id="85" dur="400" fill="hold"/>
                                        <p:tgtEl>
                                          <p:spTgt spid="46"/>
                                        </p:tgtEl>
                                        <p:attrNameLst>
                                          <p:attrName>ppt_w</p:attrName>
                                        </p:attrNameLst>
                                      </p:cBhvr>
                                      <p:tavLst>
                                        <p:tav tm="0">
                                          <p:val>
                                            <p:strVal val="0"/>
                                          </p:val>
                                        </p:tav>
                                        <p:tav tm="100000">
                                          <p:val>
                                            <p:strVal val="#ppt_w"/>
                                          </p:val>
                                        </p:tav>
                                      </p:tavLst>
                                    </p:anim>
                                    <p:anim calcmode="lin" valueType="num">
                                      <p:cBhvr additive="base">
                                        <p:cTn id="86" dur="400" fill="hold"/>
                                        <p:tgtEl>
                                          <p:spTgt spid="46"/>
                                        </p:tgtEl>
                                        <p:attrNameLst>
                                          <p:attrName>ppt_h</p:attrName>
                                        </p:attrNameLst>
                                      </p:cBhvr>
                                      <p:tavLst>
                                        <p:tav tm="0">
                                          <p:val>
                                            <p:strVal val="0"/>
                                          </p:val>
                                        </p:tav>
                                        <p:tav tm="100000">
                                          <p:val>
                                            <p:strVal val="#ppt_h"/>
                                          </p:val>
                                        </p:tav>
                                      </p:tavLst>
                                    </p:anim>
                                    <p:animEffect transition="in" filter="fade">
                                      <p:cBhvr>
                                        <p:cTn id="87" dur="400"/>
                                        <p:tgtEl>
                                          <p:spTgt spid="46"/>
                                        </p:tgtEl>
                                      </p:cBhvr>
                                    </p:animEffect>
                                  </p:childTnLst>
                                </p:cTn>
                              </p:par>
                              <p:par>
                                <p:cTn id="88" presetID="53" presetClass="entr" presetSubtype="16" fill="hold" nodeType="withEffect">
                                  <p:stCondLst>
                                    <p:cond delay="200"/>
                                  </p:stCondLst>
                                  <p:childTnLst>
                                    <p:set>
                                      <p:cBhvr>
                                        <p:cTn id="89" dur="1" fill="hold">
                                          <p:stCondLst>
                                            <p:cond delay="0"/>
                                          </p:stCondLst>
                                        </p:cTn>
                                        <p:tgtEl>
                                          <p:spTgt spid="47"/>
                                        </p:tgtEl>
                                        <p:attrNameLst>
                                          <p:attrName>style.visibility</p:attrName>
                                        </p:attrNameLst>
                                      </p:cBhvr>
                                      <p:to>
                                        <p:strVal val="visible"/>
                                      </p:to>
                                    </p:set>
                                    <p:anim calcmode="lin" valueType="num">
                                      <p:cBhvr additive="base">
                                        <p:cTn id="90" dur="400" fill="hold"/>
                                        <p:tgtEl>
                                          <p:spTgt spid="47"/>
                                        </p:tgtEl>
                                        <p:attrNameLst>
                                          <p:attrName>ppt_w</p:attrName>
                                        </p:attrNameLst>
                                      </p:cBhvr>
                                      <p:tavLst>
                                        <p:tav tm="0">
                                          <p:val>
                                            <p:strVal val="0"/>
                                          </p:val>
                                        </p:tav>
                                        <p:tav tm="100000">
                                          <p:val>
                                            <p:strVal val="#ppt_w"/>
                                          </p:val>
                                        </p:tav>
                                      </p:tavLst>
                                    </p:anim>
                                    <p:anim calcmode="lin" valueType="num">
                                      <p:cBhvr additive="base">
                                        <p:cTn id="91" dur="400" fill="hold"/>
                                        <p:tgtEl>
                                          <p:spTgt spid="47"/>
                                        </p:tgtEl>
                                        <p:attrNameLst>
                                          <p:attrName>ppt_h</p:attrName>
                                        </p:attrNameLst>
                                      </p:cBhvr>
                                      <p:tavLst>
                                        <p:tav tm="0">
                                          <p:val>
                                            <p:strVal val="0"/>
                                          </p:val>
                                        </p:tav>
                                        <p:tav tm="100000">
                                          <p:val>
                                            <p:strVal val="#ppt_h"/>
                                          </p:val>
                                        </p:tav>
                                      </p:tavLst>
                                    </p:anim>
                                    <p:animEffect transition="in" filter="fade">
                                      <p:cBhvr>
                                        <p:cTn id="92" dur="400"/>
                                        <p:tgtEl>
                                          <p:spTgt spid="47"/>
                                        </p:tgtEl>
                                      </p:cBhvr>
                                    </p:animEffect>
                                  </p:childTnLst>
                                </p:cTn>
                              </p:par>
                              <p:par>
                                <p:cTn id="93" presetID="22" presetClass="entr" presetSubtype="8" fill="hold" nodeType="withEffect">
                                  <p:stCondLst>
                                    <p:cond delay="400"/>
                                  </p:stCondLst>
                                  <p:childTnLst>
                                    <p:set>
                                      <p:cBhvr>
                                        <p:cTn id="94" dur="1" fill="hold">
                                          <p:stCondLst>
                                            <p:cond delay="0"/>
                                          </p:stCondLst>
                                        </p:cTn>
                                        <p:tgtEl>
                                          <p:spTgt spid="26"/>
                                        </p:tgtEl>
                                        <p:attrNameLst>
                                          <p:attrName>style.visibility</p:attrName>
                                        </p:attrNameLst>
                                      </p:cBhvr>
                                      <p:to>
                                        <p:strVal val="visible"/>
                                      </p:to>
                                    </p:set>
                                    <p:animEffect transition="in" filter="wipe(left)">
                                      <p:cBhvr>
                                        <p:cTn id="95" dur="600"/>
                                        <p:tgtEl>
                                          <p:spTgt spid="26"/>
                                        </p:tgtEl>
                                      </p:cBhvr>
                                    </p:animEffect>
                                  </p:childTnLst>
                                </p:cTn>
                              </p:par>
                              <p:par>
                                <p:cTn id="96" presetID="22" presetClass="entr" presetSubtype="8" fill="hold" nodeType="withEffect">
                                  <p:stCondLst>
                                    <p:cond delay="400"/>
                                  </p:stCondLst>
                                  <p:childTnLst>
                                    <p:set>
                                      <p:cBhvr>
                                        <p:cTn id="97" dur="1" fill="hold">
                                          <p:stCondLst>
                                            <p:cond delay="0"/>
                                          </p:stCondLst>
                                        </p:cTn>
                                        <p:tgtEl>
                                          <p:spTgt spid="28"/>
                                        </p:tgtEl>
                                        <p:attrNameLst>
                                          <p:attrName>style.visibility</p:attrName>
                                        </p:attrNameLst>
                                      </p:cBhvr>
                                      <p:to>
                                        <p:strVal val="visible"/>
                                      </p:to>
                                    </p:set>
                                    <p:animEffect transition="in" filter="wipe(left)">
                                      <p:cBhvr>
                                        <p:cTn id="98" dur="600"/>
                                        <p:tgtEl>
                                          <p:spTgt spid="28"/>
                                        </p:tgtEl>
                                      </p:cBhvr>
                                    </p:animEffect>
                                  </p:childTnLst>
                                </p:cTn>
                              </p:par>
                              <p:par>
                                <p:cTn id="99" presetID="22" presetClass="entr" presetSubtype="8" fill="hold" nodeType="withEffect">
                                  <p:stCondLst>
                                    <p:cond delay="400"/>
                                  </p:stCondLst>
                                  <p:childTnLst>
                                    <p:set>
                                      <p:cBhvr>
                                        <p:cTn id="100" dur="1" fill="hold">
                                          <p:stCondLst>
                                            <p:cond delay="0"/>
                                          </p:stCondLst>
                                        </p:cTn>
                                        <p:tgtEl>
                                          <p:spTgt spid="30"/>
                                        </p:tgtEl>
                                        <p:attrNameLst>
                                          <p:attrName>style.visibility</p:attrName>
                                        </p:attrNameLst>
                                      </p:cBhvr>
                                      <p:to>
                                        <p:strVal val="visible"/>
                                      </p:to>
                                    </p:set>
                                    <p:animEffect transition="in" filter="wipe(left)">
                                      <p:cBhvr>
                                        <p:cTn id="101" dur="600"/>
                                        <p:tgtEl>
                                          <p:spTgt spid="30"/>
                                        </p:tgtEl>
                                      </p:cBhvr>
                                    </p:animEffect>
                                  </p:childTnLst>
                                </p:cTn>
                              </p:par>
                              <p:par>
                                <p:cTn id="102" presetID="22" presetClass="entr" presetSubtype="8" fill="hold" nodeType="withEffect">
                                  <p:stCondLst>
                                    <p:cond delay="400"/>
                                  </p:stCondLst>
                                  <p:childTnLst>
                                    <p:set>
                                      <p:cBhvr>
                                        <p:cTn id="103" dur="1" fill="hold">
                                          <p:stCondLst>
                                            <p:cond delay="0"/>
                                          </p:stCondLst>
                                        </p:cTn>
                                        <p:tgtEl>
                                          <p:spTgt spid="32"/>
                                        </p:tgtEl>
                                        <p:attrNameLst>
                                          <p:attrName>style.visibility</p:attrName>
                                        </p:attrNameLst>
                                      </p:cBhvr>
                                      <p:to>
                                        <p:strVal val="visible"/>
                                      </p:to>
                                    </p:set>
                                    <p:animEffect transition="in" filter="wipe(left)">
                                      <p:cBhvr>
                                        <p:cTn id="104" dur="600"/>
                                        <p:tgtEl>
                                          <p:spTgt spid="32"/>
                                        </p:tgtEl>
                                      </p:cBhvr>
                                    </p:animEffect>
                                  </p:childTnLst>
                                </p:cTn>
                              </p:par>
                              <p:par>
                                <p:cTn id="105" presetID="22" presetClass="entr" presetSubtype="8" fill="hold" nodeType="withEffect">
                                  <p:stCondLst>
                                    <p:cond delay="400"/>
                                  </p:stCondLst>
                                  <p:childTnLst>
                                    <p:set>
                                      <p:cBhvr>
                                        <p:cTn id="106" dur="1" fill="hold">
                                          <p:stCondLst>
                                            <p:cond delay="0"/>
                                          </p:stCondLst>
                                        </p:cTn>
                                        <p:tgtEl>
                                          <p:spTgt spid="34"/>
                                        </p:tgtEl>
                                        <p:attrNameLst>
                                          <p:attrName>style.visibility</p:attrName>
                                        </p:attrNameLst>
                                      </p:cBhvr>
                                      <p:to>
                                        <p:strVal val="visible"/>
                                      </p:to>
                                    </p:set>
                                    <p:animEffect transition="in" filter="wipe(left)">
                                      <p:cBhvr>
                                        <p:cTn id="107" dur="600"/>
                                        <p:tgtEl>
                                          <p:spTgt spid="34"/>
                                        </p:tgtEl>
                                      </p:cBhvr>
                                    </p:animEffect>
                                  </p:childTnLst>
                                </p:cTn>
                              </p:par>
                              <p:par>
                                <p:cTn id="108" presetID="22" presetClass="entr" presetSubtype="8" fill="hold" nodeType="withEffect">
                                  <p:stCondLst>
                                    <p:cond delay="400"/>
                                  </p:stCondLst>
                                  <p:childTnLst>
                                    <p:set>
                                      <p:cBhvr>
                                        <p:cTn id="109" dur="1" fill="hold">
                                          <p:stCondLst>
                                            <p:cond delay="0"/>
                                          </p:stCondLst>
                                        </p:cTn>
                                        <p:tgtEl>
                                          <p:spTgt spid="36"/>
                                        </p:tgtEl>
                                        <p:attrNameLst>
                                          <p:attrName>style.visibility</p:attrName>
                                        </p:attrNameLst>
                                      </p:cBhvr>
                                      <p:to>
                                        <p:strVal val="visible"/>
                                      </p:to>
                                    </p:set>
                                    <p:animEffect transition="in" filter="wipe(left)">
                                      <p:cBhvr>
                                        <p:cTn id="110" dur="600"/>
                                        <p:tgtEl>
                                          <p:spTgt spid="36"/>
                                        </p:tgtEl>
                                      </p:cBhvr>
                                    </p:animEffect>
                                  </p:childTnLst>
                                </p:cTn>
                              </p:par>
                              <p:par>
                                <p:cTn id="111" presetID="22" presetClass="entr" presetSubtype="8" fill="hold" nodeType="withEffect">
                                  <p:stCondLst>
                                    <p:cond delay="400"/>
                                  </p:stCondLst>
                                  <p:childTnLst>
                                    <p:set>
                                      <p:cBhvr>
                                        <p:cTn id="112" dur="1" fill="hold">
                                          <p:stCondLst>
                                            <p:cond delay="0"/>
                                          </p:stCondLst>
                                        </p:cTn>
                                        <p:tgtEl>
                                          <p:spTgt spid="38"/>
                                        </p:tgtEl>
                                        <p:attrNameLst>
                                          <p:attrName>style.visibility</p:attrName>
                                        </p:attrNameLst>
                                      </p:cBhvr>
                                      <p:to>
                                        <p:strVal val="visible"/>
                                      </p:to>
                                    </p:set>
                                    <p:animEffect transition="in" filter="wipe(left)">
                                      <p:cBhvr>
                                        <p:cTn id="113" dur="600"/>
                                        <p:tgtEl>
                                          <p:spTgt spid="38"/>
                                        </p:tgtEl>
                                      </p:cBhvr>
                                    </p:animEffect>
                                  </p:childTnLst>
                                </p:cTn>
                              </p:par>
                              <p:par>
                                <p:cTn id="114" presetID="22" presetClass="entr" presetSubtype="8" fill="hold" nodeType="withEffect">
                                  <p:stCondLst>
                                    <p:cond delay="400"/>
                                  </p:stCondLst>
                                  <p:childTnLst>
                                    <p:set>
                                      <p:cBhvr>
                                        <p:cTn id="115" dur="1" fill="hold">
                                          <p:stCondLst>
                                            <p:cond delay="0"/>
                                          </p:stCondLst>
                                        </p:cTn>
                                        <p:tgtEl>
                                          <p:spTgt spid="40"/>
                                        </p:tgtEl>
                                        <p:attrNameLst>
                                          <p:attrName>style.visibility</p:attrName>
                                        </p:attrNameLst>
                                      </p:cBhvr>
                                      <p:to>
                                        <p:strVal val="visible"/>
                                      </p:to>
                                    </p:set>
                                    <p:animEffect transition="in" filter="wipe(left)">
                                      <p:cBhvr>
                                        <p:cTn id="116" dur="600"/>
                                        <p:tgtEl>
                                          <p:spTgt spid="40"/>
                                        </p:tgtEl>
                                      </p:cBhvr>
                                    </p:animEffect>
                                  </p:childTnLst>
                                </p:cTn>
                              </p:par>
                              <p:par>
                                <p:cTn id="117" presetID="53" presetClass="entr" presetSubtype="16" fill="hold" nodeType="withEffect">
                                  <p:stCondLst>
                                    <p:cond delay="900"/>
                                  </p:stCondLst>
                                  <p:childTnLst>
                                    <p:set>
                                      <p:cBhvr>
                                        <p:cTn id="118" dur="1" fill="hold">
                                          <p:stCondLst>
                                            <p:cond delay="0"/>
                                          </p:stCondLst>
                                        </p:cTn>
                                        <p:tgtEl>
                                          <p:spTgt spid="42"/>
                                        </p:tgtEl>
                                        <p:attrNameLst>
                                          <p:attrName>style.visibility</p:attrName>
                                        </p:attrNameLst>
                                      </p:cBhvr>
                                      <p:to>
                                        <p:strVal val="visible"/>
                                      </p:to>
                                    </p:set>
                                    <p:anim calcmode="lin" valueType="num">
                                      <p:cBhvr additive="base">
                                        <p:cTn id="119" dur="400" fill="hold"/>
                                        <p:tgtEl>
                                          <p:spTgt spid="42"/>
                                        </p:tgtEl>
                                        <p:attrNameLst>
                                          <p:attrName>ppt_w</p:attrName>
                                        </p:attrNameLst>
                                      </p:cBhvr>
                                      <p:tavLst>
                                        <p:tav tm="0">
                                          <p:val>
                                            <p:strVal val="0"/>
                                          </p:val>
                                        </p:tav>
                                        <p:tav tm="100000">
                                          <p:val>
                                            <p:strVal val="#ppt_w"/>
                                          </p:val>
                                        </p:tav>
                                      </p:tavLst>
                                    </p:anim>
                                    <p:anim calcmode="lin" valueType="num">
                                      <p:cBhvr additive="base">
                                        <p:cTn id="120" dur="400" fill="hold"/>
                                        <p:tgtEl>
                                          <p:spTgt spid="42"/>
                                        </p:tgtEl>
                                        <p:attrNameLst>
                                          <p:attrName>ppt_h</p:attrName>
                                        </p:attrNameLst>
                                      </p:cBhvr>
                                      <p:tavLst>
                                        <p:tav tm="0">
                                          <p:val>
                                            <p:strVal val="0"/>
                                          </p:val>
                                        </p:tav>
                                        <p:tav tm="100000">
                                          <p:val>
                                            <p:strVal val="#ppt_h"/>
                                          </p:val>
                                        </p:tav>
                                      </p:tavLst>
                                    </p:anim>
                                    <p:animEffect transition="in" filter="fade">
                                      <p:cBhvr>
                                        <p:cTn id="121" dur="400"/>
                                        <p:tgtEl>
                                          <p:spTgt spid="42"/>
                                        </p:tgtEl>
                                      </p:cBhvr>
                                    </p:animEffect>
                                  </p:childTnLst>
                                </p:cTn>
                              </p:par>
                              <p:par>
                                <p:cTn id="122" presetID="53" presetClass="entr" presetSubtype="16" fill="hold" nodeType="withEffect">
                                  <p:stCondLst>
                                    <p:cond delay="900"/>
                                  </p:stCondLst>
                                  <p:childTnLst>
                                    <p:set>
                                      <p:cBhvr>
                                        <p:cTn id="123" dur="1" fill="hold">
                                          <p:stCondLst>
                                            <p:cond delay="0"/>
                                          </p:stCondLst>
                                        </p:cTn>
                                        <p:tgtEl>
                                          <p:spTgt spid="43"/>
                                        </p:tgtEl>
                                        <p:attrNameLst>
                                          <p:attrName>style.visibility</p:attrName>
                                        </p:attrNameLst>
                                      </p:cBhvr>
                                      <p:to>
                                        <p:strVal val="visible"/>
                                      </p:to>
                                    </p:set>
                                    <p:anim calcmode="lin" valueType="num">
                                      <p:cBhvr additive="base">
                                        <p:cTn id="124" dur="400" fill="hold"/>
                                        <p:tgtEl>
                                          <p:spTgt spid="43"/>
                                        </p:tgtEl>
                                        <p:attrNameLst>
                                          <p:attrName>ppt_w</p:attrName>
                                        </p:attrNameLst>
                                      </p:cBhvr>
                                      <p:tavLst>
                                        <p:tav tm="0">
                                          <p:val>
                                            <p:strVal val="0"/>
                                          </p:val>
                                        </p:tav>
                                        <p:tav tm="100000">
                                          <p:val>
                                            <p:strVal val="#ppt_w"/>
                                          </p:val>
                                        </p:tav>
                                      </p:tavLst>
                                    </p:anim>
                                    <p:anim calcmode="lin" valueType="num">
                                      <p:cBhvr additive="base">
                                        <p:cTn id="125" dur="400" fill="hold"/>
                                        <p:tgtEl>
                                          <p:spTgt spid="43"/>
                                        </p:tgtEl>
                                        <p:attrNameLst>
                                          <p:attrName>ppt_h</p:attrName>
                                        </p:attrNameLst>
                                      </p:cBhvr>
                                      <p:tavLst>
                                        <p:tav tm="0">
                                          <p:val>
                                            <p:strVal val="0"/>
                                          </p:val>
                                        </p:tav>
                                        <p:tav tm="100000">
                                          <p:val>
                                            <p:strVal val="#ppt_h"/>
                                          </p:val>
                                        </p:tav>
                                      </p:tavLst>
                                    </p:anim>
                                    <p:animEffect transition="in" filter="fade">
                                      <p:cBhvr>
                                        <p:cTn id="126" dur="400"/>
                                        <p:tgtEl>
                                          <p:spTgt spid="43"/>
                                        </p:tgtEl>
                                      </p:cBhvr>
                                    </p:animEffect>
                                  </p:childTnLst>
                                </p:cTn>
                              </p:par>
                              <p:par>
                                <p:cTn id="127" presetID="53" presetClass="entr" presetSubtype="16" fill="hold" nodeType="withEffect">
                                  <p:stCondLst>
                                    <p:cond delay="900"/>
                                  </p:stCondLst>
                                  <p:childTnLst>
                                    <p:set>
                                      <p:cBhvr>
                                        <p:cTn id="128" dur="1" fill="hold">
                                          <p:stCondLst>
                                            <p:cond delay="0"/>
                                          </p:stCondLst>
                                        </p:cTn>
                                        <p:tgtEl>
                                          <p:spTgt spid="44"/>
                                        </p:tgtEl>
                                        <p:attrNameLst>
                                          <p:attrName>style.visibility</p:attrName>
                                        </p:attrNameLst>
                                      </p:cBhvr>
                                      <p:to>
                                        <p:strVal val="visible"/>
                                      </p:to>
                                    </p:set>
                                    <p:anim calcmode="lin" valueType="num">
                                      <p:cBhvr additive="base">
                                        <p:cTn id="129" dur="400" fill="hold"/>
                                        <p:tgtEl>
                                          <p:spTgt spid="44"/>
                                        </p:tgtEl>
                                        <p:attrNameLst>
                                          <p:attrName>ppt_w</p:attrName>
                                        </p:attrNameLst>
                                      </p:cBhvr>
                                      <p:tavLst>
                                        <p:tav tm="0">
                                          <p:val>
                                            <p:strVal val="0"/>
                                          </p:val>
                                        </p:tav>
                                        <p:tav tm="100000">
                                          <p:val>
                                            <p:strVal val="#ppt_w"/>
                                          </p:val>
                                        </p:tav>
                                      </p:tavLst>
                                    </p:anim>
                                    <p:anim calcmode="lin" valueType="num">
                                      <p:cBhvr additive="base">
                                        <p:cTn id="130" dur="400" fill="hold"/>
                                        <p:tgtEl>
                                          <p:spTgt spid="44"/>
                                        </p:tgtEl>
                                        <p:attrNameLst>
                                          <p:attrName>ppt_h</p:attrName>
                                        </p:attrNameLst>
                                      </p:cBhvr>
                                      <p:tavLst>
                                        <p:tav tm="0">
                                          <p:val>
                                            <p:strVal val="0"/>
                                          </p:val>
                                        </p:tav>
                                        <p:tav tm="100000">
                                          <p:val>
                                            <p:strVal val="#ppt_h"/>
                                          </p:val>
                                        </p:tav>
                                      </p:tavLst>
                                    </p:anim>
                                    <p:animEffect transition="in" filter="fade">
                                      <p:cBhvr>
                                        <p:cTn id="131" dur="400"/>
                                        <p:tgtEl>
                                          <p:spTgt spid="44"/>
                                        </p:tgtEl>
                                      </p:cBhvr>
                                    </p:animEffect>
                                  </p:childTnLst>
                                </p:cTn>
                              </p:par>
                            </p:childTnLst>
                          </p:cTn>
                        </p:par>
                      </p:childTnLst>
                    </p:cTn>
                  </p:par>
                  <p:par>
                    <p:cTn id="132" fill="hold">
                      <p:stCondLst>
                        <p:cond delay="indefinite"/>
                      </p:stCondLst>
                      <p:childTnLst>
                        <p:par>
                          <p:cTn id="133" fill="hold">
                            <p:stCondLst>
                              <p:cond delay="0"/>
                            </p:stCondLst>
                            <p:childTnLst>
                              <p:par>
                                <p:cTn id="134" presetID="42" presetClass="entr" presetSubtype="0" fill="hold" nodeType="clickEffect">
                                  <p:stCondLst>
                                    <p:cond delay="0"/>
                                  </p:stCondLst>
                                  <p:childTnLst>
                                    <p:set>
                                      <p:cBhvr>
                                        <p:cTn id="135" dur="1" fill="hold">
                                          <p:stCondLst>
                                            <p:cond delay="0"/>
                                          </p:stCondLst>
                                        </p:cTn>
                                        <p:tgtEl>
                                          <p:spTgt spid="11"/>
                                        </p:tgtEl>
                                        <p:attrNameLst>
                                          <p:attrName>style.visibility</p:attrName>
                                        </p:attrNameLst>
                                      </p:cBhvr>
                                      <p:to>
                                        <p:strVal val="visible"/>
                                      </p:to>
                                    </p:set>
                                    <p:animEffect transition="in" filter="fade">
                                      <p:cBhvr>
                                        <p:cTn id="136" dur="400"/>
                                        <p:tgtEl>
                                          <p:spTgt spid="11"/>
                                        </p:tgtEl>
                                      </p:cBhvr>
                                    </p:animEffect>
                                    <p:anim calcmode="lin" valueType="num">
                                      <p:cBhvr additive="base">
                                        <p:cTn id="137" dur="400" fill="hold"/>
                                        <p:tgtEl>
                                          <p:spTgt spid="11"/>
                                        </p:tgtEl>
                                        <p:attrNameLst>
                                          <p:attrName>ppt_x</p:attrName>
                                        </p:attrNameLst>
                                      </p:cBhvr>
                                      <p:tavLst>
                                        <p:tav tm="0">
                                          <p:val>
                                            <p:strVal val="#ppt_x"/>
                                          </p:val>
                                        </p:tav>
                                        <p:tav tm="100000">
                                          <p:val>
                                            <p:strVal val="#ppt_x"/>
                                          </p:val>
                                        </p:tav>
                                      </p:tavLst>
                                    </p:anim>
                                    <p:anim calcmode="lin" valueType="num">
                                      <p:cBhvr additive="base">
                                        <p:cTn id="138" dur="400" fill="hold"/>
                                        <p:tgtEl>
                                          <p:spTgt spid="11"/>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12"/>
                                        </p:tgtEl>
                                        <p:attrNameLst>
                                          <p:attrName>style.visibility</p:attrName>
                                        </p:attrNameLst>
                                      </p:cBhvr>
                                      <p:to>
                                        <p:strVal val="visible"/>
                                      </p:to>
                                    </p:set>
                                    <p:animEffect transition="in" filter="fade">
                                      <p:cBhvr>
                                        <p:cTn id="141" dur="400"/>
                                        <p:tgtEl>
                                          <p:spTgt spid="12"/>
                                        </p:tgtEl>
                                      </p:cBhvr>
                                    </p:animEffect>
                                    <p:anim calcmode="lin" valueType="num">
                                      <p:cBhvr additive="base">
                                        <p:cTn id="142" dur="400" fill="hold"/>
                                        <p:tgtEl>
                                          <p:spTgt spid="12"/>
                                        </p:tgtEl>
                                        <p:attrNameLst>
                                          <p:attrName>ppt_x</p:attrName>
                                        </p:attrNameLst>
                                      </p:cBhvr>
                                      <p:tavLst>
                                        <p:tav tm="0">
                                          <p:val>
                                            <p:strVal val="#ppt_x"/>
                                          </p:val>
                                        </p:tav>
                                        <p:tav tm="100000">
                                          <p:val>
                                            <p:strVal val="#ppt_x"/>
                                          </p:val>
                                        </p:tav>
                                      </p:tavLst>
                                    </p:anim>
                                    <p:anim calcmode="lin" valueType="num">
                                      <p:cBhvr additive="base">
                                        <p:cTn id="143" dur="400" fill="hold"/>
                                        <p:tgtEl>
                                          <p:spTgt spid="12"/>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0"/>
                                  </p:stCondLst>
                                  <p:childTnLst>
                                    <p:set>
                                      <p:cBhvr>
                                        <p:cTn id="145" dur="1" fill="hold">
                                          <p:stCondLst>
                                            <p:cond delay="0"/>
                                          </p:stCondLst>
                                        </p:cTn>
                                        <p:tgtEl>
                                          <p:spTgt spid="13"/>
                                        </p:tgtEl>
                                        <p:attrNameLst>
                                          <p:attrName>style.visibility</p:attrName>
                                        </p:attrNameLst>
                                      </p:cBhvr>
                                      <p:to>
                                        <p:strVal val="visible"/>
                                      </p:to>
                                    </p:set>
                                    <p:animEffect transition="in" filter="fade">
                                      <p:cBhvr>
                                        <p:cTn id="146" dur="400"/>
                                        <p:tgtEl>
                                          <p:spTgt spid="13"/>
                                        </p:tgtEl>
                                      </p:cBhvr>
                                    </p:animEffect>
                                    <p:anim calcmode="lin" valueType="num">
                                      <p:cBhvr additive="base">
                                        <p:cTn id="147" dur="400" fill="hold"/>
                                        <p:tgtEl>
                                          <p:spTgt spid="13"/>
                                        </p:tgtEl>
                                        <p:attrNameLst>
                                          <p:attrName>ppt_x</p:attrName>
                                        </p:attrNameLst>
                                      </p:cBhvr>
                                      <p:tavLst>
                                        <p:tav tm="0">
                                          <p:val>
                                            <p:strVal val="#ppt_x"/>
                                          </p:val>
                                        </p:tav>
                                        <p:tav tm="100000">
                                          <p:val>
                                            <p:strVal val="#ppt_x"/>
                                          </p:val>
                                        </p:tav>
                                      </p:tavLst>
                                    </p:anim>
                                    <p:anim calcmode="lin" valueType="num">
                                      <p:cBhvr additive="base">
                                        <p:cTn id="148" dur="400" fill="hold"/>
                                        <p:tgtEl>
                                          <p:spTgt spid="13"/>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0"/>
                                  </p:stCondLst>
                                  <p:childTnLst>
                                    <p:set>
                                      <p:cBhvr>
                                        <p:cTn id="150" dur="1" fill="hold">
                                          <p:stCondLst>
                                            <p:cond delay="0"/>
                                          </p:stCondLst>
                                        </p:cTn>
                                        <p:tgtEl>
                                          <p:spTgt spid="14"/>
                                        </p:tgtEl>
                                        <p:attrNameLst>
                                          <p:attrName>style.visibility</p:attrName>
                                        </p:attrNameLst>
                                      </p:cBhvr>
                                      <p:to>
                                        <p:strVal val="visible"/>
                                      </p:to>
                                    </p:set>
                                    <p:animEffect transition="in" filter="fade">
                                      <p:cBhvr>
                                        <p:cTn id="151" dur="400"/>
                                        <p:tgtEl>
                                          <p:spTgt spid="14"/>
                                        </p:tgtEl>
                                      </p:cBhvr>
                                    </p:animEffect>
                                    <p:anim calcmode="lin" valueType="num">
                                      <p:cBhvr additive="base">
                                        <p:cTn id="152" dur="400" fill="hold"/>
                                        <p:tgtEl>
                                          <p:spTgt spid="14"/>
                                        </p:tgtEl>
                                        <p:attrNameLst>
                                          <p:attrName>ppt_x</p:attrName>
                                        </p:attrNameLst>
                                      </p:cBhvr>
                                      <p:tavLst>
                                        <p:tav tm="0">
                                          <p:val>
                                            <p:strVal val="#ppt_x"/>
                                          </p:val>
                                        </p:tav>
                                        <p:tav tm="100000">
                                          <p:val>
                                            <p:strVal val="#ppt_x"/>
                                          </p:val>
                                        </p:tav>
                                      </p:tavLst>
                                    </p:anim>
                                    <p:anim calcmode="lin" valueType="num">
                                      <p:cBhvr additive="base">
                                        <p:cTn id="153" dur="400" fill="hold"/>
                                        <p:tgtEl>
                                          <p:spTgt spid="14"/>
                                        </p:tgtEl>
                                        <p:attrNameLst>
                                          <p:attrName>ppt_y</p:attrName>
                                        </p:attrNameLst>
                                      </p:cBhvr>
                                      <p:tavLst>
                                        <p:tav tm="0">
                                          <p:val>
                                            <p:strVal val="#ppt_y+.1"/>
                                          </p:val>
                                        </p:tav>
                                        <p:tav tm="100000">
                                          <p:val>
                                            <p:strVal val="#ppt_y"/>
                                          </p:val>
                                        </p:tav>
                                      </p:tavLst>
                                    </p:anim>
                                  </p:childTnLst>
                                </p:cTn>
                              </p:par>
                              <p:par>
                                <p:cTn id="154" presetID="42" presetClass="entr" presetSubtype="0" fill="hold" nodeType="withEffect">
                                  <p:stCondLst>
                                    <p:cond delay="0"/>
                                  </p:stCondLst>
                                  <p:childTnLst>
                                    <p:set>
                                      <p:cBhvr>
                                        <p:cTn id="155" dur="1" fill="hold">
                                          <p:stCondLst>
                                            <p:cond delay="0"/>
                                          </p:stCondLst>
                                        </p:cTn>
                                        <p:tgtEl>
                                          <p:spTgt spid="15"/>
                                        </p:tgtEl>
                                        <p:attrNameLst>
                                          <p:attrName>style.visibility</p:attrName>
                                        </p:attrNameLst>
                                      </p:cBhvr>
                                      <p:to>
                                        <p:strVal val="visible"/>
                                      </p:to>
                                    </p:set>
                                    <p:animEffect transition="in" filter="fade">
                                      <p:cBhvr>
                                        <p:cTn id="156" dur="400"/>
                                        <p:tgtEl>
                                          <p:spTgt spid="15"/>
                                        </p:tgtEl>
                                      </p:cBhvr>
                                    </p:animEffect>
                                    <p:anim calcmode="lin" valueType="num">
                                      <p:cBhvr additive="base">
                                        <p:cTn id="157" dur="400" fill="hold"/>
                                        <p:tgtEl>
                                          <p:spTgt spid="15"/>
                                        </p:tgtEl>
                                        <p:attrNameLst>
                                          <p:attrName>ppt_x</p:attrName>
                                        </p:attrNameLst>
                                      </p:cBhvr>
                                      <p:tavLst>
                                        <p:tav tm="0">
                                          <p:val>
                                            <p:strVal val="#ppt_x"/>
                                          </p:val>
                                        </p:tav>
                                        <p:tav tm="100000">
                                          <p:val>
                                            <p:strVal val="#ppt_x"/>
                                          </p:val>
                                        </p:tav>
                                      </p:tavLst>
                                    </p:anim>
                                    <p:anim calcmode="lin" valueType="num">
                                      <p:cBhvr additive="base">
                                        <p:cTn id="158" dur="400" fill="hold"/>
                                        <p:tgtEl>
                                          <p:spTgt spid="15"/>
                                        </p:tgtEl>
                                        <p:attrNameLst>
                                          <p:attrName>ppt_y</p:attrName>
                                        </p:attrNameLst>
                                      </p:cBhvr>
                                      <p:tavLst>
                                        <p:tav tm="0">
                                          <p:val>
                                            <p:strVal val="#ppt_y+.1"/>
                                          </p:val>
                                        </p:tav>
                                        <p:tav tm="100000">
                                          <p:val>
                                            <p:strVal val="#ppt_y"/>
                                          </p:val>
                                        </p:tav>
                                      </p:tavLst>
                                    </p:anim>
                                  </p:childTnLst>
                                </p:cTn>
                              </p:par>
                              <p:par>
                                <p:cTn id="159" presetID="22" presetClass="entr" presetSubtype="8" fill="hold" nodeType="withEffect">
                                  <p:stCondLst>
                                    <p:cond delay="300"/>
                                  </p:stCondLst>
                                  <p:childTnLst>
                                    <p:set>
                                      <p:cBhvr>
                                        <p:cTn id="160" dur="1" fill="hold">
                                          <p:stCondLst>
                                            <p:cond delay="0"/>
                                          </p:stCondLst>
                                        </p:cTn>
                                        <p:tgtEl>
                                          <p:spTgt spid="48"/>
                                        </p:tgtEl>
                                        <p:attrNameLst>
                                          <p:attrName>style.visibility</p:attrName>
                                        </p:attrNameLst>
                                      </p:cBhvr>
                                      <p:to>
                                        <p:strVal val="visible"/>
                                      </p:to>
                                    </p:set>
                                    <p:animEffect transition="in" filter="wipe(left)">
                                      <p:cBhvr>
                                        <p:cTn id="161" dur="500"/>
                                        <p:tgtEl>
                                          <p:spTgt spid="48"/>
                                        </p:tgtEl>
                                      </p:cBhvr>
                                    </p:animEffect>
                                  </p:childTnLst>
                                </p:cTn>
                              </p:par>
                              <p:par>
                                <p:cTn id="162" presetID="22" presetClass="entr" presetSubtype="8" fill="hold" nodeType="withEffect">
                                  <p:stCondLst>
                                    <p:cond delay="300"/>
                                  </p:stCondLst>
                                  <p:childTnLst>
                                    <p:set>
                                      <p:cBhvr>
                                        <p:cTn id="163" dur="1" fill="hold">
                                          <p:stCondLst>
                                            <p:cond delay="0"/>
                                          </p:stCondLst>
                                        </p:cTn>
                                        <p:tgtEl>
                                          <p:spTgt spid="50"/>
                                        </p:tgtEl>
                                        <p:attrNameLst>
                                          <p:attrName>style.visibility</p:attrName>
                                        </p:attrNameLst>
                                      </p:cBhvr>
                                      <p:to>
                                        <p:strVal val="visible"/>
                                      </p:to>
                                    </p:set>
                                    <p:animEffect transition="in" filter="wipe(left)">
                                      <p:cBhvr>
                                        <p:cTn id="164" dur="500"/>
                                        <p:tgtEl>
                                          <p:spTgt spid="50"/>
                                        </p:tgtEl>
                                      </p:cBhvr>
                                    </p:animEffect>
                                  </p:childTnLst>
                                </p:cTn>
                              </p:par>
                              <p:par>
                                <p:cTn id="165" presetID="22" presetClass="entr" presetSubtype="8" fill="hold" nodeType="withEffect">
                                  <p:stCondLst>
                                    <p:cond delay="300"/>
                                  </p:stCondLst>
                                  <p:childTnLst>
                                    <p:set>
                                      <p:cBhvr>
                                        <p:cTn id="166" dur="1" fill="hold">
                                          <p:stCondLst>
                                            <p:cond delay="0"/>
                                          </p:stCondLst>
                                        </p:cTn>
                                        <p:tgtEl>
                                          <p:spTgt spid="52"/>
                                        </p:tgtEl>
                                        <p:attrNameLst>
                                          <p:attrName>style.visibility</p:attrName>
                                        </p:attrNameLst>
                                      </p:cBhvr>
                                      <p:to>
                                        <p:strVal val="visible"/>
                                      </p:to>
                                    </p:set>
                                    <p:animEffect transition="in" filter="wipe(left)">
                                      <p:cBhvr>
                                        <p:cTn id="167" dur="500"/>
                                        <p:tgtEl>
                                          <p:spTgt spid="52"/>
                                        </p:tgtEl>
                                      </p:cBhvr>
                                    </p:animEffect>
                                  </p:childTnLst>
                                </p:cTn>
                              </p:par>
                              <p:par>
                                <p:cTn id="168" presetID="22" presetClass="entr" presetSubtype="8" fill="hold" nodeType="withEffect">
                                  <p:stCondLst>
                                    <p:cond delay="300"/>
                                  </p:stCondLst>
                                  <p:childTnLst>
                                    <p:set>
                                      <p:cBhvr>
                                        <p:cTn id="169" dur="1" fill="hold">
                                          <p:stCondLst>
                                            <p:cond delay="0"/>
                                          </p:stCondLst>
                                        </p:cTn>
                                        <p:tgtEl>
                                          <p:spTgt spid="54"/>
                                        </p:tgtEl>
                                        <p:attrNameLst>
                                          <p:attrName>style.visibility</p:attrName>
                                        </p:attrNameLst>
                                      </p:cBhvr>
                                      <p:to>
                                        <p:strVal val="visible"/>
                                      </p:to>
                                    </p:set>
                                    <p:animEffect transition="in" filter="wipe(left)">
                                      <p:cBhvr>
                                        <p:cTn id="170" dur="500"/>
                                        <p:tgtEl>
                                          <p:spTgt spid="54"/>
                                        </p:tgtEl>
                                      </p:cBhvr>
                                    </p:animEffect>
                                  </p:childTnLst>
                                </p:cTn>
                              </p:par>
                              <p:par>
                                <p:cTn id="171" presetID="53" presetClass="entr" presetSubtype="16" fill="hold" nodeType="withEffect">
                                  <p:stCondLst>
                                    <p:cond delay="700"/>
                                  </p:stCondLst>
                                  <p:childTnLst>
                                    <p:set>
                                      <p:cBhvr>
                                        <p:cTn id="172" dur="1" fill="hold">
                                          <p:stCondLst>
                                            <p:cond delay="0"/>
                                          </p:stCondLst>
                                        </p:cTn>
                                        <p:tgtEl>
                                          <p:spTgt spid="49"/>
                                        </p:tgtEl>
                                        <p:attrNameLst>
                                          <p:attrName>style.visibility</p:attrName>
                                        </p:attrNameLst>
                                      </p:cBhvr>
                                      <p:to>
                                        <p:strVal val="visible"/>
                                      </p:to>
                                    </p:set>
                                    <p:anim calcmode="lin" valueType="num">
                                      <p:cBhvr additive="base">
                                        <p:cTn id="173" dur="400" fill="hold"/>
                                        <p:tgtEl>
                                          <p:spTgt spid="49"/>
                                        </p:tgtEl>
                                        <p:attrNameLst>
                                          <p:attrName>ppt_w</p:attrName>
                                        </p:attrNameLst>
                                      </p:cBhvr>
                                      <p:tavLst>
                                        <p:tav tm="0">
                                          <p:val>
                                            <p:strVal val="0"/>
                                          </p:val>
                                        </p:tav>
                                        <p:tav tm="100000">
                                          <p:val>
                                            <p:strVal val="#ppt_w"/>
                                          </p:val>
                                        </p:tav>
                                      </p:tavLst>
                                    </p:anim>
                                    <p:anim calcmode="lin" valueType="num">
                                      <p:cBhvr additive="base">
                                        <p:cTn id="174" dur="400" fill="hold"/>
                                        <p:tgtEl>
                                          <p:spTgt spid="49"/>
                                        </p:tgtEl>
                                        <p:attrNameLst>
                                          <p:attrName>ppt_h</p:attrName>
                                        </p:attrNameLst>
                                      </p:cBhvr>
                                      <p:tavLst>
                                        <p:tav tm="0">
                                          <p:val>
                                            <p:strVal val="0"/>
                                          </p:val>
                                        </p:tav>
                                        <p:tav tm="100000">
                                          <p:val>
                                            <p:strVal val="#ppt_h"/>
                                          </p:val>
                                        </p:tav>
                                      </p:tavLst>
                                    </p:anim>
                                    <p:animEffect transition="in" filter="fade">
                                      <p:cBhvr>
                                        <p:cTn id="175" dur="400"/>
                                        <p:tgtEl>
                                          <p:spTgt spid="49"/>
                                        </p:tgtEl>
                                      </p:cBhvr>
                                    </p:animEffect>
                                  </p:childTnLst>
                                </p:cTn>
                              </p:par>
                              <p:par>
                                <p:cTn id="176" presetID="53" presetClass="entr" presetSubtype="16" fill="hold" nodeType="withEffect">
                                  <p:stCondLst>
                                    <p:cond delay="700"/>
                                  </p:stCondLst>
                                  <p:childTnLst>
                                    <p:set>
                                      <p:cBhvr>
                                        <p:cTn id="177" dur="1" fill="hold">
                                          <p:stCondLst>
                                            <p:cond delay="0"/>
                                          </p:stCondLst>
                                        </p:cTn>
                                        <p:tgtEl>
                                          <p:spTgt spid="51"/>
                                        </p:tgtEl>
                                        <p:attrNameLst>
                                          <p:attrName>style.visibility</p:attrName>
                                        </p:attrNameLst>
                                      </p:cBhvr>
                                      <p:to>
                                        <p:strVal val="visible"/>
                                      </p:to>
                                    </p:set>
                                    <p:anim calcmode="lin" valueType="num">
                                      <p:cBhvr additive="base">
                                        <p:cTn id="178" dur="400" fill="hold"/>
                                        <p:tgtEl>
                                          <p:spTgt spid="51"/>
                                        </p:tgtEl>
                                        <p:attrNameLst>
                                          <p:attrName>ppt_w</p:attrName>
                                        </p:attrNameLst>
                                      </p:cBhvr>
                                      <p:tavLst>
                                        <p:tav tm="0">
                                          <p:val>
                                            <p:strVal val="0"/>
                                          </p:val>
                                        </p:tav>
                                        <p:tav tm="100000">
                                          <p:val>
                                            <p:strVal val="#ppt_w"/>
                                          </p:val>
                                        </p:tav>
                                      </p:tavLst>
                                    </p:anim>
                                    <p:anim calcmode="lin" valueType="num">
                                      <p:cBhvr additive="base">
                                        <p:cTn id="179" dur="400" fill="hold"/>
                                        <p:tgtEl>
                                          <p:spTgt spid="51"/>
                                        </p:tgtEl>
                                        <p:attrNameLst>
                                          <p:attrName>ppt_h</p:attrName>
                                        </p:attrNameLst>
                                      </p:cBhvr>
                                      <p:tavLst>
                                        <p:tav tm="0">
                                          <p:val>
                                            <p:strVal val="0"/>
                                          </p:val>
                                        </p:tav>
                                        <p:tav tm="100000">
                                          <p:val>
                                            <p:strVal val="#ppt_h"/>
                                          </p:val>
                                        </p:tav>
                                      </p:tavLst>
                                    </p:anim>
                                    <p:animEffect transition="in" filter="fade">
                                      <p:cBhvr>
                                        <p:cTn id="180" dur="400"/>
                                        <p:tgtEl>
                                          <p:spTgt spid="51"/>
                                        </p:tgtEl>
                                      </p:cBhvr>
                                    </p:animEffect>
                                  </p:childTnLst>
                                </p:cTn>
                              </p:par>
                              <p:par>
                                <p:cTn id="181" presetID="53" presetClass="entr" presetSubtype="16" fill="hold" nodeType="withEffect">
                                  <p:stCondLst>
                                    <p:cond delay="700"/>
                                  </p:stCondLst>
                                  <p:childTnLst>
                                    <p:set>
                                      <p:cBhvr>
                                        <p:cTn id="182" dur="1" fill="hold">
                                          <p:stCondLst>
                                            <p:cond delay="0"/>
                                          </p:stCondLst>
                                        </p:cTn>
                                        <p:tgtEl>
                                          <p:spTgt spid="53"/>
                                        </p:tgtEl>
                                        <p:attrNameLst>
                                          <p:attrName>style.visibility</p:attrName>
                                        </p:attrNameLst>
                                      </p:cBhvr>
                                      <p:to>
                                        <p:strVal val="visible"/>
                                      </p:to>
                                    </p:set>
                                    <p:anim calcmode="lin" valueType="num">
                                      <p:cBhvr additive="base">
                                        <p:cTn id="183" dur="400" fill="hold"/>
                                        <p:tgtEl>
                                          <p:spTgt spid="53"/>
                                        </p:tgtEl>
                                        <p:attrNameLst>
                                          <p:attrName>ppt_w</p:attrName>
                                        </p:attrNameLst>
                                      </p:cBhvr>
                                      <p:tavLst>
                                        <p:tav tm="0">
                                          <p:val>
                                            <p:strVal val="0"/>
                                          </p:val>
                                        </p:tav>
                                        <p:tav tm="100000">
                                          <p:val>
                                            <p:strVal val="#ppt_w"/>
                                          </p:val>
                                        </p:tav>
                                      </p:tavLst>
                                    </p:anim>
                                    <p:anim calcmode="lin" valueType="num">
                                      <p:cBhvr additive="base">
                                        <p:cTn id="184" dur="400" fill="hold"/>
                                        <p:tgtEl>
                                          <p:spTgt spid="53"/>
                                        </p:tgtEl>
                                        <p:attrNameLst>
                                          <p:attrName>ppt_h</p:attrName>
                                        </p:attrNameLst>
                                      </p:cBhvr>
                                      <p:tavLst>
                                        <p:tav tm="0">
                                          <p:val>
                                            <p:strVal val="0"/>
                                          </p:val>
                                        </p:tav>
                                        <p:tav tm="100000">
                                          <p:val>
                                            <p:strVal val="#ppt_h"/>
                                          </p:val>
                                        </p:tav>
                                      </p:tavLst>
                                    </p:anim>
                                    <p:animEffect transition="in" filter="fade">
                                      <p:cBhvr>
                                        <p:cTn id="185" dur="400"/>
                                        <p:tgtEl>
                                          <p:spTgt spid="53"/>
                                        </p:tgtEl>
                                      </p:cBhvr>
                                    </p:animEffect>
                                  </p:childTnLst>
                                </p:cTn>
                              </p:par>
                              <p:par>
                                <p:cTn id="186" presetID="53" presetClass="entr" presetSubtype="16" fill="hold" nodeType="withEffect">
                                  <p:stCondLst>
                                    <p:cond delay="700"/>
                                  </p:stCondLst>
                                  <p:childTnLst>
                                    <p:set>
                                      <p:cBhvr>
                                        <p:cTn id="187" dur="1" fill="hold">
                                          <p:stCondLst>
                                            <p:cond delay="0"/>
                                          </p:stCondLst>
                                        </p:cTn>
                                        <p:tgtEl>
                                          <p:spTgt spid="55"/>
                                        </p:tgtEl>
                                        <p:attrNameLst>
                                          <p:attrName>style.visibility</p:attrName>
                                        </p:attrNameLst>
                                      </p:cBhvr>
                                      <p:to>
                                        <p:strVal val="visible"/>
                                      </p:to>
                                    </p:set>
                                    <p:anim calcmode="lin" valueType="num">
                                      <p:cBhvr additive="base">
                                        <p:cTn id="188" dur="400" fill="hold"/>
                                        <p:tgtEl>
                                          <p:spTgt spid="55"/>
                                        </p:tgtEl>
                                        <p:attrNameLst>
                                          <p:attrName>ppt_w</p:attrName>
                                        </p:attrNameLst>
                                      </p:cBhvr>
                                      <p:tavLst>
                                        <p:tav tm="0">
                                          <p:val>
                                            <p:strVal val="0"/>
                                          </p:val>
                                        </p:tav>
                                        <p:tav tm="100000">
                                          <p:val>
                                            <p:strVal val="#ppt_w"/>
                                          </p:val>
                                        </p:tav>
                                      </p:tavLst>
                                    </p:anim>
                                    <p:anim calcmode="lin" valueType="num">
                                      <p:cBhvr additive="base">
                                        <p:cTn id="189" dur="400" fill="hold"/>
                                        <p:tgtEl>
                                          <p:spTgt spid="55"/>
                                        </p:tgtEl>
                                        <p:attrNameLst>
                                          <p:attrName>ppt_h</p:attrName>
                                        </p:attrNameLst>
                                      </p:cBhvr>
                                      <p:tavLst>
                                        <p:tav tm="0">
                                          <p:val>
                                            <p:strVal val="0"/>
                                          </p:val>
                                        </p:tav>
                                        <p:tav tm="100000">
                                          <p:val>
                                            <p:strVal val="#ppt_h"/>
                                          </p:val>
                                        </p:tav>
                                      </p:tavLst>
                                    </p:anim>
                                    <p:animEffect transition="in" filter="fade">
                                      <p:cBhvr>
                                        <p:cTn id="190" dur="400"/>
                                        <p:tgtEl>
                                          <p:spTgt spid="55"/>
                                        </p:tgtEl>
                                      </p:cBhvr>
                                    </p:animEffect>
                                  </p:childTnLst>
                                </p:cTn>
                              </p:par>
                              <p:par>
                                <p:cTn id="191" presetID="53" presetClass="entr" presetSubtype="16" fill="hold" nodeType="withEffect">
                                  <p:stCondLst>
                                    <p:cond delay="700"/>
                                  </p:stCondLst>
                                  <p:childTnLst>
                                    <p:set>
                                      <p:cBhvr>
                                        <p:cTn id="192" dur="1" fill="hold">
                                          <p:stCondLst>
                                            <p:cond delay="0"/>
                                          </p:stCondLst>
                                        </p:cTn>
                                        <p:tgtEl>
                                          <p:spTgt spid="56"/>
                                        </p:tgtEl>
                                        <p:attrNameLst>
                                          <p:attrName>style.visibility</p:attrName>
                                        </p:attrNameLst>
                                      </p:cBhvr>
                                      <p:to>
                                        <p:strVal val="visible"/>
                                      </p:to>
                                    </p:set>
                                    <p:anim calcmode="lin" valueType="num">
                                      <p:cBhvr additive="base">
                                        <p:cTn id="193" dur="400" fill="hold"/>
                                        <p:tgtEl>
                                          <p:spTgt spid="56"/>
                                        </p:tgtEl>
                                        <p:attrNameLst>
                                          <p:attrName>ppt_w</p:attrName>
                                        </p:attrNameLst>
                                      </p:cBhvr>
                                      <p:tavLst>
                                        <p:tav tm="0">
                                          <p:val>
                                            <p:strVal val="0"/>
                                          </p:val>
                                        </p:tav>
                                        <p:tav tm="100000">
                                          <p:val>
                                            <p:strVal val="#ppt_w"/>
                                          </p:val>
                                        </p:tav>
                                      </p:tavLst>
                                    </p:anim>
                                    <p:anim calcmode="lin" valueType="num">
                                      <p:cBhvr additive="base">
                                        <p:cTn id="194" dur="400" fill="hold"/>
                                        <p:tgtEl>
                                          <p:spTgt spid="56"/>
                                        </p:tgtEl>
                                        <p:attrNameLst>
                                          <p:attrName>ppt_h</p:attrName>
                                        </p:attrNameLst>
                                      </p:cBhvr>
                                      <p:tavLst>
                                        <p:tav tm="0">
                                          <p:val>
                                            <p:strVal val="0"/>
                                          </p:val>
                                        </p:tav>
                                        <p:tav tm="100000">
                                          <p:val>
                                            <p:strVal val="#ppt_h"/>
                                          </p:val>
                                        </p:tav>
                                      </p:tavLst>
                                    </p:anim>
                                    <p:animEffect transition="in" filter="fade">
                                      <p:cBhvr>
                                        <p:cTn id="195" dur="400"/>
                                        <p:tgtEl>
                                          <p:spTgt spid="56"/>
                                        </p:tgtEl>
                                      </p:cBhvr>
                                    </p:animEffect>
                                  </p:childTnLst>
                                </p:cTn>
                              </p:par>
                              <p:par>
                                <p:cTn id="196" presetID="53" presetClass="entr" presetSubtype="16" fill="hold" nodeType="withEffect">
                                  <p:stCondLst>
                                    <p:cond delay="700"/>
                                  </p:stCondLst>
                                  <p:childTnLst>
                                    <p:set>
                                      <p:cBhvr>
                                        <p:cTn id="197" dur="1" fill="hold">
                                          <p:stCondLst>
                                            <p:cond delay="0"/>
                                          </p:stCondLst>
                                        </p:cTn>
                                        <p:tgtEl>
                                          <p:spTgt spid="57"/>
                                        </p:tgtEl>
                                        <p:attrNameLst>
                                          <p:attrName>style.visibility</p:attrName>
                                        </p:attrNameLst>
                                      </p:cBhvr>
                                      <p:to>
                                        <p:strVal val="visible"/>
                                      </p:to>
                                    </p:set>
                                    <p:anim calcmode="lin" valueType="num">
                                      <p:cBhvr additive="base">
                                        <p:cTn id="198" dur="400" fill="hold"/>
                                        <p:tgtEl>
                                          <p:spTgt spid="57"/>
                                        </p:tgtEl>
                                        <p:attrNameLst>
                                          <p:attrName>ppt_w</p:attrName>
                                        </p:attrNameLst>
                                      </p:cBhvr>
                                      <p:tavLst>
                                        <p:tav tm="0">
                                          <p:val>
                                            <p:strVal val="0"/>
                                          </p:val>
                                        </p:tav>
                                        <p:tav tm="100000">
                                          <p:val>
                                            <p:strVal val="#ppt_w"/>
                                          </p:val>
                                        </p:tav>
                                      </p:tavLst>
                                    </p:anim>
                                    <p:anim calcmode="lin" valueType="num">
                                      <p:cBhvr additive="base">
                                        <p:cTn id="199" dur="400" fill="hold"/>
                                        <p:tgtEl>
                                          <p:spTgt spid="57"/>
                                        </p:tgtEl>
                                        <p:attrNameLst>
                                          <p:attrName>ppt_h</p:attrName>
                                        </p:attrNameLst>
                                      </p:cBhvr>
                                      <p:tavLst>
                                        <p:tav tm="0">
                                          <p:val>
                                            <p:strVal val="0"/>
                                          </p:val>
                                        </p:tav>
                                        <p:tav tm="100000">
                                          <p:val>
                                            <p:strVal val="#ppt_h"/>
                                          </p:val>
                                        </p:tav>
                                      </p:tavLst>
                                    </p:anim>
                                    <p:animEffect transition="in" filter="fade">
                                      <p:cBhvr>
                                        <p:cTn id="200" dur="400"/>
                                        <p:tgtEl>
                                          <p:spTgt spid="57"/>
                                        </p:tgtEl>
                                      </p:cBhvr>
                                    </p:animEffect>
                                  </p:childTnLst>
                                </p:cTn>
                              </p:par>
                            </p:childTnLst>
                          </p:cTn>
                        </p:par>
                      </p:childTnLst>
                    </p:cTn>
                  </p:par>
                  <p:par>
                    <p:cTn id="201" fill="hold">
                      <p:stCondLst>
                        <p:cond delay="indefinite"/>
                      </p:stCondLst>
                      <p:childTnLst>
                        <p:par>
                          <p:cTn id="202" fill="hold">
                            <p:stCondLst>
                              <p:cond delay="0"/>
                            </p:stCondLst>
                            <p:childTnLst>
                              <p:par>
                                <p:cTn id="203" presetID="42" presetClass="entr" presetSubtype="0" fill="hold" nodeType="clickEffect">
                                  <p:stCondLst>
                                    <p:cond delay="0"/>
                                  </p:stCondLst>
                                  <p:childTnLst>
                                    <p:set>
                                      <p:cBhvr>
                                        <p:cTn id="204" dur="1" fill="hold">
                                          <p:stCondLst>
                                            <p:cond delay="0"/>
                                          </p:stCondLst>
                                        </p:cTn>
                                        <p:tgtEl>
                                          <p:spTgt spid="16"/>
                                        </p:tgtEl>
                                        <p:attrNameLst>
                                          <p:attrName>style.visibility</p:attrName>
                                        </p:attrNameLst>
                                      </p:cBhvr>
                                      <p:to>
                                        <p:strVal val="visible"/>
                                      </p:to>
                                    </p:set>
                                    <p:animEffect transition="in" filter="fade">
                                      <p:cBhvr>
                                        <p:cTn id="205" dur="400"/>
                                        <p:tgtEl>
                                          <p:spTgt spid="16"/>
                                        </p:tgtEl>
                                      </p:cBhvr>
                                    </p:animEffect>
                                    <p:anim calcmode="lin" valueType="num">
                                      <p:cBhvr additive="base">
                                        <p:cTn id="206" dur="400" fill="hold"/>
                                        <p:tgtEl>
                                          <p:spTgt spid="16"/>
                                        </p:tgtEl>
                                        <p:attrNameLst>
                                          <p:attrName>ppt_x</p:attrName>
                                        </p:attrNameLst>
                                      </p:cBhvr>
                                      <p:tavLst>
                                        <p:tav tm="0">
                                          <p:val>
                                            <p:strVal val="#ppt_x"/>
                                          </p:val>
                                        </p:tav>
                                        <p:tav tm="100000">
                                          <p:val>
                                            <p:strVal val="#ppt_x"/>
                                          </p:val>
                                        </p:tav>
                                      </p:tavLst>
                                    </p:anim>
                                    <p:anim calcmode="lin" valueType="num">
                                      <p:cBhvr additive="base">
                                        <p:cTn id="207" dur="400" fill="hold"/>
                                        <p:tgtEl>
                                          <p:spTgt spid="16"/>
                                        </p:tgtEl>
                                        <p:attrNameLst>
                                          <p:attrName>ppt_y</p:attrName>
                                        </p:attrNameLst>
                                      </p:cBhvr>
                                      <p:tavLst>
                                        <p:tav tm="0">
                                          <p:val>
                                            <p:strVal val="#ppt_y+.1"/>
                                          </p:val>
                                        </p:tav>
                                        <p:tav tm="100000">
                                          <p:val>
                                            <p:strVal val="#ppt_y"/>
                                          </p:val>
                                        </p:tav>
                                      </p:tavLst>
                                    </p:anim>
                                  </p:childTnLst>
                                </p:cTn>
                              </p:par>
                              <p:par>
                                <p:cTn id="208" presetID="42" presetClass="entr" presetSubtype="0" fill="hold" nodeType="withEffect">
                                  <p:stCondLst>
                                    <p:cond delay="0"/>
                                  </p:stCondLst>
                                  <p:childTnLst>
                                    <p:set>
                                      <p:cBhvr>
                                        <p:cTn id="209" dur="1" fill="hold">
                                          <p:stCondLst>
                                            <p:cond delay="0"/>
                                          </p:stCondLst>
                                        </p:cTn>
                                        <p:tgtEl>
                                          <p:spTgt spid="17"/>
                                        </p:tgtEl>
                                        <p:attrNameLst>
                                          <p:attrName>style.visibility</p:attrName>
                                        </p:attrNameLst>
                                      </p:cBhvr>
                                      <p:to>
                                        <p:strVal val="visible"/>
                                      </p:to>
                                    </p:set>
                                    <p:animEffect transition="in" filter="fade">
                                      <p:cBhvr>
                                        <p:cTn id="210" dur="400"/>
                                        <p:tgtEl>
                                          <p:spTgt spid="17"/>
                                        </p:tgtEl>
                                      </p:cBhvr>
                                    </p:animEffect>
                                    <p:anim calcmode="lin" valueType="num">
                                      <p:cBhvr additive="base">
                                        <p:cTn id="211" dur="400" fill="hold"/>
                                        <p:tgtEl>
                                          <p:spTgt spid="17"/>
                                        </p:tgtEl>
                                        <p:attrNameLst>
                                          <p:attrName>ppt_x</p:attrName>
                                        </p:attrNameLst>
                                      </p:cBhvr>
                                      <p:tavLst>
                                        <p:tav tm="0">
                                          <p:val>
                                            <p:strVal val="#ppt_x"/>
                                          </p:val>
                                        </p:tav>
                                        <p:tav tm="100000">
                                          <p:val>
                                            <p:strVal val="#ppt_x"/>
                                          </p:val>
                                        </p:tav>
                                      </p:tavLst>
                                    </p:anim>
                                    <p:anim calcmode="lin" valueType="num">
                                      <p:cBhvr additive="base">
                                        <p:cTn id="212" dur="400" fill="hold"/>
                                        <p:tgtEl>
                                          <p:spTgt spid="17"/>
                                        </p:tgtEl>
                                        <p:attrNameLst>
                                          <p:attrName>ppt_y</p:attrName>
                                        </p:attrNameLst>
                                      </p:cBhvr>
                                      <p:tavLst>
                                        <p:tav tm="0">
                                          <p:val>
                                            <p:strVal val="#ppt_y+.1"/>
                                          </p:val>
                                        </p:tav>
                                        <p:tav tm="100000">
                                          <p:val>
                                            <p:strVal val="#ppt_y"/>
                                          </p:val>
                                        </p:tav>
                                      </p:tavLst>
                                    </p:anim>
                                  </p:childTnLst>
                                </p:cTn>
                              </p:par>
                              <p:par>
                                <p:cTn id="213" presetID="42" presetClass="entr" presetSubtype="0" fill="hold" nodeType="withEffect">
                                  <p:stCondLst>
                                    <p:cond delay="0"/>
                                  </p:stCondLst>
                                  <p:childTnLst>
                                    <p:set>
                                      <p:cBhvr>
                                        <p:cTn id="214" dur="1" fill="hold">
                                          <p:stCondLst>
                                            <p:cond delay="0"/>
                                          </p:stCondLst>
                                        </p:cTn>
                                        <p:tgtEl>
                                          <p:spTgt spid="18"/>
                                        </p:tgtEl>
                                        <p:attrNameLst>
                                          <p:attrName>style.visibility</p:attrName>
                                        </p:attrNameLst>
                                      </p:cBhvr>
                                      <p:to>
                                        <p:strVal val="visible"/>
                                      </p:to>
                                    </p:set>
                                    <p:animEffect transition="in" filter="fade">
                                      <p:cBhvr>
                                        <p:cTn id="215" dur="400"/>
                                        <p:tgtEl>
                                          <p:spTgt spid="18"/>
                                        </p:tgtEl>
                                      </p:cBhvr>
                                    </p:animEffect>
                                    <p:anim calcmode="lin" valueType="num">
                                      <p:cBhvr additive="base">
                                        <p:cTn id="216" dur="400" fill="hold"/>
                                        <p:tgtEl>
                                          <p:spTgt spid="18"/>
                                        </p:tgtEl>
                                        <p:attrNameLst>
                                          <p:attrName>ppt_x</p:attrName>
                                        </p:attrNameLst>
                                      </p:cBhvr>
                                      <p:tavLst>
                                        <p:tav tm="0">
                                          <p:val>
                                            <p:strVal val="#ppt_x"/>
                                          </p:val>
                                        </p:tav>
                                        <p:tav tm="100000">
                                          <p:val>
                                            <p:strVal val="#ppt_x"/>
                                          </p:val>
                                        </p:tav>
                                      </p:tavLst>
                                    </p:anim>
                                    <p:anim calcmode="lin" valueType="num">
                                      <p:cBhvr additive="base">
                                        <p:cTn id="217" dur="400" fill="hold"/>
                                        <p:tgtEl>
                                          <p:spTgt spid="18"/>
                                        </p:tgtEl>
                                        <p:attrNameLst>
                                          <p:attrName>ppt_y</p:attrName>
                                        </p:attrNameLst>
                                      </p:cBhvr>
                                      <p:tavLst>
                                        <p:tav tm="0">
                                          <p:val>
                                            <p:strVal val="#ppt_y+.1"/>
                                          </p:val>
                                        </p:tav>
                                        <p:tav tm="100000">
                                          <p:val>
                                            <p:strVal val="#ppt_y"/>
                                          </p:val>
                                        </p:tav>
                                      </p:tavLst>
                                    </p:anim>
                                  </p:childTnLst>
                                </p:cTn>
                              </p:par>
                              <p:par>
                                <p:cTn id="218" presetID="42" presetClass="entr" presetSubtype="0" fill="hold" nodeType="withEffect">
                                  <p:stCondLst>
                                    <p:cond delay="0"/>
                                  </p:stCondLst>
                                  <p:childTnLst>
                                    <p:set>
                                      <p:cBhvr>
                                        <p:cTn id="219" dur="1" fill="hold">
                                          <p:stCondLst>
                                            <p:cond delay="0"/>
                                          </p:stCondLst>
                                        </p:cTn>
                                        <p:tgtEl>
                                          <p:spTgt spid="19"/>
                                        </p:tgtEl>
                                        <p:attrNameLst>
                                          <p:attrName>style.visibility</p:attrName>
                                        </p:attrNameLst>
                                      </p:cBhvr>
                                      <p:to>
                                        <p:strVal val="visible"/>
                                      </p:to>
                                    </p:set>
                                    <p:animEffect transition="in" filter="fade">
                                      <p:cBhvr>
                                        <p:cTn id="220" dur="400"/>
                                        <p:tgtEl>
                                          <p:spTgt spid="19"/>
                                        </p:tgtEl>
                                      </p:cBhvr>
                                    </p:animEffect>
                                    <p:anim calcmode="lin" valueType="num">
                                      <p:cBhvr additive="base">
                                        <p:cTn id="221" dur="400" fill="hold"/>
                                        <p:tgtEl>
                                          <p:spTgt spid="19"/>
                                        </p:tgtEl>
                                        <p:attrNameLst>
                                          <p:attrName>ppt_x</p:attrName>
                                        </p:attrNameLst>
                                      </p:cBhvr>
                                      <p:tavLst>
                                        <p:tav tm="0">
                                          <p:val>
                                            <p:strVal val="#ppt_x"/>
                                          </p:val>
                                        </p:tav>
                                        <p:tav tm="100000">
                                          <p:val>
                                            <p:strVal val="#ppt_x"/>
                                          </p:val>
                                        </p:tav>
                                      </p:tavLst>
                                    </p:anim>
                                    <p:anim calcmode="lin" valueType="num">
                                      <p:cBhvr additive="base">
                                        <p:cTn id="222" dur="400" fill="hold"/>
                                        <p:tgtEl>
                                          <p:spTgt spid="19"/>
                                        </p:tgtEl>
                                        <p:attrNameLst>
                                          <p:attrName>ppt_y</p:attrName>
                                        </p:attrNameLst>
                                      </p:cBhvr>
                                      <p:tavLst>
                                        <p:tav tm="0">
                                          <p:val>
                                            <p:strVal val="#ppt_y+.1"/>
                                          </p:val>
                                        </p:tav>
                                        <p:tav tm="100000">
                                          <p:val>
                                            <p:strVal val="#ppt_y"/>
                                          </p:val>
                                        </p:tav>
                                      </p:tavLst>
                                    </p:anim>
                                  </p:childTnLst>
                                </p:cTn>
                              </p:par>
                              <p:par>
                                <p:cTn id="223" presetID="42" presetClass="entr" presetSubtype="0" fill="hold" nodeType="withEffect">
                                  <p:stCondLst>
                                    <p:cond delay="0"/>
                                  </p:stCondLst>
                                  <p:childTnLst>
                                    <p:set>
                                      <p:cBhvr>
                                        <p:cTn id="224" dur="1" fill="hold">
                                          <p:stCondLst>
                                            <p:cond delay="0"/>
                                          </p:stCondLst>
                                        </p:cTn>
                                        <p:tgtEl>
                                          <p:spTgt spid="20"/>
                                        </p:tgtEl>
                                        <p:attrNameLst>
                                          <p:attrName>style.visibility</p:attrName>
                                        </p:attrNameLst>
                                      </p:cBhvr>
                                      <p:to>
                                        <p:strVal val="visible"/>
                                      </p:to>
                                    </p:set>
                                    <p:animEffect transition="in" filter="fade">
                                      <p:cBhvr>
                                        <p:cTn id="225" dur="400"/>
                                        <p:tgtEl>
                                          <p:spTgt spid="20"/>
                                        </p:tgtEl>
                                      </p:cBhvr>
                                    </p:animEffect>
                                    <p:anim calcmode="lin" valueType="num">
                                      <p:cBhvr additive="base">
                                        <p:cTn id="226" dur="400" fill="hold"/>
                                        <p:tgtEl>
                                          <p:spTgt spid="20"/>
                                        </p:tgtEl>
                                        <p:attrNameLst>
                                          <p:attrName>ppt_x</p:attrName>
                                        </p:attrNameLst>
                                      </p:cBhvr>
                                      <p:tavLst>
                                        <p:tav tm="0">
                                          <p:val>
                                            <p:strVal val="#ppt_x"/>
                                          </p:val>
                                        </p:tav>
                                        <p:tav tm="100000">
                                          <p:val>
                                            <p:strVal val="#ppt_x"/>
                                          </p:val>
                                        </p:tav>
                                      </p:tavLst>
                                    </p:anim>
                                    <p:anim calcmode="lin" valueType="num">
                                      <p:cBhvr additive="base">
                                        <p:cTn id="227" dur="400" fill="hold"/>
                                        <p:tgtEl>
                                          <p:spTgt spid="20"/>
                                        </p:tgtEl>
                                        <p:attrNameLst>
                                          <p:attrName>ppt_y</p:attrName>
                                        </p:attrNameLst>
                                      </p:cBhvr>
                                      <p:tavLst>
                                        <p:tav tm="0">
                                          <p:val>
                                            <p:strVal val="#ppt_y+.1"/>
                                          </p:val>
                                        </p:tav>
                                        <p:tav tm="100000">
                                          <p:val>
                                            <p:strVal val="#ppt_y"/>
                                          </p:val>
                                        </p:tav>
                                      </p:tavLst>
                                    </p:anim>
                                  </p:childTnLst>
                                </p:cTn>
                              </p:par>
                              <p:par>
                                <p:cTn id="228" presetID="22" presetClass="entr" presetSubtype="8" fill="hold" nodeType="withEffect">
                                  <p:stCondLst>
                                    <p:cond delay="300"/>
                                  </p:stCondLst>
                                  <p:childTnLst>
                                    <p:set>
                                      <p:cBhvr>
                                        <p:cTn id="229" dur="1" fill="hold">
                                          <p:stCondLst>
                                            <p:cond delay="0"/>
                                          </p:stCondLst>
                                        </p:cTn>
                                        <p:tgtEl>
                                          <p:spTgt spid="58"/>
                                        </p:tgtEl>
                                        <p:attrNameLst>
                                          <p:attrName>style.visibility</p:attrName>
                                        </p:attrNameLst>
                                      </p:cBhvr>
                                      <p:to>
                                        <p:strVal val="visible"/>
                                      </p:to>
                                    </p:set>
                                    <p:animEffect transition="in" filter="wipe(left)">
                                      <p:cBhvr>
                                        <p:cTn id="230" dur="500"/>
                                        <p:tgtEl>
                                          <p:spTgt spid="58"/>
                                        </p:tgtEl>
                                      </p:cBhvr>
                                    </p:animEffect>
                                  </p:childTnLst>
                                </p:cTn>
                              </p:par>
                              <p:par>
                                <p:cTn id="231" presetID="22" presetClass="entr" presetSubtype="8" fill="hold" nodeType="withEffect">
                                  <p:stCondLst>
                                    <p:cond delay="300"/>
                                  </p:stCondLst>
                                  <p:childTnLst>
                                    <p:set>
                                      <p:cBhvr>
                                        <p:cTn id="232" dur="1" fill="hold">
                                          <p:stCondLst>
                                            <p:cond delay="0"/>
                                          </p:stCondLst>
                                        </p:cTn>
                                        <p:tgtEl>
                                          <p:spTgt spid="59"/>
                                        </p:tgtEl>
                                        <p:attrNameLst>
                                          <p:attrName>style.visibility</p:attrName>
                                        </p:attrNameLst>
                                      </p:cBhvr>
                                      <p:to>
                                        <p:strVal val="visible"/>
                                      </p:to>
                                    </p:set>
                                    <p:animEffect transition="in" filter="wipe(left)">
                                      <p:cBhvr>
                                        <p:cTn id="233" dur="500"/>
                                        <p:tgtEl>
                                          <p:spTgt spid="59"/>
                                        </p:tgtEl>
                                      </p:cBhvr>
                                    </p:animEffect>
                                  </p:childTnLst>
                                </p:cTn>
                              </p:par>
                              <p:par>
                                <p:cTn id="234" presetID="22" presetClass="entr" presetSubtype="8" fill="hold" nodeType="withEffect">
                                  <p:stCondLst>
                                    <p:cond delay="300"/>
                                  </p:stCondLst>
                                  <p:childTnLst>
                                    <p:set>
                                      <p:cBhvr>
                                        <p:cTn id="235" dur="1" fill="hold">
                                          <p:stCondLst>
                                            <p:cond delay="0"/>
                                          </p:stCondLst>
                                        </p:cTn>
                                        <p:tgtEl>
                                          <p:spTgt spid="60"/>
                                        </p:tgtEl>
                                        <p:attrNameLst>
                                          <p:attrName>style.visibility</p:attrName>
                                        </p:attrNameLst>
                                      </p:cBhvr>
                                      <p:to>
                                        <p:strVal val="visible"/>
                                      </p:to>
                                    </p:set>
                                    <p:animEffect transition="in" filter="wipe(left)">
                                      <p:cBhvr>
                                        <p:cTn id="236" dur="500"/>
                                        <p:tgtEl>
                                          <p:spTgt spid="60"/>
                                        </p:tgtEl>
                                      </p:cBhvr>
                                    </p:animEffect>
                                  </p:childTnLst>
                                </p:cTn>
                              </p:par>
                              <p:par>
                                <p:cTn id="237" presetID="22" presetClass="entr" presetSubtype="8" fill="hold" nodeType="withEffect">
                                  <p:stCondLst>
                                    <p:cond delay="300"/>
                                  </p:stCondLst>
                                  <p:childTnLst>
                                    <p:set>
                                      <p:cBhvr>
                                        <p:cTn id="238" dur="1" fill="hold">
                                          <p:stCondLst>
                                            <p:cond delay="0"/>
                                          </p:stCondLst>
                                        </p:cTn>
                                        <p:tgtEl>
                                          <p:spTgt spid="61"/>
                                        </p:tgtEl>
                                        <p:attrNameLst>
                                          <p:attrName>style.visibility</p:attrName>
                                        </p:attrNameLst>
                                      </p:cBhvr>
                                      <p:to>
                                        <p:strVal val="visible"/>
                                      </p:to>
                                    </p:set>
                                    <p:animEffect transition="in" filter="wipe(left)">
                                      <p:cBhvr>
                                        <p:cTn id="239" dur="500"/>
                                        <p:tgtEl>
                                          <p:spTgt spid="61"/>
                                        </p:tgtEl>
                                      </p:cBhvr>
                                    </p:animEffect>
                                  </p:childTnLst>
                                </p:cTn>
                              </p:par>
                              <p:par>
                                <p:cTn id="240" presetID="53" presetClass="entr" presetSubtype="16" fill="hold" nodeType="withEffect">
                                  <p:stCondLst>
                                    <p:cond delay="700"/>
                                  </p:stCondLst>
                                  <p:childTnLst>
                                    <p:set>
                                      <p:cBhvr>
                                        <p:cTn id="241" dur="1" fill="hold">
                                          <p:stCondLst>
                                            <p:cond delay="0"/>
                                          </p:stCondLst>
                                        </p:cTn>
                                        <p:tgtEl>
                                          <p:spTgt spid="62"/>
                                        </p:tgtEl>
                                        <p:attrNameLst>
                                          <p:attrName>style.visibility</p:attrName>
                                        </p:attrNameLst>
                                      </p:cBhvr>
                                      <p:to>
                                        <p:strVal val="visible"/>
                                      </p:to>
                                    </p:set>
                                    <p:anim calcmode="lin" valueType="num">
                                      <p:cBhvr additive="base">
                                        <p:cTn id="242" dur="400" fill="hold"/>
                                        <p:tgtEl>
                                          <p:spTgt spid="62"/>
                                        </p:tgtEl>
                                        <p:attrNameLst>
                                          <p:attrName>ppt_w</p:attrName>
                                        </p:attrNameLst>
                                      </p:cBhvr>
                                      <p:tavLst>
                                        <p:tav tm="0">
                                          <p:val>
                                            <p:strVal val="0"/>
                                          </p:val>
                                        </p:tav>
                                        <p:tav tm="100000">
                                          <p:val>
                                            <p:strVal val="#ppt_w"/>
                                          </p:val>
                                        </p:tav>
                                      </p:tavLst>
                                    </p:anim>
                                    <p:anim calcmode="lin" valueType="num">
                                      <p:cBhvr additive="base">
                                        <p:cTn id="243" dur="400" fill="hold"/>
                                        <p:tgtEl>
                                          <p:spTgt spid="62"/>
                                        </p:tgtEl>
                                        <p:attrNameLst>
                                          <p:attrName>ppt_h</p:attrName>
                                        </p:attrNameLst>
                                      </p:cBhvr>
                                      <p:tavLst>
                                        <p:tav tm="0">
                                          <p:val>
                                            <p:strVal val="0"/>
                                          </p:val>
                                        </p:tav>
                                        <p:tav tm="100000">
                                          <p:val>
                                            <p:strVal val="#ppt_h"/>
                                          </p:val>
                                        </p:tav>
                                      </p:tavLst>
                                    </p:anim>
                                    <p:animEffect transition="in" filter="fade">
                                      <p:cBhvr>
                                        <p:cTn id="244" dur="400"/>
                                        <p:tgtEl>
                                          <p:spTgt spid="62"/>
                                        </p:tgtEl>
                                      </p:cBhvr>
                                    </p:animEffect>
                                  </p:childTnLst>
                                </p:cTn>
                              </p:par>
                              <p:par>
                                <p:cTn id="245" presetID="53" presetClass="entr" presetSubtype="16" fill="hold" nodeType="withEffect">
                                  <p:stCondLst>
                                    <p:cond delay="700"/>
                                  </p:stCondLst>
                                  <p:childTnLst>
                                    <p:set>
                                      <p:cBhvr>
                                        <p:cTn id="246" dur="1" fill="hold">
                                          <p:stCondLst>
                                            <p:cond delay="0"/>
                                          </p:stCondLst>
                                        </p:cTn>
                                        <p:tgtEl>
                                          <p:spTgt spid="63"/>
                                        </p:tgtEl>
                                        <p:attrNameLst>
                                          <p:attrName>style.visibility</p:attrName>
                                        </p:attrNameLst>
                                      </p:cBhvr>
                                      <p:to>
                                        <p:strVal val="visible"/>
                                      </p:to>
                                    </p:set>
                                    <p:anim calcmode="lin" valueType="num">
                                      <p:cBhvr additive="base">
                                        <p:cTn id="247" dur="400" fill="hold"/>
                                        <p:tgtEl>
                                          <p:spTgt spid="63"/>
                                        </p:tgtEl>
                                        <p:attrNameLst>
                                          <p:attrName>ppt_w</p:attrName>
                                        </p:attrNameLst>
                                      </p:cBhvr>
                                      <p:tavLst>
                                        <p:tav tm="0">
                                          <p:val>
                                            <p:strVal val="0"/>
                                          </p:val>
                                        </p:tav>
                                        <p:tav tm="100000">
                                          <p:val>
                                            <p:strVal val="#ppt_w"/>
                                          </p:val>
                                        </p:tav>
                                      </p:tavLst>
                                    </p:anim>
                                    <p:anim calcmode="lin" valueType="num">
                                      <p:cBhvr additive="base">
                                        <p:cTn id="248" dur="400" fill="hold"/>
                                        <p:tgtEl>
                                          <p:spTgt spid="63"/>
                                        </p:tgtEl>
                                        <p:attrNameLst>
                                          <p:attrName>ppt_h</p:attrName>
                                        </p:attrNameLst>
                                      </p:cBhvr>
                                      <p:tavLst>
                                        <p:tav tm="0">
                                          <p:val>
                                            <p:strVal val="0"/>
                                          </p:val>
                                        </p:tav>
                                        <p:tav tm="100000">
                                          <p:val>
                                            <p:strVal val="#ppt_h"/>
                                          </p:val>
                                        </p:tav>
                                      </p:tavLst>
                                    </p:anim>
                                    <p:animEffect transition="in" filter="fade">
                                      <p:cBhvr>
                                        <p:cTn id="249" dur="400"/>
                                        <p:tgtEl>
                                          <p:spTgt spid="63"/>
                                        </p:tgtEl>
                                      </p:cBhvr>
                                    </p:animEffect>
                                  </p:childTnLst>
                                </p:cTn>
                              </p:par>
                              <p:par>
                                <p:cTn id="250" presetID="53" presetClass="entr" presetSubtype="16" fill="hold" nodeType="withEffect">
                                  <p:stCondLst>
                                    <p:cond delay="700"/>
                                  </p:stCondLst>
                                  <p:childTnLst>
                                    <p:set>
                                      <p:cBhvr>
                                        <p:cTn id="251" dur="1" fill="hold">
                                          <p:stCondLst>
                                            <p:cond delay="0"/>
                                          </p:stCondLst>
                                        </p:cTn>
                                        <p:tgtEl>
                                          <p:spTgt spid="64"/>
                                        </p:tgtEl>
                                        <p:attrNameLst>
                                          <p:attrName>style.visibility</p:attrName>
                                        </p:attrNameLst>
                                      </p:cBhvr>
                                      <p:to>
                                        <p:strVal val="visible"/>
                                      </p:to>
                                    </p:set>
                                    <p:anim calcmode="lin" valueType="num">
                                      <p:cBhvr additive="base">
                                        <p:cTn id="252" dur="400" fill="hold"/>
                                        <p:tgtEl>
                                          <p:spTgt spid="64"/>
                                        </p:tgtEl>
                                        <p:attrNameLst>
                                          <p:attrName>ppt_w</p:attrName>
                                        </p:attrNameLst>
                                      </p:cBhvr>
                                      <p:tavLst>
                                        <p:tav tm="0">
                                          <p:val>
                                            <p:strVal val="0"/>
                                          </p:val>
                                        </p:tav>
                                        <p:tav tm="100000">
                                          <p:val>
                                            <p:strVal val="#ppt_w"/>
                                          </p:val>
                                        </p:tav>
                                      </p:tavLst>
                                    </p:anim>
                                    <p:anim calcmode="lin" valueType="num">
                                      <p:cBhvr additive="base">
                                        <p:cTn id="253" dur="400" fill="hold"/>
                                        <p:tgtEl>
                                          <p:spTgt spid="64"/>
                                        </p:tgtEl>
                                        <p:attrNameLst>
                                          <p:attrName>ppt_h</p:attrName>
                                        </p:attrNameLst>
                                      </p:cBhvr>
                                      <p:tavLst>
                                        <p:tav tm="0">
                                          <p:val>
                                            <p:strVal val="0"/>
                                          </p:val>
                                        </p:tav>
                                        <p:tav tm="100000">
                                          <p:val>
                                            <p:strVal val="#ppt_h"/>
                                          </p:val>
                                        </p:tav>
                                      </p:tavLst>
                                    </p:anim>
                                    <p:animEffect transition="in" filter="fade">
                                      <p:cBhvr>
                                        <p:cTn id="254" dur="400"/>
                                        <p:tgtEl>
                                          <p:spTgt spid="64"/>
                                        </p:tgtEl>
                                      </p:cBhvr>
                                    </p:animEffect>
                                  </p:childTnLst>
                                </p:cTn>
                              </p:par>
                              <p:par>
                                <p:cTn id="255" presetID="10" presetClass="entr" presetSubtype="0" fill="hold" nodeType="withEffect">
                                  <p:stCondLst>
                                    <p:cond delay="1100"/>
                                  </p:stCondLst>
                                  <p:childTnLst>
                                    <p:set>
                                      <p:cBhvr>
                                        <p:cTn id="256" dur="1" fill="hold">
                                          <p:stCondLst>
                                            <p:cond delay="0"/>
                                          </p:stCondLst>
                                        </p:cTn>
                                        <p:tgtEl>
                                          <p:spTgt spid="65"/>
                                        </p:tgtEl>
                                        <p:attrNameLst>
                                          <p:attrName>style.visibility</p:attrName>
                                        </p:attrNameLst>
                                      </p:cBhvr>
                                      <p:to>
                                        <p:strVal val="visible"/>
                                      </p:to>
                                    </p:set>
                                    <p:animEffect transition="in" filter="fade">
                                      <p:cBhvr>
                                        <p:cTn id="257" dur="600"/>
                                        <p:tgtEl>
                                          <p:spTgt spid="65"/>
                                        </p:tgtEl>
                                      </p:cBhvr>
                                    </p:animEffect>
                                  </p:childTnLst>
                                </p:cTn>
                              </p:par>
                            </p:childTnLst>
                          </p:cTn>
                        </p:par>
                      </p:childTnLst>
                    </p:cTn>
                  </p:par>
                  <p:par>
                    <p:cTn id="258" fill="hold">
                      <p:stCondLst>
                        <p:cond delay="indefinite"/>
                      </p:stCondLst>
                      <p:childTnLst>
                        <p:par>
                          <p:cTn id="259" fill="hold">
                            <p:stCondLst>
                              <p:cond delay="0"/>
                            </p:stCondLst>
                            <p:childTnLst>
                              <p:par>
                                <p:cTn id="260" presetID="42" presetClass="entr" presetSubtype="0" fill="hold" nodeType="clickEffect">
                                  <p:stCondLst>
                                    <p:cond delay="0"/>
                                  </p:stCondLst>
                                  <p:childTnLst>
                                    <p:set>
                                      <p:cBhvr>
                                        <p:cTn id="261" dur="1" fill="hold">
                                          <p:stCondLst>
                                            <p:cond delay="0"/>
                                          </p:stCondLst>
                                        </p:cTn>
                                        <p:tgtEl>
                                          <p:spTgt spid="21"/>
                                        </p:tgtEl>
                                        <p:attrNameLst>
                                          <p:attrName>style.visibility</p:attrName>
                                        </p:attrNameLst>
                                      </p:cBhvr>
                                      <p:to>
                                        <p:strVal val="visible"/>
                                      </p:to>
                                    </p:set>
                                    <p:animEffect transition="in" filter="fade">
                                      <p:cBhvr>
                                        <p:cTn id="262" dur="400"/>
                                        <p:tgtEl>
                                          <p:spTgt spid="21"/>
                                        </p:tgtEl>
                                      </p:cBhvr>
                                    </p:animEffect>
                                    <p:anim calcmode="lin" valueType="num">
                                      <p:cBhvr additive="base">
                                        <p:cTn id="263" dur="400" fill="hold"/>
                                        <p:tgtEl>
                                          <p:spTgt spid="21"/>
                                        </p:tgtEl>
                                        <p:attrNameLst>
                                          <p:attrName>ppt_x</p:attrName>
                                        </p:attrNameLst>
                                      </p:cBhvr>
                                      <p:tavLst>
                                        <p:tav tm="0">
                                          <p:val>
                                            <p:strVal val="#ppt_x"/>
                                          </p:val>
                                        </p:tav>
                                        <p:tav tm="100000">
                                          <p:val>
                                            <p:strVal val="#ppt_x"/>
                                          </p:val>
                                        </p:tav>
                                      </p:tavLst>
                                    </p:anim>
                                    <p:anim calcmode="lin" valueType="num">
                                      <p:cBhvr additive="base">
                                        <p:cTn id="264" dur="400" fill="hold"/>
                                        <p:tgtEl>
                                          <p:spTgt spid="21"/>
                                        </p:tgtEl>
                                        <p:attrNameLst>
                                          <p:attrName>ppt_y</p:attrName>
                                        </p:attrNameLst>
                                      </p:cBhvr>
                                      <p:tavLst>
                                        <p:tav tm="0">
                                          <p:val>
                                            <p:strVal val="#ppt_y+.1"/>
                                          </p:val>
                                        </p:tav>
                                        <p:tav tm="100000">
                                          <p:val>
                                            <p:strVal val="#ppt_y"/>
                                          </p:val>
                                        </p:tav>
                                      </p:tavLst>
                                    </p:anim>
                                  </p:childTnLst>
                                </p:cTn>
                              </p:par>
                              <p:par>
                                <p:cTn id="265" presetID="42" presetClass="entr" presetSubtype="0" fill="hold" nodeType="withEffect">
                                  <p:stCondLst>
                                    <p:cond delay="0"/>
                                  </p:stCondLst>
                                  <p:childTnLst>
                                    <p:set>
                                      <p:cBhvr>
                                        <p:cTn id="266" dur="1" fill="hold">
                                          <p:stCondLst>
                                            <p:cond delay="0"/>
                                          </p:stCondLst>
                                        </p:cTn>
                                        <p:tgtEl>
                                          <p:spTgt spid="22"/>
                                        </p:tgtEl>
                                        <p:attrNameLst>
                                          <p:attrName>style.visibility</p:attrName>
                                        </p:attrNameLst>
                                      </p:cBhvr>
                                      <p:to>
                                        <p:strVal val="visible"/>
                                      </p:to>
                                    </p:set>
                                    <p:animEffect transition="in" filter="fade">
                                      <p:cBhvr>
                                        <p:cTn id="267" dur="400"/>
                                        <p:tgtEl>
                                          <p:spTgt spid="22"/>
                                        </p:tgtEl>
                                      </p:cBhvr>
                                    </p:animEffect>
                                    <p:anim calcmode="lin" valueType="num">
                                      <p:cBhvr additive="base">
                                        <p:cTn id="268" dur="400" fill="hold"/>
                                        <p:tgtEl>
                                          <p:spTgt spid="22"/>
                                        </p:tgtEl>
                                        <p:attrNameLst>
                                          <p:attrName>ppt_x</p:attrName>
                                        </p:attrNameLst>
                                      </p:cBhvr>
                                      <p:tavLst>
                                        <p:tav tm="0">
                                          <p:val>
                                            <p:strVal val="#ppt_x"/>
                                          </p:val>
                                        </p:tav>
                                        <p:tav tm="100000">
                                          <p:val>
                                            <p:strVal val="#ppt_x"/>
                                          </p:val>
                                        </p:tav>
                                      </p:tavLst>
                                    </p:anim>
                                    <p:anim calcmode="lin" valueType="num">
                                      <p:cBhvr additive="base">
                                        <p:cTn id="269" dur="400" fill="hold"/>
                                        <p:tgtEl>
                                          <p:spTgt spid="22"/>
                                        </p:tgtEl>
                                        <p:attrNameLst>
                                          <p:attrName>ppt_y</p:attrName>
                                        </p:attrNameLst>
                                      </p:cBhvr>
                                      <p:tavLst>
                                        <p:tav tm="0">
                                          <p:val>
                                            <p:strVal val="#ppt_y+.1"/>
                                          </p:val>
                                        </p:tav>
                                        <p:tav tm="100000">
                                          <p:val>
                                            <p:strVal val="#ppt_y"/>
                                          </p:val>
                                        </p:tav>
                                      </p:tavLst>
                                    </p:anim>
                                  </p:childTnLst>
                                </p:cTn>
                              </p:par>
                              <p:par>
                                <p:cTn id="270" presetID="42" presetClass="entr" presetSubtype="0" fill="hold" nodeType="withEffect">
                                  <p:stCondLst>
                                    <p:cond delay="0"/>
                                  </p:stCondLst>
                                  <p:childTnLst>
                                    <p:set>
                                      <p:cBhvr>
                                        <p:cTn id="271" dur="1" fill="hold">
                                          <p:stCondLst>
                                            <p:cond delay="0"/>
                                          </p:stCondLst>
                                        </p:cTn>
                                        <p:tgtEl>
                                          <p:spTgt spid="23"/>
                                        </p:tgtEl>
                                        <p:attrNameLst>
                                          <p:attrName>style.visibility</p:attrName>
                                        </p:attrNameLst>
                                      </p:cBhvr>
                                      <p:to>
                                        <p:strVal val="visible"/>
                                      </p:to>
                                    </p:set>
                                    <p:animEffect transition="in" filter="fade">
                                      <p:cBhvr>
                                        <p:cTn id="272" dur="400"/>
                                        <p:tgtEl>
                                          <p:spTgt spid="23"/>
                                        </p:tgtEl>
                                      </p:cBhvr>
                                    </p:animEffect>
                                    <p:anim calcmode="lin" valueType="num">
                                      <p:cBhvr additive="base">
                                        <p:cTn id="273" dur="400" fill="hold"/>
                                        <p:tgtEl>
                                          <p:spTgt spid="23"/>
                                        </p:tgtEl>
                                        <p:attrNameLst>
                                          <p:attrName>ppt_x</p:attrName>
                                        </p:attrNameLst>
                                      </p:cBhvr>
                                      <p:tavLst>
                                        <p:tav tm="0">
                                          <p:val>
                                            <p:strVal val="#ppt_x"/>
                                          </p:val>
                                        </p:tav>
                                        <p:tav tm="100000">
                                          <p:val>
                                            <p:strVal val="#ppt_x"/>
                                          </p:val>
                                        </p:tav>
                                      </p:tavLst>
                                    </p:anim>
                                    <p:anim calcmode="lin" valueType="num">
                                      <p:cBhvr additive="base">
                                        <p:cTn id="274" dur="400" fill="hold"/>
                                        <p:tgtEl>
                                          <p:spTgt spid="23"/>
                                        </p:tgtEl>
                                        <p:attrNameLst>
                                          <p:attrName>ppt_y</p:attrName>
                                        </p:attrNameLst>
                                      </p:cBhvr>
                                      <p:tavLst>
                                        <p:tav tm="0">
                                          <p:val>
                                            <p:strVal val="#ppt_y+.1"/>
                                          </p:val>
                                        </p:tav>
                                        <p:tav tm="100000">
                                          <p:val>
                                            <p:strVal val="#ppt_y"/>
                                          </p:val>
                                        </p:tav>
                                      </p:tavLst>
                                    </p:anim>
                                  </p:childTnLst>
                                </p:cTn>
                              </p:par>
                              <p:par>
                                <p:cTn id="275" presetID="42" presetClass="entr" presetSubtype="0" fill="hold" nodeType="withEffect">
                                  <p:stCondLst>
                                    <p:cond delay="0"/>
                                  </p:stCondLst>
                                  <p:childTnLst>
                                    <p:set>
                                      <p:cBhvr>
                                        <p:cTn id="276" dur="1" fill="hold">
                                          <p:stCondLst>
                                            <p:cond delay="0"/>
                                          </p:stCondLst>
                                        </p:cTn>
                                        <p:tgtEl>
                                          <p:spTgt spid="24"/>
                                        </p:tgtEl>
                                        <p:attrNameLst>
                                          <p:attrName>style.visibility</p:attrName>
                                        </p:attrNameLst>
                                      </p:cBhvr>
                                      <p:to>
                                        <p:strVal val="visible"/>
                                      </p:to>
                                    </p:set>
                                    <p:animEffect transition="in" filter="fade">
                                      <p:cBhvr>
                                        <p:cTn id="277" dur="400"/>
                                        <p:tgtEl>
                                          <p:spTgt spid="24"/>
                                        </p:tgtEl>
                                      </p:cBhvr>
                                    </p:animEffect>
                                    <p:anim calcmode="lin" valueType="num">
                                      <p:cBhvr additive="base">
                                        <p:cTn id="278" dur="400" fill="hold"/>
                                        <p:tgtEl>
                                          <p:spTgt spid="24"/>
                                        </p:tgtEl>
                                        <p:attrNameLst>
                                          <p:attrName>ppt_x</p:attrName>
                                        </p:attrNameLst>
                                      </p:cBhvr>
                                      <p:tavLst>
                                        <p:tav tm="0">
                                          <p:val>
                                            <p:strVal val="#ppt_x"/>
                                          </p:val>
                                        </p:tav>
                                        <p:tav tm="100000">
                                          <p:val>
                                            <p:strVal val="#ppt_x"/>
                                          </p:val>
                                        </p:tav>
                                      </p:tavLst>
                                    </p:anim>
                                    <p:anim calcmode="lin" valueType="num">
                                      <p:cBhvr additive="base">
                                        <p:cTn id="279" dur="400" fill="hold"/>
                                        <p:tgtEl>
                                          <p:spTgt spid="24"/>
                                        </p:tgtEl>
                                        <p:attrNameLst>
                                          <p:attrName>ppt_y</p:attrName>
                                        </p:attrNameLst>
                                      </p:cBhvr>
                                      <p:tavLst>
                                        <p:tav tm="0">
                                          <p:val>
                                            <p:strVal val="#ppt_y+.1"/>
                                          </p:val>
                                        </p:tav>
                                        <p:tav tm="100000">
                                          <p:val>
                                            <p:strVal val="#ppt_y"/>
                                          </p:val>
                                        </p:tav>
                                      </p:tavLst>
                                    </p:anim>
                                  </p:childTnLst>
                                </p:cTn>
                              </p:par>
                              <p:par>
                                <p:cTn id="280" presetID="42" presetClass="entr" presetSubtype="0" fill="hold" nodeType="withEffect">
                                  <p:stCondLst>
                                    <p:cond delay="0"/>
                                  </p:stCondLst>
                                  <p:childTnLst>
                                    <p:set>
                                      <p:cBhvr>
                                        <p:cTn id="281" dur="1" fill="hold">
                                          <p:stCondLst>
                                            <p:cond delay="0"/>
                                          </p:stCondLst>
                                        </p:cTn>
                                        <p:tgtEl>
                                          <p:spTgt spid="25"/>
                                        </p:tgtEl>
                                        <p:attrNameLst>
                                          <p:attrName>style.visibility</p:attrName>
                                        </p:attrNameLst>
                                      </p:cBhvr>
                                      <p:to>
                                        <p:strVal val="visible"/>
                                      </p:to>
                                    </p:set>
                                    <p:animEffect transition="in" filter="fade">
                                      <p:cBhvr>
                                        <p:cTn id="282" dur="400"/>
                                        <p:tgtEl>
                                          <p:spTgt spid="25"/>
                                        </p:tgtEl>
                                      </p:cBhvr>
                                    </p:animEffect>
                                    <p:anim calcmode="lin" valueType="num">
                                      <p:cBhvr additive="base">
                                        <p:cTn id="283" dur="400" fill="hold"/>
                                        <p:tgtEl>
                                          <p:spTgt spid="25"/>
                                        </p:tgtEl>
                                        <p:attrNameLst>
                                          <p:attrName>ppt_x</p:attrName>
                                        </p:attrNameLst>
                                      </p:cBhvr>
                                      <p:tavLst>
                                        <p:tav tm="0">
                                          <p:val>
                                            <p:strVal val="#ppt_x"/>
                                          </p:val>
                                        </p:tav>
                                        <p:tav tm="100000">
                                          <p:val>
                                            <p:strVal val="#ppt_x"/>
                                          </p:val>
                                        </p:tav>
                                      </p:tavLst>
                                    </p:anim>
                                    <p:anim calcmode="lin" valueType="num">
                                      <p:cBhvr additive="base">
                                        <p:cTn id="284" dur="400" fill="hold"/>
                                        <p:tgtEl>
                                          <p:spTgt spid="25"/>
                                        </p:tgtEl>
                                        <p:attrNameLst>
                                          <p:attrName>ppt_y</p:attrName>
                                        </p:attrNameLst>
                                      </p:cBhvr>
                                      <p:tavLst>
                                        <p:tav tm="0">
                                          <p:val>
                                            <p:strVal val="#ppt_y+.1"/>
                                          </p:val>
                                        </p:tav>
                                        <p:tav tm="100000">
                                          <p:val>
                                            <p:strVal val="#ppt_y"/>
                                          </p:val>
                                        </p:tav>
                                      </p:tavLst>
                                    </p:anim>
                                  </p:childTnLst>
                                </p:cTn>
                              </p:par>
                              <p:par>
                                <p:cTn id="285" presetID="53" presetClass="entr" presetSubtype="16" fill="hold" nodeType="withEffect">
                                  <p:stCondLst>
                                    <p:cond delay="300"/>
                                  </p:stCondLst>
                                  <p:childTnLst>
                                    <p:set>
                                      <p:cBhvr>
                                        <p:cTn id="286" dur="1" fill="hold">
                                          <p:stCondLst>
                                            <p:cond delay="0"/>
                                          </p:stCondLst>
                                        </p:cTn>
                                        <p:tgtEl>
                                          <p:spTgt spid="66"/>
                                        </p:tgtEl>
                                        <p:attrNameLst>
                                          <p:attrName>style.visibility</p:attrName>
                                        </p:attrNameLst>
                                      </p:cBhvr>
                                      <p:to>
                                        <p:strVal val="visible"/>
                                      </p:to>
                                    </p:set>
                                    <p:anim calcmode="lin" valueType="num">
                                      <p:cBhvr additive="base">
                                        <p:cTn id="287" dur="700" fill="hold"/>
                                        <p:tgtEl>
                                          <p:spTgt spid="66"/>
                                        </p:tgtEl>
                                        <p:attrNameLst>
                                          <p:attrName>ppt_w</p:attrName>
                                        </p:attrNameLst>
                                      </p:cBhvr>
                                      <p:tavLst>
                                        <p:tav tm="0">
                                          <p:val>
                                            <p:strVal val="0"/>
                                          </p:val>
                                        </p:tav>
                                        <p:tav tm="100000">
                                          <p:val>
                                            <p:strVal val="#ppt_w"/>
                                          </p:val>
                                        </p:tav>
                                      </p:tavLst>
                                    </p:anim>
                                    <p:anim calcmode="lin" valueType="num">
                                      <p:cBhvr additive="base">
                                        <p:cTn id="288" dur="700" fill="hold"/>
                                        <p:tgtEl>
                                          <p:spTgt spid="66"/>
                                        </p:tgtEl>
                                        <p:attrNameLst>
                                          <p:attrName>ppt_h</p:attrName>
                                        </p:attrNameLst>
                                      </p:cBhvr>
                                      <p:tavLst>
                                        <p:tav tm="0">
                                          <p:val>
                                            <p:strVal val="0"/>
                                          </p:val>
                                        </p:tav>
                                        <p:tav tm="100000">
                                          <p:val>
                                            <p:strVal val="#ppt_h"/>
                                          </p:val>
                                        </p:tav>
                                      </p:tavLst>
                                    </p:anim>
                                    <p:animEffect transition="in" filter="fade">
                                      <p:cBhvr>
                                        <p:cTn id="289" dur="7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04  ·  WHAT WE DETECT</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Seven suspicious shapes money leaves behind</a:t>
            </a:r>
            <a:endParaRPr lang="en-US" sz="3400" dirty="0"/>
          </a:p>
        </p:txBody>
      </p:sp>
      <p:sp>
        <p:nvSpPr>
          <p:cNvPr id="5" name="pat0__1"/>
          <p:cNvSpPr/>
          <p:nvPr/>
        </p:nvSpPr>
        <p:spPr>
          <a:xfrm>
            <a:off x="548640" y="1645920"/>
            <a:ext cx="2628900" cy="2194560"/>
          </a:xfrm>
          <a:prstGeom prst="roundRect">
            <a:avLst>
              <a:gd name="adj" fmla="val 50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patE0__1"/>
          <p:cNvSpPr/>
          <p:nvPr/>
        </p:nvSpPr>
        <p:spPr>
          <a:xfrm>
            <a:off x="849013" y="1922575"/>
            <a:ext cx="553894" cy="302124"/>
          </a:xfrm>
          <a:prstGeom prst="line">
            <a:avLst/>
          </a:prstGeom>
          <a:noFill/>
          <a:ln w="13970">
            <a:solidFill>
              <a:srgbClr val="FF4D5E"/>
            </a:solidFill>
            <a:prstDash val="solid"/>
            <a:tailEnd type="triangle"/>
          </a:ln>
        </p:spPr>
      </p:sp>
      <p:sp>
        <p:nvSpPr>
          <p:cNvPr id="7" name="pat0__2"/>
          <p:cNvSpPr/>
          <p:nvPr/>
        </p:nvSpPr>
        <p:spPr>
          <a:xfrm>
            <a:off x="737398" y="1834678"/>
            <a:ext cx="118872" cy="118872"/>
          </a:xfrm>
          <a:prstGeom prst="ellipse">
            <a:avLst/>
          </a:prstGeom>
          <a:solidFill>
            <a:srgbClr val="38BDF8"/>
          </a:solidFill>
          <a:ln w="12700">
            <a:solidFill>
              <a:srgbClr val="38BDF8"/>
            </a:solidFill>
            <a:prstDash val="solid"/>
          </a:ln>
        </p:spPr>
      </p:sp>
      <p:sp>
        <p:nvSpPr>
          <p:cNvPr id="8" name="patE0__2"/>
          <p:cNvSpPr/>
          <p:nvPr/>
        </p:nvSpPr>
        <p:spPr>
          <a:xfrm>
            <a:off x="854176" y="2105696"/>
            <a:ext cx="537610" cy="146621"/>
          </a:xfrm>
          <a:prstGeom prst="line">
            <a:avLst/>
          </a:prstGeom>
          <a:noFill/>
          <a:ln w="13970">
            <a:solidFill>
              <a:srgbClr val="FF4D5E"/>
            </a:solidFill>
            <a:prstDash val="solid"/>
            <a:tailEnd type="triangle"/>
          </a:ln>
        </p:spPr>
      </p:sp>
      <p:sp>
        <p:nvSpPr>
          <p:cNvPr id="9" name="pat0__3"/>
          <p:cNvSpPr/>
          <p:nvPr/>
        </p:nvSpPr>
        <p:spPr>
          <a:xfrm>
            <a:off x="737398" y="2030621"/>
            <a:ext cx="118872" cy="118872"/>
          </a:xfrm>
          <a:prstGeom prst="ellipse">
            <a:avLst/>
          </a:prstGeom>
          <a:solidFill>
            <a:srgbClr val="38BDF8"/>
          </a:solidFill>
          <a:ln w="12700">
            <a:solidFill>
              <a:srgbClr val="38BDF8"/>
            </a:solidFill>
            <a:prstDash val="solid"/>
          </a:ln>
        </p:spPr>
      </p:sp>
      <p:sp>
        <p:nvSpPr>
          <p:cNvPr id="10" name="patE0__3"/>
          <p:cNvSpPr/>
          <p:nvPr/>
        </p:nvSpPr>
        <p:spPr>
          <a:xfrm>
            <a:off x="856270" y="2286000"/>
            <a:ext cx="531005" cy="914"/>
          </a:xfrm>
          <a:prstGeom prst="line">
            <a:avLst/>
          </a:prstGeom>
          <a:noFill/>
          <a:ln w="13970">
            <a:solidFill>
              <a:srgbClr val="FF4D5E"/>
            </a:solidFill>
            <a:prstDash val="solid"/>
            <a:tailEnd type="triangle"/>
          </a:ln>
        </p:spPr>
      </p:sp>
      <p:sp>
        <p:nvSpPr>
          <p:cNvPr id="11" name="pat0__4"/>
          <p:cNvSpPr/>
          <p:nvPr/>
        </p:nvSpPr>
        <p:spPr>
          <a:xfrm>
            <a:off x="737398" y="2226564"/>
            <a:ext cx="118872" cy="118872"/>
          </a:xfrm>
          <a:prstGeom prst="ellipse">
            <a:avLst/>
          </a:prstGeom>
          <a:solidFill>
            <a:srgbClr val="38BDF8"/>
          </a:solidFill>
          <a:ln w="12700">
            <a:solidFill>
              <a:srgbClr val="38BDF8"/>
            </a:solidFill>
            <a:prstDash val="solid"/>
          </a:ln>
        </p:spPr>
      </p:sp>
      <p:sp>
        <p:nvSpPr>
          <p:cNvPr id="12" name="patE0__4"/>
          <p:cNvSpPr/>
          <p:nvPr/>
        </p:nvSpPr>
        <p:spPr>
          <a:xfrm flipV="1">
            <a:off x="854176" y="2319683"/>
            <a:ext cx="537610" cy="146621"/>
          </a:xfrm>
          <a:prstGeom prst="line">
            <a:avLst/>
          </a:prstGeom>
          <a:noFill/>
          <a:ln w="13970">
            <a:solidFill>
              <a:srgbClr val="FF4D5E"/>
            </a:solidFill>
            <a:prstDash val="solid"/>
            <a:tailEnd type="triangle"/>
          </a:ln>
        </p:spPr>
      </p:sp>
      <p:sp>
        <p:nvSpPr>
          <p:cNvPr id="13" name="pat0__5"/>
          <p:cNvSpPr/>
          <p:nvPr/>
        </p:nvSpPr>
        <p:spPr>
          <a:xfrm>
            <a:off x="737398" y="2422507"/>
            <a:ext cx="118872" cy="118872"/>
          </a:xfrm>
          <a:prstGeom prst="ellipse">
            <a:avLst/>
          </a:prstGeom>
          <a:solidFill>
            <a:srgbClr val="38BDF8"/>
          </a:solidFill>
          <a:ln w="12700">
            <a:solidFill>
              <a:srgbClr val="38BDF8"/>
            </a:solidFill>
            <a:prstDash val="solid"/>
          </a:ln>
        </p:spPr>
      </p:sp>
      <p:sp>
        <p:nvSpPr>
          <p:cNvPr id="14" name="patE0__5"/>
          <p:cNvSpPr/>
          <p:nvPr/>
        </p:nvSpPr>
        <p:spPr>
          <a:xfrm flipV="1">
            <a:off x="849013" y="2347301"/>
            <a:ext cx="553894" cy="302124"/>
          </a:xfrm>
          <a:prstGeom prst="line">
            <a:avLst/>
          </a:prstGeom>
          <a:noFill/>
          <a:ln w="13970">
            <a:solidFill>
              <a:srgbClr val="FF4D5E"/>
            </a:solidFill>
            <a:prstDash val="solid"/>
            <a:tailEnd type="triangle"/>
          </a:ln>
        </p:spPr>
      </p:sp>
      <p:sp>
        <p:nvSpPr>
          <p:cNvPr id="15" name="pat0__6"/>
          <p:cNvSpPr/>
          <p:nvPr/>
        </p:nvSpPr>
        <p:spPr>
          <a:xfrm>
            <a:off x="737398" y="2618450"/>
            <a:ext cx="118872" cy="118872"/>
          </a:xfrm>
          <a:prstGeom prst="ellipse">
            <a:avLst/>
          </a:prstGeom>
          <a:solidFill>
            <a:srgbClr val="38BDF8"/>
          </a:solidFill>
          <a:ln w="12700">
            <a:solidFill>
              <a:srgbClr val="38BDF8"/>
            </a:solidFill>
            <a:prstDash val="solid"/>
          </a:ln>
        </p:spPr>
      </p:sp>
      <p:sp>
        <p:nvSpPr>
          <p:cNvPr id="16" name="pat0__7"/>
          <p:cNvSpPr/>
          <p:nvPr/>
        </p:nvSpPr>
        <p:spPr>
          <a:xfrm>
            <a:off x="1306808" y="2077517"/>
            <a:ext cx="416966" cy="416966"/>
          </a:xfrm>
          <a:prstGeom prst="ellipse">
            <a:avLst/>
          </a:prstGeom>
          <a:solidFill>
            <a:srgbClr val="FF4D5E">
              <a:alpha val="18000"/>
            </a:srgbClr>
          </a:solidFill>
          <a:ln w="9525">
            <a:solidFill>
              <a:srgbClr val="FF4D5E">
                <a:alpha val="45000"/>
              </a:srgbClr>
            </a:solidFill>
            <a:prstDash val="solid"/>
          </a:ln>
        </p:spPr>
      </p:sp>
      <p:sp>
        <p:nvSpPr>
          <p:cNvPr id="17" name="pat0__8"/>
          <p:cNvSpPr/>
          <p:nvPr/>
        </p:nvSpPr>
        <p:spPr>
          <a:xfrm>
            <a:off x="1405563" y="2176272"/>
            <a:ext cx="219456" cy="219456"/>
          </a:xfrm>
          <a:prstGeom prst="ellipse">
            <a:avLst/>
          </a:prstGeom>
          <a:solidFill>
            <a:srgbClr val="FF4D5E"/>
          </a:solidFill>
          <a:ln w="12700">
            <a:solidFill>
              <a:srgbClr val="FF4D5E"/>
            </a:solidFill>
            <a:prstDash val="solid"/>
          </a:ln>
        </p:spPr>
      </p:sp>
      <p:sp>
        <p:nvSpPr>
          <p:cNvPr id="18" name="pat0__9"/>
          <p:cNvSpPr txBox="1"/>
          <p:nvPr/>
        </p:nvSpPr>
        <p:spPr>
          <a:xfrm>
            <a:off x="1828800" y="1847088"/>
            <a:ext cx="1234440" cy="777240"/>
          </a:xfrm>
          <a:prstGeom prst="rect">
            <a:avLst/>
          </a:prstGeom>
          <a:noFill/>
          <a:ln/>
        </p:spPr>
        <p:txBody>
          <a:bodyPr wrap="square" lIns="0" tIns="0" rIns="0" bIns="0" rtlCol="0" anchor="t"/>
          <a:lstStyle/>
          <a:p>
            <a:pPr indent="0" marL="0">
              <a:buNone/>
            </a:pPr>
            <a:r>
              <a:rPr lang="en-US" sz="2600" b="1" dirty="0">
                <a:solidFill>
                  <a:srgbClr val="38BDF8"/>
                </a:solidFill>
                <a:latin typeface="Arial" pitchFamily="34" charset="0"/>
                <a:ea typeface="Arial" pitchFamily="34" charset="-122"/>
                <a:cs typeface="Arial" pitchFamily="34" charset="-120"/>
              </a:rPr>
              <a:t>3</a:t>
            </a:r>
            <a:endParaRPr lang="en-US" sz="2600" dirty="0"/>
          </a:p>
          <a:p>
            <a:pPr indent="0" marL="0">
              <a:buNone/>
            </a:pPr>
            <a:r>
              <a:rPr lang="en-US" sz="1100" dirty="0">
                <a:solidFill>
                  <a:srgbClr val="5F7090"/>
                </a:solidFill>
                <a:latin typeface="Calibri" pitchFamily="34" charset="0"/>
                <a:ea typeface="Calibri" pitchFamily="34" charset="-122"/>
                <a:cs typeface="Calibri" pitchFamily="34" charset="-120"/>
              </a:rPr>
              <a:t>accounts flagged</a:t>
            </a:r>
            <a:endParaRPr lang="en-US" sz="2600" dirty="0"/>
          </a:p>
        </p:txBody>
      </p:sp>
      <p:sp>
        <p:nvSpPr>
          <p:cNvPr id="19" name="pat0__10"/>
          <p:cNvSpPr txBox="1"/>
          <p:nvPr/>
        </p:nvSpPr>
        <p:spPr>
          <a:xfrm>
            <a:off x="731520" y="2788920"/>
            <a:ext cx="230886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Fan-In</a:t>
            </a:r>
            <a:endParaRPr lang="en-US" sz="1500" dirty="0"/>
          </a:p>
        </p:txBody>
      </p:sp>
      <p:sp>
        <p:nvSpPr>
          <p:cNvPr id="20" name="pat0__11"/>
          <p:cNvSpPr txBox="1"/>
          <p:nvPr/>
        </p:nvSpPr>
        <p:spPr>
          <a:xfrm>
            <a:off x="731520" y="3136392"/>
            <a:ext cx="2308860" cy="64008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Many wallets funnel money into one collector within 2 hours.</a:t>
            </a:r>
            <a:endParaRPr lang="en-US" sz="1200" dirty="0"/>
          </a:p>
        </p:txBody>
      </p:sp>
      <p:sp>
        <p:nvSpPr>
          <p:cNvPr id="21" name="pat1__1"/>
          <p:cNvSpPr/>
          <p:nvPr/>
        </p:nvSpPr>
        <p:spPr>
          <a:xfrm>
            <a:off x="3369564" y="1645920"/>
            <a:ext cx="2628900" cy="2194560"/>
          </a:xfrm>
          <a:prstGeom prst="roundRect">
            <a:avLst>
              <a:gd name="adj" fmla="val 50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2" name="patE1__1"/>
          <p:cNvSpPr/>
          <p:nvPr/>
        </p:nvSpPr>
        <p:spPr>
          <a:xfrm flipV="1">
            <a:off x="3779402" y="1931333"/>
            <a:ext cx="553894" cy="302124"/>
          </a:xfrm>
          <a:prstGeom prst="line">
            <a:avLst/>
          </a:prstGeom>
          <a:noFill/>
          <a:ln w="13970">
            <a:solidFill>
              <a:srgbClr val="FF4D5E"/>
            </a:solidFill>
            <a:prstDash val="solid"/>
            <a:tailEnd type="triangle"/>
          </a:ln>
        </p:spPr>
      </p:sp>
      <p:sp>
        <p:nvSpPr>
          <p:cNvPr id="23" name="pat1__2"/>
          <p:cNvSpPr/>
          <p:nvPr/>
        </p:nvSpPr>
        <p:spPr>
          <a:xfrm>
            <a:off x="4342094" y="1834678"/>
            <a:ext cx="118872" cy="118872"/>
          </a:xfrm>
          <a:prstGeom prst="ellipse">
            <a:avLst/>
          </a:prstGeom>
          <a:solidFill>
            <a:srgbClr val="38BDF8"/>
          </a:solidFill>
          <a:ln w="12700">
            <a:solidFill>
              <a:srgbClr val="38BDF8"/>
            </a:solidFill>
            <a:prstDash val="solid"/>
          </a:ln>
        </p:spPr>
      </p:sp>
      <p:sp>
        <p:nvSpPr>
          <p:cNvPr id="24" name="patE1__2"/>
          <p:cNvSpPr/>
          <p:nvPr/>
        </p:nvSpPr>
        <p:spPr>
          <a:xfrm flipV="1">
            <a:off x="3788934" y="2110508"/>
            <a:ext cx="537610" cy="146621"/>
          </a:xfrm>
          <a:prstGeom prst="line">
            <a:avLst/>
          </a:prstGeom>
          <a:noFill/>
          <a:ln w="13970">
            <a:solidFill>
              <a:srgbClr val="FF4D5E"/>
            </a:solidFill>
            <a:prstDash val="solid"/>
            <a:tailEnd type="triangle"/>
          </a:ln>
        </p:spPr>
      </p:sp>
      <p:sp>
        <p:nvSpPr>
          <p:cNvPr id="25" name="pat1__3"/>
          <p:cNvSpPr/>
          <p:nvPr/>
        </p:nvSpPr>
        <p:spPr>
          <a:xfrm>
            <a:off x="4342094" y="2030621"/>
            <a:ext cx="118872" cy="118872"/>
          </a:xfrm>
          <a:prstGeom prst="ellipse">
            <a:avLst/>
          </a:prstGeom>
          <a:solidFill>
            <a:srgbClr val="38BDF8"/>
          </a:solidFill>
          <a:ln w="12700">
            <a:solidFill>
              <a:srgbClr val="38BDF8"/>
            </a:solidFill>
            <a:prstDash val="solid"/>
          </a:ln>
        </p:spPr>
      </p:sp>
      <p:sp>
        <p:nvSpPr>
          <p:cNvPr id="26" name="patE1__3"/>
          <p:cNvSpPr/>
          <p:nvPr/>
        </p:nvSpPr>
        <p:spPr>
          <a:xfrm>
            <a:off x="3792801" y="2286000"/>
            <a:ext cx="531005" cy="914"/>
          </a:xfrm>
          <a:prstGeom prst="line">
            <a:avLst/>
          </a:prstGeom>
          <a:noFill/>
          <a:ln w="13970">
            <a:solidFill>
              <a:srgbClr val="FF4D5E"/>
            </a:solidFill>
            <a:prstDash val="solid"/>
            <a:tailEnd type="triangle"/>
          </a:ln>
        </p:spPr>
      </p:sp>
      <p:sp>
        <p:nvSpPr>
          <p:cNvPr id="27" name="pat1__4"/>
          <p:cNvSpPr/>
          <p:nvPr/>
        </p:nvSpPr>
        <p:spPr>
          <a:xfrm>
            <a:off x="4342094" y="2226564"/>
            <a:ext cx="118872" cy="118872"/>
          </a:xfrm>
          <a:prstGeom prst="ellipse">
            <a:avLst/>
          </a:prstGeom>
          <a:solidFill>
            <a:srgbClr val="38BDF8"/>
          </a:solidFill>
          <a:ln w="12700">
            <a:solidFill>
              <a:srgbClr val="38BDF8"/>
            </a:solidFill>
            <a:prstDash val="solid"/>
          </a:ln>
        </p:spPr>
      </p:sp>
      <p:sp>
        <p:nvSpPr>
          <p:cNvPr id="28" name="patE1__4"/>
          <p:cNvSpPr/>
          <p:nvPr/>
        </p:nvSpPr>
        <p:spPr>
          <a:xfrm>
            <a:off x="3788934" y="2314871"/>
            <a:ext cx="537610" cy="146621"/>
          </a:xfrm>
          <a:prstGeom prst="line">
            <a:avLst/>
          </a:prstGeom>
          <a:noFill/>
          <a:ln w="13970">
            <a:solidFill>
              <a:srgbClr val="FF4D5E"/>
            </a:solidFill>
            <a:prstDash val="solid"/>
            <a:tailEnd type="triangle"/>
          </a:ln>
        </p:spPr>
      </p:sp>
      <p:sp>
        <p:nvSpPr>
          <p:cNvPr id="29" name="pat1__5"/>
          <p:cNvSpPr/>
          <p:nvPr/>
        </p:nvSpPr>
        <p:spPr>
          <a:xfrm>
            <a:off x="4342094" y="2422507"/>
            <a:ext cx="118872" cy="118872"/>
          </a:xfrm>
          <a:prstGeom prst="ellipse">
            <a:avLst/>
          </a:prstGeom>
          <a:solidFill>
            <a:srgbClr val="38BDF8"/>
          </a:solidFill>
          <a:ln w="12700">
            <a:solidFill>
              <a:srgbClr val="38BDF8"/>
            </a:solidFill>
            <a:prstDash val="solid"/>
          </a:ln>
        </p:spPr>
      </p:sp>
      <p:sp>
        <p:nvSpPr>
          <p:cNvPr id="30" name="patE1__5"/>
          <p:cNvSpPr/>
          <p:nvPr/>
        </p:nvSpPr>
        <p:spPr>
          <a:xfrm>
            <a:off x="3779402" y="2338543"/>
            <a:ext cx="553894" cy="302124"/>
          </a:xfrm>
          <a:prstGeom prst="line">
            <a:avLst/>
          </a:prstGeom>
          <a:noFill/>
          <a:ln w="13970">
            <a:solidFill>
              <a:srgbClr val="FF4D5E"/>
            </a:solidFill>
            <a:prstDash val="solid"/>
            <a:tailEnd type="triangle"/>
          </a:ln>
        </p:spPr>
      </p:sp>
      <p:sp>
        <p:nvSpPr>
          <p:cNvPr id="31" name="pat1__6"/>
          <p:cNvSpPr/>
          <p:nvPr/>
        </p:nvSpPr>
        <p:spPr>
          <a:xfrm>
            <a:off x="4342094" y="2618450"/>
            <a:ext cx="118872" cy="118872"/>
          </a:xfrm>
          <a:prstGeom prst="ellipse">
            <a:avLst/>
          </a:prstGeom>
          <a:solidFill>
            <a:srgbClr val="38BDF8"/>
          </a:solidFill>
          <a:ln w="12700">
            <a:solidFill>
              <a:srgbClr val="38BDF8"/>
            </a:solidFill>
            <a:prstDash val="solid"/>
          </a:ln>
        </p:spPr>
      </p:sp>
      <p:sp>
        <p:nvSpPr>
          <p:cNvPr id="32" name="pat1__7"/>
          <p:cNvSpPr/>
          <p:nvPr/>
        </p:nvSpPr>
        <p:spPr>
          <a:xfrm>
            <a:off x="3474589" y="2077517"/>
            <a:ext cx="416966" cy="416966"/>
          </a:xfrm>
          <a:prstGeom prst="ellipse">
            <a:avLst/>
          </a:prstGeom>
          <a:solidFill>
            <a:srgbClr val="FF4D5E">
              <a:alpha val="18000"/>
            </a:srgbClr>
          </a:solidFill>
          <a:ln w="9525">
            <a:solidFill>
              <a:srgbClr val="FF4D5E">
                <a:alpha val="45000"/>
              </a:srgbClr>
            </a:solidFill>
            <a:prstDash val="solid"/>
          </a:ln>
        </p:spPr>
      </p:sp>
      <p:sp>
        <p:nvSpPr>
          <p:cNvPr id="33" name="pat1__8"/>
          <p:cNvSpPr/>
          <p:nvPr/>
        </p:nvSpPr>
        <p:spPr>
          <a:xfrm>
            <a:off x="3573345" y="2176272"/>
            <a:ext cx="219456" cy="219456"/>
          </a:xfrm>
          <a:prstGeom prst="ellipse">
            <a:avLst/>
          </a:prstGeom>
          <a:solidFill>
            <a:srgbClr val="FF4D5E"/>
          </a:solidFill>
          <a:ln w="12700">
            <a:solidFill>
              <a:srgbClr val="FF4D5E"/>
            </a:solidFill>
            <a:prstDash val="solid"/>
          </a:ln>
        </p:spPr>
      </p:sp>
      <p:sp>
        <p:nvSpPr>
          <p:cNvPr id="34" name="pat1__9"/>
          <p:cNvSpPr txBox="1"/>
          <p:nvPr/>
        </p:nvSpPr>
        <p:spPr>
          <a:xfrm>
            <a:off x="4649724" y="1847088"/>
            <a:ext cx="1234440" cy="777240"/>
          </a:xfrm>
          <a:prstGeom prst="rect">
            <a:avLst/>
          </a:prstGeom>
          <a:noFill/>
          <a:ln/>
        </p:spPr>
        <p:txBody>
          <a:bodyPr wrap="square" lIns="0" tIns="0" rIns="0" bIns="0" rtlCol="0" anchor="t"/>
          <a:lstStyle/>
          <a:p>
            <a:pPr indent="0" marL="0">
              <a:buNone/>
            </a:pPr>
            <a:r>
              <a:rPr lang="en-US" sz="2600" b="1" dirty="0">
                <a:solidFill>
                  <a:srgbClr val="38BDF8"/>
                </a:solidFill>
                <a:latin typeface="Arial" pitchFamily="34" charset="0"/>
                <a:ea typeface="Arial" pitchFamily="34" charset="-122"/>
                <a:cs typeface="Arial" pitchFamily="34" charset="-120"/>
              </a:rPr>
              <a:t>2</a:t>
            </a:r>
            <a:endParaRPr lang="en-US" sz="2600" dirty="0"/>
          </a:p>
          <a:p>
            <a:pPr indent="0" marL="0">
              <a:buNone/>
            </a:pPr>
            <a:r>
              <a:rPr lang="en-US" sz="1100" dirty="0">
                <a:solidFill>
                  <a:srgbClr val="5F7090"/>
                </a:solidFill>
                <a:latin typeface="Calibri" pitchFamily="34" charset="0"/>
                <a:ea typeface="Calibri" pitchFamily="34" charset="-122"/>
                <a:cs typeface="Calibri" pitchFamily="34" charset="-120"/>
              </a:rPr>
              <a:t>accounts flagged</a:t>
            </a:r>
            <a:endParaRPr lang="en-US" sz="2600" dirty="0"/>
          </a:p>
        </p:txBody>
      </p:sp>
      <p:sp>
        <p:nvSpPr>
          <p:cNvPr id="35" name="pat1__10"/>
          <p:cNvSpPr txBox="1"/>
          <p:nvPr/>
        </p:nvSpPr>
        <p:spPr>
          <a:xfrm>
            <a:off x="3552444" y="2788920"/>
            <a:ext cx="230886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Fan-Out</a:t>
            </a:r>
            <a:endParaRPr lang="en-US" sz="1500" dirty="0"/>
          </a:p>
        </p:txBody>
      </p:sp>
      <p:sp>
        <p:nvSpPr>
          <p:cNvPr id="36" name="pat1__11"/>
          <p:cNvSpPr txBox="1"/>
          <p:nvPr/>
        </p:nvSpPr>
        <p:spPr>
          <a:xfrm>
            <a:off x="3552444" y="3136392"/>
            <a:ext cx="2308860" cy="64008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One wallet sprays funds across many receivers in a burst.</a:t>
            </a:r>
            <a:endParaRPr lang="en-US" sz="1200" dirty="0"/>
          </a:p>
        </p:txBody>
      </p:sp>
      <p:sp>
        <p:nvSpPr>
          <p:cNvPr id="37" name="pat2__1"/>
          <p:cNvSpPr/>
          <p:nvPr/>
        </p:nvSpPr>
        <p:spPr>
          <a:xfrm>
            <a:off x="6190488" y="1645920"/>
            <a:ext cx="2628900" cy="2194560"/>
          </a:xfrm>
          <a:prstGeom prst="roundRect">
            <a:avLst>
              <a:gd name="adj" fmla="val 50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38" name="patE2__1"/>
          <p:cNvSpPr/>
          <p:nvPr/>
        </p:nvSpPr>
        <p:spPr>
          <a:xfrm>
            <a:off x="6498771" y="2220686"/>
            <a:ext cx="203781" cy="914"/>
          </a:xfrm>
          <a:prstGeom prst="line">
            <a:avLst/>
          </a:prstGeom>
          <a:noFill/>
          <a:ln w="13970">
            <a:solidFill>
              <a:srgbClr val="38BDF8"/>
            </a:solidFill>
            <a:prstDash val="solid"/>
            <a:tailEnd type="triangle"/>
          </a:ln>
        </p:spPr>
      </p:sp>
      <p:sp>
        <p:nvSpPr>
          <p:cNvPr id="39" name="patE2__2"/>
          <p:cNvSpPr/>
          <p:nvPr/>
        </p:nvSpPr>
        <p:spPr>
          <a:xfrm>
            <a:off x="6949440" y="2220686"/>
            <a:ext cx="203781" cy="914"/>
          </a:xfrm>
          <a:prstGeom prst="line">
            <a:avLst/>
          </a:prstGeom>
          <a:noFill/>
          <a:ln w="13970">
            <a:solidFill>
              <a:srgbClr val="FF4D5E"/>
            </a:solidFill>
            <a:prstDash val="solid"/>
            <a:tailEnd type="triangle"/>
          </a:ln>
        </p:spPr>
      </p:sp>
      <p:sp>
        <p:nvSpPr>
          <p:cNvPr id="40" name="pat2__2"/>
          <p:cNvSpPr/>
          <p:nvPr/>
        </p:nvSpPr>
        <p:spPr>
          <a:xfrm>
            <a:off x="6366183" y="2161250"/>
            <a:ext cx="118872" cy="118872"/>
          </a:xfrm>
          <a:prstGeom prst="ellipse">
            <a:avLst/>
          </a:prstGeom>
          <a:solidFill>
            <a:srgbClr val="38BDF8"/>
          </a:solidFill>
          <a:ln w="12700">
            <a:solidFill>
              <a:srgbClr val="38BDF8"/>
            </a:solidFill>
            <a:prstDash val="solid"/>
          </a:ln>
        </p:spPr>
      </p:sp>
      <p:sp>
        <p:nvSpPr>
          <p:cNvPr id="41" name="pat2__3"/>
          <p:cNvSpPr/>
          <p:nvPr/>
        </p:nvSpPr>
        <p:spPr>
          <a:xfrm>
            <a:off x="6622085" y="2012203"/>
            <a:ext cx="416966" cy="416966"/>
          </a:xfrm>
          <a:prstGeom prst="ellipse">
            <a:avLst/>
          </a:prstGeom>
          <a:solidFill>
            <a:srgbClr val="FF4D5E">
              <a:alpha val="18000"/>
            </a:srgbClr>
          </a:solidFill>
          <a:ln w="9525">
            <a:solidFill>
              <a:srgbClr val="FF4D5E">
                <a:alpha val="45000"/>
              </a:srgbClr>
            </a:solidFill>
            <a:prstDash val="solid"/>
          </a:ln>
        </p:spPr>
      </p:sp>
      <p:sp>
        <p:nvSpPr>
          <p:cNvPr id="42" name="pat2__4"/>
          <p:cNvSpPr/>
          <p:nvPr/>
        </p:nvSpPr>
        <p:spPr>
          <a:xfrm>
            <a:off x="6720840" y="2110958"/>
            <a:ext cx="219456" cy="219456"/>
          </a:xfrm>
          <a:prstGeom prst="ellipse">
            <a:avLst/>
          </a:prstGeom>
          <a:solidFill>
            <a:srgbClr val="FF4D5E"/>
          </a:solidFill>
          <a:ln w="12700">
            <a:solidFill>
              <a:srgbClr val="FF4D5E"/>
            </a:solidFill>
            <a:prstDash val="solid"/>
          </a:ln>
        </p:spPr>
      </p:sp>
      <p:sp>
        <p:nvSpPr>
          <p:cNvPr id="43" name="pat2__5"/>
          <p:cNvSpPr/>
          <p:nvPr/>
        </p:nvSpPr>
        <p:spPr>
          <a:xfrm>
            <a:off x="7176081" y="2161250"/>
            <a:ext cx="118872" cy="118872"/>
          </a:xfrm>
          <a:prstGeom prst="ellipse">
            <a:avLst/>
          </a:prstGeom>
          <a:solidFill>
            <a:srgbClr val="FF4D5E"/>
          </a:solidFill>
          <a:ln w="12700">
            <a:solidFill>
              <a:srgbClr val="FF4D5E"/>
            </a:solidFill>
            <a:prstDash val="solid"/>
          </a:ln>
        </p:spPr>
      </p:sp>
      <p:sp>
        <p:nvSpPr>
          <p:cNvPr id="44" name="pat2__6"/>
          <p:cNvSpPr txBox="1"/>
          <p:nvPr/>
        </p:nvSpPr>
        <p:spPr>
          <a:xfrm>
            <a:off x="6327648" y="2395728"/>
            <a:ext cx="1005840" cy="228600"/>
          </a:xfrm>
          <a:prstGeom prst="rect">
            <a:avLst/>
          </a:prstGeom>
          <a:noFill/>
          <a:ln/>
        </p:spPr>
        <p:txBody>
          <a:bodyPr wrap="square" lIns="0" tIns="0" rIns="0" bIns="0" rtlCol="0" anchor="ctr"/>
          <a:lstStyle/>
          <a:p>
            <a:pPr algn="ctr" indent="0" marL="0">
              <a:buNone/>
            </a:pPr>
            <a:r>
              <a:rPr lang="en-US" sz="1000" b="1" dirty="0">
                <a:solidFill>
                  <a:srgbClr val="F5A524"/>
                </a:solidFill>
                <a:latin typeface="Calibri" pitchFamily="34" charset="0"/>
                <a:ea typeface="Calibri" pitchFamily="34" charset="-122"/>
                <a:cs typeface="Calibri" pitchFamily="34" charset="-120"/>
              </a:rPr>
              <a:t>&lt; minutes</a:t>
            </a:r>
            <a:endParaRPr lang="en-US" sz="1000" dirty="0"/>
          </a:p>
        </p:txBody>
      </p:sp>
      <p:sp>
        <p:nvSpPr>
          <p:cNvPr id="45" name="pat2__7"/>
          <p:cNvSpPr txBox="1"/>
          <p:nvPr/>
        </p:nvSpPr>
        <p:spPr>
          <a:xfrm>
            <a:off x="7470648" y="1847088"/>
            <a:ext cx="1234440" cy="777240"/>
          </a:xfrm>
          <a:prstGeom prst="rect">
            <a:avLst/>
          </a:prstGeom>
          <a:noFill/>
          <a:ln/>
        </p:spPr>
        <p:txBody>
          <a:bodyPr wrap="square" lIns="0" tIns="0" rIns="0" bIns="0" rtlCol="0" anchor="t"/>
          <a:lstStyle/>
          <a:p>
            <a:pPr indent="0" marL="0">
              <a:buNone/>
            </a:pPr>
            <a:r>
              <a:rPr lang="en-US" sz="2600" b="1" dirty="0">
                <a:solidFill>
                  <a:srgbClr val="38BDF8"/>
                </a:solidFill>
                <a:latin typeface="Arial" pitchFamily="34" charset="0"/>
                <a:ea typeface="Arial" pitchFamily="34" charset="-122"/>
                <a:cs typeface="Arial" pitchFamily="34" charset="-120"/>
              </a:rPr>
              <a:t>13</a:t>
            </a:r>
            <a:endParaRPr lang="en-US" sz="2600" dirty="0"/>
          </a:p>
          <a:p>
            <a:pPr indent="0" marL="0">
              <a:buNone/>
            </a:pPr>
            <a:r>
              <a:rPr lang="en-US" sz="1100" dirty="0">
                <a:solidFill>
                  <a:srgbClr val="5F7090"/>
                </a:solidFill>
                <a:latin typeface="Calibri" pitchFamily="34" charset="0"/>
                <a:ea typeface="Calibri" pitchFamily="34" charset="-122"/>
                <a:cs typeface="Calibri" pitchFamily="34" charset="-120"/>
              </a:rPr>
              <a:t>accounts flagged</a:t>
            </a:r>
            <a:endParaRPr lang="en-US" sz="2600" dirty="0"/>
          </a:p>
        </p:txBody>
      </p:sp>
      <p:sp>
        <p:nvSpPr>
          <p:cNvPr id="46" name="pat2__8"/>
          <p:cNvSpPr txBox="1"/>
          <p:nvPr/>
        </p:nvSpPr>
        <p:spPr>
          <a:xfrm>
            <a:off x="6373368" y="2788920"/>
            <a:ext cx="230886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Rapid Movement</a:t>
            </a:r>
            <a:endParaRPr lang="en-US" sz="1500" dirty="0"/>
          </a:p>
        </p:txBody>
      </p:sp>
      <p:sp>
        <p:nvSpPr>
          <p:cNvPr id="47" name="pat2__9"/>
          <p:cNvSpPr txBox="1"/>
          <p:nvPr/>
        </p:nvSpPr>
        <p:spPr>
          <a:xfrm>
            <a:off x="6373368" y="3136392"/>
            <a:ext cx="2308860" cy="64008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Incoming money is forwarded onward within minutes.</a:t>
            </a:r>
            <a:endParaRPr lang="en-US" sz="1200" dirty="0"/>
          </a:p>
        </p:txBody>
      </p:sp>
      <p:sp>
        <p:nvSpPr>
          <p:cNvPr id="48" name="pat3__1"/>
          <p:cNvSpPr/>
          <p:nvPr/>
        </p:nvSpPr>
        <p:spPr>
          <a:xfrm>
            <a:off x="9011412" y="1645920"/>
            <a:ext cx="2628900" cy="2194560"/>
          </a:xfrm>
          <a:prstGeom prst="roundRect">
            <a:avLst>
              <a:gd name="adj" fmla="val 50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49" name="patE3__1"/>
          <p:cNvSpPr/>
          <p:nvPr/>
        </p:nvSpPr>
        <p:spPr>
          <a:xfrm flipV="1">
            <a:off x="9303400" y="2448037"/>
            <a:ext cx="146392" cy="118508"/>
          </a:xfrm>
          <a:prstGeom prst="line">
            <a:avLst/>
          </a:prstGeom>
          <a:noFill/>
          <a:ln w="13970">
            <a:solidFill>
              <a:srgbClr val="F5A524"/>
            </a:solidFill>
            <a:prstDash val="solid"/>
            <a:tailEnd type="triangle"/>
          </a:ln>
        </p:spPr>
      </p:sp>
      <p:sp>
        <p:nvSpPr>
          <p:cNvPr id="50" name="patE3__2"/>
          <p:cNvSpPr/>
          <p:nvPr/>
        </p:nvSpPr>
        <p:spPr>
          <a:xfrm flipV="1">
            <a:off x="9577720" y="2225968"/>
            <a:ext cx="146392" cy="118508"/>
          </a:xfrm>
          <a:prstGeom prst="line">
            <a:avLst/>
          </a:prstGeom>
          <a:noFill/>
          <a:ln w="13970">
            <a:solidFill>
              <a:srgbClr val="F5A524"/>
            </a:solidFill>
            <a:prstDash val="solid"/>
            <a:tailEnd type="triangle"/>
          </a:ln>
        </p:spPr>
      </p:sp>
      <p:sp>
        <p:nvSpPr>
          <p:cNvPr id="51" name="patE3__3"/>
          <p:cNvSpPr/>
          <p:nvPr/>
        </p:nvSpPr>
        <p:spPr>
          <a:xfrm flipV="1">
            <a:off x="9850921" y="2005587"/>
            <a:ext cx="135848" cy="115471"/>
          </a:xfrm>
          <a:prstGeom prst="line">
            <a:avLst/>
          </a:prstGeom>
          <a:noFill/>
          <a:ln w="13970">
            <a:solidFill>
              <a:srgbClr val="F5A524"/>
            </a:solidFill>
            <a:prstDash val="solid"/>
            <a:tailEnd type="triangle"/>
          </a:ln>
        </p:spPr>
      </p:sp>
      <p:sp>
        <p:nvSpPr>
          <p:cNvPr id="52" name="pat3__2"/>
          <p:cNvSpPr/>
          <p:nvPr/>
        </p:nvSpPr>
        <p:spPr>
          <a:xfrm>
            <a:off x="9168819" y="2534847"/>
            <a:ext cx="155448" cy="155448"/>
          </a:xfrm>
          <a:prstGeom prst="ellipse">
            <a:avLst/>
          </a:prstGeom>
          <a:solidFill>
            <a:srgbClr val="F5A524"/>
          </a:solidFill>
          <a:ln w="12700">
            <a:solidFill>
              <a:srgbClr val="F5A524"/>
            </a:solidFill>
            <a:prstDash val="solid"/>
          </a:ln>
        </p:spPr>
      </p:sp>
      <p:sp>
        <p:nvSpPr>
          <p:cNvPr id="53" name="pat3__3"/>
          <p:cNvSpPr/>
          <p:nvPr/>
        </p:nvSpPr>
        <p:spPr>
          <a:xfrm>
            <a:off x="9461427" y="2331067"/>
            <a:ext cx="118872" cy="118872"/>
          </a:xfrm>
          <a:prstGeom prst="ellipse">
            <a:avLst/>
          </a:prstGeom>
          <a:solidFill>
            <a:srgbClr val="F5A524"/>
          </a:solidFill>
          <a:ln w="12700">
            <a:solidFill>
              <a:srgbClr val="F5A524"/>
            </a:solidFill>
            <a:prstDash val="solid"/>
          </a:ln>
        </p:spPr>
      </p:sp>
      <p:sp>
        <p:nvSpPr>
          <p:cNvPr id="54" name="pat3__4"/>
          <p:cNvSpPr/>
          <p:nvPr/>
        </p:nvSpPr>
        <p:spPr>
          <a:xfrm>
            <a:off x="9735747" y="2108998"/>
            <a:ext cx="118872" cy="118872"/>
          </a:xfrm>
          <a:prstGeom prst="ellipse">
            <a:avLst/>
          </a:prstGeom>
          <a:solidFill>
            <a:srgbClr val="F5A524"/>
          </a:solidFill>
          <a:ln w="12700">
            <a:solidFill>
              <a:srgbClr val="F5A524"/>
            </a:solidFill>
            <a:prstDash val="solid"/>
          </a:ln>
        </p:spPr>
      </p:sp>
      <p:sp>
        <p:nvSpPr>
          <p:cNvPr id="55" name="pat3__5"/>
          <p:cNvSpPr/>
          <p:nvPr/>
        </p:nvSpPr>
        <p:spPr>
          <a:xfrm>
            <a:off x="9978717" y="1868642"/>
            <a:ext cx="155448" cy="155448"/>
          </a:xfrm>
          <a:prstGeom prst="ellipse">
            <a:avLst/>
          </a:prstGeom>
          <a:solidFill>
            <a:srgbClr val="FF4D5E"/>
          </a:solidFill>
          <a:ln w="12700">
            <a:solidFill>
              <a:srgbClr val="FF4D5E"/>
            </a:solidFill>
            <a:prstDash val="solid"/>
          </a:ln>
        </p:spPr>
      </p:sp>
      <p:sp>
        <p:nvSpPr>
          <p:cNvPr id="56" name="pat3__6"/>
          <p:cNvSpPr txBox="1"/>
          <p:nvPr/>
        </p:nvSpPr>
        <p:spPr>
          <a:xfrm>
            <a:off x="10291572" y="1847088"/>
            <a:ext cx="1234440" cy="777240"/>
          </a:xfrm>
          <a:prstGeom prst="rect">
            <a:avLst/>
          </a:prstGeom>
          <a:noFill/>
          <a:ln/>
        </p:spPr>
        <p:txBody>
          <a:bodyPr wrap="square" lIns="0" tIns="0" rIns="0" bIns="0" rtlCol="0" anchor="t"/>
          <a:lstStyle/>
          <a:p>
            <a:pPr indent="0" marL="0">
              <a:buNone/>
            </a:pPr>
            <a:r>
              <a:rPr lang="en-US" sz="2600" b="1" dirty="0">
                <a:solidFill>
                  <a:srgbClr val="38BDF8"/>
                </a:solidFill>
                <a:latin typeface="Arial" pitchFamily="34" charset="0"/>
                <a:ea typeface="Arial" pitchFamily="34" charset="-122"/>
                <a:cs typeface="Arial" pitchFamily="34" charset="-120"/>
              </a:rPr>
              <a:t>19</a:t>
            </a:r>
            <a:endParaRPr lang="en-US" sz="2600" dirty="0"/>
          </a:p>
          <a:p>
            <a:pPr indent="0" marL="0">
              <a:buNone/>
            </a:pPr>
            <a:r>
              <a:rPr lang="en-US" sz="1100" dirty="0">
                <a:solidFill>
                  <a:srgbClr val="5F7090"/>
                </a:solidFill>
                <a:latin typeface="Calibri" pitchFamily="34" charset="0"/>
                <a:ea typeface="Calibri" pitchFamily="34" charset="-122"/>
                <a:cs typeface="Calibri" pitchFamily="34" charset="-120"/>
              </a:rPr>
              <a:t>accounts flagged</a:t>
            </a:r>
            <a:endParaRPr lang="en-US" sz="2600" dirty="0"/>
          </a:p>
        </p:txBody>
      </p:sp>
      <p:sp>
        <p:nvSpPr>
          <p:cNvPr id="57" name="pat3__7"/>
          <p:cNvSpPr txBox="1"/>
          <p:nvPr/>
        </p:nvSpPr>
        <p:spPr>
          <a:xfrm>
            <a:off x="9194292" y="2788920"/>
            <a:ext cx="230886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Transaction Chain</a:t>
            </a:r>
            <a:endParaRPr lang="en-US" sz="1500" dirty="0"/>
          </a:p>
        </p:txBody>
      </p:sp>
      <p:sp>
        <p:nvSpPr>
          <p:cNvPr id="58" name="pat3__8"/>
          <p:cNvSpPr txBox="1"/>
          <p:nvPr/>
        </p:nvSpPr>
        <p:spPr>
          <a:xfrm>
            <a:off x="9194292" y="3136392"/>
            <a:ext cx="2308860" cy="64008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Funds hop through three or more intermediaries.</a:t>
            </a:r>
            <a:endParaRPr lang="en-US" sz="1200" dirty="0"/>
          </a:p>
        </p:txBody>
      </p:sp>
      <p:sp>
        <p:nvSpPr>
          <p:cNvPr id="59" name="pat4__1"/>
          <p:cNvSpPr/>
          <p:nvPr/>
        </p:nvSpPr>
        <p:spPr>
          <a:xfrm>
            <a:off x="548640" y="4023360"/>
            <a:ext cx="2628900" cy="2194560"/>
          </a:xfrm>
          <a:prstGeom prst="roundRect">
            <a:avLst>
              <a:gd name="adj" fmla="val 50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0" name="patE4__1"/>
          <p:cNvSpPr/>
          <p:nvPr/>
        </p:nvSpPr>
        <p:spPr>
          <a:xfrm>
            <a:off x="1232787" y="4384333"/>
            <a:ext cx="266689" cy="484888"/>
          </a:xfrm>
          <a:prstGeom prst="line">
            <a:avLst/>
          </a:prstGeom>
          <a:noFill/>
          <a:ln w="13970">
            <a:solidFill>
              <a:srgbClr val="FF4D5E"/>
            </a:solidFill>
            <a:prstDash val="solid"/>
            <a:tailEnd type="triangle"/>
          </a:ln>
        </p:spPr>
      </p:sp>
      <p:sp>
        <p:nvSpPr>
          <p:cNvPr id="61" name="patE4__2"/>
          <p:cNvSpPr/>
          <p:nvPr/>
        </p:nvSpPr>
        <p:spPr>
          <a:xfrm flipH="1">
            <a:off x="930075" y="4957354"/>
            <a:ext cx="526433" cy="914"/>
          </a:xfrm>
          <a:prstGeom prst="line">
            <a:avLst/>
          </a:prstGeom>
          <a:noFill/>
          <a:ln w="13970">
            <a:solidFill>
              <a:srgbClr val="FF4D5E"/>
            </a:solidFill>
            <a:prstDash val="solid"/>
            <a:tailEnd type="triangle"/>
          </a:ln>
        </p:spPr>
      </p:sp>
      <p:sp>
        <p:nvSpPr>
          <p:cNvPr id="62" name="patE4__3"/>
          <p:cNvSpPr/>
          <p:nvPr/>
        </p:nvSpPr>
        <p:spPr>
          <a:xfrm flipV="1">
            <a:off x="873558" y="4392345"/>
            <a:ext cx="266689" cy="484888"/>
          </a:xfrm>
          <a:prstGeom prst="line">
            <a:avLst/>
          </a:prstGeom>
          <a:noFill/>
          <a:ln w="13970">
            <a:solidFill>
              <a:srgbClr val="FF4D5E"/>
            </a:solidFill>
            <a:prstDash val="solid"/>
            <a:tailEnd type="triangle"/>
          </a:ln>
        </p:spPr>
      </p:sp>
      <p:sp>
        <p:nvSpPr>
          <p:cNvPr id="63" name="pat4__2"/>
          <p:cNvSpPr/>
          <p:nvPr/>
        </p:nvSpPr>
        <p:spPr>
          <a:xfrm>
            <a:off x="1041044" y="4156536"/>
            <a:ext cx="295351" cy="295351"/>
          </a:xfrm>
          <a:prstGeom prst="ellipse">
            <a:avLst/>
          </a:prstGeom>
          <a:solidFill>
            <a:srgbClr val="FF4D5E">
              <a:alpha val="18000"/>
            </a:srgbClr>
          </a:solidFill>
          <a:ln w="9525">
            <a:solidFill>
              <a:srgbClr val="FF4D5E">
                <a:alpha val="45000"/>
              </a:srgbClr>
            </a:solidFill>
            <a:prstDash val="solid"/>
          </a:ln>
        </p:spPr>
      </p:sp>
      <p:sp>
        <p:nvSpPr>
          <p:cNvPr id="64" name="pat4__3"/>
          <p:cNvSpPr/>
          <p:nvPr/>
        </p:nvSpPr>
        <p:spPr>
          <a:xfrm>
            <a:off x="1110996" y="4226487"/>
            <a:ext cx="155448" cy="155448"/>
          </a:xfrm>
          <a:prstGeom prst="ellipse">
            <a:avLst/>
          </a:prstGeom>
          <a:solidFill>
            <a:srgbClr val="FF4D5E"/>
          </a:solidFill>
          <a:ln w="12700">
            <a:solidFill>
              <a:srgbClr val="FF4D5E"/>
            </a:solidFill>
            <a:prstDash val="solid"/>
          </a:ln>
        </p:spPr>
      </p:sp>
      <p:sp>
        <p:nvSpPr>
          <p:cNvPr id="65" name="pat4__4"/>
          <p:cNvSpPr/>
          <p:nvPr/>
        </p:nvSpPr>
        <p:spPr>
          <a:xfrm>
            <a:off x="1400273" y="4809679"/>
            <a:ext cx="295351" cy="295351"/>
          </a:xfrm>
          <a:prstGeom prst="ellipse">
            <a:avLst/>
          </a:prstGeom>
          <a:solidFill>
            <a:srgbClr val="FF4D5E">
              <a:alpha val="18000"/>
            </a:srgbClr>
          </a:solidFill>
          <a:ln w="9525">
            <a:solidFill>
              <a:srgbClr val="FF4D5E">
                <a:alpha val="45000"/>
              </a:srgbClr>
            </a:solidFill>
            <a:prstDash val="solid"/>
          </a:ln>
        </p:spPr>
      </p:sp>
      <p:sp>
        <p:nvSpPr>
          <p:cNvPr id="66" name="pat4__5"/>
          <p:cNvSpPr/>
          <p:nvPr/>
        </p:nvSpPr>
        <p:spPr>
          <a:xfrm>
            <a:off x="1470225" y="4879630"/>
            <a:ext cx="155448" cy="155448"/>
          </a:xfrm>
          <a:prstGeom prst="ellipse">
            <a:avLst/>
          </a:prstGeom>
          <a:solidFill>
            <a:srgbClr val="FF4D5E"/>
          </a:solidFill>
          <a:ln w="12700">
            <a:solidFill>
              <a:srgbClr val="FF4D5E"/>
            </a:solidFill>
            <a:prstDash val="solid"/>
          </a:ln>
        </p:spPr>
      </p:sp>
      <p:sp>
        <p:nvSpPr>
          <p:cNvPr id="67" name="pat4__6"/>
          <p:cNvSpPr/>
          <p:nvPr/>
        </p:nvSpPr>
        <p:spPr>
          <a:xfrm>
            <a:off x="681816" y="4809679"/>
            <a:ext cx="295351" cy="295351"/>
          </a:xfrm>
          <a:prstGeom prst="ellipse">
            <a:avLst/>
          </a:prstGeom>
          <a:solidFill>
            <a:srgbClr val="FF4D5E">
              <a:alpha val="18000"/>
            </a:srgbClr>
          </a:solidFill>
          <a:ln w="9525">
            <a:solidFill>
              <a:srgbClr val="FF4D5E">
                <a:alpha val="45000"/>
              </a:srgbClr>
            </a:solidFill>
            <a:prstDash val="solid"/>
          </a:ln>
        </p:spPr>
      </p:sp>
      <p:sp>
        <p:nvSpPr>
          <p:cNvPr id="68" name="pat4__7"/>
          <p:cNvSpPr/>
          <p:nvPr/>
        </p:nvSpPr>
        <p:spPr>
          <a:xfrm>
            <a:off x="751767" y="4879630"/>
            <a:ext cx="155448" cy="155448"/>
          </a:xfrm>
          <a:prstGeom prst="ellipse">
            <a:avLst/>
          </a:prstGeom>
          <a:solidFill>
            <a:srgbClr val="FF4D5E"/>
          </a:solidFill>
          <a:ln w="12700">
            <a:solidFill>
              <a:srgbClr val="FF4D5E"/>
            </a:solidFill>
            <a:prstDash val="solid"/>
          </a:ln>
        </p:spPr>
      </p:sp>
      <p:sp>
        <p:nvSpPr>
          <p:cNvPr id="69" name="pat4__8"/>
          <p:cNvSpPr txBox="1"/>
          <p:nvPr/>
        </p:nvSpPr>
        <p:spPr>
          <a:xfrm>
            <a:off x="1828800" y="4224528"/>
            <a:ext cx="1234440" cy="777240"/>
          </a:xfrm>
          <a:prstGeom prst="rect">
            <a:avLst/>
          </a:prstGeom>
          <a:noFill/>
          <a:ln/>
        </p:spPr>
        <p:txBody>
          <a:bodyPr wrap="square" lIns="0" tIns="0" rIns="0" bIns="0" rtlCol="0" anchor="t"/>
          <a:lstStyle/>
          <a:p>
            <a:pPr indent="0" marL="0">
              <a:buNone/>
            </a:pPr>
            <a:r>
              <a:rPr lang="en-US" sz="2600" b="1" dirty="0">
                <a:solidFill>
                  <a:srgbClr val="38BDF8"/>
                </a:solidFill>
                <a:latin typeface="Arial" pitchFamily="34" charset="0"/>
                <a:ea typeface="Arial" pitchFamily="34" charset="-122"/>
                <a:cs typeface="Arial" pitchFamily="34" charset="-120"/>
              </a:rPr>
              <a:t>9</a:t>
            </a:r>
            <a:endParaRPr lang="en-US" sz="2600" dirty="0"/>
          </a:p>
          <a:p>
            <a:pPr indent="0" marL="0">
              <a:buNone/>
            </a:pPr>
            <a:r>
              <a:rPr lang="en-US" sz="1100" dirty="0">
                <a:solidFill>
                  <a:srgbClr val="5F7090"/>
                </a:solidFill>
                <a:latin typeface="Calibri" pitchFamily="34" charset="0"/>
                <a:ea typeface="Calibri" pitchFamily="34" charset="-122"/>
                <a:cs typeface="Calibri" pitchFamily="34" charset="-120"/>
              </a:rPr>
              <a:t>accounts flagged</a:t>
            </a:r>
            <a:endParaRPr lang="en-US" sz="2600" dirty="0"/>
          </a:p>
        </p:txBody>
      </p:sp>
      <p:sp>
        <p:nvSpPr>
          <p:cNvPr id="70" name="pat4__9"/>
          <p:cNvSpPr txBox="1"/>
          <p:nvPr/>
        </p:nvSpPr>
        <p:spPr>
          <a:xfrm>
            <a:off x="731520" y="5166360"/>
            <a:ext cx="230886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Circular Flow</a:t>
            </a:r>
            <a:endParaRPr lang="en-US" sz="1500" dirty="0"/>
          </a:p>
        </p:txBody>
      </p:sp>
      <p:sp>
        <p:nvSpPr>
          <p:cNvPr id="71" name="pat4__10"/>
          <p:cNvSpPr txBox="1"/>
          <p:nvPr/>
        </p:nvSpPr>
        <p:spPr>
          <a:xfrm>
            <a:off x="731520" y="5513832"/>
            <a:ext cx="2308860" cy="64008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Money loops back to its origin within 6 hours.</a:t>
            </a:r>
            <a:endParaRPr lang="en-US" sz="1200" dirty="0"/>
          </a:p>
        </p:txBody>
      </p:sp>
      <p:sp>
        <p:nvSpPr>
          <p:cNvPr id="72" name="pat5__1"/>
          <p:cNvSpPr/>
          <p:nvPr/>
        </p:nvSpPr>
        <p:spPr>
          <a:xfrm>
            <a:off x="3369564" y="4023360"/>
            <a:ext cx="2628900" cy="2194560"/>
          </a:xfrm>
          <a:prstGeom prst="roundRect">
            <a:avLst>
              <a:gd name="adj" fmla="val 50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73" name="patE5__1"/>
          <p:cNvSpPr/>
          <p:nvPr/>
        </p:nvSpPr>
        <p:spPr>
          <a:xfrm>
            <a:off x="3748387" y="4369526"/>
            <a:ext cx="522514" cy="914"/>
          </a:xfrm>
          <a:prstGeom prst="line">
            <a:avLst/>
          </a:prstGeom>
          <a:noFill/>
          <a:ln w="13970">
            <a:solidFill>
              <a:srgbClr val="F5A524"/>
            </a:solidFill>
            <a:prstDash val="solid"/>
            <a:tailEnd type="triangle"/>
          </a:ln>
        </p:spPr>
      </p:sp>
      <p:sp>
        <p:nvSpPr>
          <p:cNvPr id="74" name="patE5__2"/>
          <p:cNvSpPr/>
          <p:nvPr/>
        </p:nvSpPr>
        <p:spPr>
          <a:xfrm>
            <a:off x="3748387" y="4565469"/>
            <a:ext cx="522514" cy="914"/>
          </a:xfrm>
          <a:prstGeom prst="line">
            <a:avLst/>
          </a:prstGeom>
          <a:noFill/>
          <a:ln w="13970">
            <a:solidFill>
              <a:srgbClr val="F5A524"/>
            </a:solidFill>
            <a:prstDash val="solid"/>
            <a:tailEnd type="triangle"/>
          </a:ln>
        </p:spPr>
      </p:sp>
      <p:sp>
        <p:nvSpPr>
          <p:cNvPr id="75" name="patE5__3"/>
          <p:cNvSpPr/>
          <p:nvPr/>
        </p:nvSpPr>
        <p:spPr>
          <a:xfrm>
            <a:off x="3748387" y="4761411"/>
            <a:ext cx="522514" cy="914"/>
          </a:xfrm>
          <a:prstGeom prst="line">
            <a:avLst/>
          </a:prstGeom>
          <a:noFill/>
          <a:ln w="13970">
            <a:solidFill>
              <a:srgbClr val="F5A524"/>
            </a:solidFill>
            <a:prstDash val="solid"/>
            <a:tailEnd type="triangle"/>
          </a:ln>
        </p:spPr>
      </p:sp>
      <p:sp>
        <p:nvSpPr>
          <p:cNvPr id="76" name="patE5__4"/>
          <p:cNvSpPr/>
          <p:nvPr/>
        </p:nvSpPr>
        <p:spPr>
          <a:xfrm>
            <a:off x="3748387" y="4957354"/>
            <a:ext cx="522514" cy="914"/>
          </a:xfrm>
          <a:prstGeom prst="line">
            <a:avLst/>
          </a:prstGeom>
          <a:noFill/>
          <a:ln w="13970">
            <a:solidFill>
              <a:srgbClr val="F5A524"/>
            </a:solidFill>
            <a:prstDash val="solid"/>
            <a:tailEnd type="triangle"/>
          </a:ln>
        </p:spPr>
      </p:sp>
      <p:sp>
        <p:nvSpPr>
          <p:cNvPr id="77" name="pat5__2"/>
          <p:cNvSpPr/>
          <p:nvPr/>
        </p:nvSpPr>
        <p:spPr>
          <a:xfrm>
            <a:off x="3409275" y="4454957"/>
            <a:ext cx="416966" cy="416966"/>
          </a:xfrm>
          <a:prstGeom prst="ellipse">
            <a:avLst/>
          </a:prstGeom>
          <a:solidFill>
            <a:srgbClr val="FF4D5E">
              <a:alpha val="18000"/>
            </a:srgbClr>
          </a:solidFill>
          <a:ln w="9525">
            <a:solidFill>
              <a:srgbClr val="FF4D5E">
                <a:alpha val="45000"/>
              </a:srgbClr>
            </a:solidFill>
            <a:prstDash val="solid"/>
          </a:ln>
        </p:spPr>
      </p:sp>
      <p:sp>
        <p:nvSpPr>
          <p:cNvPr id="78" name="pat5__3"/>
          <p:cNvSpPr/>
          <p:nvPr/>
        </p:nvSpPr>
        <p:spPr>
          <a:xfrm>
            <a:off x="3508030" y="4553712"/>
            <a:ext cx="219456" cy="219456"/>
          </a:xfrm>
          <a:prstGeom prst="ellipse">
            <a:avLst/>
          </a:prstGeom>
          <a:solidFill>
            <a:srgbClr val="FF4D5E"/>
          </a:solidFill>
          <a:ln w="12700">
            <a:solidFill>
              <a:srgbClr val="FF4D5E"/>
            </a:solidFill>
            <a:prstDash val="solid"/>
          </a:ln>
        </p:spPr>
      </p:sp>
      <p:sp>
        <p:nvSpPr>
          <p:cNvPr id="79" name="pat5__4"/>
          <p:cNvSpPr/>
          <p:nvPr/>
        </p:nvSpPr>
        <p:spPr>
          <a:xfrm>
            <a:off x="4291802" y="4553712"/>
            <a:ext cx="219456" cy="219456"/>
          </a:xfrm>
          <a:prstGeom prst="ellipse">
            <a:avLst/>
          </a:prstGeom>
          <a:solidFill>
            <a:srgbClr val="F5A524"/>
          </a:solidFill>
          <a:ln w="12700">
            <a:solidFill>
              <a:srgbClr val="F5A524"/>
            </a:solidFill>
            <a:prstDash val="solid"/>
          </a:ln>
        </p:spPr>
      </p:sp>
      <p:sp>
        <p:nvSpPr>
          <p:cNvPr id="80" name="pat5__5"/>
          <p:cNvSpPr txBox="1"/>
          <p:nvPr/>
        </p:nvSpPr>
        <p:spPr>
          <a:xfrm>
            <a:off x="3506724" y="5074920"/>
            <a:ext cx="1005840" cy="201168"/>
          </a:xfrm>
          <a:prstGeom prst="rect">
            <a:avLst/>
          </a:prstGeom>
          <a:noFill/>
          <a:ln/>
        </p:spPr>
        <p:txBody>
          <a:bodyPr wrap="square" lIns="0" tIns="0" rIns="0" bIns="0" rtlCol="0" anchor="ctr"/>
          <a:lstStyle/>
          <a:p>
            <a:pPr algn="ctr" indent="0" marL="0">
              <a:buNone/>
            </a:pPr>
            <a:r>
              <a:rPr lang="en-US" sz="1000" b="1" dirty="0">
                <a:solidFill>
                  <a:srgbClr val="F5A524"/>
                </a:solidFill>
                <a:latin typeface="Calibri" pitchFamily="34" charset="0"/>
                <a:ea typeface="Calibri" pitchFamily="34" charset="-122"/>
                <a:cs typeface="Calibri" pitchFamily="34" charset="-120"/>
              </a:rPr>
              <a:t>≈ 9.5k each</a:t>
            </a:r>
            <a:endParaRPr lang="en-US" sz="1000" dirty="0"/>
          </a:p>
        </p:txBody>
      </p:sp>
      <p:sp>
        <p:nvSpPr>
          <p:cNvPr id="81" name="pat5__6"/>
          <p:cNvSpPr txBox="1"/>
          <p:nvPr/>
        </p:nvSpPr>
        <p:spPr>
          <a:xfrm>
            <a:off x="4649724" y="4224528"/>
            <a:ext cx="1234440" cy="777240"/>
          </a:xfrm>
          <a:prstGeom prst="rect">
            <a:avLst/>
          </a:prstGeom>
          <a:noFill/>
          <a:ln/>
        </p:spPr>
        <p:txBody>
          <a:bodyPr wrap="square" lIns="0" tIns="0" rIns="0" bIns="0" rtlCol="0" anchor="t"/>
          <a:lstStyle/>
          <a:p>
            <a:pPr indent="0" marL="0">
              <a:buNone/>
            </a:pPr>
            <a:r>
              <a:rPr lang="en-US" sz="2600" b="1" dirty="0">
                <a:solidFill>
                  <a:srgbClr val="38BDF8"/>
                </a:solidFill>
                <a:latin typeface="Arial" pitchFamily="34" charset="0"/>
                <a:ea typeface="Arial" pitchFamily="34" charset="-122"/>
                <a:cs typeface="Arial" pitchFamily="34" charset="-120"/>
              </a:rPr>
              <a:t>4</a:t>
            </a:r>
            <a:endParaRPr lang="en-US" sz="2600" dirty="0"/>
          </a:p>
          <a:p>
            <a:pPr indent="0" marL="0">
              <a:buNone/>
            </a:pPr>
            <a:r>
              <a:rPr lang="en-US" sz="1100" dirty="0">
                <a:solidFill>
                  <a:srgbClr val="5F7090"/>
                </a:solidFill>
                <a:latin typeface="Calibri" pitchFamily="34" charset="0"/>
                <a:ea typeface="Calibri" pitchFamily="34" charset="-122"/>
                <a:cs typeface="Calibri" pitchFamily="34" charset="-120"/>
              </a:rPr>
              <a:t>accounts flagged</a:t>
            </a:r>
            <a:endParaRPr lang="en-US" sz="2600" dirty="0"/>
          </a:p>
        </p:txBody>
      </p:sp>
      <p:sp>
        <p:nvSpPr>
          <p:cNvPr id="82" name="pat5__7"/>
          <p:cNvSpPr txBox="1"/>
          <p:nvPr/>
        </p:nvSpPr>
        <p:spPr>
          <a:xfrm>
            <a:off x="3552444" y="5166360"/>
            <a:ext cx="230886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Structuring</a:t>
            </a:r>
            <a:endParaRPr lang="en-US" sz="1500" dirty="0"/>
          </a:p>
        </p:txBody>
      </p:sp>
      <p:sp>
        <p:nvSpPr>
          <p:cNvPr id="83" name="pat5__8"/>
          <p:cNvSpPr txBox="1"/>
          <p:nvPr/>
        </p:nvSpPr>
        <p:spPr>
          <a:xfrm>
            <a:off x="3552444" y="5513832"/>
            <a:ext cx="2308860" cy="64008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3+ transfers just under the BDT 10,000 limit in 24 h.</a:t>
            </a:r>
            <a:endParaRPr lang="en-US" sz="1200" dirty="0"/>
          </a:p>
        </p:txBody>
      </p:sp>
      <p:sp>
        <p:nvSpPr>
          <p:cNvPr id="84" name="pat6__1"/>
          <p:cNvSpPr/>
          <p:nvPr/>
        </p:nvSpPr>
        <p:spPr>
          <a:xfrm>
            <a:off x="6190488" y="4023360"/>
            <a:ext cx="2628900" cy="2194560"/>
          </a:xfrm>
          <a:prstGeom prst="roundRect">
            <a:avLst>
              <a:gd name="adj" fmla="val 50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85" name="patE6__1"/>
          <p:cNvSpPr/>
          <p:nvPr/>
        </p:nvSpPr>
        <p:spPr>
          <a:xfrm>
            <a:off x="6830568" y="4291149"/>
            <a:ext cx="341647" cy="248221"/>
          </a:xfrm>
          <a:prstGeom prst="line">
            <a:avLst/>
          </a:prstGeom>
          <a:noFill/>
          <a:ln w="11430">
            <a:solidFill>
              <a:srgbClr val="FF4D5E">
                <a:alpha val="70000"/>
              </a:srgbClr>
            </a:solidFill>
            <a:prstDash val="solid"/>
          </a:ln>
        </p:spPr>
      </p:sp>
      <p:sp>
        <p:nvSpPr>
          <p:cNvPr id="86" name="patE6__2"/>
          <p:cNvSpPr/>
          <p:nvPr/>
        </p:nvSpPr>
        <p:spPr>
          <a:xfrm flipH="1">
            <a:off x="6619419" y="4291149"/>
            <a:ext cx="211149" cy="649851"/>
          </a:xfrm>
          <a:prstGeom prst="line">
            <a:avLst/>
          </a:prstGeom>
          <a:noFill/>
          <a:ln w="11430">
            <a:solidFill>
              <a:srgbClr val="FF4D5E">
                <a:alpha val="70000"/>
              </a:srgbClr>
            </a:solidFill>
            <a:prstDash val="solid"/>
          </a:ln>
        </p:spPr>
      </p:sp>
      <p:sp>
        <p:nvSpPr>
          <p:cNvPr id="87" name="patE6__3"/>
          <p:cNvSpPr/>
          <p:nvPr/>
        </p:nvSpPr>
        <p:spPr>
          <a:xfrm flipH="1">
            <a:off x="6488921" y="4291149"/>
            <a:ext cx="341647" cy="248221"/>
          </a:xfrm>
          <a:prstGeom prst="line">
            <a:avLst/>
          </a:prstGeom>
          <a:noFill/>
          <a:ln w="11430">
            <a:solidFill>
              <a:srgbClr val="FF4D5E">
                <a:alpha val="70000"/>
              </a:srgbClr>
            </a:solidFill>
            <a:prstDash val="solid"/>
          </a:ln>
        </p:spPr>
      </p:sp>
      <p:sp>
        <p:nvSpPr>
          <p:cNvPr id="88" name="patE6__4"/>
          <p:cNvSpPr/>
          <p:nvPr/>
        </p:nvSpPr>
        <p:spPr>
          <a:xfrm flipH="1">
            <a:off x="7041717" y="4539369"/>
            <a:ext cx="130497" cy="401630"/>
          </a:xfrm>
          <a:prstGeom prst="line">
            <a:avLst/>
          </a:prstGeom>
          <a:noFill/>
          <a:ln w="11430">
            <a:solidFill>
              <a:srgbClr val="FF4D5E">
                <a:alpha val="70000"/>
              </a:srgbClr>
            </a:solidFill>
            <a:prstDash val="solid"/>
          </a:ln>
        </p:spPr>
      </p:sp>
      <p:sp>
        <p:nvSpPr>
          <p:cNvPr id="89" name="patE6__5"/>
          <p:cNvSpPr/>
          <p:nvPr/>
        </p:nvSpPr>
        <p:spPr>
          <a:xfrm flipH="1">
            <a:off x="6619419" y="4539369"/>
            <a:ext cx="552796" cy="401630"/>
          </a:xfrm>
          <a:prstGeom prst="line">
            <a:avLst/>
          </a:prstGeom>
          <a:noFill/>
          <a:ln w="11430">
            <a:solidFill>
              <a:srgbClr val="FF4D5E">
                <a:alpha val="70000"/>
              </a:srgbClr>
            </a:solidFill>
            <a:prstDash val="solid"/>
          </a:ln>
        </p:spPr>
      </p:sp>
      <p:sp>
        <p:nvSpPr>
          <p:cNvPr id="90" name="patE6__6"/>
          <p:cNvSpPr/>
          <p:nvPr/>
        </p:nvSpPr>
        <p:spPr>
          <a:xfrm flipH="1">
            <a:off x="6488921" y="4539369"/>
            <a:ext cx="683293" cy="914"/>
          </a:xfrm>
          <a:prstGeom prst="line">
            <a:avLst/>
          </a:prstGeom>
          <a:noFill/>
          <a:ln w="11430">
            <a:solidFill>
              <a:srgbClr val="FF4D5E">
                <a:alpha val="70000"/>
              </a:srgbClr>
            </a:solidFill>
            <a:prstDash val="solid"/>
          </a:ln>
        </p:spPr>
      </p:sp>
      <p:sp>
        <p:nvSpPr>
          <p:cNvPr id="91" name="patE6__7"/>
          <p:cNvSpPr/>
          <p:nvPr/>
        </p:nvSpPr>
        <p:spPr>
          <a:xfrm flipH="1">
            <a:off x="6619419" y="4940999"/>
            <a:ext cx="422299" cy="914"/>
          </a:xfrm>
          <a:prstGeom prst="line">
            <a:avLst/>
          </a:prstGeom>
          <a:noFill/>
          <a:ln w="11430">
            <a:solidFill>
              <a:srgbClr val="FF4D5E">
                <a:alpha val="70000"/>
              </a:srgbClr>
            </a:solidFill>
            <a:prstDash val="solid"/>
          </a:ln>
        </p:spPr>
      </p:sp>
      <p:sp>
        <p:nvSpPr>
          <p:cNvPr id="92" name="patE6__8"/>
          <p:cNvSpPr/>
          <p:nvPr/>
        </p:nvSpPr>
        <p:spPr>
          <a:xfrm flipH="1" flipV="1">
            <a:off x="6488921" y="4539369"/>
            <a:ext cx="552796" cy="401630"/>
          </a:xfrm>
          <a:prstGeom prst="line">
            <a:avLst/>
          </a:prstGeom>
          <a:noFill/>
          <a:ln w="11430">
            <a:solidFill>
              <a:srgbClr val="FF4D5E">
                <a:alpha val="70000"/>
              </a:srgbClr>
            </a:solidFill>
            <a:prstDash val="solid"/>
          </a:ln>
        </p:spPr>
      </p:sp>
      <p:sp>
        <p:nvSpPr>
          <p:cNvPr id="93" name="patE6__9"/>
          <p:cNvSpPr/>
          <p:nvPr/>
        </p:nvSpPr>
        <p:spPr>
          <a:xfrm flipH="1" flipV="1">
            <a:off x="6488921" y="4539369"/>
            <a:ext cx="130497" cy="401630"/>
          </a:xfrm>
          <a:prstGeom prst="line">
            <a:avLst/>
          </a:prstGeom>
          <a:noFill/>
          <a:ln w="11430">
            <a:solidFill>
              <a:srgbClr val="FF4D5E">
                <a:alpha val="70000"/>
              </a:srgbClr>
            </a:solidFill>
            <a:prstDash val="solid"/>
          </a:ln>
        </p:spPr>
      </p:sp>
      <p:sp>
        <p:nvSpPr>
          <p:cNvPr id="94" name="pat6__2"/>
          <p:cNvSpPr/>
          <p:nvPr/>
        </p:nvSpPr>
        <p:spPr>
          <a:xfrm>
            <a:off x="6761988" y="4222569"/>
            <a:ext cx="137160" cy="137160"/>
          </a:xfrm>
          <a:prstGeom prst="ellipse">
            <a:avLst/>
          </a:prstGeom>
          <a:solidFill>
            <a:srgbClr val="FF4D5E"/>
          </a:solidFill>
          <a:ln w="12700">
            <a:solidFill>
              <a:srgbClr val="FF4D5E"/>
            </a:solidFill>
            <a:prstDash val="solid"/>
          </a:ln>
        </p:spPr>
      </p:sp>
      <p:sp>
        <p:nvSpPr>
          <p:cNvPr id="95" name="pat6__3"/>
          <p:cNvSpPr/>
          <p:nvPr/>
        </p:nvSpPr>
        <p:spPr>
          <a:xfrm>
            <a:off x="7103635" y="4470789"/>
            <a:ext cx="137160" cy="137160"/>
          </a:xfrm>
          <a:prstGeom prst="ellipse">
            <a:avLst/>
          </a:prstGeom>
          <a:solidFill>
            <a:srgbClr val="FF4D5E"/>
          </a:solidFill>
          <a:ln w="12700">
            <a:solidFill>
              <a:srgbClr val="FF4D5E"/>
            </a:solidFill>
            <a:prstDash val="solid"/>
          </a:ln>
        </p:spPr>
      </p:sp>
      <p:sp>
        <p:nvSpPr>
          <p:cNvPr id="96" name="pat6__4"/>
          <p:cNvSpPr/>
          <p:nvPr/>
        </p:nvSpPr>
        <p:spPr>
          <a:xfrm>
            <a:off x="6973137" y="4872419"/>
            <a:ext cx="137160" cy="137160"/>
          </a:xfrm>
          <a:prstGeom prst="ellipse">
            <a:avLst/>
          </a:prstGeom>
          <a:solidFill>
            <a:srgbClr val="FF4D5E"/>
          </a:solidFill>
          <a:ln w="12700">
            <a:solidFill>
              <a:srgbClr val="FF4D5E"/>
            </a:solidFill>
            <a:prstDash val="solid"/>
          </a:ln>
        </p:spPr>
      </p:sp>
      <p:sp>
        <p:nvSpPr>
          <p:cNvPr id="97" name="pat6__5"/>
          <p:cNvSpPr/>
          <p:nvPr/>
        </p:nvSpPr>
        <p:spPr>
          <a:xfrm>
            <a:off x="6550839" y="4872419"/>
            <a:ext cx="137160" cy="137160"/>
          </a:xfrm>
          <a:prstGeom prst="ellipse">
            <a:avLst/>
          </a:prstGeom>
          <a:solidFill>
            <a:srgbClr val="FF4D5E"/>
          </a:solidFill>
          <a:ln w="12700">
            <a:solidFill>
              <a:srgbClr val="FF4D5E"/>
            </a:solidFill>
            <a:prstDash val="solid"/>
          </a:ln>
        </p:spPr>
      </p:sp>
      <p:sp>
        <p:nvSpPr>
          <p:cNvPr id="98" name="pat6__6"/>
          <p:cNvSpPr/>
          <p:nvPr/>
        </p:nvSpPr>
        <p:spPr>
          <a:xfrm>
            <a:off x="6420341" y="4470789"/>
            <a:ext cx="137160" cy="137160"/>
          </a:xfrm>
          <a:prstGeom prst="ellipse">
            <a:avLst/>
          </a:prstGeom>
          <a:solidFill>
            <a:srgbClr val="FF4D5E"/>
          </a:solidFill>
          <a:ln w="12700">
            <a:solidFill>
              <a:srgbClr val="FF4D5E"/>
            </a:solidFill>
            <a:prstDash val="solid"/>
          </a:ln>
        </p:spPr>
      </p:sp>
      <p:sp>
        <p:nvSpPr>
          <p:cNvPr id="99" name="pat6__7"/>
          <p:cNvSpPr txBox="1"/>
          <p:nvPr/>
        </p:nvSpPr>
        <p:spPr>
          <a:xfrm>
            <a:off x="7470648" y="4224528"/>
            <a:ext cx="1234440" cy="777240"/>
          </a:xfrm>
          <a:prstGeom prst="rect">
            <a:avLst/>
          </a:prstGeom>
          <a:noFill/>
          <a:ln/>
        </p:spPr>
        <p:txBody>
          <a:bodyPr wrap="square" lIns="0" tIns="0" rIns="0" bIns="0" rtlCol="0" anchor="t"/>
          <a:lstStyle/>
          <a:p>
            <a:pPr indent="0" marL="0">
              <a:buNone/>
            </a:pPr>
            <a:r>
              <a:rPr lang="en-US" sz="2600" b="1" dirty="0">
                <a:solidFill>
                  <a:srgbClr val="38BDF8"/>
                </a:solidFill>
                <a:latin typeface="Arial" pitchFamily="34" charset="0"/>
                <a:ea typeface="Arial" pitchFamily="34" charset="-122"/>
                <a:cs typeface="Arial" pitchFamily="34" charset="-120"/>
              </a:rPr>
              <a:t>4</a:t>
            </a:r>
            <a:endParaRPr lang="en-US" sz="2600" dirty="0"/>
          </a:p>
          <a:p>
            <a:pPr indent="0" marL="0">
              <a:buNone/>
            </a:pPr>
            <a:r>
              <a:rPr lang="en-US" sz="1100" dirty="0">
                <a:solidFill>
                  <a:srgbClr val="5F7090"/>
                </a:solidFill>
                <a:latin typeface="Calibri" pitchFamily="34" charset="0"/>
                <a:ea typeface="Calibri" pitchFamily="34" charset="-122"/>
                <a:cs typeface="Calibri" pitchFamily="34" charset="-120"/>
              </a:rPr>
              <a:t>accounts flagged</a:t>
            </a:r>
            <a:endParaRPr lang="en-US" sz="2600" dirty="0"/>
          </a:p>
        </p:txBody>
      </p:sp>
      <p:sp>
        <p:nvSpPr>
          <p:cNvPr id="100" name="pat6__8"/>
          <p:cNvSpPr txBox="1"/>
          <p:nvPr/>
        </p:nvSpPr>
        <p:spPr>
          <a:xfrm>
            <a:off x="6373368" y="5166360"/>
            <a:ext cx="230886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Coordinated Network</a:t>
            </a:r>
            <a:endParaRPr lang="en-US" sz="1500" dirty="0"/>
          </a:p>
        </p:txBody>
      </p:sp>
      <p:sp>
        <p:nvSpPr>
          <p:cNvPr id="101" name="pat6__9"/>
          <p:cNvSpPr txBox="1"/>
          <p:nvPr/>
        </p:nvSpPr>
        <p:spPr>
          <a:xfrm>
            <a:off x="6373368" y="5513832"/>
            <a:ext cx="2308860" cy="64008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A dense cluster of 4+ accounts trading internally.</a:t>
            </a:r>
            <a:endParaRPr lang="en-US" sz="1200" dirty="0"/>
          </a:p>
        </p:txBody>
      </p:sp>
      <p:sp>
        <p:nvSpPr>
          <p:cNvPr id="102" name="pat7__1"/>
          <p:cNvSpPr/>
          <p:nvPr/>
        </p:nvSpPr>
        <p:spPr>
          <a:xfrm>
            <a:off x="9011412" y="4023360"/>
            <a:ext cx="2628900" cy="2194560"/>
          </a:xfrm>
          <a:prstGeom prst="roundRect">
            <a:avLst>
              <a:gd name="adj" fmla="val 5000"/>
            </a:avLst>
          </a:prstGeom>
          <a:solidFill>
            <a:srgbClr val="A78BFA">
              <a:alpha val="12000"/>
            </a:srgbClr>
          </a:solidFill>
          <a:ln w="12700">
            <a:solidFill>
              <a:srgbClr val="A78BFA"/>
            </a:solidFill>
            <a:prstDash val="solid"/>
          </a:ln>
          <a:effectLst>
            <a:outerShdw sx="100000" sy="100000" kx="0" ky="0" algn="bl" rotWithShape="0" blurRad="101600" dist="38100" dir="5400000">
              <a:srgbClr val="000000">
                <a:alpha val="45000"/>
              </a:srgbClr>
            </a:outerShdw>
          </a:effectLst>
        </p:spPr>
      </p:sp>
      <p:pic>
        <p:nvPicPr>
          <p:cNvPr id="103" name="patE7__1" descr="preencoded.png">    </p:cNvPr>
          <p:cNvPicPr>
            <a:picLocks noChangeAspect="1"/>
          </p:cNvPicPr>
          <p:nvPr/>
        </p:nvPicPr>
        <p:blipFill>
          <a:blip r:embed="rId2"/>
          <a:stretch>
            <a:fillRect/>
          </a:stretch>
        </p:blipFill>
        <p:spPr>
          <a:xfrm>
            <a:off x="9267444" y="4251960"/>
            <a:ext cx="777240" cy="777240"/>
          </a:xfrm>
          <a:prstGeom prst="rect">
            <a:avLst/>
          </a:prstGeom>
        </p:spPr>
      </p:pic>
      <p:sp>
        <p:nvSpPr>
          <p:cNvPr id="104" name="pat7__2"/>
          <p:cNvSpPr txBox="1"/>
          <p:nvPr/>
        </p:nvSpPr>
        <p:spPr>
          <a:xfrm>
            <a:off x="10291572" y="4224528"/>
            <a:ext cx="1234440" cy="777240"/>
          </a:xfrm>
          <a:prstGeom prst="rect">
            <a:avLst/>
          </a:prstGeom>
          <a:noFill/>
          <a:ln/>
        </p:spPr>
        <p:txBody>
          <a:bodyPr wrap="square" lIns="0" tIns="0" rIns="0" bIns="0" rtlCol="0" anchor="t"/>
          <a:lstStyle/>
          <a:p>
            <a:pPr indent="0" marL="0">
              <a:buNone/>
            </a:pPr>
            <a:r>
              <a:rPr lang="en-US" sz="2600" b="1" dirty="0">
                <a:solidFill>
                  <a:srgbClr val="A78BFA"/>
                </a:solidFill>
                <a:latin typeface="Arial" pitchFamily="34" charset="0"/>
                <a:ea typeface="Arial" pitchFamily="34" charset="-122"/>
                <a:cs typeface="Arial" pitchFamily="34" charset="-120"/>
              </a:rPr>
              <a:t>9</a:t>
            </a:r>
            <a:endParaRPr lang="en-US" sz="2600" dirty="0"/>
          </a:p>
          <a:p>
            <a:pPr indent="0" marL="0">
              <a:buNone/>
            </a:pPr>
            <a:r>
              <a:rPr lang="en-US" sz="1100" dirty="0">
                <a:solidFill>
                  <a:srgbClr val="5F7090"/>
                </a:solidFill>
                <a:latin typeface="Calibri" pitchFamily="34" charset="0"/>
                <a:ea typeface="Calibri" pitchFamily="34" charset="-122"/>
                <a:cs typeface="Calibri" pitchFamily="34" charset="-120"/>
              </a:rPr>
              <a:t>accounts flagged</a:t>
            </a:r>
            <a:endParaRPr lang="en-US" sz="2600" dirty="0"/>
          </a:p>
        </p:txBody>
      </p:sp>
      <p:sp>
        <p:nvSpPr>
          <p:cNvPr id="105" name="pat7__3"/>
          <p:cNvSpPr txBox="1"/>
          <p:nvPr/>
        </p:nvSpPr>
        <p:spPr>
          <a:xfrm>
            <a:off x="9194292" y="5166360"/>
            <a:ext cx="230886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ML Anomaly</a:t>
            </a:r>
            <a:endParaRPr lang="en-US" sz="1500" dirty="0"/>
          </a:p>
        </p:txBody>
      </p:sp>
      <p:sp>
        <p:nvSpPr>
          <p:cNvPr id="106" name="pat7__4"/>
          <p:cNvSpPr txBox="1"/>
          <p:nvPr/>
        </p:nvSpPr>
        <p:spPr>
          <a:xfrm>
            <a:off x="9194292" y="5513832"/>
            <a:ext cx="2308860" cy="64008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Isolation Forest flags outliers, no fraud labels needed.</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1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400" fill="hold"/>
                                        <p:tgtEl>
                                          <p:spTgt spid="5"/>
                                        </p:tgtEl>
                                        <p:attrNameLst>
                                          <p:attrName>ppt_w</p:attrName>
                                        </p:attrNameLst>
                                      </p:cBhvr>
                                      <p:tavLst>
                                        <p:tav tm="0">
                                          <p:val>
                                            <p:strVal val="0"/>
                                          </p:val>
                                        </p:tav>
                                        <p:tav tm="100000">
                                          <p:val>
                                            <p:strVal val="#ppt_w"/>
                                          </p:val>
                                        </p:tav>
                                      </p:tavLst>
                                    </p:anim>
                                    <p:anim calcmode="lin" valueType="num">
                                      <p:cBhvr additive="base">
                                        <p:cTn id="8" dur="400" fill="hold"/>
                                        <p:tgtEl>
                                          <p:spTgt spid="5"/>
                                        </p:tgtEl>
                                        <p:attrNameLst>
                                          <p:attrName>ppt_h</p:attrName>
                                        </p:attrNameLst>
                                      </p:cBhvr>
                                      <p:tavLst>
                                        <p:tav tm="0">
                                          <p:val>
                                            <p:strVal val="0"/>
                                          </p:val>
                                        </p:tav>
                                        <p:tav tm="100000">
                                          <p:val>
                                            <p:strVal val="#ppt_h"/>
                                          </p:val>
                                        </p:tav>
                                      </p:tavLst>
                                    </p:anim>
                                    <p:animEffect transition="in" filter="fade">
                                      <p:cBhvr>
                                        <p:cTn id="9" dur="400"/>
                                        <p:tgtEl>
                                          <p:spTgt spid="5"/>
                                        </p:tgtEl>
                                      </p:cBhvr>
                                    </p:animEffect>
                                  </p:childTnLst>
                                </p:cTn>
                              </p:par>
                              <p:par>
                                <p:cTn id="10" presetID="53" presetClass="entr" presetSubtype="16" fill="hold" nodeType="withEffect">
                                  <p:stCondLst>
                                    <p:cond delay="15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400" fill="hold"/>
                                        <p:tgtEl>
                                          <p:spTgt spid="7"/>
                                        </p:tgtEl>
                                        <p:attrNameLst>
                                          <p:attrName>ppt_w</p:attrName>
                                        </p:attrNameLst>
                                      </p:cBhvr>
                                      <p:tavLst>
                                        <p:tav tm="0">
                                          <p:val>
                                            <p:strVal val="0"/>
                                          </p:val>
                                        </p:tav>
                                        <p:tav tm="100000">
                                          <p:val>
                                            <p:strVal val="#ppt_w"/>
                                          </p:val>
                                        </p:tav>
                                      </p:tavLst>
                                    </p:anim>
                                    <p:anim calcmode="lin" valueType="num">
                                      <p:cBhvr additive="base">
                                        <p:cTn id="13" dur="400" fill="hold"/>
                                        <p:tgtEl>
                                          <p:spTgt spid="7"/>
                                        </p:tgtEl>
                                        <p:attrNameLst>
                                          <p:attrName>ppt_h</p:attrName>
                                        </p:attrNameLst>
                                      </p:cBhvr>
                                      <p:tavLst>
                                        <p:tav tm="0">
                                          <p:val>
                                            <p:strVal val="0"/>
                                          </p:val>
                                        </p:tav>
                                        <p:tav tm="100000">
                                          <p:val>
                                            <p:strVal val="#ppt_h"/>
                                          </p:val>
                                        </p:tav>
                                      </p:tavLst>
                                    </p:anim>
                                    <p:animEffect transition="in" filter="fade">
                                      <p:cBhvr>
                                        <p:cTn id="14" dur="400"/>
                                        <p:tgtEl>
                                          <p:spTgt spid="7"/>
                                        </p:tgtEl>
                                      </p:cBhvr>
                                    </p:animEffect>
                                  </p:childTnLst>
                                </p:cTn>
                              </p:par>
                              <p:par>
                                <p:cTn id="15" presetID="53" presetClass="entr" presetSubtype="16" fill="hold" nodeType="withEffect">
                                  <p:stCondLst>
                                    <p:cond delay="15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400" fill="hold"/>
                                        <p:tgtEl>
                                          <p:spTgt spid="9"/>
                                        </p:tgtEl>
                                        <p:attrNameLst>
                                          <p:attrName>ppt_w</p:attrName>
                                        </p:attrNameLst>
                                      </p:cBhvr>
                                      <p:tavLst>
                                        <p:tav tm="0">
                                          <p:val>
                                            <p:strVal val="0"/>
                                          </p:val>
                                        </p:tav>
                                        <p:tav tm="100000">
                                          <p:val>
                                            <p:strVal val="#ppt_w"/>
                                          </p:val>
                                        </p:tav>
                                      </p:tavLst>
                                    </p:anim>
                                    <p:anim calcmode="lin" valueType="num">
                                      <p:cBhvr additive="base">
                                        <p:cTn id="18" dur="400" fill="hold"/>
                                        <p:tgtEl>
                                          <p:spTgt spid="9"/>
                                        </p:tgtEl>
                                        <p:attrNameLst>
                                          <p:attrName>ppt_h</p:attrName>
                                        </p:attrNameLst>
                                      </p:cBhvr>
                                      <p:tavLst>
                                        <p:tav tm="0">
                                          <p:val>
                                            <p:strVal val="0"/>
                                          </p:val>
                                        </p:tav>
                                        <p:tav tm="100000">
                                          <p:val>
                                            <p:strVal val="#ppt_h"/>
                                          </p:val>
                                        </p:tav>
                                      </p:tavLst>
                                    </p:anim>
                                    <p:animEffect transition="in" filter="fade">
                                      <p:cBhvr>
                                        <p:cTn id="19" dur="400"/>
                                        <p:tgtEl>
                                          <p:spTgt spid="9"/>
                                        </p:tgtEl>
                                      </p:cBhvr>
                                    </p:animEffect>
                                  </p:childTnLst>
                                </p:cTn>
                              </p:par>
                              <p:par>
                                <p:cTn id="20" presetID="53" presetClass="entr" presetSubtype="16" fill="hold" nodeType="withEffect">
                                  <p:stCondLst>
                                    <p:cond delay="15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400" fill="hold"/>
                                        <p:tgtEl>
                                          <p:spTgt spid="11"/>
                                        </p:tgtEl>
                                        <p:attrNameLst>
                                          <p:attrName>ppt_w</p:attrName>
                                        </p:attrNameLst>
                                      </p:cBhvr>
                                      <p:tavLst>
                                        <p:tav tm="0">
                                          <p:val>
                                            <p:strVal val="0"/>
                                          </p:val>
                                        </p:tav>
                                        <p:tav tm="100000">
                                          <p:val>
                                            <p:strVal val="#ppt_w"/>
                                          </p:val>
                                        </p:tav>
                                      </p:tavLst>
                                    </p:anim>
                                    <p:anim calcmode="lin" valueType="num">
                                      <p:cBhvr additive="base">
                                        <p:cTn id="23" dur="400" fill="hold"/>
                                        <p:tgtEl>
                                          <p:spTgt spid="11"/>
                                        </p:tgtEl>
                                        <p:attrNameLst>
                                          <p:attrName>ppt_h</p:attrName>
                                        </p:attrNameLst>
                                      </p:cBhvr>
                                      <p:tavLst>
                                        <p:tav tm="0">
                                          <p:val>
                                            <p:strVal val="0"/>
                                          </p:val>
                                        </p:tav>
                                        <p:tav tm="100000">
                                          <p:val>
                                            <p:strVal val="#ppt_h"/>
                                          </p:val>
                                        </p:tav>
                                      </p:tavLst>
                                    </p:anim>
                                    <p:animEffect transition="in" filter="fade">
                                      <p:cBhvr>
                                        <p:cTn id="24" dur="400"/>
                                        <p:tgtEl>
                                          <p:spTgt spid="11"/>
                                        </p:tgtEl>
                                      </p:cBhvr>
                                    </p:animEffect>
                                  </p:childTnLst>
                                </p:cTn>
                              </p:par>
                              <p:par>
                                <p:cTn id="25" presetID="53" presetClass="entr" presetSubtype="16" fill="hold" nodeType="withEffect">
                                  <p:stCondLst>
                                    <p:cond delay="1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400" fill="hold"/>
                                        <p:tgtEl>
                                          <p:spTgt spid="13"/>
                                        </p:tgtEl>
                                        <p:attrNameLst>
                                          <p:attrName>ppt_w</p:attrName>
                                        </p:attrNameLst>
                                      </p:cBhvr>
                                      <p:tavLst>
                                        <p:tav tm="0">
                                          <p:val>
                                            <p:strVal val="0"/>
                                          </p:val>
                                        </p:tav>
                                        <p:tav tm="100000">
                                          <p:val>
                                            <p:strVal val="#ppt_w"/>
                                          </p:val>
                                        </p:tav>
                                      </p:tavLst>
                                    </p:anim>
                                    <p:anim calcmode="lin" valueType="num">
                                      <p:cBhvr additive="base">
                                        <p:cTn id="28" dur="400" fill="hold"/>
                                        <p:tgtEl>
                                          <p:spTgt spid="13"/>
                                        </p:tgtEl>
                                        <p:attrNameLst>
                                          <p:attrName>ppt_h</p:attrName>
                                        </p:attrNameLst>
                                      </p:cBhvr>
                                      <p:tavLst>
                                        <p:tav tm="0">
                                          <p:val>
                                            <p:strVal val="0"/>
                                          </p:val>
                                        </p:tav>
                                        <p:tav tm="100000">
                                          <p:val>
                                            <p:strVal val="#ppt_h"/>
                                          </p:val>
                                        </p:tav>
                                      </p:tavLst>
                                    </p:anim>
                                    <p:animEffect transition="in" filter="fade">
                                      <p:cBhvr>
                                        <p:cTn id="29" dur="400"/>
                                        <p:tgtEl>
                                          <p:spTgt spid="13"/>
                                        </p:tgtEl>
                                      </p:cBhvr>
                                    </p:animEffect>
                                  </p:childTnLst>
                                </p:cTn>
                              </p:par>
                              <p:par>
                                <p:cTn id="30" presetID="53" presetClass="entr" presetSubtype="16" fill="hold" nodeType="withEffect">
                                  <p:stCondLst>
                                    <p:cond delay="15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400" fill="hold"/>
                                        <p:tgtEl>
                                          <p:spTgt spid="15"/>
                                        </p:tgtEl>
                                        <p:attrNameLst>
                                          <p:attrName>ppt_w</p:attrName>
                                        </p:attrNameLst>
                                      </p:cBhvr>
                                      <p:tavLst>
                                        <p:tav tm="0">
                                          <p:val>
                                            <p:strVal val="0"/>
                                          </p:val>
                                        </p:tav>
                                        <p:tav tm="100000">
                                          <p:val>
                                            <p:strVal val="#ppt_w"/>
                                          </p:val>
                                        </p:tav>
                                      </p:tavLst>
                                    </p:anim>
                                    <p:anim calcmode="lin" valueType="num">
                                      <p:cBhvr additive="base">
                                        <p:cTn id="33" dur="400" fill="hold"/>
                                        <p:tgtEl>
                                          <p:spTgt spid="15"/>
                                        </p:tgtEl>
                                        <p:attrNameLst>
                                          <p:attrName>ppt_h</p:attrName>
                                        </p:attrNameLst>
                                      </p:cBhvr>
                                      <p:tavLst>
                                        <p:tav tm="0">
                                          <p:val>
                                            <p:strVal val="0"/>
                                          </p:val>
                                        </p:tav>
                                        <p:tav tm="100000">
                                          <p:val>
                                            <p:strVal val="#ppt_h"/>
                                          </p:val>
                                        </p:tav>
                                      </p:tavLst>
                                    </p:anim>
                                    <p:animEffect transition="in" filter="fade">
                                      <p:cBhvr>
                                        <p:cTn id="34" dur="400"/>
                                        <p:tgtEl>
                                          <p:spTgt spid="15"/>
                                        </p:tgtEl>
                                      </p:cBhvr>
                                    </p:animEffect>
                                  </p:childTnLst>
                                </p:cTn>
                              </p:par>
                              <p:par>
                                <p:cTn id="35" presetID="53" presetClass="entr" presetSubtype="16" fill="hold" nodeType="withEffect">
                                  <p:stCondLst>
                                    <p:cond delay="15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400" fill="hold"/>
                                        <p:tgtEl>
                                          <p:spTgt spid="16"/>
                                        </p:tgtEl>
                                        <p:attrNameLst>
                                          <p:attrName>ppt_w</p:attrName>
                                        </p:attrNameLst>
                                      </p:cBhvr>
                                      <p:tavLst>
                                        <p:tav tm="0">
                                          <p:val>
                                            <p:strVal val="0"/>
                                          </p:val>
                                        </p:tav>
                                        <p:tav tm="100000">
                                          <p:val>
                                            <p:strVal val="#ppt_w"/>
                                          </p:val>
                                        </p:tav>
                                      </p:tavLst>
                                    </p:anim>
                                    <p:anim calcmode="lin" valueType="num">
                                      <p:cBhvr additive="base">
                                        <p:cTn id="38" dur="400" fill="hold"/>
                                        <p:tgtEl>
                                          <p:spTgt spid="16"/>
                                        </p:tgtEl>
                                        <p:attrNameLst>
                                          <p:attrName>ppt_h</p:attrName>
                                        </p:attrNameLst>
                                      </p:cBhvr>
                                      <p:tavLst>
                                        <p:tav tm="0">
                                          <p:val>
                                            <p:strVal val="0"/>
                                          </p:val>
                                        </p:tav>
                                        <p:tav tm="100000">
                                          <p:val>
                                            <p:strVal val="#ppt_h"/>
                                          </p:val>
                                        </p:tav>
                                      </p:tavLst>
                                    </p:anim>
                                    <p:animEffect transition="in" filter="fade">
                                      <p:cBhvr>
                                        <p:cTn id="39" dur="400"/>
                                        <p:tgtEl>
                                          <p:spTgt spid="16"/>
                                        </p:tgtEl>
                                      </p:cBhvr>
                                    </p:animEffect>
                                  </p:childTnLst>
                                </p:cTn>
                              </p:par>
                              <p:par>
                                <p:cTn id="40" presetID="53" presetClass="entr" presetSubtype="16" fill="hold" nodeType="withEffect">
                                  <p:stCondLst>
                                    <p:cond delay="15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400" fill="hold"/>
                                        <p:tgtEl>
                                          <p:spTgt spid="17"/>
                                        </p:tgtEl>
                                        <p:attrNameLst>
                                          <p:attrName>ppt_w</p:attrName>
                                        </p:attrNameLst>
                                      </p:cBhvr>
                                      <p:tavLst>
                                        <p:tav tm="0">
                                          <p:val>
                                            <p:strVal val="0"/>
                                          </p:val>
                                        </p:tav>
                                        <p:tav tm="100000">
                                          <p:val>
                                            <p:strVal val="#ppt_w"/>
                                          </p:val>
                                        </p:tav>
                                      </p:tavLst>
                                    </p:anim>
                                    <p:anim calcmode="lin" valueType="num">
                                      <p:cBhvr additive="base">
                                        <p:cTn id="43" dur="400" fill="hold"/>
                                        <p:tgtEl>
                                          <p:spTgt spid="17"/>
                                        </p:tgtEl>
                                        <p:attrNameLst>
                                          <p:attrName>ppt_h</p:attrName>
                                        </p:attrNameLst>
                                      </p:cBhvr>
                                      <p:tavLst>
                                        <p:tav tm="0">
                                          <p:val>
                                            <p:strVal val="0"/>
                                          </p:val>
                                        </p:tav>
                                        <p:tav tm="100000">
                                          <p:val>
                                            <p:strVal val="#ppt_h"/>
                                          </p:val>
                                        </p:tav>
                                      </p:tavLst>
                                    </p:anim>
                                    <p:animEffect transition="in" filter="fade">
                                      <p:cBhvr>
                                        <p:cTn id="44" dur="400"/>
                                        <p:tgtEl>
                                          <p:spTgt spid="17"/>
                                        </p:tgtEl>
                                      </p:cBhvr>
                                    </p:animEffect>
                                  </p:childTnLst>
                                </p:cTn>
                              </p:par>
                              <p:par>
                                <p:cTn id="45" presetID="53" presetClass="entr" presetSubtype="16" fill="hold" nodeType="withEffect">
                                  <p:stCondLst>
                                    <p:cond delay="15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400" fill="hold"/>
                                        <p:tgtEl>
                                          <p:spTgt spid="18"/>
                                        </p:tgtEl>
                                        <p:attrNameLst>
                                          <p:attrName>ppt_w</p:attrName>
                                        </p:attrNameLst>
                                      </p:cBhvr>
                                      <p:tavLst>
                                        <p:tav tm="0">
                                          <p:val>
                                            <p:strVal val="0"/>
                                          </p:val>
                                        </p:tav>
                                        <p:tav tm="100000">
                                          <p:val>
                                            <p:strVal val="#ppt_w"/>
                                          </p:val>
                                        </p:tav>
                                      </p:tavLst>
                                    </p:anim>
                                    <p:anim calcmode="lin" valueType="num">
                                      <p:cBhvr additive="base">
                                        <p:cTn id="48" dur="400" fill="hold"/>
                                        <p:tgtEl>
                                          <p:spTgt spid="18"/>
                                        </p:tgtEl>
                                        <p:attrNameLst>
                                          <p:attrName>ppt_h</p:attrName>
                                        </p:attrNameLst>
                                      </p:cBhvr>
                                      <p:tavLst>
                                        <p:tav tm="0">
                                          <p:val>
                                            <p:strVal val="0"/>
                                          </p:val>
                                        </p:tav>
                                        <p:tav tm="100000">
                                          <p:val>
                                            <p:strVal val="#ppt_h"/>
                                          </p:val>
                                        </p:tav>
                                      </p:tavLst>
                                    </p:anim>
                                    <p:animEffect transition="in" filter="fade">
                                      <p:cBhvr>
                                        <p:cTn id="49" dur="400"/>
                                        <p:tgtEl>
                                          <p:spTgt spid="18"/>
                                        </p:tgtEl>
                                      </p:cBhvr>
                                    </p:animEffect>
                                  </p:childTnLst>
                                </p:cTn>
                              </p:par>
                              <p:par>
                                <p:cTn id="50" presetID="53" presetClass="entr" presetSubtype="16" fill="hold" nodeType="withEffect">
                                  <p:stCondLst>
                                    <p:cond delay="15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400" fill="hold"/>
                                        <p:tgtEl>
                                          <p:spTgt spid="19"/>
                                        </p:tgtEl>
                                        <p:attrNameLst>
                                          <p:attrName>ppt_w</p:attrName>
                                        </p:attrNameLst>
                                      </p:cBhvr>
                                      <p:tavLst>
                                        <p:tav tm="0">
                                          <p:val>
                                            <p:strVal val="0"/>
                                          </p:val>
                                        </p:tav>
                                        <p:tav tm="100000">
                                          <p:val>
                                            <p:strVal val="#ppt_w"/>
                                          </p:val>
                                        </p:tav>
                                      </p:tavLst>
                                    </p:anim>
                                    <p:anim calcmode="lin" valueType="num">
                                      <p:cBhvr additive="base">
                                        <p:cTn id="53" dur="400" fill="hold"/>
                                        <p:tgtEl>
                                          <p:spTgt spid="19"/>
                                        </p:tgtEl>
                                        <p:attrNameLst>
                                          <p:attrName>ppt_h</p:attrName>
                                        </p:attrNameLst>
                                      </p:cBhvr>
                                      <p:tavLst>
                                        <p:tav tm="0">
                                          <p:val>
                                            <p:strVal val="0"/>
                                          </p:val>
                                        </p:tav>
                                        <p:tav tm="100000">
                                          <p:val>
                                            <p:strVal val="#ppt_h"/>
                                          </p:val>
                                        </p:tav>
                                      </p:tavLst>
                                    </p:anim>
                                    <p:animEffect transition="in" filter="fade">
                                      <p:cBhvr>
                                        <p:cTn id="54" dur="400"/>
                                        <p:tgtEl>
                                          <p:spTgt spid="19"/>
                                        </p:tgtEl>
                                      </p:cBhvr>
                                    </p:animEffect>
                                  </p:childTnLst>
                                </p:cTn>
                              </p:par>
                              <p:par>
                                <p:cTn id="55" presetID="53" presetClass="entr" presetSubtype="16" fill="hold" nodeType="withEffect">
                                  <p:stCondLst>
                                    <p:cond delay="15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400" fill="hold"/>
                                        <p:tgtEl>
                                          <p:spTgt spid="20"/>
                                        </p:tgtEl>
                                        <p:attrNameLst>
                                          <p:attrName>ppt_w</p:attrName>
                                        </p:attrNameLst>
                                      </p:cBhvr>
                                      <p:tavLst>
                                        <p:tav tm="0">
                                          <p:val>
                                            <p:strVal val="0"/>
                                          </p:val>
                                        </p:tav>
                                        <p:tav tm="100000">
                                          <p:val>
                                            <p:strVal val="#ppt_w"/>
                                          </p:val>
                                        </p:tav>
                                      </p:tavLst>
                                    </p:anim>
                                    <p:anim calcmode="lin" valueType="num">
                                      <p:cBhvr additive="base">
                                        <p:cTn id="58" dur="400" fill="hold"/>
                                        <p:tgtEl>
                                          <p:spTgt spid="20"/>
                                        </p:tgtEl>
                                        <p:attrNameLst>
                                          <p:attrName>ppt_h</p:attrName>
                                        </p:attrNameLst>
                                      </p:cBhvr>
                                      <p:tavLst>
                                        <p:tav tm="0">
                                          <p:val>
                                            <p:strVal val="0"/>
                                          </p:val>
                                        </p:tav>
                                        <p:tav tm="100000">
                                          <p:val>
                                            <p:strVal val="#ppt_h"/>
                                          </p:val>
                                        </p:tav>
                                      </p:tavLst>
                                    </p:anim>
                                    <p:animEffect transition="in" filter="fade">
                                      <p:cBhvr>
                                        <p:cTn id="59" dur="400"/>
                                        <p:tgtEl>
                                          <p:spTgt spid="20"/>
                                        </p:tgtEl>
                                      </p:cBhvr>
                                    </p:animEffect>
                                  </p:childTnLst>
                                </p:cTn>
                              </p:par>
                              <p:par>
                                <p:cTn id="60" presetID="22" presetClass="entr" presetSubtype="8" fill="hold" nodeType="withEffect">
                                  <p:stCondLst>
                                    <p:cond delay="350"/>
                                  </p:stCondLst>
                                  <p:childTnLst>
                                    <p:set>
                                      <p:cBhvr>
                                        <p:cTn id="61" dur="1" fill="hold">
                                          <p:stCondLst>
                                            <p:cond delay="0"/>
                                          </p:stCondLst>
                                        </p:cTn>
                                        <p:tgtEl>
                                          <p:spTgt spid="6"/>
                                        </p:tgtEl>
                                        <p:attrNameLst>
                                          <p:attrName>style.visibility</p:attrName>
                                        </p:attrNameLst>
                                      </p:cBhvr>
                                      <p:to>
                                        <p:strVal val="visible"/>
                                      </p:to>
                                    </p:set>
                                    <p:animEffect transition="in" filter="wipe(left)">
                                      <p:cBhvr>
                                        <p:cTn id="62" dur="450"/>
                                        <p:tgtEl>
                                          <p:spTgt spid="6"/>
                                        </p:tgtEl>
                                      </p:cBhvr>
                                    </p:animEffect>
                                  </p:childTnLst>
                                </p:cTn>
                              </p:par>
                              <p:par>
                                <p:cTn id="63" presetID="22" presetClass="entr" presetSubtype="8" fill="hold" nodeType="withEffect">
                                  <p:stCondLst>
                                    <p:cond delay="350"/>
                                  </p:stCondLst>
                                  <p:childTnLst>
                                    <p:set>
                                      <p:cBhvr>
                                        <p:cTn id="64" dur="1" fill="hold">
                                          <p:stCondLst>
                                            <p:cond delay="0"/>
                                          </p:stCondLst>
                                        </p:cTn>
                                        <p:tgtEl>
                                          <p:spTgt spid="8"/>
                                        </p:tgtEl>
                                        <p:attrNameLst>
                                          <p:attrName>style.visibility</p:attrName>
                                        </p:attrNameLst>
                                      </p:cBhvr>
                                      <p:to>
                                        <p:strVal val="visible"/>
                                      </p:to>
                                    </p:set>
                                    <p:animEffect transition="in" filter="wipe(left)">
                                      <p:cBhvr>
                                        <p:cTn id="65" dur="450"/>
                                        <p:tgtEl>
                                          <p:spTgt spid="8"/>
                                        </p:tgtEl>
                                      </p:cBhvr>
                                    </p:animEffect>
                                  </p:childTnLst>
                                </p:cTn>
                              </p:par>
                              <p:par>
                                <p:cTn id="66" presetID="22" presetClass="entr" presetSubtype="8" fill="hold" nodeType="withEffect">
                                  <p:stCondLst>
                                    <p:cond delay="350"/>
                                  </p:stCondLst>
                                  <p:childTnLst>
                                    <p:set>
                                      <p:cBhvr>
                                        <p:cTn id="67" dur="1" fill="hold">
                                          <p:stCondLst>
                                            <p:cond delay="0"/>
                                          </p:stCondLst>
                                        </p:cTn>
                                        <p:tgtEl>
                                          <p:spTgt spid="10"/>
                                        </p:tgtEl>
                                        <p:attrNameLst>
                                          <p:attrName>style.visibility</p:attrName>
                                        </p:attrNameLst>
                                      </p:cBhvr>
                                      <p:to>
                                        <p:strVal val="visible"/>
                                      </p:to>
                                    </p:set>
                                    <p:animEffect transition="in" filter="wipe(left)">
                                      <p:cBhvr>
                                        <p:cTn id="68" dur="450"/>
                                        <p:tgtEl>
                                          <p:spTgt spid="10"/>
                                        </p:tgtEl>
                                      </p:cBhvr>
                                    </p:animEffect>
                                  </p:childTnLst>
                                </p:cTn>
                              </p:par>
                              <p:par>
                                <p:cTn id="69" presetID="22" presetClass="entr" presetSubtype="8" fill="hold" nodeType="withEffect">
                                  <p:stCondLst>
                                    <p:cond delay="350"/>
                                  </p:stCondLst>
                                  <p:childTnLst>
                                    <p:set>
                                      <p:cBhvr>
                                        <p:cTn id="70" dur="1" fill="hold">
                                          <p:stCondLst>
                                            <p:cond delay="0"/>
                                          </p:stCondLst>
                                        </p:cTn>
                                        <p:tgtEl>
                                          <p:spTgt spid="12"/>
                                        </p:tgtEl>
                                        <p:attrNameLst>
                                          <p:attrName>style.visibility</p:attrName>
                                        </p:attrNameLst>
                                      </p:cBhvr>
                                      <p:to>
                                        <p:strVal val="visible"/>
                                      </p:to>
                                    </p:set>
                                    <p:animEffect transition="in" filter="wipe(left)">
                                      <p:cBhvr>
                                        <p:cTn id="71" dur="450"/>
                                        <p:tgtEl>
                                          <p:spTgt spid="12"/>
                                        </p:tgtEl>
                                      </p:cBhvr>
                                    </p:animEffect>
                                  </p:childTnLst>
                                </p:cTn>
                              </p:par>
                              <p:par>
                                <p:cTn id="72" presetID="22" presetClass="entr" presetSubtype="8" fill="hold" nodeType="withEffect">
                                  <p:stCondLst>
                                    <p:cond delay="350"/>
                                  </p:stCondLst>
                                  <p:childTnLst>
                                    <p:set>
                                      <p:cBhvr>
                                        <p:cTn id="73" dur="1" fill="hold">
                                          <p:stCondLst>
                                            <p:cond delay="0"/>
                                          </p:stCondLst>
                                        </p:cTn>
                                        <p:tgtEl>
                                          <p:spTgt spid="14"/>
                                        </p:tgtEl>
                                        <p:attrNameLst>
                                          <p:attrName>style.visibility</p:attrName>
                                        </p:attrNameLst>
                                      </p:cBhvr>
                                      <p:to>
                                        <p:strVal val="visible"/>
                                      </p:to>
                                    </p:set>
                                    <p:animEffect transition="in" filter="wipe(left)">
                                      <p:cBhvr>
                                        <p:cTn id="74" dur="450"/>
                                        <p:tgtEl>
                                          <p:spTgt spid="14"/>
                                        </p:tgtEl>
                                      </p:cBhvr>
                                    </p:animEffect>
                                  </p:childTnLst>
                                </p:cTn>
                              </p:par>
                              <p:par>
                                <p:cTn id="75" presetID="53" presetClass="entr" presetSubtype="16" fill="hold" nodeType="withEffect">
                                  <p:stCondLst>
                                    <p:cond delay="37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400" fill="hold"/>
                                        <p:tgtEl>
                                          <p:spTgt spid="21"/>
                                        </p:tgtEl>
                                        <p:attrNameLst>
                                          <p:attrName>ppt_w</p:attrName>
                                        </p:attrNameLst>
                                      </p:cBhvr>
                                      <p:tavLst>
                                        <p:tav tm="0">
                                          <p:val>
                                            <p:strVal val="0"/>
                                          </p:val>
                                        </p:tav>
                                        <p:tav tm="100000">
                                          <p:val>
                                            <p:strVal val="#ppt_w"/>
                                          </p:val>
                                        </p:tav>
                                      </p:tavLst>
                                    </p:anim>
                                    <p:anim calcmode="lin" valueType="num">
                                      <p:cBhvr additive="base">
                                        <p:cTn id="78" dur="400" fill="hold"/>
                                        <p:tgtEl>
                                          <p:spTgt spid="21"/>
                                        </p:tgtEl>
                                        <p:attrNameLst>
                                          <p:attrName>ppt_h</p:attrName>
                                        </p:attrNameLst>
                                      </p:cBhvr>
                                      <p:tavLst>
                                        <p:tav tm="0">
                                          <p:val>
                                            <p:strVal val="0"/>
                                          </p:val>
                                        </p:tav>
                                        <p:tav tm="100000">
                                          <p:val>
                                            <p:strVal val="#ppt_h"/>
                                          </p:val>
                                        </p:tav>
                                      </p:tavLst>
                                    </p:anim>
                                    <p:animEffect transition="in" filter="fade">
                                      <p:cBhvr>
                                        <p:cTn id="79" dur="400"/>
                                        <p:tgtEl>
                                          <p:spTgt spid="21"/>
                                        </p:tgtEl>
                                      </p:cBhvr>
                                    </p:animEffect>
                                  </p:childTnLst>
                                </p:cTn>
                              </p:par>
                              <p:par>
                                <p:cTn id="80" presetID="53" presetClass="entr" presetSubtype="16" fill="hold" nodeType="withEffect">
                                  <p:stCondLst>
                                    <p:cond delay="37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400" fill="hold"/>
                                        <p:tgtEl>
                                          <p:spTgt spid="23"/>
                                        </p:tgtEl>
                                        <p:attrNameLst>
                                          <p:attrName>ppt_w</p:attrName>
                                        </p:attrNameLst>
                                      </p:cBhvr>
                                      <p:tavLst>
                                        <p:tav tm="0">
                                          <p:val>
                                            <p:strVal val="0"/>
                                          </p:val>
                                        </p:tav>
                                        <p:tav tm="100000">
                                          <p:val>
                                            <p:strVal val="#ppt_w"/>
                                          </p:val>
                                        </p:tav>
                                      </p:tavLst>
                                    </p:anim>
                                    <p:anim calcmode="lin" valueType="num">
                                      <p:cBhvr additive="base">
                                        <p:cTn id="83" dur="400" fill="hold"/>
                                        <p:tgtEl>
                                          <p:spTgt spid="23"/>
                                        </p:tgtEl>
                                        <p:attrNameLst>
                                          <p:attrName>ppt_h</p:attrName>
                                        </p:attrNameLst>
                                      </p:cBhvr>
                                      <p:tavLst>
                                        <p:tav tm="0">
                                          <p:val>
                                            <p:strVal val="0"/>
                                          </p:val>
                                        </p:tav>
                                        <p:tav tm="100000">
                                          <p:val>
                                            <p:strVal val="#ppt_h"/>
                                          </p:val>
                                        </p:tav>
                                      </p:tavLst>
                                    </p:anim>
                                    <p:animEffect transition="in" filter="fade">
                                      <p:cBhvr>
                                        <p:cTn id="84" dur="400"/>
                                        <p:tgtEl>
                                          <p:spTgt spid="23"/>
                                        </p:tgtEl>
                                      </p:cBhvr>
                                    </p:animEffect>
                                  </p:childTnLst>
                                </p:cTn>
                              </p:par>
                              <p:par>
                                <p:cTn id="85" presetID="53" presetClass="entr" presetSubtype="16" fill="hold" nodeType="withEffect">
                                  <p:stCondLst>
                                    <p:cond delay="37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400" fill="hold"/>
                                        <p:tgtEl>
                                          <p:spTgt spid="25"/>
                                        </p:tgtEl>
                                        <p:attrNameLst>
                                          <p:attrName>ppt_w</p:attrName>
                                        </p:attrNameLst>
                                      </p:cBhvr>
                                      <p:tavLst>
                                        <p:tav tm="0">
                                          <p:val>
                                            <p:strVal val="0"/>
                                          </p:val>
                                        </p:tav>
                                        <p:tav tm="100000">
                                          <p:val>
                                            <p:strVal val="#ppt_w"/>
                                          </p:val>
                                        </p:tav>
                                      </p:tavLst>
                                    </p:anim>
                                    <p:anim calcmode="lin" valueType="num">
                                      <p:cBhvr additive="base">
                                        <p:cTn id="88" dur="400" fill="hold"/>
                                        <p:tgtEl>
                                          <p:spTgt spid="25"/>
                                        </p:tgtEl>
                                        <p:attrNameLst>
                                          <p:attrName>ppt_h</p:attrName>
                                        </p:attrNameLst>
                                      </p:cBhvr>
                                      <p:tavLst>
                                        <p:tav tm="0">
                                          <p:val>
                                            <p:strVal val="0"/>
                                          </p:val>
                                        </p:tav>
                                        <p:tav tm="100000">
                                          <p:val>
                                            <p:strVal val="#ppt_h"/>
                                          </p:val>
                                        </p:tav>
                                      </p:tavLst>
                                    </p:anim>
                                    <p:animEffect transition="in" filter="fade">
                                      <p:cBhvr>
                                        <p:cTn id="89" dur="400"/>
                                        <p:tgtEl>
                                          <p:spTgt spid="25"/>
                                        </p:tgtEl>
                                      </p:cBhvr>
                                    </p:animEffect>
                                  </p:childTnLst>
                                </p:cTn>
                              </p:par>
                              <p:par>
                                <p:cTn id="90" presetID="53" presetClass="entr" presetSubtype="16" fill="hold" nodeType="withEffect">
                                  <p:stCondLst>
                                    <p:cond delay="370"/>
                                  </p:stCondLst>
                                  <p:childTnLst>
                                    <p:set>
                                      <p:cBhvr>
                                        <p:cTn id="91" dur="1" fill="hold">
                                          <p:stCondLst>
                                            <p:cond delay="0"/>
                                          </p:stCondLst>
                                        </p:cTn>
                                        <p:tgtEl>
                                          <p:spTgt spid="27"/>
                                        </p:tgtEl>
                                        <p:attrNameLst>
                                          <p:attrName>style.visibility</p:attrName>
                                        </p:attrNameLst>
                                      </p:cBhvr>
                                      <p:to>
                                        <p:strVal val="visible"/>
                                      </p:to>
                                    </p:set>
                                    <p:anim calcmode="lin" valueType="num">
                                      <p:cBhvr additive="base">
                                        <p:cTn id="92" dur="400" fill="hold"/>
                                        <p:tgtEl>
                                          <p:spTgt spid="27"/>
                                        </p:tgtEl>
                                        <p:attrNameLst>
                                          <p:attrName>ppt_w</p:attrName>
                                        </p:attrNameLst>
                                      </p:cBhvr>
                                      <p:tavLst>
                                        <p:tav tm="0">
                                          <p:val>
                                            <p:strVal val="0"/>
                                          </p:val>
                                        </p:tav>
                                        <p:tav tm="100000">
                                          <p:val>
                                            <p:strVal val="#ppt_w"/>
                                          </p:val>
                                        </p:tav>
                                      </p:tavLst>
                                    </p:anim>
                                    <p:anim calcmode="lin" valueType="num">
                                      <p:cBhvr additive="base">
                                        <p:cTn id="93" dur="400" fill="hold"/>
                                        <p:tgtEl>
                                          <p:spTgt spid="27"/>
                                        </p:tgtEl>
                                        <p:attrNameLst>
                                          <p:attrName>ppt_h</p:attrName>
                                        </p:attrNameLst>
                                      </p:cBhvr>
                                      <p:tavLst>
                                        <p:tav tm="0">
                                          <p:val>
                                            <p:strVal val="0"/>
                                          </p:val>
                                        </p:tav>
                                        <p:tav tm="100000">
                                          <p:val>
                                            <p:strVal val="#ppt_h"/>
                                          </p:val>
                                        </p:tav>
                                      </p:tavLst>
                                    </p:anim>
                                    <p:animEffect transition="in" filter="fade">
                                      <p:cBhvr>
                                        <p:cTn id="94" dur="400"/>
                                        <p:tgtEl>
                                          <p:spTgt spid="27"/>
                                        </p:tgtEl>
                                      </p:cBhvr>
                                    </p:animEffect>
                                  </p:childTnLst>
                                </p:cTn>
                              </p:par>
                              <p:par>
                                <p:cTn id="95" presetID="53" presetClass="entr" presetSubtype="16" fill="hold" nodeType="withEffect">
                                  <p:stCondLst>
                                    <p:cond delay="370"/>
                                  </p:stCondLst>
                                  <p:childTnLst>
                                    <p:set>
                                      <p:cBhvr>
                                        <p:cTn id="96" dur="1" fill="hold">
                                          <p:stCondLst>
                                            <p:cond delay="0"/>
                                          </p:stCondLst>
                                        </p:cTn>
                                        <p:tgtEl>
                                          <p:spTgt spid="29"/>
                                        </p:tgtEl>
                                        <p:attrNameLst>
                                          <p:attrName>style.visibility</p:attrName>
                                        </p:attrNameLst>
                                      </p:cBhvr>
                                      <p:to>
                                        <p:strVal val="visible"/>
                                      </p:to>
                                    </p:set>
                                    <p:anim calcmode="lin" valueType="num">
                                      <p:cBhvr additive="base">
                                        <p:cTn id="97" dur="400" fill="hold"/>
                                        <p:tgtEl>
                                          <p:spTgt spid="29"/>
                                        </p:tgtEl>
                                        <p:attrNameLst>
                                          <p:attrName>ppt_w</p:attrName>
                                        </p:attrNameLst>
                                      </p:cBhvr>
                                      <p:tavLst>
                                        <p:tav tm="0">
                                          <p:val>
                                            <p:strVal val="0"/>
                                          </p:val>
                                        </p:tav>
                                        <p:tav tm="100000">
                                          <p:val>
                                            <p:strVal val="#ppt_w"/>
                                          </p:val>
                                        </p:tav>
                                      </p:tavLst>
                                    </p:anim>
                                    <p:anim calcmode="lin" valueType="num">
                                      <p:cBhvr additive="base">
                                        <p:cTn id="98" dur="400" fill="hold"/>
                                        <p:tgtEl>
                                          <p:spTgt spid="29"/>
                                        </p:tgtEl>
                                        <p:attrNameLst>
                                          <p:attrName>ppt_h</p:attrName>
                                        </p:attrNameLst>
                                      </p:cBhvr>
                                      <p:tavLst>
                                        <p:tav tm="0">
                                          <p:val>
                                            <p:strVal val="0"/>
                                          </p:val>
                                        </p:tav>
                                        <p:tav tm="100000">
                                          <p:val>
                                            <p:strVal val="#ppt_h"/>
                                          </p:val>
                                        </p:tav>
                                      </p:tavLst>
                                    </p:anim>
                                    <p:animEffect transition="in" filter="fade">
                                      <p:cBhvr>
                                        <p:cTn id="99" dur="400"/>
                                        <p:tgtEl>
                                          <p:spTgt spid="29"/>
                                        </p:tgtEl>
                                      </p:cBhvr>
                                    </p:animEffect>
                                  </p:childTnLst>
                                </p:cTn>
                              </p:par>
                              <p:par>
                                <p:cTn id="100" presetID="53" presetClass="entr" presetSubtype="16" fill="hold" nodeType="withEffect">
                                  <p:stCondLst>
                                    <p:cond delay="370"/>
                                  </p:stCondLst>
                                  <p:childTnLst>
                                    <p:set>
                                      <p:cBhvr>
                                        <p:cTn id="101" dur="1" fill="hold">
                                          <p:stCondLst>
                                            <p:cond delay="0"/>
                                          </p:stCondLst>
                                        </p:cTn>
                                        <p:tgtEl>
                                          <p:spTgt spid="31"/>
                                        </p:tgtEl>
                                        <p:attrNameLst>
                                          <p:attrName>style.visibility</p:attrName>
                                        </p:attrNameLst>
                                      </p:cBhvr>
                                      <p:to>
                                        <p:strVal val="visible"/>
                                      </p:to>
                                    </p:set>
                                    <p:anim calcmode="lin" valueType="num">
                                      <p:cBhvr additive="base">
                                        <p:cTn id="102" dur="400" fill="hold"/>
                                        <p:tgtEl>
                                          <p:spTgt spid="31"/>
                                        </p:tgtEl>
                                        <p:attrNameLst>
                                          <p:attrName>ppt_w</p:attrName>
                                        </p:attrNameLst>
                                      </p:cBhvr>
                                      <p:tavLst>
                                        <p:tav tm="0">
                                          <p:val>
                                            <p:strVal val="0"/>
                                          </p:val>
                                        </p:tav>
                                        <p:tav tm="100000">
                                          <p:val>
                                            <p:strVal val="#ppt_w"/>
                                          </p:val>
                                        </p:tav>
                                      </p:tavLst>
                                    </p:anim>
                                    <p:anim calcmode="lin" valueType="num">
                                      <p:cBhvr additive="base">
                                        <p:cTn id="103" dur="400" fill="hold"/>
                                        <p:tgtEl>
                                          <p:spTgt spid="31"/>
                                        </p:tgtEl>
                                        <p:attrNameLst>
                                          <p:attrName>ppt_h</p:attrName>
                                        </p:attrNameLst>
                                      </p:cBhvr>
                                      <p:tavLst>
                                        <p:tav tm="0">
                                          <p:val>
                                            <p:strVal val="0"/>
                                          </p:val>
                                        </p:tav>
                                        <p:tav tm="100000">
                                          <p:val>
                                            <p:strVal val="#ppt_h"/>
                                          </p:val>
                                        </p:tav>
                                      </p:tavLst>
                                    </p:anim>
                                    <p:animEffect transition="in" filter="fade">
                                      <p:cBhvr>
                                        <p:cTn id="104" dur="400"/>
                                        <p:tgtEl>
                                          <p:spTgt spid="31"/>
                                        </p:tgtEl>
                                      </p:cBhvr>
                                    </p:animEffect>
                                  </p:childTnLst>
                                </p:cTn>
                              </p:par>
                              <p:par>
                                <p:cTn id="105" presetID="53" presetClass="entr" presetSubtype="16" fill="hold" nodeType="withEffect">
                                  <p:stCondLst>
                                    <p:cond delay="37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400" fill="hold"/>
                                        <p:tgtEl>
                                          <p:spTgt spid="32"/>
                                        </p:tgtEl>
                                        <p:attrNameLst>
                                          <p:attrName>ppt_w</p:attrName>
                                        </p:attrNameLst>
                                      </p:cBhvr>
                                      <p:tavLst>
                                        <p:tav tm="0">
                                          <p:val>
                                            <p:strVal val="0"/>
                                          </p:val>
                                        </p:tav>
                                        <p:tav tm="100000">
                                          <p:val>
                                            <p:strVal val="#ppt_w"/>
                                          </p:val>
                                        </p:tav>
                                      </p:tavLst>
                                    </p:anim>
                                    <p:anim calcmode="lin" valueType="num">
                                      <p:cBhvr additive="base">
                                        <p:cTn id="108" dur="400" fill="hold"/>
                                        <p:tgtEl>
                                          <p:spTgt spid="32"/>
                                        </p:tgtEl>
                                        <p:attrNameLst>
                                          <p:attrName>ppt_h</p:attrName>
                                        </p:attrNameLst>
                                      </p:cBhvr>
                                      <p:tavLst>
                                        <p:tav tm="0">
                                          <p:val>
                                            <p:strVal val="0"/>
                                          </p:val>
                                        </p:tav>
                                        <p:tav tm="100000">
                                          <p:val>
                                            <p:strVal val="#ppt_h"/>
                                          </p:val>
                                        </p:tav>
                                      </p:tavLst>
                                    </p:anim>
                                    <p:animEffect transition="in" filter="fade">
                                      <p:cBhvr>
                                        <p:cTn id="109" dur="400"/>
                                        <p:tgtEl>
                                          <p:spTgt spid="32"/>
                                        </p:tgtEl>
                                      </p:cBhvr>
                                    </p:animEffect>
                                  </p:childTnLst>
                                </p:cTn>
                              </p:par>
                              <p:par>
                                <p:cTn id="110" presetID="53" presetClass="entr" presetSubtype="16" fill="hold" nodeType="withEffect">
                                  <p:stCondLst>
                                    <p:cond delay="370"/>
                                  </p:stCondLst>
                                  <p:childTnLst>
                                    <p:set>
                                      <p:cBhvr>
                                        <p:cTn id="111" dur="1" fill="hold">
                                          <p:stCondLst>
                                            <p:cond delay="0"/>
                                          </p:stCondLst>
                                        </p:cTn>
                                        <p:tgtEl>
                                          <p:spTgt spid="33"/>
                                        </p:tgtEl>
                                        <p:attrNameLst>
                                          <p:attrName>style.visibility</p:attrName>
                                        </p:attrNameLst>
                                      </p:cBhvr>
                                      <p:to>
                                        <p:strVal val="visible"/>
                                      </p:to>
                                    </p:set>
                                    <p:anim calcmode="lin" valueType="num">
                                      <p:cBhvr additive="base">
                                        <p:cTn id="112" dur="400" fill="hold"/>
                                        <p:tgtEl>
                                          <p:spTgt spid="33"/>
                                        </p:tgtEl>
                                        <p:attrNameLst>
                                          <p:attrName>ppt_w</p:attrName>
                                        </p:attrNameLst>
                                      </p:cBhvr>
                                      <p:tavLst>
                                        <p:tav tm="0">
                                          <p:val>
                                            <p:strVal val="0"/>
                                          </p:val>
                                        </p:tav>
                                        <p:tav tm="100000">
                                          <p:val>
                                            <p:strVal val="#ppt_w"/>
                                          </p:val>
                                        </p:tav>
                                      </p:tavLst>
                                    </p:anim>
                                    <p:anim calcmode="lin" valueType="num">
                                      <p:cBhvr additive="base">
                                        <p:cTn id="113" dur="400" fill="hold"/>
                                        <p:tgtEl>
                                          <p:spTgt spid="33"/>
                                        </p:tgtEl>
                                        <p:attrNameLst>
                                          <p:attrName>ppt_h</p:attrName>
                                        </p:attrNameLst>
                                      </p:cBhvr>
                                      <p:tavLst>
                                        <p:tav tm="0">
                                          <p:val>
                                            <p:strVal val="0"/>
                                          </p:val>
                                        </p:tav>
                                        <p:tav tm="100000">
                                          <p:val>
                                            <p:strVal val="#ppt_h"/>
                                          </p:val>
                                        </p:tav>
                                      </p:tavLst>
                                    </p:anim>
                                    <p:animEffect transition="in" filter="fade">
                                      <p:cBhvr>
                                        <p:cTn id="114" dur="400"/>
                                        <p:tgtEl>
                                          <p:spTgt spid="33"/>
                                        </p:tgtEl>
                                      </p:cBhvr>
                                    </p:animEffect>
                                  </p:childTnLst>
                                </p:cTn>
                              </p:par>
                              <p:par>
                                <p:cTn id="115" presetID="53" presetClass="entr" presetSubtype="16" fill="hold" nodeType="withEffect">
                                  <p:stCondLst>
                                    <p:cond delay="370"/>
                                  </p:stCondLst>
                                  <p:childTnLst>
                                    <p:set>
                                      <p:cBhvr>
                                        <p:cTn id="116" dur="1" fill="hold">
                                          <p:stCondLst>
                                            <p:cond delay="0"/>
                                          </p:stCondLst>
                                        </p:cTn>
                                        <p:tgtEl>
                                          <p:spTgt spid="34"/>
                                        </p:tgtEl>
                                        <p:attrNameLst>
                                          <p:attrName>style.visibility</p:attrName>
                                        </p:attrNameLst>
                                      </p:cBhvr>
                                      <p:to>
                                        <p:strVal val="visible"/>
                                      </p:to>
                                    </p:set>
                                    <p:anim calcmode="lin" valueType="num">
                                      <p:cBhvr additive="base">
                                        <p:cTn id="117" dur="400" fill="hold"/>
                                        <p:tgtEl>
                                          <p:spTgt spid="34"/>
                                        </p:tgtEl>
                                        <p:attrNameLst>
                                          <p:attrName>ppt_w</p:attrName>
                                        </p:attrNameLst>
                                      </p:cBhvr>
                                      <p:tavLst>
                                        <p:tav tm="0">
                                          <p:val>
                                            <p:strVal val="0"/>
                                          </p:val>
                                        </p:tav>
                                        <p:tav tm="100000">
                                          <p:val>
                                            <p:strVal val="#ppt_w"/>
                                          </p:val>
                                        </p:tav>
                                      </p:tavLst>
                                    </p:anim>
                                    <p:anim calcmode="lin" valueType="num">
                                      <p:cBhvr additive="base">
                                        <p:cTn id="118" dur="400" fill="hold"/>
                                        <p:tgtEl>
                                          <p:spTgt spid="34"/>
                                        </p:tgtEl>
                                        <p:attrNameLst>
                                          <p:attrName>ppt_h</p:attrName>
                                        </p:attrNameLst>
                                      </p:cBhvr>
                                      <p:tavLst>
                                        <p:tav tm="0">
                                          <p:val>
                                            <p:strVal val="0"/>
                                          </p:val>
                                        </p:tav>
                                        <p:tav tm="100000">
                                          <p:val>
                                            <p:strVal val="#ppt_h"/>
                                          </p:val>
                                        </p:tav>
                                      </p:tavLst>
                                    </p:anim>
                                    <p:animEffect transition="in" filter="fade">
                                      <p:cBhvr>
                                        <p:cTn id="119" dur="400"/>
                                        <p:tgtEl>
                                          <p:spTgt spid="34"/>
                                        </p:tgtEl>
                                      </p:cBhvr>
                                    </p:animEffect>
                                  </p:childTnLst>
                                </p:cTn>
                              </p:par>
                              <p:par>
                                <p:cTn id="120" presetID="53" presetClass="entr" presetSubtype="16" fill="hold" nodeType="withEffect">
                                  <p:stCondLst>
                                    <p:cond delay="370"/>
                                  </p:stCondLst>
                                  <p:childTnLst>
                                    <p:set>
                                      <p:cBhvr>
                                        <p:cTn id="121" dur="1" fill="hold">
                                          <p:stCondLst>
                                            <p:cond delay="0"/>
                                          </p:stCondLst>
                                        </p:cTn>
                                        <p:tgtEl>
                                          <p:spTgt spid="35"/>
                                        </p:tgtEl>
                                        <p:attrNameLst>
                                          <p:attrName>style.visibility</p:attrName>
                                        </p:attrNameLst>
                                      </p:cBhvr>
                                      <p:to>
                                        <p:strVal val="visible"/>
                                      </p:to>
                                    </p:set>
                                    <p:anim calcmode="lin" valueType="num">
                                      <p:cBhvr additive="base">
                                        <p:cTn id="122" dur="400" fill="hold"/>
                                        <p:tgtEl>
                                          <p:spTgt spid="35"/>
                                        </p:tgtEl>
                                        <p:attrNameLst>
                                          <p:attrName>ppt_w</p:attrName>
                                        </p:attrNameLst>
                                      </p:cBhvr>
                                      <p:tavLst>
                                        <p:tav tm="0">
                                          <p:val>
                                            <p:strVal val="0"/>
                                          </p:val>
                                        </p:tav>
                                        <p:tav tm="100000">
                                          <p:val>
                                            <p:strVal val="#ppt_w"/>
                                          </p:val>
                                        </p:tav>
                                      </p:tavLst>
                                    </p:anim>
                                    <p:anim calcmode="lin" valueType="num">
                                      <p:cBhvr additive="base">
                                        <p:cTn id="123" dur="400" fill="hold"/>
                                        <p:tgtEl>
                                          <p:spTgt spid="35"/>
                                        </p:tgtEl>
                                        <p:attrNameLst>
                                          <p:attrName>ppt_h</p:attrName>
                                        </p:attrNameLst>
                                      </p:cBhvr>
                                      <p:tavLst>
                                        <p:tav tm="0">
                                          <p:val>
                                            <p:strVal val="0"/>
                                          </p:val>
                                        </p:tav>
                                        <p:tav tm="100000">
                                          <p:val>
                                            <p:strVal val="#ppt_h"/>
                                          </p:val>
                                        </p:tav>
                                      </p:tavLst>
                                    </p:anim>
                                    <p:animEffect transition="in" filter="fade">
                                      <p:cBhvr>
                                        <p:cTn id="124" dur="400"/>
                                        <p:tgtEl>
                                          <p:spTgt spid="35"/>
                                        </p:tgtEl>
                                      </p:cBhvr>
                                    </p:animEffect>
                                  </p:childTnLst>
                                </p:cTn>
                              </p:par>
                              <p:par>
                                <p:cTn id="125" presetID="53" presetClass="entr" presetSubtype="16" fill="hold" nodeType="withEffect">
                                  <p:stCondLst>
                                    <p:cond delay="370"/>
                                  </p:stCondLst>
                                  <p:childTnLst>
                                    <p:set>
                                      <p:cBhvr>
                                        <p:cTn id="126" dur="1" fill="hold">
                                          <p:stCondLst>
                                            <p:cond delay="0"/>
                                          </p:stCondLst>
                                        </p:cTn>
                                        <p:tgtEl>
                                          <p:spTgt spid="36"/>
                                        </p:tgtEl>
                                        <p:attrNameLst>
                                          <p:attrName>style.visibility</p:attrName>
                                        </p:attrNameLst>
                                      </p:cBhvr>
                                      <p:to>
                                        <p:strVal val="visible"/>
                                      </p:to>
                                    </p:set>
                                    <p:anim calcmode="lin" valueType="num">
                                      <p:cBhvr additive="base">
                                        <p:cTn id="127" dur="400" fill="hold"/>
                                        <p:tgtEl>
                                          <p:spTgt spid="36"/>
                                        </p:tgtEl>
                                        <p:attrNameLst>
                                          <p:attrName>ppt_w</p:attrName>
                                        </p:attrNameLst>
                                      </p:cBhvr>
                                      <p:tavLst>
                                        <p:tav tm="0">
                                          <p:val>
                                            <p:strVal val="0"/>
                                          </p:val>
                                        </p:tav>
                                        <p:tav tm="100000">
                                          <p:val>
                                            <p:strVal val="#ppt_w"/>
                                          </p:val>
                                        </p:tav>
                                      </p:tavLst>
                                    </p:anim>
                                    <p:anim calcmode="lin" valueType="num">
                                      <p:cBhvr additive="base">
                                        <p:cTn id="128" dur="400" fill="hold"/>
                                        <p:tgtEl>
                                          <p:spTgt spid="36"/>
                                        </p:tgtEl>
                                        <p:attrNameLst>
                                          <p:attrName>ppt_h</p:attrName>
                                        </p:attrNameLst>
                                      </p:cBhvr>
                                      <p:tavLst>
                                        <p:tav tm="0">
                                          <p:val>
                                            <p:strVal val="0"/>
                                          </p:val>
                                        </p:tav>
                                        <p:tav tm="100000">
                                          <p:val>
                                            <p:strVal val="#ppt_h"/>
                                          </p:val>
                                        </p:tav>
                                      </p:tavLst>
                                    </p:anim>
                                    <p:animEffect transition="in" filter="fade">
                                      <p:cBhvr>
                                        <p:cTn id="129" dur="400"/>
                                        <p:tgtEl>
                                          <p:spTgt spid="36"/>
                                        </p:tgtEl>
                                      </p:cBhvr>
                                    </p:animEffect>
                                  </p:childTnLst>
                                </p:cTn>
                              </p:par>
                              <p:par>
                                <p:cTn id="130" presetID="22" presetClass="entr" presetSubtype="8" fill="hold" nodeType="withEffect">
                                  <p:stCondLst>
                                    <p:cond delay="570"/>
                                  </p:stCondLst>
                                  <p:childTnLst>
                                    <p:set>
                                      <p:cBhvr>
                                        <p:cTn id="131" dur="1" fill="hold">
                                          <p:stCondLst>
                                            <p:cond delay="0"/>
                                          </p:stCondLst>
                                        </p:cTn>
                                        <p:tgtEl>
                                          <p:spTgt spid="22"/>
                                        </p:tgtEl>
                                        <p:attrNameLst>
                                          <p:attrName>style.visibility</p:attrName>
                                        </p:attrNameLst>
                                      </p:cBhvr>
                                      <p:to>
                                        <p:strVal val="visible"/>
                                      </p:to>
                                    </p:set>
                                    <p:animEffect transition="in" filter="wipe(left)">
                                      <p:cBhvr>
                                        <p:cTn id="132" dur="450"/>
                                        <p:tgtEl>
                                          <p:spTgt spid="22"/>
                                        </p:tgtEl>
                                      </p:cBhvr>
                                    </p:animEffect>
                                  </p:childTnLst>
                                </p:cTn>
                              </p:par>
                              <p:par>
                                <p:cTn id="133" presetID="22" presetClass="entr" presetSubtype="8" fill="hold" nodeType="withEffect">
                                  <p:stCondLst>
                                    <p:cond delay="570"/>
                                  </p:stCondLst>
                                  <p:childTnLst>
                                    <p:set>
                                      <p:cBhvr>
                                        <p:cTn id="134" dur="1" fill="hold">
                                          <p:stCondLst>
                                            <p:cond delay="0"/>
                                          </p:stCondLst>
                                        </p:cTn>
                                        <p:tgtEl>
                                          <p:spTgt spid="24"/>
                                        </p:tgtEl>
                                        <p:attrNameLst>
                                          <p:attrName>style.visibility</p:attrName>
                                        </p:attrNameLst>
                                      </p:cBhvr>
                                      <p:to>
                                        <p:strVal val="visible"/>
                                      </p:to>
                                    </p:set>
                                    <p:animEffect transition="in" filter="wipe(left)">
                                      <p:cBhvr>
                                        <p:cTn id="135" dur="450"/>
                                        <p:tgtEl>
                                          <p:spTgt spid="24"/>
                                        </p:tgtEl>
                                      </p:cBhvr>
                                    </p:animEffect>
                                  </p:childTnLst>
                                </p:cTn>
                              </p:par>
                              <p:par>
                                <p:cTn id="136" presetID="22" presetClass="entr" presetSubtype="8" fill="hold" nodeType="withEffect">
                                  <p:stCondLst>
                                    <p:cond delay="570"/>
                                  </p:stCondLst>
                                  <p:childTnLst>
                                    <p:set>
                                      <p:cBhvr>
                                        <p:cTn id="137" dur="1" fill="hold">
                                          <p:stCondLst>
                                            <p:cond delay="0"/>
                                          </p:stCondLst>
                                        </p:cTn>
                                        <p:tgtEl>
                                          <p:spTgt spid="26"/>
                                        </p:tgtEl>
                                        <p:attrNameLst>
                                          <p:attrName>style.visibility</p:attrName>
                                        </p:attrNameLst>
                                      </p:cBhvr>
                                      <p:to>
                                        <p:strVal val="visible"/>
                                      </p:to>
                                    </p:set>
                                    <p:animEffect transition="in" filter="wipe(left)">
                                      <p:cBhvr>
                                        <p:cTn id="138" dur="450"/>
                                        <p:tgtEl>
                                          <p:spTgt spid="26"/>
                                        </p:tgtEl>
                                      </p:cBhvr>
                                    </p:animEffect>
                                  </p:childTnLst>
                                </p:cTn>
                              </p:par>
                              <p:par>
                                <p:cTn id="139" presetID="22" presetClass="entr" presetSubtype="8" fill="hold" nodeType="withEffect">
                                  <p:stCondLst>
                                    <p:cond delay="570"/>
                                  </p:stCondLst>
                                  <p:childTnLst>
                                    <p:set>
                                      <p:cBhvr>
                                        <p:cTn id="140" dur="1" fill="hold">
                                          <p:stCondLst>
                                            <p:cond delay="0"/>
                                          </p:stCondLst>
                                        </p:cTn>
                                        <p:tgtEl>
                                          <p:spTgt spid="28"/>
                                        </p:tgtEl>
                                        <p:attrNameLst>
                                          <p:attrName>style.visibility</p:attrName>
                                        </p:attrNameLst>
                                      </p:cBhvr>
                                      <p:to>
                                        <p:strVal val="visible"/>
                                      </p:to>
                                    </p:set>
                                    <p:animEffect transition="in" filter="wipe(left)">
                                      <p:cBhvr>
                                        <p:cTn id="141" dur="450"/>
                                        <p:tgtEl>
                                          <p:spTgt spid="28"/>
                                        </p:tgtEl>
                                      </p:cBhvr>
                                    </p:animEffect>
                                  </p:childTnLst>
                                </p:cTn>
                              </p:par>
                              <p:par>
                                <p:cTn id="142" presetID="22" presetClass="entr" presetSubtype="8" fill="hold" nodeType="withEffect">
                                  <p:stCondLst>
                                    <p:cond delay="570"/>
                                  </p:stCondLst>
                                  <p:childTnLst>
                                    <p:set>
                                      <p:cBhvr>
                                        <p:cTn id="143" dur="1" fill="hold">
                                          <p:stCondLst>
                                            <p:cond delay="0"/>
                                          </p:stCondLst>
                                        </p:cTn>
                                        <p:tgtEl>
                                          <p:spTgt spid="30"/>
                                        </p:tgtEl>
                                        <p:attrNameLst>
                                          <p:attrName>style.visibility</p:attrName>
                                        </p:attrNameLst>
                                      </p:cBhvr>
                                      <p:to>
                                        <p:strVal val="visible"/>
                                      </p:to>
                                    </p:set>
                                    <p:animEffect transition="in" filter="wipe(left)">
                                      <p:cBhvr>
                                        <p:cTn id="144" dur="450"/>
                                        <p:tgtEl>
                                          <p:spTgt spid="30"/>
                                        </p:tgtEl>
                                      </p:cBhvr>
                                    </p:animEffect>
                                  </p:childTnLst>
                                </p:cTn>
                              </p:par>
                              <p:par>
                                <p:cTn id="145" presetID="53" presetClass="entr" presetSubtype="16" fill="hold" nodeType="withEffect">
                                  <p:stCondLst>
                                    <p:cond delay="590"/>
                                  </p:stCondLst>
                                  <p:childTnLst>
                                    <p:set>
                                      <p:cBhvr>
                                        <p:cTn id="146" dur="1" fill="hold">
                                          <p:stCondLst>
                                            <p:cond delay="0"/>
                                          </p:stCondLst>
                                        </p:cTn>
                                        <p:tgtEl>
                                          <p:spTgt spid="37"/>
                                        </p:tgtEl>
                                        <p:attrNameLst>
                                          <p:attrName>style.visibility</p:attrName>
                                        </p:attrNameLst>
                                      </p:cBhvr>
                                      <p:to>
                                        <p:strVal val="visible"/>
                                      </p:to>
                                    </p:set>
                                    <p:anim calcmode="lin" valueType="num">
                                      <p:cBhvr additive="base">
                                        <p:cTn id="147" dur="400" fill="hold"/>
                                        <p:tgtEl>
                                          <p:spTgt spid="37"/>
                                        </p:tgtEl>
                                        <p:attrNameLst>
                                          <p:attrName>ppt_w</p:attrName>
                                        </p:attrNameLst>
                                      </p:cBhvr>
                                      <p:tavLst>
                                        <p:tav tm="0">
                                          <p:val>
                                            <p:strVal val="0"/>
                                          </p:val>
                                        </p:tav>
                                        <p:tav tm="100000">
                                          <p:val>
                                            <p:strVal val="#ppt_w"/>
                                          </p:val>
                                        </p:tav>
                                      </p:tavLst>
                                    </p:anim>
                                    <p:anim calcmode="lin" valueType="num">
                                      <p:cBhvr additive="base">
                                        <p:cTn id="148" dur="400" fill="hold"/>
                                        <p:tgtEl>
                                          <p:spTgt spid="37"/>
                                        </p:tgtEl>
                                        <p:attrNameLst>
                                          <p:attrName>ppt_h</p:attrName>
                                        </p:attrNameLst>
                                      </p:cBhvr>
                                      <p:tavLst>
                                        <p:tav tm="0">
                                          <p:val>
                                            <p:strVal val="0"/>
                                          </p:val>
                                        </p:tav>
                                        <p:tav tm="100000">
                                          <p:val>
                                            <p:strVal val="#ppt_h"/>
                                          </p:val>
                                        </p:tav>
                                      </p:tavLst>
                                    </p:anim>
                                    <p:animEffect transition="in" filter="fade">
                                      <p:cBhvr>
                                        <p:cTn id="149" dur="400"/>
                                        <p:tgtEl>
                                          <p:spTgt spid="37"/>
                                        </p:tgtEl>
                                      </p:cBhvr>
                                    </p:animEffect>
                                  </p:childTnLst>
                                </p:cTn>
                              </p:par>
                              <p:par>
                                <p:cTn id="150" presetID="53" presetClass="entr" presetSubtype="16" fill="hold" nodeType="withEffect">
                                  <p:stCondLst>
                                    <p:cond delay="590"/>
                                  </p:stCondLst>
                                  <p:childTnLst>
                                    <p:set>
                                      <p:cBhvr>
                                        <p:cTn id="151" dur="1" fill="hold">
                                          <p:stCondLst>
                                            <p:cond delay="0"/>
                                          </p:stCondLst>
                                        </p:cTn>
                                        <p:tgtEl>
                                          <p:spTgt spid="40"/>
                                        </p:tgtEl>
                                        <p:attrNameLst>
                                          <p:attrName>style.visibility</p:attrName>
                                        </p:attrNameLst>
                                      </p:cBhvr>
                                      <p:to>
                                        <p:strVal val="visible"/>
                                      </p:to>
                                    </p:set>
                                    <p:anim calcmode="lin" valueType="num">
                                      <p:cBhvr additive="base">
                                        <p:cTn id="152" dur="400" fill="hold"/>
                                        <p:tgtEl>
                                          <p:spTgt spid="40"/>
                                        </p:tgtEl>
                                        <p:attrNameLst>
                                          <p:attrName>ppt_w</p:attrName>
                                        </p:attrNameLst>
                                      </p:cBhvr>
                                      <p:tavLst>
                                        <p:tav tm="0">
                                          <p:val>
                                            <p:strVal val="0"/>
                                          </p:val>
                                        </p:tav>
                                        <p:tav tm="100000">
                                          <p:val>
                                            <p:strVal val="#ppt_w"/>
                                          </p:val>
                                        </p:tav>
                                      </p:tavLst>
                                    </p:anim>
                                    <p:anim calcmode="lin" valueType="num">
                                      <p:cBhvr additive="base">
                                        <p:cTn id="153" dur="400" fill="hold"/>
                                        <p:tgtEl>
                                          <p:spTgt spid="40"/>
                                        </p:tgtEl>
                                        <p:attrNameLst>
                                          <p:attrName>ppt_h</p:attrName>
                                        </p:attrNameLst>
                                      </p:cBhvr>
                                      <p:tavLst>
                                        <p:tav tm="0">
                                          <p:val>
                                            <p:strVal val="0"/>
                                          </p:val>
                                        </p:tav>
                                        <p:tav tm="100000">
                                          <p:val>
                                            <p:strVal val="#ppt_h"/>
                                          </p:val>
                                        </p:tav>
                                      </p:tavLst>
                                    </p:anim>
                                    <p:animEffect transition="in" filter="fade">
                                      <p:cBhvr>
                                        <p:cTn id="154" dur="400"/>
                                        <p:tgtEl>
                                          <p:spTgt spid="40"/>
                                        </p:tgtEl>
                                      </p:cBhvr>
                                    </p:animEffect>
                                  </p:childTnLst>
                                </p:cTn>
                              </p:par>
                              <p:par>
                                <p:cTn id="155" presetID="53" presetClass="entr" presetSubtype="16" fill="hold" nodeType="withEffect">
                                  <p:stCondLst>
                                    <p:cond delay="590"/>
                                  </p:stCondLst>
                                  <p:childTnLst>
                                    <p:set>
                                      <p:cBhvr>
                                        <p:cTn id="156" dur="1" fill="hold">
                                          <p:stCondLst>
                                            <p:cond delay="0"/>
                                          </p:stCondLst>
                                        </p:cTn>
                                        <p:tgtEl>
                                          <p:spTgt spid="41"/>
                                        </p:tgtEl>
                                        <p:attrNameLst>
                                          <p:attrName>style.visibility</p:attrName>
                                        </p:attrNameLst>
                                      </p:cBhvr>
                                      <p:to>
                                        <p:strVal val="visible"/>
                                      </p:to>
                                    </p:set>
                                    <p:anim calcmode="lin" valueType="num">
                                      <p:cBhvr additive="base">
                                        <p:cTn id="157" dur="400" fill="hold"/>
                                        <p:tgtEl>
                                          <p:spTgt spid="41"/>
                                        </p:tgtEl>
                                        <p:attrNameLst>
                                          <p:attrName>ppt_w</p:attrName>
                                        </p:attrNameLst>
                                      </p:cBhvr>
                                      <p:tavLst>
                                        <p:tav tm="0">
                                          <p:val>
                                            <p:strVal val="0"/>
                                          </p:val>
                                        </p:tav>
                                        <p:tav tm="100000">
                                          <p:val>
                                            <p:strVal val="#ppt_w"/>
                                          </p:val>
                                        </p:tav>
                                      </p:tavLst>
                                    </p:anim>
                                    <p:anim calcmode="lin" valueType="num">
                                      <p:cBhvr additive="base">
                                        <p:cTn id="158" dur="400" fill="hold"/>
                                        <p:tgtEl>
                                          <p:spTgt spid="41"/>
                                        </p:tgtEl>
                                        <p:attrNameLst>
                                          <p:attrName>ppt_h</p:attrName>
                                        </p:attrNameLst>
                                      </p:cBhvr>
                                      <p:tavLst>
                                        <p:tav tm="0">
                                          <p:val>
                                            <p:strVal val="0"/>
                                          </p:val>
                                        </p:tav>
                                        <p:tav tm="100000">
                                          <p:val>
                                            <p:strVal val="#ppt_h"/>
                                          </p:val>
                                        </p:tav>
                                      </p:tavLst>
                                    </p:anim>
                                    <p:animEffect transition="in" filter="fade">
                                      <p:cBhvr>
                                        <p:cTn id="159" dur="400"/>
                                        <p:tgtEl>
                                          <p:spTgt spid="41"/>
                                        </p:tgtEl>
                                      </p:cBhvr>
                                    </p:animEffect>
                                  </p:childTnLst>
                                </p:cTn>
                              </p:par>
                              <p:par>
                                <p:cTn id="160" presetID="53" presetClass="entr" presetSubtype="16" fill="hold" nodeType="withEffect">
                                  <p:stCondLst>
                                    <p:cond delay="590"/>
                                  </p:stCondLst>
                                  <p:childTnLst>
                                    <p:set>
                                      <p:cBhvr>
                                        <p:cTn id="161" dur="1" fill="hold">
                                          <p:stCondLst>
                                            <p:cond delay="0"/>
                                          </p:stCondLst>
                                        </p:cTn>
                                        <p:tgtEl>
                                          <p:spTgt spid="42"/>
                                        </p:tgtEl>
                                        <p:attrNameLst>
                                          <p:attrName>style.visibility</p:attrName>
                                        </p:attrNameLst>
                                      </p:cBhvr>
                                      <p:to>
                                        <p:strVal val="visible"/>
                                      </p:to>
                                    </p:set>
                                    <p:anim calcmode="lin" valueType="num">
                                      <p:cBhvr additive="base">
                                        <p:cTn id="162" dur="400" fill="hold"/>
                                        <p:tgtEl>
                                          <p:spTgt spid="42"/>
                                        </p:tgtEl>
                                        <p:attrNameLst>
                                          <p:attrName>ppt_w</p:attrName>
                                        </p:attrNameLst>
                                      </p:cBhvr>
                                      <p:tavLst>
                                        <p:tav tm="0">
                                          <p:val>
                                            <p:strVal val="0"/>
                                          </p:val>
                                        </p:tav>
                                        <p:tav tm="100000">
                                          <p:val>
                                            <p:strVal val="#ppt_w"/>
                                          </p:val>
                                        </p:tav>
                                      </p:tavLst>
                                    </p:anim>
                                    <p:anim calcmode="lin" valueType="num">
                                      <p:cBhvr additive="base">
                                        <p:cTn id="163" dur="400" fill="hold"/>
                                        <p:tgtEl>
                                          <p:spTgt spid="42"/>
                                        </p:tgtEl>
                                        <p:attrNameLst>
                                          <p:attrName>ppt_h</p:attrName>
                                        </p:attrNameLst>
                                      </p:cBhvr>
                                      <p:tavLst>
                                        <p:tav tm="0">
                                          <p:val>
                                            <p:strVal val="0"/>
                                          </p:val>
                                        </p:tav>
                                        <p:tav tm="100000">
                                          <p:val>
                                            <p:strVal val="#ppt_h"/>
                                          </p:val>
                                        </p:tav>
                                      </p:tavLst>
                                    </p:anim>
                                    <p:animEffect transition="in" filter="fade">
                                      <p:cBhvr>
                                        <p:cTn id="164" dur="400"/>
                                        <p:tgtEl>
                                          <p:spTgt spid="42"/>
                                        </p:tgtEl>
                                      </p:cBhvr>
                                    </p:animEffect>
                                  </p:childTnLst>
                                </p:cTn>
                              </p:par>
                              <p:par>
                                <p:cTn id="165" presetID="53" presetClass="entr" presetSubtype="16" fill="hold" nodeType="withEffect">
                                  <p:stCondLst>
                                    <p:cond delay="590"/>
                                  </p:stCondLst>
                                  <p:childTnLst>
                                    <p:set>
                                      <p:cBhvr>
                                        <p:cTn id="166" dur="1" fill="hold">
                                          <p:stCondLst>
                                            <p:cond delay="0"/>
                                          </p:stCondLst>
                                        </p:cTn>
                                        <p:tgtEl>
                                          <p:spTgt spid="43"/>
                                        </p:tgtEl>
                                        <p:attrNameLst>
                                          <p:attrName>style.visibility</p:attrName>
                                        </p:attrNameLst>
                                      </p:cBhvr>
                                      <p:to>
                                        <p:strVal val="visible"/>
                                      </p:to>
                                    </p:set>
                                    <p:anim calcmode="lin" valueType="num">
                                      <p:cBhvr additive="base">
                                        <p:cTn id="167" dur="400" fill="hold"/>
                                        <p:tgtEl>
                                          <p:spTgt spid="43"/>
                                        </p:tgtEl>
                                        <p:attrNameLst>
                                          <p:attrName>ppt_w</p:attrName>
                                        </p:attrNameLst>
                                      </p:cBhvr>
                                      <p:tavLst>
                                        <p:tav tm="0">
                                          <p:val>
                                            <p:strVal val="0"/>
                                          </p:val>
                                        </p:tav>
                                        <p:tav tm="100000">
                                          <p:val>
                                            <p:strVal val="#ppt_w"/>
                                          </p:val>
                                        </p:tav>
                                      </p:tavLst>
                                    </p:anim>
                                    <p:anim calcmode="lin" valueType="num">
                                      <p:cBhvr additive="base">
                                        <p:cTn id="168" dur="400" fill="hold"/>
                                        <p:tgtEl>
                                          <p:spTgt spid="43"/>
                                        </p:tgtEl>
                                        <p:attrNameLst>
                                          <p:attrName>ppt_h</p:attrName>
                                        </p:attrNameLst>
                                      </p:cBhvr>
                                      <p:tavLst>
                                        <p:tav tm="0">
                                          <p:val>
                                            <p:strVal val="0"/>
                                          </p:val>
                                        </p:tav>
                                        <p:tav tm="100000">
                                          <p:val>
                                            <p:strVal val="#ppt_h"/>
                                          </p:val>
                                        </p:tav>
                                      </p:tavLst>
                                    </p:anim>
                                    <p:animEffect transition="in" filter="fade">
                                      <p:cBhvr>
                                        <p:cTn id="169" dur="400"/>
                                        <p:tgtEl>
                                          <p:spTgt spid="43"/>
                                        </p:tgtEl>
                                      </p:cBhvr>
                                    </p:animEffect>
                                  </p:childTnLst>
                                </p:cTn>
                              </p:par>
                              <p:par>
                                <p:cTn id="170" presetID="53" presetClass="entr" presetSubtype="16" fill="hold" nodeType="withEffect">
                                  <p:stCondLst>
                                    <p:cond delay="590"/>
                                  </p:stCondLst>
                                  <p:childTnLst>
                                    <p:set>
                                      <p:cBhvr>
                                        <p:cTn id="171" dur="1" fill="hold">
                                          <p:stCondLst>
                                            <p:cond delay="0"/>
                                          </p:stCondLst>
                                        </p:cTn>
                                        <p:tgtEl>
                                          <p:spTgt spid="44"/>
                                        </p:tgtEl>
                                        <p:attrNameLst>
                                          <p:attrName>style.visibility</p:attrName>
                                        </p:attrNameLst>
                                      </p:cBhvr>
                                      <p:to>
                                        <p:strVal val="visible"/>
                                      </p:to>
                                    </p:set>
                                    <p:anim calcmode="lin" valueType="num">
                                      <p:cBhvr additive="base">
                                        <p:cTn id="172" dur="400" fill="hold"/>
                                        <p:tgtEl>
                                          <p:spTgt spid="44"/>
                                        </p:tgtEl>
                                        <p:attrNameLst>
                                          <p:attrName>ppt_w</p:attrName>
                                        </p:attrNameLst>
                                      </p:cBhvr>
                                      <p:tavLst>
                                        <p:tav tm="0">
                                          <p:val>
                                            <p:strVal val="0"/>
                                          </p:val>
                                        </p:tav>
                                        <p:tav tm="100000">
                                          <p:val>
                                            <p:strVal val="#ppt_w"/>
                                          </p:val>
                                        </p:tav>
                                      </p:tavLst>
                                    </p:anim>
                                    <p:anim calcmode="lin" valueType="num">
                                      <p:cBhvr additive="base">
                                        <p:cTn id="173" dur="400" fill="hold"/>
                                        <p:tgtEl>
                                          <p:spTgt spid="44"/>
                                        </p:tgtEl>
                                        <p:attrNameLst>
                                          <p:attrName>ppt_h</p:attrName>
                                        </p:attrNameLst>
                                      </p:cBhvr>
                                      <p:tavLst>
                                        <p:tav tm="0">
                                          <p:val>
                                            <p:strVal val="0"/>
                                          </p:val>
                                        </p:tav>
                                        <p:tav tm="100000">
                                          <p:val>
                                            <p:strVal val="#ppt_h"/>
                                          </p:val>
                                        </p:tav>
                                      </p:tavLst>
                                    </p:anim>
                                    <p:animEffect transition="in" filter="fade">
                                      <p:cBhvr>
                                        <p:cTn id="174" dur="400"/>
                                        <p:tgtEl>
                                          <p:spTgt spid="44"/>
                                        </p:tgtEl>
                                      </p:cBhvr>
                                    </p:animEffect>
                                  </p:childTnLst>
                                </p:cTn>
                              </p:par>
                              <p:par>
                                <p:cTn id="175" presetID="53" presetClass="entr" presetSubtype="16" fill="hold" nodeType="withEffect">
                                  <p:stCondLst>
                                    <p:cond delay="590"/>
                                  </p:stCondLst>
                                  <p:childTnLst>
                                    <p:set>
                                      <p:cBhvr>
                                        <p:cTn id="176" dur="1" fill="hold">
                                          <p:stCondLst>
                                            <p:cond delay="0"/>
                                          </p:stCondLst>
                                        </p:cTn>
                                        <p:tgtEl>
                                          <p:spTgt spid="45"/>
                                        </p:tgtEl>
                                        <p:attrNameLst>
                                          <p:attrName>style.visibility</p:attrName>
                                        </p:attrNameLst>
                                      </p:cBhvr>
                                      <p:to>
                                        <p:strVal val="visible"/>
                                      </p:to>
                                    </p:set>
                                    <p:anim calcmode="lin" valueType="num">
                                      <p:cBhvr additive="base">
                                        <p:cTn id="177" dur="400" fill="hold"/>
                                        <p:tgtEl>
                                          <p:spTgt spid="45"/>
                                        </p:tgtEl>
                                        <p:attrNameLst>
                                          <p:attrName>ppt_w</p:attrName>
                                        </p:attrNameLst>
                                      </p:cBhvr>
                                      <p:tavLst>
                                        <p:tav tm="0">
                                          <p:val>
                                            <p:strVal val="0"/>
                                          </p:val>
                                        </p:tav>
                                        <p:tav tm="100000">
                                          <p:val>
                                            <p:strVal val="#ppt_w"/>
                                          </p:val>
                                        </p:tav>
                                      </p:tavLst>
                                    </p:anim>
                                    <p:anim calcmode="lin" valueType="num">
                                      <p:cBhvr additive="base">
                                        <p:cTn id="178" dur="400" fill="hold"/>
                                        <p:tgtEl>
                                          <p:spTgt spid="45"/>
                                        </p:tgtEl>
                                        <p:attrNameLst>
                                          <p:attrName>ppt_h</p:attrName>
                                        </p:attrNameLst>
                                      </p:cBhvr>
                                      <p:tavLst>
                                        <p:tav tm="0">
                                          <p:val>
                                            <p:strVal val="0"/>
                                          </p:val>
                                        </p:tav>
                                        <p:tav tm="100000">
                                          <p:val>
                                            <p:strVal val="#ppt_h"/>
                                          </p:val>
                                        </p:tav>
                                      </p:tavLst>
                                    </p:anim>
                                    <p:animEffect transition="in" filter="fade">
                                      <p:cBhvr>
                                        <p:cTn id="179" dur="400"/>
                                        <p:tgtEl>
                                          <p:spTgt spid="45"/>
                                        </p:tgtEl>
                                      </p:cBhvr>
                                    </p:animEffect>
                                  </p:childTnLst>
                                </p:cTn>
                              </p:par>
                              <p:par>
                                <p:cTn id="180" presetID="53" presetClass="entr" presetSubtype="16" fill="hold" nodeType="withEffect">
                                  <p:stCondLst>
                                    <p:cond delay="590"/>
                                  </p:stCondLst>
                                  <p:childTnLst>
                                    <p:set>
                                      <p:cBhvr>
                                        <p:cTn id="181" dur="1" fill="hold">
                                          <p:stCondLst>
                                            <p:cond delay="0"/>
                                          </p:stCondLst>
                                        </p:cTn>
                                        <p:tgtEl>
                                          <p:spTgt spid="46"/>
                                        </p:tgtEl>
                                        <p:attrNameLst>
                                          <p:attrName>style.visibility</p:attrName>
                                        </p:attrNameLst>
                                      </p:cBhvr>
                                      <p:to>
                                        <p:strVal val="visible"/>
                                      </p:to>
                                    </p:set>
                                    <p:anim calcmode="lin" valueType="num">
                                      <p:cBhvr additive="base">
                                        <p:cTn id="182" dur="400" fill="hold"/>
                                        <p:tgtEl>
                                          <p:spTgt spid="46"/>
                                        </p:tgtEl>
                                        <p:attrNameLst>
                                          <p:attrName>ppt_w</p:attrName>
                                        </p:attrNameLst>
                                      </p:cBhvr>
                                      <p:tavLst>
                                        <p:tav tm="0">
                                          <p:val>
                                            <p:strVal val="0"/>
                                          </p:val>
                                        </p:tav>
                                        <p:tav tm="100000">
                                          <p:val>
                                            <p:strVal val="#ppt_w"/>
                                          </p:val>
                                        </p:tav>
                                      </p:tavLst>
                                    </p:anim>
                                    <p:anim calcmode="lin" valueType="num">
                                      <p:cBhvr additive="base">
                                        <p:cTn id="183" dur="400" fill="hold"/>
                                        <p:tgtEl>
                                          <p:spTgt spid="46"/>
                                        </p:tgtEl>
                                        <p:attrNameLst>
                                          <p:attrName>ppt_h</p:attrName>
                                        </p:attrNameLst>
                                      </p:cBhvr>
                                      <p:tavLst>
                                        <p:tav tm="0">
                                          <p:val>
                                            <p:strVal val="0"/>
                                          </p:val>
                                        </p:tav>
                                        <p:tav tm="100000">
                                          <p:val>
                                            <p:strVal val="#ppt_h"/>
                                          </p:val>
                                        </p:tav>
                                      </p:tavLst>
                                    </p:anim>
                                    <p:animEffect transition="in" filter="fade">
                                      <p:cBhvr>
                                        <p:cTn id="184" dur="400"/>
                                        <p:tgtEl>
                                          <p:spTgt spid="46"/>
                                        </p:tgtEl>
                                      </p:cBhvr>
                                    </p:animEffect>
                                  </p:childTnLst>
                                </p:cTn>
                              </p:par>
                              <p:par>
                                <p:cTn id="185" presetID="53" presetClass="entr" presetSubtype="16" fill="hold" nodeType="withEffect">
                                  <p:stCondLst>
                                    <p:cond delay="590"/>
                                  </p:stCondLst>
                                  <p:childTnLst>
                                    <p:set>
                                      <p:cBhvr>
                                        <p:cTn id="186" dur="1" fill="hold">
                                          <p:stCondLst>
                                            <p:cond delay="0"/>
                                          </p:stCondLst>
                                        </p:cTn>
                                        <p:tgtEl>
                                          <p:spTgt spid="47"/>
                                        </p:tgtEl>
                                        <p:attrNameLst>
                                          <p:attrName>style.visibility</p:attrName>
                                        </p:attrNameLst>
                                      </p:cBhvr>
                                      <p:to>
                                        <p:strVal val="visible"/>
                                      </p:to>
                                    </p:set>
                                    <p:anim calcmode="lin" valueType="num">
                                      <p:cBhvr additive="base">
                                        <p:cTn id="187" dur="400" fill="hold"/>
                                        <p:tgtEl>
                                          <p:spTgt spid="47"/>
                                        </p:tgtEl>
                                        <p:attrNameLst>
                                          <p:attrName>ppt_w</p:attrName>
                                        </p:attrNameLst>
                                      </p:cBhvr>
                                      <p:tavLst>
                                        <p:tav tm="0">
                                          <p:val>
                                            <p:strVal val="0"/>
                                          </p:val>
                                        </p:tav>
                                        <p:tav tm="100000">
                                          <p:val>
                                            <p:strVal val="#ppt_w"/>
                                          </p:val>
                                        </p:tav>
                                      </p:tavLst>
                                    </p:anim>
                                    <p:anim calcmode="lin" valueType="num">
                                      <p:cBhvr additive="base">
                                        <p:cTn id="188" dur="400" fill="hold"/>
                                        <p:tgtEl>
                                          <p:spTgt spid="47"/>
                                        </p:tgtEl>
                                        <p:attrNameLst>
                                          <p:attrName>ppt_h</p:attrName>
                                        </p:attrNameLst>
                                      </p:cBhvr>
                                      <p:tavLst>
                                        <p:tav tm="0">
                                          <p:val>
                                            <p:strVal val="0"/>
                                          </p:val>
                                        </p:tav>
                                        <p:tav tm="100000">
                                          <p:val>
                                            <p:strVal val="#ppt_h"/>
                                          </p:val>
                                        </p:tav>
                                      </p:tavLst>
                                    </p:anim>
                                    <p:animEffect transition="in" filter="fade">
                                      <p:cBhvr>
                                        <p:cTn id="189" dur="400"/>
                                        <p:tgtEl>
                                          <p:spTgt spid="47"/>
                                        </p:tgtEl>
                                      </p:cBhvr>
                                    </p:animEffect>
                                  </p:childTnLst>
                                </p:cTn>
                              </p:par>
                              <p:par>
                                <p:cTn id="190" presetID="22" presetClass="entr" presetSubtype="8" fill="hold" nodeType="withEffect">
                                  <p:stCondLst>
                                    <p:cond delay="790"/>
                                  </p:stCondLst>
                                  <p:childTnLst>
                                    <p:set>
                                      <p:cBhvr>
                                        <p:cTn id="191" dur="1" fill="hold">
                                          <p:stCondLst>
                                            <p:cond delay="0"/>
                                          </p:stCondLst>
                                        </p:cTn>
                                        <p:tgtEl>
                                          <p:spTgt spid="38"/>
                                        </p:tgtEl>
                                        <p:attrNameLst>
                                          <p:attrName>style.visibility</p:attrName>
                                        </p:attrNameLst>
                                      </p:cBhvr>
                                      <p:to>
                                        <p:strVal val="visible"/>
                                      </p:to>
                                    </p:set>
                                    <p:animEffect transition="in" filter="wipe(left)">
                                      <p:cBhvr>
                                        <p:cTn id="192" dur="450"/>
                                        <p:tgtEl>
                                          <p:spTgt spid="38"/>
                                        </p:tgtEl>
                                      </p:cBhvr>
                                    </p:animEffect>
                                  </p:childTnLst>
                                </p:cTn>
                              </p:par>
                              <p:par>
                                <p:cTn id="193" presetID="22" presetClass="entr" presetSubtype="8" fill="hold" nodeType="withEffect">
                                  <p:stCondLst>
                                    <p:cond delay="790"/>
                                  </p:stCondLst>
                                  <p:childTnLst>
                                    <p:set>
                                      <p:cBhvr>
                                        <p:cTn id="194" dur="1" fill="hold">
                                          <p:stCondLst>
                                            <p:cond delay="0"/>
                                          </p:stCondLst>
                                        </p:cTn>
                                        <p:tgtEl>
                                          <p:spTgt spid="39"/>
                                        </p:tgtEl>
                                        <p:attrNameLst>
                                          <p:attrName>style.visibility</p:attrName>
                                        </p:attrNameLst>
                                      </p:cBhvr>
                                      <p:to>
                                        <p:strVal val="visible"/>
                                      </p:to>
                                    </p:set>
                                    <p:animEffect transition="in" filter="wipe(left)">
                                      <p:cBhvr>
                                        <p:cTn id="195" dur="450"/>
                                        <p:tgtEl>
                                          <p:spTgt spid="39"/>
                                        </p:tgtEl>
                                      </p:cBhvr>
                                    </p:animEffect>
                                  </p:childTnLst>
                                </p:cTn>
                              </p:par>
                              <p:par>
                                <p:cTn id="196" presetID="53" presetClass="entr" presetSubtype="16" fill="hold" nodeType="withEffect">
                                  <p:stCondLst>
                                    <p:cond delay="810"/>
                                  </p:stCondLst>
                                  <p:childTnLst>
                                    <p:set>
                                      <p:cBhvr>
                                        <p:cTn id="197" dur="1" fill="hold">
                                          <p:stCondLst>
                                            <p:cond delay="0"/>
                                          </p:stCondLst>
                                        </p:cTn>
                                        <p:tgtEl>
                                          <p:spTgt spid="48"/>
                                        </p:tgtEl>
                                        <p:attrNameLst>
                                          <p:attrName>style.visibility</p:attrName>
                                        </p:attrNameLst>
                                      </p:cBhvr>
                                      <p:to>
                                        <p:strVal val="visible"/>
                                      </p:to>
                                    </p:set>
                                    <p:anim calcmode="lin" valueType="num">
                                      <p:cBhvr additive="base">
                                        <p:cTn id="198" dur="400" fill="hold"/>
                                        <p:tgtEl>
                                          <p:spTgt spid="48"/>
                                        </p:tgtEl>
                                        <p:attrNameLst>
                                          <p:attrName>ppt_w</p:attrName>
                                        </p:attrNameLst>
                                      </p:cBhvr>
                                      <p:tavLst>
                                        <p:tav tm="0">
                                          <p:val>
                                            <p:strVal val="0"/>
                                          </p:val>
                                        </p:tav>
                                        <p:tav tm="100000">
                                          <p:val>
                                            <p:strVal val="#ppt_w"/>
                                          </p:val>
                                        </p:tav>
                                      </p:tavLst>
                                    </p:anim>
                                    <p:anim calcmode="lin" valueType="num">
                                      <p:cBhvr additive="base">
                                        <p:cTn id="199" dur="400" fill="hold"/>
                                        <p:tgtEl>
                                          <p:spTgt spid="48"/>
                                        </p:tgtEl>
                                        <p:attrNameLst>
                                          <p:attrName>ppt_h</p:attrName>
                                        </p:attrNameLst>
                                      </p:cBhvr>
                                      <p:tavLst>
                                        <p:tav tm="0">
                                          <p:val>
                                            <p:strVal val="0"/>
                                          </p:val>
                                        </p:tav>
                                        <p:tav tm="100000">
                                          <p:val>
                                            <p:strVal val="#ppt_h"/>
                                          </p:val>
                                        </p:tav>
                                      </p:tavLst>
                                    </p:anim>
                                    <p:animEffect transition="in" filter="fade">
                                      <p:cBhvr>
                                        <p:cTn id="200" dur="400"/>
                                        <p:tgtEl>
                                          <p:spTgt spid="48"/>
                                        </p:tgtEl>
                                      </p:cBhvr>
                                    </p:animEffect>
                                  </p:childTnLst>
                                </p:cTn>
                              </p:par>
                              <p:par>
                                <p:cTn id="201" presetID="53" presetClass="entr" presetSubtype="16" fill="hold" nodeType="withEffect">
                                  <p:stCondLst>
                                    <p:cond delay="810"/>
                                  </p:stCondLst>
                                  <p:childTnLst>
                                    <p:set>
                                      <p:cBhvr>
                                        <p:cTn id="202" dur="1" fill="hold">
                                          <p:stCondLst>
                                            <p:cond delay="0"/>
                                          </p:stCondLst>
                                        </p:cTn>
                                        <p:tgtEl>
                                          <p:spTgt spid="52"/>
                                        </p:tgtEl>
                                        <p:attrNameLst>
                                          <p:attrName>style.visibility</p:attrName>
                                        </p:attrNameLst>
                                      </p:cBhvr>
                                      <p:to>
                                        <p:strVal val="visible"/>
                                      </p:to>
                                    </p:set>
                                    <p:anim calcmode="lin" valueType="num">
                                      <p:cBhvr additive="base">
                                        <p:cTn id="203" dur="400" fill="hold"/>
                                        <p:tgtEl>
                                          <p:spTgt spid="52"/>
                                        </p:tgtEl>
                                        <p:attrNameLst>
                                          <p:attrName>ppt_w</p:attrName>
                                        </p:attrNameLst>
                                      </p:cBhvr>
                                      <p:tavLst>
                                        <p:tav tm="0">
                                          <p:val>
                                            <p:strVal val="0"/>
                                          </p:val>
                                        </p:tav>
                                        <p:tav tm="100000">
                                          <p:val>
                                            <p:strVal val="#ppt_w"/>
                                          </p:val>
                                        </p:tav>
                                      </p:tavLst>
                                    </p:anim>
                                    <p:anim calcmode="lin" valueType="num">
                                      <p:cBhvr additive="base">
                                        <p:cTn id="204" dur="400" fill="hold"/>
                                        <p:tgtEl>
                                          <p:spTgt spid="52"/>
                                        </p:tgtEl>
                                        <p:attrNameLst>
                                          <p:attrName>ppt_h</p:attrName>
                                        </p:attrNameLst>
                                      </p:cBhvr>
                                      <p:tavLst>
                                        <p:tav tm="0">
                                          <p:val>
                                            <p:strVal val="0"/>
                                          </p:val>
                                        </p:tav>
                                        <p:tav tm="100000">
                                          <p:val>
                                            <p:strVal val="#ppt_h"/>
                                          </p:val>
                                        </p:tav>
                                      </p:tavLst>
                                    </p:anim>
                                    <p:animEffect transition="in" filter="fade">
                                      <p:cBhvr>
                                        <p:cTn id="205" dur="400"/>
                                        <p:tgtEl>
                                          <p:spTgt spid="52"/>
                                        </p:tgtEl>
                                      </p:cBhvr>
                                    </p:animEffect>
                                  </p:childTnLst>
                                </p:cTn>
                              </p:par>
                              <p:par>
                                <p:cTn id="206" presetID="53" presetClass="entr" presetSubtype="16" fill="hold" nodeType="withEffect">
                                  <p:stCondLst>
                                    <p:cond delay="810"/>
                                  </p:stCondLst>
                                  <p:childTnLst>
                                    <p:set>
                                      <p:cBhvr>
                                        <p:cTn id="207" dur="1" fill="hold">
                                          <p:stCondLst>
                                            <p:cond delay="0"/>
                                          </p:stCondLst>
                                        </p:cTn>
                                        <p:tgtEl>
                                          <p:spTgt spid="53"/>
                                        </p:tgtEl>
                                        <p:attrNameLst>
                                          <p:attrName>style.visibility</p:attrName>
                                        </p:attrNameLst>
                                      </p:cBhvr>
                                      <p:to>
                                        <p:strVal val="visible"/>
                                      </p:to>
                                    </p:set>
                                    <p:anim calcmode="lin" valueType="num">
                                      <p:cBhvr additive="base">
                                        <p:cTn id="208" dur="400" fill="hold"/>
                                        <p:tgtEl>
                                          <p:spTgt spid="53"/>
                                        </p:tgtEl>
                                        <p:attrNameLst>
                                          <p:attrName>ppt_w</p:attrName>
                                        </p:attrNameLst>
                                      </p:cBhvr>
                                      <p:tavLst>
                                        <p:tav tm="0">
                                          <p:val>
                                            <p:strVal val="0"/>
                                          </p:val>
                                        </p:tav>
                                        <p:tav tm="100000">
                                          <p:val>
                                            <p:strVal val="#ppt_w"/>
                                          </p:val>
                                        </p:tav>
                                      </p:tavLst>
                                    </p:anim>
                                    <p:anim calcmode="lin" valueType="num">
                                      <p:cBhvr additive="base">
                                        <p:cTn id="209" dur="400" fill="hold"/>
                                        <p:tgtEl>
                                          <p:spTgt spid="53"/>
                                        </p:tgtEl>
                                        <p:attrNameLst>
                                          <p:attrName>ppt_h</p:attrName>
                                        </p:attrNameLst>
                                      </p:cBhvr>
                                      <p:tavLst>
                                        <p:tav tm="0">
                                          <p:val>
                                            <p:strVal val="0"/>
                                          </p:val>
                                        </p:tav>
                                        <p:tav tm="100000">
                                          <p:val>
                                            <p:strVal val="#ppt_h"/>
                                          </p:val>
                                        </p:tav>
                                      </p:tavLst>
                                    </p:anim>
                                    <p:animEffect transition="in" filter="fade">
                                      <p:cBhvr>
                                        <p:cTn id="210" dur="400"/>
                                        <p:tgtEl>
                                          <p:spTgt spid="53"/>
                                        </p:tgtEl>
                                      </p:cBhvr>
                                    </p:animEffect>
                                  </p:childTnLst>
                                </p:cTn>
                              </p:par>
                              <p:par>
                                <p:cTn id="211" presetID="53" presetClass="entr" presetSubtype="16" fill="hold" nodeType="withEffect">
                                  <p:stCondLst>
                                    <p:cond delay="810"/>
                                  </p:stCondLst>
                                  <p:childTnLst>
                                    <p:set>
                                      <p:cBhvr>
                                        <p:cTn id="212" dur="1" fill="hold">
                                          <p:stCondLst>
                                            <p:cond delay="0"/>
                                          </p:stCondLst>
                                        </p:cTn>
                                        <p:tgtEl>
                                          <p:spTgt spid="54"/>
                                        </p:tgtEl>
                                        <p:attrNameLst>
                                          <p:attrName>style.visibility</p:attrName>
                                        </p:attrNameLst>
                                      </p:cBhvr>
                                      <p:to>
                                        <p:strVal val="visible"/>
                                      </p:to>
                                    </p:set>
                                    <p:anim calcmode="lin" valueType="num">
                                      <p:cBhvr additive="base">
                                        <p:cTn id="213" dur="400" fill="hold"/>
                                        <p:tgtEl>
                                          <p:spTgt spid="54"/>
                                        </p:tgtEl>
                                        <p:attrNameLst>
                                          <p:attrName>ppt_w</p:attrName>
                                        </p:attrNameLst>
                                      </p:cBhvr>
                                      <p:tavLst>
                                        <p:tav tm="0">
                                          <p:val>
                                            <p:strVal val="0"/>
                                          </p:val>
                                        </p:tav>
                                        <p:tav tm="100000">
                                          <p:val>
                                            <p:strVal val="#ppt_w"/>
                                          </p:val>
                                        </p:tav>
                                      </p:tavLst>
                                    </p:anim>
                                    <p:anim calcmode="lin" valueType="num">
                                      <p:cBhvr additive="base">
                                        <p:cTn id="214" dur="400" fill="hold"/>
                                        <p:tgtEl>
                                          <p:spTgt spid="54"/>
                                        </p:tgtEl>
                                        <p:attrNameLst>
                                          <p:attrName>ppt_h</p:attrName>
                                        </p:attrNameLst>
                                      </p:cBhvr>
                                      <p:tavLst>
                                        <p:tav tm="0">
                                          <p:val>
                                            <p:strVal val="0"/>
                                          </p:val>
                                        </p:tav>
                                        <p:tav tm="100000">
                                          <p:val>
                                            <p:strVal val="#ppt_h"/>
                                          </p:val>
                                        </p:tav>
                                      </p:tavLst>
                                    </p:anim>
                                    <p:animEffect transition="in" filter="fade">
                                      <p:cBhvr>
                                        <p:cTn id="215" dur="400"/>
                                        <p:tgtEl>
                                          <p:spTgt spid="54"/>
                                        </p:tgtEl>
                                      </p:cBhvr>
                                    </p:animEffect>
                                  </p:childTnLst>
                                </p:cTn>
                              </p:par>
                              <p:par>
                                <p:cTn id="216" presetID="53" presetClass="entr" presetSubtype="16" fill="hold" nodeType="withEffect">
                                  <p:stCondLst>
                                    <p:cond delay="810"/>
                                  </p:stCondLst>
                                  <p:childTnLst>
                                    <p:set>
                                      <p:cBhvr>
                                        <p:cTn id="217" dur="1" fill="hold">
                                          <p:stCondLst>
                                            <p:cond delay="0"/>
                                          </p:stCondLst>
                                        </p:cTn>
                                        <p:tgtEl>
                                          <p:spTgt spid="55"/>
                                        </p:tgtEl>
                                        <p:attrNameLst>
                                          <p:attrName>style.visibility</p:attrName>
                                        </p:attrNameLst>
                                      </p:cBhvr>
                                      <p:to>
                                        <p:strVal val="visible"/>
                                      </p:to>
                                    </p:set>
                                    <p:anim calcmode="lin" valueType="num">
                                      <p:cBhvr additive="base">
                                        <p:cTn id="218" dur="400" fill="hold"/>
                                        <p:tgtEl>
                                          <p:spTgt spid="55"/>
                                        </p:tgtEl>
                                        <p:attrNameLst>
                                          <p:attrName>ppt_w</p:attrName>
                                        </p:attrNameLst>
                                      </p:cBhvr>
                                      <p:tavLst>
                                        <p:tav tm="0">
                                          <p:val>
                                            <p:strVal val="0"/>
                                          </p:val>
                                        </p:tav>
                                        <p:tav tm="100000">
                                          <p:val>
                                            <p:strVal val="#ppt_w"/>
                                          </p:val>
                                        </p:tav>
                                      </p:tavLst>
                                    </p:anim>
                                    <p:anim calcmode="lin" valueType="num">
                                      <p:cBhvr additive="base">
                                        <p:cTn id="219" dur="400" fill="hold"/>
                                        <p:tgtEl>
                                          <p:spTgt spid="55"/>
                                        </p:tgtEl>
                                        <p:attrNameLst>
                                          <p:attrName>ppt_h</p:attrName>
                                        </p:attrNameLst>
                                      </p:cBhvr>
                                      <p:tavLst>
                                        <p:tav tm="0">
                                          <p:val>
                                            <p:strVal val="0"/>
                                          </p:val>
                                        </p:tav>
                                        <p:tav tm="100000">
                                          <p:val>
                                            <p:strVal val="#ppt_h"/>
                                          </p:val>
                                        </p:tav>
                                      </p:tavLst>
                                    </p:anim>
                                    <p:animEffect transition="in" filter="fade">
                                      <p:cBhvr>
                                        <p:cTn id="220" dur="400"/>
                                        <p:tgtEl>
                                          <p:spTgt spid="55"/>
                                        </p:tgtEl>
                                      </p:cBhvr>
                                    </p:animEffect>
                                  </p:childTnLst>
                                </p:cTn>
                              </p:par>
                              <p:par>
                                <p:cTn id="221" presetID="53" presetClass="entr" presetSubtype="16" fill="hold" nodeType="withEffect">
                                  <p:stCondLst>
                                    <p:cond delay="810"/>
                                  </p:stCondLst>
                                  <p:childTnLst>
                                    <p:set>
                                      <p:cBhvr>
                                        <p:cTn id="222" dur="1" fill="hold">
                                          <p:stCondLst>
                                            <p:cond delay="0"/>
                                          </p:stCondLst>
                                        </p:cTn>
                                        <p:tgtEl>
                                          <p:spTgt spid="56"/>
                                        </p:tgtEl>
                                        <p:attrNameLst>
                                          <p:attrName>style.visibility</p:attrName>
                                        </p:attrNameLst>
                                      </p:cBhvr>
                                      <p:to>
                                        <p:strVal val="visible"/>
                                      </p:to>
                                    </p:set>
                                    <p:anim calcmode="lin" valueType="num">
                                      <p:cBhvr additive="base">
                                        <p:cTn id="223" dur="400" fill="hold"/>
                                        <p:tgtEl>
                                          <p:spTgt spid="56"/>
                                        </p:tgtEl>
                                        <p:attrNameLst>
                                          <p:attrName>ppt_w</p:attrName>
                                        </p:attrNameLst>
                                      </p:cBhvr>
                                      <p:tavLst>
                                        <p:tav tm="0">
                                          <p:val>
                                            <p:strVal val="0"/>
                                          </p:val>
                                        </p:tav>
                                        <p:tav tm="100000">
                                          <p:val>
                                            <p:strVal val="#ppt_w"/>
                                          </p:val>
                                        </p:tav>
                                      </p:tavLst>
                                    </p:anim>
                                    <p:anim calcmode="lin" valueType="num">
                                      <p:cBhvr additive="base">
                                        <p:cTn id="224" dur="400" fill="hold"/>
                                        <p:tgtEl>
                                          <p:spTgt spid="56"/>
                                        </p:tgtEl>
                                        <p:attrNameLst>
                                          <p:attrName>ppt_h</p:attrName>
                                        </p:attrNameLst>
                                      </p:cBhvr>
                                      <p:tavLst>
                                        <p:tav tm="0">
                                          <p:val>
                                            <p:strVal val="0"/>
                                          </p:val>
                                        </p:tav>
                                        <p:tav tm="100000">
                                          <p:val>
                                            <p:strVal val="#ppt_h"/>
                                          </p:val>
                                        </p:tav>
                                      </p:tavLst>
                                    </p:anim>
                                    <p:animEffect transition="in" filter="fade">
                                      <p:cBhvr>
                                        <p:cTn id="225" dur="400"/>
                                        <p:tgtEl>
                                          <p:spTgt spid="56"/>
                                        </p:tgtEl>
                                      </p:cBhvr>
                                    </p:animEffect>
                                  </p:childTnLst>
                                </p:cTn>
                              </p:par>
                              <p:par>
                                <p:cTn id="226" presetID="53" presetClass="entr" presetSubtype="16" fill="hold" nodeType="withEffect">
                                  <p:stCondLst>
                                    <p:cond delay="810"/>
                                  </p:stCondLst>
                                  <p:childTnLst>
                                    <p:set>
                                      <p:cBhvr>
                                        <p:cTn id="227" dur="1" fill="hold">
                                          <p:stCondLst>
                                            <p:cond delay="0"/>
                                          </p:stCondLst>
                                        </p:cTn>
                                        <p:tgtEl>
                                          <p:spTgt spid="57"/>
                                        </p:tgtEl>
                                        <p:attrNameLst>
                                          <p:attrName>style.visibility</p:attrName>
                                        </p:attrNameLst>
                                      </p:cBhvr>
                                      <p:to>
                                        <p:strVal val="visible"/>
                                      </p:to>
                                    </p:set>
                                    <p:anim calcmode="lin" valueType="num">
                                      <p:cBhvr additive="base">
                                        <p:cTn id="228" dur="400" fill="hold"/>
                                        <p:tgtEl>
                                          <p:spTgt spid="57"/>
                                        </p:tgtEl>
                                        <p:attrNameLst>
                                          <p:attrName>ppt_w</p:attrName>
                                        </p:attrNameLst>
                                      </p:cBhvr>
                                      <p:tavLst>
                                        <p:tav tm="0">
                                          <p:val>
                                            <p:strVal val="0"/>
                                          </p:val>
                                        </p:tav>
                                        <p:tav tm="100000">
                                          <p:val>
                                            <p:strVal val="#ppt_w"/>
                                          </p:val>
                                        </p:tav>
                                      </p:tavLst>
                                    </p:anim>
                                    <p:anim calcmode="lin" valueType="num">
                                      <p:cBhvr additive="base">
                                        <p:cTn id="229" dur="400" fill="hold"/>
                                        <p:tgtEl>
                                          <p:spTgt spid="57"/>
                                        </p:tgtEl>
                                        <p:attrNameLst>
                                          <p:attrName>ppt_h</p:attrName>
                                        </p:attrNameLst>
                                      </p:cBhvr>
                                      <p:tavLst>
                                        <p:tav tm="0">
                                          <p:val>
                                            <p:strVal val="0"/>
                                          </p:val>
                                        </p:tav>
                                        <p:tav tm="100000">
                                          <p:val>
                                            <p:strVal val="#ppt_h"/>
                                          </p:val>
                                        </p:tav>
                                      </p:tavLst>
                                    </p:anim>
                                    <p:animEffect transition="in" filter="fade">
                                      <p:cBhvr>
                                        <p:cTn id="230" dur="400"/>
                                        <p:tgtEl>
                                          <p:spTgt spid="57"/>
                                        </p:tgtEl>
                                      </p:cBhvr>
                                    </p:animEffect>
                                  </p:childTnLst>
                                </p:cTn>
                              </p:par>
                              <p:par>
                                <p:cTn id="231" presetID="53" presetClass="entr" presetSubtype="16" fill="hold" nodeType="withEffect">
                                  <p:stCondLst>
                                    <p:cond delay="810"/>
                                  </p:stCondLst>
                                  <p:childTnLst>
                                    <p:set>
                                      <p:cBhvr>
                                        <p:cTn id="232" dur="1" fill="hold">
                                          <p:stCondLst>
                                            <p:cond delay="0"/>
                                          </p:stCondLst>
                                        </p:cTn>
                                        <p:tgtEl>
                                          <p:spTgt spid="58"/>
                                        </p:tgtEl>
                                        <p:attrNameLst>
                                          <p:attrName>style.visibility</p:attrName>
                                        </p:attrNameLst>
                                      </p:cBhvr>
                                      <p:to>
                                        <p:strVal val="visible"/>
                                      </p:to>
                                    </p:set>
                                    <p:anim calcmode="lin" valueType="num">
                                      <p:cBhvr additive="base">
                                        <p:cTn id="233" dur="400" fill="hold"/>
                                        <p:tgtEl>
                                          <p:spTgt spid="58"/>
                                        </p:tgtEl>
                                        <p:attrNameLst>
                                          <p:attrName>ppt_w</p:attrName>
                                        </p:attrNameLst>
                                      </p:cBhvr>
                                      <p:tavLst>
                                        <p:tav tm="0">
                                          <p:val>
                                            <p:strVal val="0"/>
                                          </p:val>
                                        </p:tav>
                                        <p:tav tm="100000">
                                          <p:val>
                                            <p:strVal val="#ppt_w"/>
                                          </p:val>
                                        </p:tav>
                                      </p:tavLst>
                                    </p:anim>
                                    <p:anim calcmode="lin" valueType="num">
                                      <p:cBhvr additive="base">
                                        <p:cTn id="234" dur="400" fill="hold"/>
                                        <p:tgtEl>
                                          <p:spTgt spid="58"/>
                                        </p:tgtEl>
                                        <p:attrNameLst>
                                          <p:attrName>ppt_h</p:attrName>
                                        </p:attrNameLst>
                                      </p:cBhvr>
                                      <p:tavLst>
                                        <p:tav tm="0">
                                          <p:val>
                                            <p:strVal val="0"/>
                                          </p:val>
                                        </p:tav>
                                        <p:tav tm="100000">
                                          <p:val>
                                            <p:strVal val="#ppt_h"/>
                                          </p:val>
                                        </p:tav>
                                      </p:tavLst>
                                    </p:anim>
                                    <p:animEffect transition="in" filter="fade">
                                      <p:cBhvr>
                                        <p:cTn id="235" dur="400"/>
                                        <p:tgtEl>
                                          <p:spTgt spid="58"/>
                                        </p:tgtEl>
                                      </p:cBhvr>
                                    </p:animEffect>
                                  </p:childTnLst>
                                </p:cTn>
                              </p:par>
                              <p:par>
                                <p:cTn id="236" presetID="22" presetClass="entr" presetSubtype="8" fill="hold" nodeType="withEffect">
                                  <p:stCondLst>
                                    <p:cond delay="1010"/>
                                  </p:stCondLst>
                                  <p:childTnLst>
                                    <p:set>
                                      <p:cBhvr>
                                        <p:cTn id="237" dur="1" fill="hold">
                                          <p:stCondLst>
                                            <p:cond delay="0"/>
                                          </p:stCondLst>
                                        </p:cTn>
                                        <p:tgtEl>
                                          <p:spTgt spid="49"/>
                                        </p:tgtEl>
                                        <p:attrNameLst>
                                          <p:attrName>style.visibility</p:attrName>
                                        </p:attrNameLst>
                                      </p:cBhvr>
                                      <p:to>
                                        <p:strVal val="visible"/>
                                      </p:to>
                                    </p:set>
                                    <p:animEffect transition="in" filter="wipe(left)">
                                      <p:cBhvr>
                                        <p:cTn id="238" dur="450"/>
                                        <p:tgtEl>
                                          <p:spTgt spid="49"/>
                                        </p:tgtEl>
                                      </p:cBhvr>
                                    </p:animEffect>
                                  </p:childTnLst>
                                </p:cTn>
                              </p:par>
                              <p:par>
                                <p:cTn id="239" presetID="22" presetClass="entr" presetSubtype="8" fill="hold" nodeType="withEffect">
                                  <p:stCondLst>
                                    <p:cond delay="1010"/>
                                  </p:stCondLst>
                                  <p:childTnLst>
                                    <p:set>
                                      <p:cBhvr>
                                        <p:cTn id="240" dur="1" fill="hold">
                                          <p:stCondLst>
                                            <p:cond delay="0"/>
                                          </p:stCondLst>
                                        </p:cTn>
                                        <p:tgtEl>
                                          <p:spTgt spid="50"/>
                                        </p:tgtEl>
                                        <p:attrNameLst>
                                          <p:attrName>style.visibility</p:attrName>
                                        </p:attrNameLst>
                                      </p:cBhvr>
                                      <p:to>
                                        <p:strVal val="visible"/>
                                      </p:to>
                                    </p:set>
                                    <p:animEffect transition="in" filter="wipe(left)">
                                      <p:cBhvr>
                                        <p:cTn id="241" dur="450"/>
                                        <p:tgtEl>
                                          <p:spTgt spid="50"/>
                                        </p:tgtEl>
                                      </p:cBhvr>
                                    </p:animEffect>
                                  </p:childTnLst>
                                </p:cTn>
                              </p:par>
                              <p:par>
                                <p:cTn id="242" presetID="22" presetClass="entr" presetSubtype="8" fill="hold" nodeType="withEffect">
                                  <p:stCondLst>
                                    <p:cond delay="1010"/>
                                  </p:stCondLst>
                                  <p:childTnLst>
                                    <p:set>
                                      <p:cBhvr>
                                        <p:cTn id="243" dur="1" fill="hold">
                                          <p:stCondLst>
                                            <p:cond delay="0"/>
                                          </p:stCondLst>
                                        </p:cTn>
                                        <p:tgtEl>
                                          <p:spTgt spid="51"/>
                                        </p:tgtEl>
                                        <p:attrNameLst>
                                          <p:attrName>style.visibility</p:attrName>
                                        </p:attrNameLst>
                                      </p:cBhvr>
                                      <p:to>
                                        <p:strVal val="visible"/>
                                      </p:to>
                                    </p:set>
                                    <p:animEffect transition="in" filter="wipe(left)">
                                      <p:cBhvr>
                                        <p:cTn id="244" dur="450"/>
                                        <p:tgtEl>
                                          <p:spTgt spid="51"/>
                                        </p:tgtEl>
                                      </p:cBhvr>
                                    </p:animEffect>
                                  </p:childTnLst>
                                </p:cTn>
                              </p:par>
                              <p:par>
                                <p:cTn id="245" presetID="53" presetClass="entr" presetSubtype="16" fill="hold" nodeType="withEffect">
                                  <p:stCondLst>
                                    <p:cond delay="1030"/>
                                  </p:stCondLst>
                                  <p:childTnLst>
                                    <p:set>
                                      <p:cBhvr>
                                        <p:cTn id="246" dur="1" fill="hold">
                                          <p:stCondLst>
                                            <p:cond delay="0"/>
                                          </p:stCondLst>
                                        </p:cTn>
                                        <p:tgtEl>
                                          <p:spTgt spid="59"/>
                                        </p:tgtEl>
                                        <p:attrNameLst>
                                          <p:attrName>style.visibility</p:attrName>
                                        </p:attrNameLst>
                                      </p:cBhvr>
                                      <p:to>
                                        <p:strVal val="visible"/>
                                      </p:to>
                                    </p:set>
                                    <p:anim calcmode="lin" valueType="num">
                                      <p:cBhvr additive="base">
                                        <p:cTn id="247" dur="400" fill="hold"/>
                                        <p:tgtEl>
                                          <p:spTgt spid="59"/>
                                        </p:tgtEl>
                                        <p:attrNameLst>
                                          <p:attrName>ppt_w</p:attrName>
                                        </p:attrNameLst>
                                      </p:cBhvr>
                                      <p:tavLst>
                                        <p:tav tm="0">
                                          <p:val>
                                            <p:strVal val="0"/>
                                          </p:val>
                                        </p:tav>
                                        <p:tav tm="100000">
                                          <p:val>
                                            <p:strVal val="#ppt_w"/>
                                          </p:val>
                                        </p:tav>
                                      </p:tavLst>
                                    </p:anim>
                                    <p:anim calcmode="lin" valueType="num">
                                      <p:cBhvr additive="base">
                                        <p:cTn id="248" dur="400" fill="hold"/>
                                        <p:tgtEl>
                                          <p:spTgt spid="59"/>
                                        </p:tgtEl>
                                        <p:attrNameLst>
                                          <p:attrName>ppt_h</p:attrName>
                                        </p:attrNameLst>
                                      </p:cBhvr>
                                      <p:tavLst>
                                        <p:tav tm="0">
                                          <p:val>
                                            <p:strVal val="0"/>
                                          </p:val>
                                        </p:tav>
                                        <p:tav tm="100000">
                                          <p:val>
                                            <p:strVal val="#ppt_h"/>
                                          </p:val>
                                        </p:tav>
                                      </p:tavLst>
                                    </p:anim>
                                    <p:animEffect transition="in" filter="fade">
                                      <p:cBhvr>
                                        <p:cTn id="249" dur="400"/>
                                        <p:tgtEl>
                                          <p:spTgt spid="59"/>
                                        </p:tgtEl>
                                      </p:cBhvr>
                                    </p:animEffect>
                                  </p:childTnLst>
                                </p:cTn>
                              </p:par>
                              <p:par>
                                <p:cTn id="250" presetID="53" presetClass="entr" presetSubtype="16" fill="hold" nodeType="withEffect">
                                  <p:stCondLst>
                                    <p:cond delay="1030"/>
                                  </p:stCondLst>
                                  <p:childTnLst>
                                    <p:set>
                                      <p:cBhvr>
                                        <p:cTn id="251" dur="1" fill="hold">
                                          <p:stCondLst>
                                            <p:cond delay="0"/>
                                          </p:stCondLst>
                                        </p:cTn>
                                        <p:tgtEl>
                                          <p:spTgt spid="63"/>
                                        </p:tgtEl>
                                        <p:attrNameLst>
                                          <p:attrName>style.visibility</p:attrName>
                                        </p:attrNameLst>
                                      </p:cBhvr>
                                      <p:to>
                                        <p:strVal val="visible"/>
                                      </p:to>
                                    </p:set>
                                    <p:anim calcmode="lin" valueType="num">
                                      <p:cBhvr additive="base">
                                        <p:cTn id="252" dur="400" fill="hold"/>
                                        <p:tgtEl>
                                          <p:spTgt spid="63"/>
                                        </p:tgtEl>
                                        <p:attrNameLst>
                                          <p:attrName>ppt_w</p:attrName>
                                        </p:attrNameLst>
                                      </p:cBhvr>
                                      <p:tavLst>
                                        <p:tav tm="0">
                                          <p:val>
                                            <p:strVal val="0"/>
                                          </p:val>
                                        </p:tav>
                                        <p:tav tm="100000">
                                          <p:val>
                                            <p:strVal val="#ppt_w"/>
                                          </p:val>
                                        </p:tav>
                                      </p:tavLst>
                                    </p:anim>
                                    <p:anim calcmode="lin" valueType="num">
                                      <p:cBhvr additive="base">
                                        <p:cTn id="253" dur="400" fill="hold"/>
                                        <p:tgtEl>
                                          <p:spTgt spid="63"/>
                                        </p:tgtEl>
                                        <p:attrNameLst>
                                          <p:attrName>ppt_h</p:attrName>
                                        </p:attrNameLst>
                                      </p:cBhvr>
                                      <p:tavLst>
                                        <p:tav tm="0">
                                          <p:val>
                                            <p:strVal val="0"/>
                                          </p:val>
                                        </p:tav>
                                        <p:tav tm="100000">
                                          <p:val>
                                            <p:strVal val="#ppt_h"/>
                                          </p:val>
                                        </p:tav>
                                      </p:tavLst>
                                    </p:anim>
                                    <p:animEffect transition="in" filter="fade">
                                      <p:cBhvr>
                                        <p:cTn id="254" dur="400"/>
                                        <p:tgtEl>
                                          <p:spTgt spid="63"/>
                                        </p:tgtEl>
                                      </p:cBhvr>
                                    </p:animEffect>
                                  </p:childTnLst>
                                </p:cTn>
                              </p:par>
                              <p:par>
                                <p:cTn id="255" presetID="53" presetClass="entr" presetSubtype="16" fill="hold" nodeType="withEffect">
                                  <p:stCondLst>
                                    <p:cond delay="1030"/>
                                  </p:stCondLst>
                                  <p:childTnLst>
                                    <p:set>
                                      <p:cBhvr>
                                        <p:cTn id="256" dur="1" fill="hold">
                                          <p:stCondLst>
                                            <p:cond delay="0"/>
                                          </p:stCondLst>
                                        </p:cTn>
                                        <p:tgtEl>
                                          <p:spTgt spid="64"/>
                                        </p:tgtEl>
                                        <p:attrNameLst>
                                          <p:attrName>style.visibility</p:attrName>
                                        </p:attrNameLst>
                                      </p:cBhvr>
                                      <p:to>
                                        <p:strVal val="visible"/>
                                      </p:to>
                                    </p:set>
                                    <p:anim calcmode="lin" valueType="num">
                                      <p:cBhvr additive="base">
                                        <p:cTn id="257" dur="400" fill="hold"/>
                                        <p:tgtEl>
                                          <p:spTgt spid="64"/>
                                        </p:tgtEl>
                                        <p:attrNameLst>
                                          <p:attrName>ppt_w</p:attrName>
                                        </p:attrNameLst>
                                      </p:cBhvr>
                                      <p:tavLst>
                                        <p:tav tm="0">
                                          <p:val>
                                            <p:strVal val="0"/>
                                          </p:val>
                                        </p:tav>
                                        <p:tav tm="100000">
                                          <p:val>
                                            <p:strVal val="#ppt_w"/>
                                          </p:val>
                                        </p:tav>
                                      </p:tavLst>
                                    </p:anim>
                                    <p:anim calcmode="lin" valueType="num">
                                      <p:cBhvr additive="base">
                                        <p:cTn id="258" dur="400" fill="hold"/>
                                        <p:tgtEl>
                                          <p:spTgt spid="64"/>
                                        </p:tgtEl>
                                        <p:attrNameLst>
                                          <p:attrName>ppt_h</p:attrName>
                                        </p:attrNameLst>
                                      </p:cBhvr>
                                      <p:tavLst>
                                        <p:tav tm="0">
                                          <p:val>
                                            <p:strVal val="0"/>
                                          </p:val>
                                        </p:tav>
                                        <p:tav tm="100000">
                                          <p:val>
                                            <p:strVal val="#ppt_h"/>
                                          </p:val>
                                        </p:tav>
                                      </p:tavLst>
                                    </p:anim>
                                    <p:animEffect transition="in" filter="fade">
                                      <p:cBhvr>
                                        <p:cTn id="259" dur="400"/>
                                        <p:tgtEl>
                                          <p:spTgt spid="64"/>
                                        </p:tgtEl>
                                      </p:cBhvr>
                                    </p:animEffect>
                                  </p:childTnLst>
                                </p:cTn>
                              </p:par>
                              <p:par>
                                <p:cTn id="260" presetID="53" presetClass="entr" presetSubtype="16" fill="hold" nodeType="withEffect">
                                  <p:stCondLst>
                                    <p:cond delay="1030"/>
                                  </p:stCondLst>
                                  <p:childTnLst>
                                    <p:set>
                                      <p:cBhvr>
                                        <p:cTn id="261" dur="1" fill="hold">
                                          <p:stCondLst>
                                            <p:cond delay="0"/>
                                          </p:stCondLst>
                                        </p:cTn>
                                        <p:tgtEl>
                                          <p:spTgt spid="65"/>
                                        </p:tgtEl>
                                        <p:attrNameLst>
                                          <p:attrName>style.visibility</p:attrName>
                                        </p:attrNameLst>
                                      </p:cBhvr>
                                      <p:to>
                                        <p:strVal val="visible"/>
                                      </p:to>
                                    </p:set>
                                    <p:anim calcmode="lin" valueType="num">
                                      <p:cBhvr additive="base">
                                        <p:cTn id="262" dur="400" fill="hold"/>
                                        <p:tgtEl>
                                          <p:spTgt spid="65"/>
                                        </p:tgtEl>
                                        <p:attrNameLst>
                                          <p:attrName>ppt_w</p:attrName>
                                        </p:attrNameLst>
                                      </p:cBhvr>
                                      <p:tavLst>
                                        <p:tav tm="0">
                                          <p:val>
                                            <p:strVal val="0"/>
                                          </p:val>
                                        </p:tav>
                                        <p:tav tm="100000">
                                          <p:val>
                                            <p:strVal val="#ppt_w"/>
                                          </p:val>
                                        </p:tav>
                                      </p:tavLst>
                                    </p:anim>
                                    <p:anim calcmode="lin" valueType="num">
                                      <p:cBhvr additive="base">
                                        <p:cTn id="263" dur="400" fill="hold"/>
                                        <p:tgtEl>
                                          <p:spTgt spid="65"/>
                                        </p:tgtEl>
                                        <p:attrNameLst>
                                          <p:attrName>ppt_h</p:attrName>
                                        </p:attrNameLst>
                                      </p:cBhvr>
                                      <p:tavLst>
                                        <p:tav tm="0">
                                          <p:val>
                                            <p:strVal val="0"/>
                                          </p:val>
                                        </p:tav>
                                        <p:tav tm="100000">
                                          <p:val>
                                            <p:strVal val="#ppt_h"/>
                                          </p:val>
                                        </p:tav>
                                      </p:tavLst>
                                    </p:anim>
                                    <p:animEffect transition="in" filter="fade">
                                      <p:cBhvr>
                                        <p:cTn id="264" dur="400"/>
                                        <p:tgtEl>
                                          <p:spTgt spid="65"/>
                                        </p:tgtEl>
                                      </p:cBhvr>
                                    </p:animEffect>
                                  </p:childTnLst>
                                </p:cTn>
                              </p:par>
                              <p:par>
                                <p:cTn id="265" presetID="53" presetClass="entr" presetSubtype="16" fill="hold" nodeType="withEffect">
                                  <p:stCondLst>
                                    <p:cond delay="1030"/>
                                  </p:stCondLst>
                                  <p:childTnLst>
                                    <p:set>
                                      <p:cBhvr>
                                        <p:cTn id="266" dur="1" fill="hold">
                                          <p:stCondLst>
                                            <p:cond delay="0"/>
                                          </p:stCondLst>
                                        </p:cTn>
                                        <p:tgtEl>
                                          <p:spTgt spid="66"/>
                                        </p:tgtEl>
                                        <p:attrNameLst>
                                          <p:attrName>style.visibility</p:attrName>
                                        </p:attrNameLst>
                                      </p:cBhvr>
                                      <p:to>
                                        <p:strVal val="visible"/>
                                      </p:to>
                                    </p:set>
                                    <p:anim calcmode="lin" valueType="num">
                                      <p:cBhvr additive="base">
                                        <p:cTn id="267" dur="400" fill="hold"/>
                                        <p:tgtEl>
                                          <p:spTgt spid="66"/>
                                        </p:tgtEl>
                                        <p:attrNameLst>
                                          <p:attrName>ppt_w</p:attrName>
                                        </p:attrNameLst>
                                      </p:cBhvr>
                                      <p:tavLst>
                                        <p:tav tm="0">
                                          <p:val>
                                            <p:strVal val="0"/>
                                          </p:val>
                                        </p:tav>
                                        <p:tav tm="100000">
                                          <p:val>
                                            <p:strVal val="#ppt_w"/>
                                          </p:val>
                                        </p:tav>
                                      </p:tavLst>
                                    </p:anim>
                                    <p:anim calcmode="lin" valueType="num">
                                      <p:cBhvr additive="base">
                                        <p:cTn id="268" dur="400" fill="hold"/>
                                        <p:tgtEl>
                                          <p:spTgt spid="66"/>
                                        </p:tgtEl>
                                        <p:attrNameLst>
                                          <p:attrName>ppt_h</p:attrName>
                                        </p:attrNameLst>
                                      </p:cBhvr>
                                      <p:tavLst>
                                        <p:tav tm="0">
                                          <p:val>
                                            <p:strVal val="0"/>
                                          </p:val>
                                        </p:tav>
                                        <p:tav tm="100000">
                                          <p:val>
                                            <p:strVal val="#ppt_h"/>
                                          </p:val>
                                        </p:tav>
                                      </p:tavLst>
                                    </p:anim>
                                    <p:animEffect transition="in" filter="fade">
                                      <p:cBhvr>
                                        <p:cTn id="269" dur="400"/>
                                        <p:tgtEl>
                                          <p:spTgt spid="66"/>
                                        </p:tgtEl>
                                      </p:cBhvr>
                                    </p:animEffect>
                                  </p:childTnLst>
                                </p:cTn>
                              </p:par>
                              <p:par>
                                <p:cTn id="270" presetID="53" presetClass="entr" presetSubtype="16" fill="hold" nodeType="withEffect">
                                  <p:stCondLst>
                                    <p:cond delay="1030"/>
                                  </p:stCondLst>
                                  <p:childTnLst>
                                    <p:set>
                                      <p:cBhvr>
                                        <p:cTn id="271" dur="1" fill="hold">
                                          <p:stCondLst>
                                            <p:cond delay="0"/>
                                          </p:stCondLst>
                                        </p:cTn>
                                        <p:tgtEl>
                                          <p:spTgt spid="67"/>
                                        </p:tgtEl>
                                        <p:attrNameLst>
                                          <p:attrName>style.visibility</p:attrName>
                                        </p:attrNameLst>
                                      </p:cBhvr>
                                      <p:to>
                                        <p:strVal val="visible"/>
                                      </p:to>
                                    </p:set>
                                    <p:anim calcmode="lin" valueType="num">
                                      <p:cBhvr additive="base">
                                        <p:cTn id="272" dur="400" fill="hold"/>
                                        <p:tgtEl>
                                          <p:spTgt spid="67"/>
                                        </p:tgtEl>
                                        <p:attrNameLst>
                                          <p:attrName>ppt_w</p:attrName>
                                        </p:attrNameLst>
                                      </p:cBhvr>
                                      <p:tavLst>
                                        <p:tav tm="0">
                                          <p:val>
                                            <p:strVal val="0"/>
                                          </p:val>
                                        </p:tav>
                                        <p:tav tm="100000">
                                          <p:val>
                                            <p:strVal val="#ppt_w"/>
                                          </p:val>
                                        </p:tav>
                                      </p:tavLst>
                                    </p:anim>
                                    <p:anim calcmode="lin" valueType="num">
                                      <p:cBhvr additive="base">
                                        <p:cTn id="273" dur="400" fill="hold"/>
                                        <p:tgtEl>
                                          <p:spTgt spid="67"/>
                                        </p:tgtEl>
                                        <p:attrNameLst>
                                          <p:attrName>ppt_h</p:attrName>
                                        </p:attrNameLst>
                                      </p:cBhvr>
                                      <p:tavLst>
                                        <p:tav tm="0">
                                          <p:val>
                                            <p:strVal val="0"/>
                                          </p:val>
                                        </p:tav>
                                        <p:tav tm="100000">
                                          <p:val>
                                            <p:strVal val="#ppt_h"/>
                                          </p:val>
                                        </p:tav>
                                      </p:tavLst>
                                    </p:anim>
                                    <p:animEffect transition="in" filter="fade">
                                      <p:cBhvr>
                                        <p:cTn id="274" dur="400"/>
                                        <p:tgtEl>
                                          <p:spTgt spid="67"/>
                                        </p:tgtEl>
                                      </p:cBhvr>
                                    </p:animEffect>
                                  </p:childTnLst>
                                </p:cTn>
                              </p:par>
                              <p:par>
                                <p:cTn id="275" presetID="53" presetClass="entr" presetSubtype="16" fill="hold" nodeType="withEffect">
                                  <p:stCondLst>
                                    <p:cond delay="1030"/>
                                  </p:stCondLst>
                                  <p:childTnLst>
                                    <p:set>
                                      <p:cBhvr>
                                        <p:cTn id="276" dur="1" fill="hold">
                                          <p:stCondLst>
                                            <p:cond delay="0"/>
                                          </p:stCondLst>
                                        </p:cTn>
                                        <p:tgtEl>
                                          <p:spTgt spid="68"/>
                                        </p:tgtEl>
                                        <p:attrNameLst>
                                          <p:attrName>style.visibility</p:attrName>
                                        </p:attrNameLst>
                                      </p:cBhvr>
                                      <p:to>
                                        <p:strVal val="visible"/>
                                      </p:to>
                                    </p:set>
                                    <p:anim calcmode="lin" valueType="num">
                                      <p:cBhvr additive="base">
                                        <p:cTn id="277" dur="400" fill="hold"/>
                                        <p:tgtEl>
                                          <p:spTgt spid="68"/>
                                        </p:tgtEl>
                                        <p:attrNameLst>
                                          <p:attrName>ppt_w</p:attrName>
                                        </p:attrNameLst>
                                      </p:cBhvr>
                                      <p:tavLst>
                                        <p:tav tm="0">
                                          <p:val>
                                            <p:strVal val="0"/>
                                          </p:val>
                                        </p:tav>
                                        <p:tav tm="100000">
                                          <p:val>
                                            <p:strVal val="#ppt_w"/>
                                          </p:val>
                                        </p:tav>
                                      </p:tavLst>
                                    </p:anim>
                                    <p:anim calcmode="lin" valueType="num">
                                      <p:cBhvr additive="base">
                                        <p:cTn id="278" dur="400" fill="hold"/>
                                        <p:tgtEl>
                                          <p:spTgt spid="68"/>
                                        </p:tgtEl>
                                        <p:attrNameLst>
                                          <p:attrName>ppt_h</p:attrName>
                                        </p:attrNameLst>
                                      </p:cBhvr>
                                      <p:tavLst>
                                        <p:tav tm="0">
                                          <p:val>
                                            <p:strVal val="0"/>
                                          </p:val>
                                        </p:tav>
                                        <p:tav tm="100000">
                                          <p:val>
                                            <p:strVal val="#ppt_h"/>
                                          </p:val>
                                        </p:tav>
                                      </p:tavLst>
                                    </p:anim>
                                    <p:animEffect transition="in" filter="fade">
                                      <p:cBhvr>
                                        <p:cTn id="279" dur="400"/>
                                        <p:tgtEl>
                                          <p:spTgt spid="68"/>
                                        </p:tgtEl>
                                      </p:cBhvr>
                                    </p:animEffect>
                                  </p:childTnLst>
                                </p:cTn>
                              </p:par>
                              <p:par>
                                <p:cTn id="280" presetID="53" presetClass="entr" presetSubtype="16" fill="hold" nodeType="withEffect">
                                  <p:stCondLst>
                                    <p:cond delay="1030"/>
                                  </p:stCondLst>
                                  <p:childTnLst>
                                    <p:set>
                                      <p:cBhvr>
                                        <p:cTn id="281" dur="1" fill="hold">
                                          <p:stCondLst>
                                            <p:cond delay="0"/>
                                          </p:stCondLst>
                                        </p:cTn>
                                        <p:tgtEl>
                                          <p:spTgt spid="69"/>
                                        </p:tgtEl>
                                        <p:attrNameLst>
                                          <p:attrName>style.visibility</p:attrName>
                                        </p:attrNameLst>
                                      </p:cBhvr>
                                      <p:to>
                                        <p:strVal val="visible"/>
                                      </p:to>
                                    </p:set>
                                    <p:anim calcmode="lin" valueType="num">
                                      <p:cBhvr additive="base">
                                        <p:cTn id="282" dur="400" fill="hold"/>
                                        <p:tgtEl>
                                          <p:spTgt spid="69"/>
                                        </p:tgtEl>
                                        <p:attrNameLst>
                                          <p:attrName>ppt_w</p:attrName>
                                        </p:attrNameLst>
                                      </p:cBhvr>
                                      <p:tavLst>
                                        <p:tav tm="0">
                                          <p:val>
                                            <p:strVal val="0"/>
                                          </p:val>
                                        </p:tav>
                                        <p:tav tm="100000">
                                          <p:val>
                                            <p:strVal val="#ppt_w"/>
                                          </p:val>
                                        </p:tav>
                                      </p:tavLst>
                                    </p:anim>
                                    <p:anim calcmode="lin" valueType="num">
                                      <p:cBhvr additive="base">
                                        <p:cTn id="283" dur="400" fill="hold"/>
                                        <p:tgtEl>
                                          <p:spTgt spid="69"/>
                                        </p:tgtEl>
                                        <p:attrNameLst>
                                          <p:attrName>ppt_h</p:attrName>
                                        </p:attrNameLst>
                                      </p:cBhvr>
                                      <p:tavLst>
                                        <p:tav tm="0">
                                          <p:val>
                                            <p:strVal val="0"/>
                                          </p:val>
                                        </p:tav>
                                        <p:tav tm="100000">
                                          <p:val>
                                            <p:strVal val="#ppt_h"/>
                                          </p:val>
                                        </p:tav>
                                      </p:tavLst>
                                    </p:anim>
                                    <p:animEffect transition="in" filter="fade">
                                      <p:cBhvr>
                                        <p:cTn id="284" dur="400"/>
                                        <p:tgtEl>
                                          <p:spTgt spid="69"/>
                                        </p:tgtEl>
                                      </p:cBhvr>
                                    </p:animEffect>
                                  </p:childTnLst>
                                </p:cTn>
                              </p:par>
                              <p:par>
                                <p:cTn id="285" presetID="53" presetClass="entr" presetSubtype="16" fill="hold" nodeType="withEffect">
                                  <p:stCondLst>
                                    <p:cond delay="1030"/>
                                  </p:stCondLst>
                                  <p:childTnLst>
                                    <p:set>
                                      <p:cBhvr>
                                        <p:cTn id="286" dur="1" fill="hold">
                                          <p:stCondLst>
                                            <p:cond delay="0"/>
                                          </p:stCondLst>
                                        </p:cTn>
                                        <p:tgtEl>
                                          <p:spTgt spid="70"/>
                                        </p:tgtEl>
                                        <p:attrNameLst>
                                          <p:attrName>style.visibility</p:attrName>
                                        </p:attrNameLst>
                                      </p:cBhvr>
                                      <p:to>
                                        <p:strVal val="visible"/>
                                      </p:to>
                                    </p:set>
                                    <p:anim calcmode="lin" valueType="num">
                                      <p:cBhvr additive="base">
                                        <p:cTn id="287" dur="400" fill="hold"/>
                                        <p:tgtEl>
                                          <p:spTgt spid="70"/>
                                        </p:tgtEl>
                                        <p:attrNameLst>
                                          <p:attrName>ppt_w</p:attrName>
                                        </p:attrNameLst>
                                      </p:cBhvr>
                                      <p:tavLst>
                                        <p:tav tm="0">
                                          <p:val>
                                            <p:strVal val="0"/>
                                          </p:val>
                                        </p:tav>
                                        <p:tav tm="100000">
                                          <p:val>
                                            <p:strVal val="#ppt_w"/>
                                          </p:val>
                                        </p:tav>
                                      </p:tavLst>
                                    </p:anim>
                                    <p:anim calcmode="lin" valueType="num">
                                      <p:cBhvr additive="base">
                                        <p:cTn id="288" dur="400" fill="hold"/>
                                        <p:tgtEl>
                                          <p:spTgt spid="70"/>
                                        </p:tgtEl>
                                        <p:attrNameLst>
                                          <p:attrName>ppt_h</p:attrName>
                                        </p:attrNameLst>
                                      </p:cBhvr>
                                      <p:tavLst>
                                        <p:tav tm="0">
                                          <p:val>
                                            <p:strVal val="0"/>
                                          </p:val>
                                        </p:tav>
                                        <p:tav tm="100000">
                                          <p:val>
                                            <p:strVal val="#ppt_h"/>
                                          </p:val>
                                        </p:tav>
                                      </p:tavLst>
                                    </p:anim>
                                    <p:animEffect transition="in" filter="fade">
                                      <p:cBhvr>
                                        <p:cTn id="289" dur="400"/>
                                        <p:tgtEl>
                                          <p:spTgt spid="70"/>
                                        </p:tgtEl>
                                      </p:cBhvr>
                                    </p:animEffect>
                                  </p:childTnLst>
                                </p:cTn>
                              </p:par>
                              <p:par>
                                <p:cTn id="290" presetID="53" presetClass="entr" presetSubtype="16" fill="hold" nodeType="withEffect">
                                  <p:stCondLst>
                                    <p:cond delay="1030"/>
                                  </p:stCondLst>
                                  <p:childTnLst>
                                    <p:set>
                                      <p:cBhvr>
                                        <p:cTn id="291" dur="1" fill="hold">
                                          <p:stCondLst>
                                            <p:cond delay="0"/>
                                          </p:stCondLst>
                                        </p:cTn>
                                        <p:tgtEl>
                                          <p:spTgt spid="71"/>
                                        </p:tgtEl>
                                        <p:attrNameLst>
                                          <p:attrName>style.visibility</p:attrName>
                                        </p:attrNameLst>
                                      </p:cBhvr>
                                      <p:to>
                                        <p:strVal val="visible"/>
                                      </p:to>
                                    </p:set>
                                    <p:anim calcmode="lin" valueType="num">
                                      <p:cBhvr additive="base">
                                        <p:cTn id="292" dur="400" fill="hold"/>
                                        <p:tgtEl>
                                          <p:spTgt spid="71"/>
                                        </p:tgtEl>
                                        <p:attrNameLst>
                                          <p:attrName>ppt_w</p:attrName>
                                        </p:attrNameLst>
                                      </p:cBhvr>
                                      <p:tavLst>
                                        <p:tav tm="0">
                                          <p:val>
                                            <p:strVal val="0"/>
                                          </p:val>
                                        </p:tav>
                                        <p:tav tm="100000">
                                          <p:val>
                                            <p:strVal val="#ppt_w"/>
                                          </p:val>
                                        </p:tav>
                                      </p:tavLst>
                                    </p:anim>
                                    <p:anim calcmode="lin" valueType="num">
                                      <p:cBhvr additive="base">
                                        <p:cTn id="293" dur="400" fill="hold"/>
                                        <p:tgtEl>
                                          <p:spTgt spid="71"/>
                                        </p:tgtEl>
                                        <p:attrNameLst>
                                          <p:attrName>ppt_h</p:attrName>
                                        </p:attrNameLst>
                                      </p:cBhvr>
                                      <p:tavLst>
                                        <p:tav tm="0">
                                          <p:val>
                                            <p:strVal val="0"/>
                                          </p:val>
                                        </p:tav>
                                        <p:tav tm="100000">
                                          <p:val>
                                            <p:strVal val="#ppt_h"/>
                                          </p:val>
                                        </p:tav>
                                      </p:tavLst>
                                    </p:anim>
                                    <p:animEffect transition="in" filter="fade">
                                      <p:cBhvr>
                                        <p:cTn id="294" dur="400"/>
                                        <p:tgtEl>
                                          <p:spTgt spid="71"/>
                                        </p:tgtEl>
                                      </p:cBhvr>
                                    </p:animEffect>
                                  </p:childTnLst>
                                </p:cTn>
                              </p:par>
                              <p:par>
                                <p:cTn id="295" presetID="22" presetClass="entr" presetSubtype="8" fill="hold" nodeType="withEffect">
                                  <p:stCondLst>
                                    <p:cond delay="1230"/>
                                  </p:stCondLst>
                                  <p:childTnLst>
                                    <p:set>
                                      <p:cBhvr>
                                        <p:cTn id="296" dur="1" fill="hold">
                                          <p:stCondLst>
                                            <p:cond delay="0"/>
                                          </p:stCondLst>
                                        </p:cTn>
                                        <p:tgtEl>
                                          <p:spTgt spid="60"/>
                                        </p:tgtEl>
                                        <p:attrNameLst>
                                          <p:attrName>style.visibility</p:attrName>
                                        </p:attrNameLst>
                                      </p:cBhvr>
                                      <p:to>
                                        <p:strVal val="visible"/>
                                      </p:to>
                                    </p:set>
                                    <p:animEffect transition="in" filter="wipe(left)">
                                      <p:cBhvr>
                                        <p:cTn id="297" dur="450"/>
                                        <p:tgtEl>
                                          <p:spTgt spid="60"/>
                                        </p:tgtEl>
                                      </p:cBhvr>
                                    </p:animEffect>
                                  </p:childTnLst>
                                </p:cTn>
                              </p:par>
                              <p:par>
                                <p:cTn id="298" presetID="22" presetClass="entr" presetSubtype="8" fill="hold" nodeType="withEffect">
                                  <p:stCondLst>
                                    <p:cond delay="1230"/>
                                  </p:stCondLst>
                                  <p:childTnLst>
                                    <p:set>
                                      <p:cBhvr>
                                        <p:cTn id="299" dur="1" fill="hold">
                                          <p:stCondLst>
                                            <p:cond delay="0"/>
                                          </p:stCondLst>
                                        </p:cTn>
                                        <p:tgtEl>
                                          <p:spTgt spid="61"/>
                                        </p:tgtEl>
                                        <p:attrNameLst>
                                          <p:attrName>style.visibility</p:attrName>
                                        </p:attrNameLst>
                                      </p:cBhvr>
                                      <p:to>
                                        <p:strVal val="visible"/>
                                      </p:to>
                                    </p:set>
                                    <p:animEffect transition="in" filter="wipe(left)">
                                      <p:cBhvr>
                                        <p:cTn id="300" dur="450"/>
                                        <p:tgtEl>
                                          <p:spTgt spid="61"/>
                                        </p:tgtEl>
                                      </p:cBhvr>
                                    </p:animEffect>
                                  </p:childTnLst>
                                </p:cTn>
                              </p:par>
                              <p:par>
                                <p:cTn id="301" presetID="22" presetClass="entr" presetSubtype="8" fill="hold" nodeType="withEffect">
                                  <p:stCondLst>
                                    <p:cond delay="1230"/>
                                  </p:stCondLst>
                                  <p:childTnLst>
                                    <p:set>
                                      <p:cBhvr>
                                        <p:cTn id="302" dur="1" fill="hold">
                                          <p:stCondLst>
                                            <p:cond delay="0"/>
                                          </p:stCondLst>
                                        </p:cTn>
                                        <p:tgtEl>
                                          <p:spTgt spid="62"/>
                                        </p:tgtEl>
                                        <p:attrNameLst>
                                          <p:attrName>style.visibility</p:attrName>
                                        </p:attrNameLst>
                                      </p:cBhvr>
                                      <p:to>
                                        <p:strVal val="visible"/>
                                      </p:to>
                                    </p:set>
                                    <p:animEffect transition="in" filter="wipe(left)">
                                      <p:cBhvr>
                                        <p:cTn id="303" dur="450"/>
                                        <p:tgtEl>
                                          <p:spTgt spid="62"/>
                                        </p:tgtEl>
                                      </p:cBhvr>
                                    </p:animEffect>
                                  </p:childTnLst>
                                </p:cTn>
                              </p:par>
                              <p:par>
                                <p:cTn id="304" presetID="53" presetClass="entr" presetSubtype="16" fill="hold" nodeType="withEffect">
                                  <p:stCondLst>
                                    <p:cond delay="1250"/>
                                  </p:stCondLst>
                                  <p:childTnLst>
                                    <p:set>
                                      <p:cBhvr>
                                        <p:cTn id="305" dur="1" fill="hold">
                                          <p:stCondLst>
                                            <p:cond delay="0"/>
                                          </p:stCondLst>
                                        </p:cTn>
                                        <p:tgtEl>
                                          <p:spTgt spid="72"/>
                                        </p:tgtEl>
                                        <p:attrNameLst>
                                          <p:attrName>style.visibility</p:attrName>
                                        </p:attrNameLst>
                                      </p:cBhvr>
                                      <p:to>
                                        <p:strVal val="visible"/>
                                      </p:to>
                                    </p:set>
                                    <p:anim calcmode="lin" valueType="num">
                                      <p:cBhvr additive="base">
                                        <p:cTn id="306" dur="400" fill="hold"/>
                                        <p:tgtEl>
                                          <p:spTgt spid="72"/>
                                        </p:tgtEl>
                                        <p:attrNameLst>
                                          <p:attrName>ppt_w</p:attrName>
                                        </p:attrNameLst>
                                      </p:cBhvr>
                                      <p:tavLst>
                                        <p:tav tm="0">
                                          <p:val>
                                            <p:strVal val="0"/>
                                          </p:val>
                                        </p:tav>
                                        <p:tav tm="100000">
                                          <p:val>
                                            <p:strVal val="#ppt_w"/>
                                          </p:val>
                                        </p:tav>
                                      </p:tavLst>
                                    </p:anim>
                                    <p:anim calcmode="lin" valueType="num">
                                      <p:cBhvr additive="base">
                                        <p:cTn id="307" dur="400" fill="hold"/>
                                        <p:tgtEl>
                                          <p:spTgt spid="72"/>
                                        </p:tgtEl>
                                        <p:attrNameLst>
                                          <p:attrName>ppt_h</p:attrName>
                                        </p:attrNameLst>
                                      </p:cBhvr>
                                      <p:tavLst>
                                        <p:tav tm="0">
                                          <p:val>
                                            <p:strVal val="0"/>
                                          </p:val>
                                        </p:tav>
                                        <p:tav tm="100000">
                                          <p:val>
                                            <p:strVal val="#ppt_h"/>
                                          </p:val>
                                        </p:tav>
                                      </p:tavLst>
                                    </p:anim>
                                    <p:animEffect transition="in" filter="fade">
                                      <p:cBhvr>
                                        <p:cTn id="308" dur="400"/>
                                        <p:tgtEl>
                                          <p:spTgt spid="72"/>
                                        </p:tgtEl>
                                      </p:cBhvr>
                                    </p:animEffect>
                                  </p:childTnLst>
                                </p:cTn>
                              </p:par>
                              <p:par>
                                <p:cTn id="309" presetID="53" presetClass="entr" presetSubtype="16" fill="hold" nodeType="withEffect">
                                  <p:stCondLst>
                                    <p:cond delay="1250"/>
                                  </p:stCondLst>
                                  <p:childTnLst>
                                    <p:set>
                                      <p:cBhvr>
                                        <p:cTn id="310" dur="1" fill="hold">
                                          <p:stCondLst>
                                            <p:cond delay="0"/>
                                          </p:stCondLst>
                                        </p:cTn>
                                        <p:tgtEl>
                                          <p:spTgt spid="77"/>
                                        </p:tgtEl>
                                        <p:attrNameLst>
                                          <p:attrName>style.visibility</p:attrName>
                                        </p:attrNameLst>
                                      </p:cBhvr>
                                      <p:to>
                                        <p:strVal val="visible"/>
                                      </p:to>
                                    </p:set>
                                    <p:anim calcmode="lin" valueType="num">
                                      <p:cBhvr additive="base">
                                        <p:cTn id="311" dur="400" fill="hold"/>
                                        <p:tgtEl>
                                          <p:spTgt spid="77"/>
                                        </p:tgtEl>
                                        <p:attrNameLst>
                                          <p:attrName>ppt_w</p:attrName>
                                        </p:attrNameLst>
                                      </p:cBhvr>
                                      <p:tavLst>
                                        <p:tav tm="0">
                                          <p:val>
                                            <p:strVal val="0"/>
                                          </p:val>
                                        </p:tav>
                                        <p:tav tm="100000">
                                          <p:val>
                                            <p:strVal val="#ppt_w"/>
                                          </p:val>
                                        </p:tav>
                                      </p:tavLst>
                                    </p:anim>
                                    <p:anim calcmode="lin" valueType="num">
                                      <p:cBhvr additive="base">
                                        <p:cTn id="312" dur="400" fill="hold"/>
                                        <p:tgtEl>
                                          <p:spTgt spid="77"/>
                                        </p:tgtEl>
                                        <p:attrNameLst>
                                          <p:attrName>ppt_h</p:attrName>
                                        </p:attrNameLst>
                                      </p:cBhvr>
                                      <p:tavLst>
                                        <p:tav tm="0">
                                          <p:val>
                                            <p:strVal val="0"/>
                                          </p:val>
                                        </p:tav>
                                        <p:tav tm="100000">
                                          <p:val>
                                            <p:strVal val="#ppt_h"/>
                                          </p:val>
                                        </p:tav>
                                      </p:tavLst>
                                    </p:anim>
                                    <p:animEffect transition="in" filter="fade">
                                      <p:cBhvr>
                                        <p:cTn id="313" dur="400"/>
                                        <p:tgtEl>
                                          <p:spTgt spid="77"/>
                                        </p:tgtEl>
                                      </p:cBhvr>
                                    </p:animEffect>
                                  </p:childTnLst>
                                </p:cTn>
                              </p:par>
                              <p:par>
                                <p:cTn id="314" presetID="53" presetClass="entr" presetSubtype="16" fill="hold" nodeType="withEffect">
                                  <p:stCondLst>
                                    <p:cond delay="1250"/>
                                  </p:stCondLst>
                                  <p:childTnLst>
                                    <p:set>
                                      <p:cBhvr>
                                        <p:cTn id="315" dur="1" fill="hold">
                                          <p:stCondLst>
                                            <p:cond delay="0"/>
                                          </p:stCondLst>
                                        </p:cTn>
                                        <p:tgtEl>
                                          <p:spTgt spid="78"/>
                                        </p:tgtEl>
                                        <p:attrNameLst>
                                          <p:attrName>style.visibility</p:attrName>
                                        </p:attrNameLst>
                                      </p:cBhvr>
                                      <p:to>
                                        <p:strVal val="visible"/>
                                      </p:to>
                                    </p:set>
                                    <p:anim calcmode="lin" valueType="num">
                                      <p:cBhvr additive="base">
                                        <p:cTn id="316" dur="400" fill="hold"/>
                                        <p:tgtEl>
                                          <p:spTgt spid="78"/>
                                        </p:tgtEl>
                                        <p:attrNameLst>
                                          <p:attrName>ppt_w</p:attrName>
                                        </p:attrNameLst>
                                      </p:cBhvr>
                                      <p:tavLst>
                                        <p:tav tm="0">
                                          <p:val>
                                            <p:strVal val="0"/>
                                          </p:val>
                                        </p:tav>
                                        <p:tav tm="100000">
                                          <p:val>
                                            <p:strVal val="#ppt_w"/>
                                          </p:val>
                                        </p:tav>
                                      </p:tavLst>
                                    </p:anim>
                                    <p:anim calcmode="lin" valueType="num">
                                      <p:cBhvr additive="base">
                                        <p:cTn id="317" dur="400" fill="hold"/>
                                        <p:tgtEl>
                                          <p:spTgt spid="78"/>
                                        </p:tgtEl>
                                        <p:attrNameLst>
                                          <p:attrName>ppt_h</p:attrName>
                                        </p:attrNameLst>
                                      </p:cBhvr>
                                      <p:tavLst>
                                        <p:tav tm="0">
                                          <p:val>
                                            <p:strVal val="0"/>
                                          </p:val>
                                        </p:tav>
                                        <p:tav tm="100000">
                                          <p:val>
                                            <p:strVal val="#ppt_h"/>
                                          </p:val>
                                        </p:tav>
                                      </p:tavLst>
                                    </p:anim>
                                    <p:animEffect transition="in" filter="fade">
                                      <p:cBhvr>
                                        <p:cTn id="318" dur="400"/>
                                        <p:tgtEl>
                                          <p:spTgt spid="78"/>
                                        </p:tgtEl>
                                      </p:cBhvr>
                                    </p:animEffect>
                                  </p:childTnLst>
                                </p:cTn>
                              </p:par>
                              <p:par>
                                <p:cTn id="319" presetID="53" presetClass="entr" presetSubtype="16" fill="hold" nodeType="withEffect">
                                  <p:stCondLst>
                                    <p:cond delay="1250"/>
                                  </p:stCondLst>
                                  <p:childTnLst>
                                    <p:set>
                                      <p:cBhvr>
                                        <p:cTn id="320" dur="1" fill="hold">
                                          <p:stCondLst>
                                            <p:cond delay="0"/>
                                          </p:stCondLst>
                                        </p:cTn>
                                        <p:tgtEl>
                                          <p:spTgt spid="79"/>
                                        </p:tgtEl>
                                        <p:attrNameLst>
                                          <p:attrName>style.visibility</p:attrName>
                                        </p:attrNameLst>
                                      </p:cBhvr>
                                      <p:to>
                                        <p:strVal val="visible"/>
                                      </p:to>
                                    </p:set>
                                    <p:anim calcmode="lin" valueType="num">
                                      <p:cBhvr additive="base">
                                        <p:cTn id="321" dur="400" fill="hold"/>
                                        <p:tgtEl>
                                          <p:spTgt spid="79"/>
                                        </p:tgtEl>
                                        <p:attrNameLst>
                                          <p:attrName>ppt_w</p:attrName>
                                        </p:attrNameLst>
                                      </p:cBhvr>
                                      <p:tavLst>
                                        <p:tav tm="0">
                                          <p:val>
                                            <p:strVal val="0"/>
                                          </p:val>
                                        </p:tav>
                                        <p:tav tm="100000">
                                          <p:val>
                                            <p:strVal val="#ppt_w"/>
                                          </p:val>
                                        </p:tav>
                                      </p:tavLst>
                                    </p:anim>
                                    <p:anim calcmode="lin" valueType="num">
                                      <p:cBhvr additive="base">
                                        <p:cTn id="322" dur="400" fill="hold"/>
                                        <p:tgtEl>
                                          <p:spTgt spid="79"/>
                                        </p:tgtEl>
                                        <p:attrNameLst>
                                          <p:attrName>ppt_h</p:attrName>
                                        </p:attrNameLst>
                                      </p:cBhvr>
                                      <p:tavLst>
                                        <p:tav tm="0">
                                          <p:val>
                                            <p:strVal val="0"/>
                                          </p:val>
                                        </p:tav>
                                        <p:tav tm="100000">
                                          <p:val>
                                            <p:strVal val="#ppt_h"/>
                                          </p:val>
                                        </p:tav>
                                      </p:tavLst>
                                    </p:anim>
                                    <p:animEffect transition="in" filter="fade">
                                      <p:cBhvr>
                                        <p:cTn id="323" dur="400"/>
                                        <p:tgtEl>
                                          <p:spTgt spid="79"/>
                                        </p:tgtEl>
                                      </p:cBhvr>
                                    </p:animEffect>
                                  </p:childTnLst>
                                </p:cTn>
                              </p:par>
                              <p:par>
                                <p:cTn id="324" presetID="53" presetClass="entr" presetSubtype="16" fill="hold" nodeType="withEffect">
                                  <p:stCondLst>
                                    <p:cond delay="1250"/>
                                  </p:stCondLst>
                                  <p:childTnLst>
                                    <p:set>
                                      <p:cBhvr>
                                        <p:cTn id="325" dur="1" fill="hold">
                                          <p:stCondLst>
                                            <p:cond delay="0"/>
                                          </p:stCondLst>
                                        </p:cTn>
                                        <p:tgtEl>
                                          <p:spTgt spid="80"/>
                                        </p:tgtEl>
                                        <p:attrNameLst>
                                          <p:attrName>style.visibility</p:attrName>
                                        </p:attrNameLst>
                                      </p:cBhvr>
                                      <p:to>
                                        <p:strVal val="visible"/>
                                      </p:to>
                                    </p:set>
                                    <p:anim calcmode="lin" valueType="num">
                                      <p:cBhvr additive="base">
                                        <p:cTn id="326" dur="400" fill="hold"/>
                                        <p:tgtEl>
                                          <p:spTgt spid="80"/>
                                        </p:tgtEl>
                                        <p:attrNameLst>
                                          <p:attrName>ppt_w</p:attrName>
                                        </p:attrNameLst>
                                      </p:cBhvr>
                                      <p:tavLst>
                                        <p:tav tm="0">
                                          <p:val>
                                            <p:strVal val="0"/>
                                          </p:val>
                                        </p:tav>
                                        <p:tav tm="100000">
                                          <p:val>
                                            <p:strVal val="#ppt_w"/>
                                          </p:val>
                                        </p:tav>
                                      </p:tavLst>
                                    </p:anim>
                                    <p:anim calcmode="lin" valueType="num">
                                      <p:cBhvr additive="base">
                                        <p:cTn id="327" dur="400" fill="hold"/>
                                        <p:tgtEl>
                                          <p:spTgt spid="80"/>
                                        </p:tgtEl>
                                        <p:attrNameLst>
                                          <p:attrName>ppt_h</p:attrName>
                                        </p:attrNameLst>
                                      </p:cBhvr>
                                      <p:tavLst>
                                        <p:tav tm="0">
                                          <p:val>
                                            <p:strVal val="0"/>
                                          </p:val>
                                        </p:tav>
                                        <p:tav tm="100000">
                                          <p:val>
                                            <p:strVal val="#ppt_h"/>
                                          </p:val>
                                        </p:tav>
                                      </p:tavLst>
                                    </p:anim>
                                    <p:animEffect transition="in" filter="fade">
                                      <p:cBhvr>
                                        <p:cTn id="328" dur="400"/>
                                        <p:tgtEl>
                                          <p:spTgt spid="80"/>
                                        </p:tgtEl>
                                      </p:cBhvr>
                                    </p:animEffect>
                                  </p:childTnLst>
                                </p:cTn>
                              </p:par>
                              <p:par>
                                <p:cTn id="329" presetID="53" presetClass="entr" presetSubtype="16" fill="hold" nodeType="withEffect">
                                  <p:stCondLst>
                                    <p:cond delay="1250"/>
                                  </p:stCondLst>
                                  <p:childTnLst>
                                    <p:set>
                                      <p:cBhvr>
                                        <p:cTn id="330" dur="1" fill="hold">
                                          <p:stCondLst>
                                            <p:cond delay="0"/>
                                          </p:stCondLst>
                                        </p:cTn>
                                        <p:tgtEl>
                                          <p:spTgt spid="81"/>
                                        </p:tgtEl>
                                        <p:attrNameLst>
                                          <p:attrName>style.visibility</p:attrName>
                                        </p:attrNameLst>
                                      </p:cBhvr>
                                      <p:to>
                                        <p:strVal val="visible"/>
                                      </p:to>
                                    </p:set>
                                    <p:anim calcmode="lin" valueType="num">
                                      <p:cBhvr additive="base">
                                        <p:cTn id="331" dur="400" fill="hold"/>
                                        <p:tgtEl>
                                          <p:spTgt spid="81"/>
                                        </p:tgtEl>
                                        <p:attrNameLst>
                                          <p:attrName>ppt_w</p:attrName>
                                        </p:attrNameLst>
                                      </p:cBhvr>
                                      <p:tavLst>
                                        <p:tav tm="0">
                                          <p:val>
                                            <p:strVal val="0"/>
                                          </p:val>
                                        </p:tav>
                                        <p:tav tm="100000">
                                          <p:val>
                                            <p:strVal val="#ppt_w"/>
                                          </p:val>
                                        </p:tav>
                                      </p:tavLst>
                                    </p:anim>
                                    <p:anim calcmode="lin" valueType="num">
                                      <p:cBhvr additive="base">
                                        <p:cTn id="332" dur="400" fill="hold"/>
                                        <p:tgtEl>
                                          <p:spTgt spid="81"/>
                                        </p:tgtEl>
                                        <p:attrNameLst>
                                          <p:attrName>ppt_h</p:attrName>
                                        </p:attrNameLst>
                                      </p:cBhvr>
                                      <p:tavLst>
                                        <p:tav tm="0">
                                          <p:val>
                                            <p:strVal val="0"/>
                                          </p:val>
                                        </p:tav>
                                        <p:tav tm="100000">
                                          <p:val>
                                            <p:strVal val="#ppt_h"/>
                                          </p:val>
                                        </p:tav>
                                      </p:tavLst>
                                    </p:anim>
                                    <p:animEffect transition="in" filter="fade">
                                      <p:cBhvr>
                                        <p:cTn id="333" dur="400"/>
                                        <p:tgtEl>
                                          <p:spTgt spid="81"/>
                                        </p:tgtEl>
                                      </p:cBhvr>
                                    </p:animEffect>
                                  </p:childTnLst>
                                </p:cTn>
                              </p:par>
                              <p:par>
                                <p:cTn id="334" presetID="53" presetClass="entr" presetSubtype="16" fill="hold" nodeType="withEffect">
                                  <p:stCondLst>
                                    <p:cond delay="1250"/>
                                  </p:stCondLst>
                                  <p:childTnLst>
                                    <p:set>
                                      <p:cBhvr>
                                        <p:cTn id="335" dur="1" fill="hold">
                                          <p:stCondLst>
                                            <p:cond delay="0"/>
                                          </p:stCondLst>
                                        </p:cTn>
                                        <p:tgtEl>
                                          <p:spTgt spid="82"/>
                                        </p:tgtEl>
                                        <p:attrNameLst>
                                          <p:attrName>style.visibility</p:attrName>
                                        </p:attrNameLst>
                                      </p:cBhvr>
                                      <p:to>
                                        <p:strVal val="visible"/>
                                      </p:to>
                                    </p:set>
                                    <p:anim calcmode="lin" valueType="num">
                                      <p:cBhvr additive="base">
                                        <p:cTn id="336" dur="400" fill="hold"/>
                                        <p:tgtEl>
                                          <p:spTgt spid="82"/>
                                        </p:tgtEl>
                                        <p:attrNameLst>
                                          <p:attrName>ppt_w</p:attrName>
                                        </p:attrNameLst>
                                      </p:cBhvr>
                                      <p:tavLst>
                                        <p:tav tm="0">
                                          <p:val>
                                            <p:strVal val="0"/>
                                          </p:val>
                                        </p:tav>
                                        <p:tav tm="100000">
                                          <p:val>
                                            <p:strVal val="#ppt_w"/>
                                          </p:val>
                                        </p:tav>
                                      </p:tavLst>
                                    </p:anim>
                                    <p:anim calcmode="lin" valueType="num">
                                      <p:cBhvr additive="base">
                                        <p:cTn id="337" dur="400" fill="hold"/>
                                        <p:tgtEl>
                                          <p:spTgt spid="82"/>
                                        </p:tgtEl>
                                        <p:attrNameLst>
                                          <p:attrName>ppt_h</p:attrName>
                                        </p:attrNameLst>
                                      </p:cBhvr>
                                      <p:tavLst>
                                        <p:tav tm="0">
                                          <p:val>
                                            <p:strVal val="0"/>
                                          </p:val>
                                        </p:tav>
                                        <p:tav tm="100000">
                                          <p:val>
                                            <p:strVal val="#ppt_h"/>
                                          </p:val>
                                        </p:tav>
                                      </p:tavLst>
                                    </p:anim>
                                    <p:animEffect transition="in" filter="fade">
                                      <p:cBhvr>
                                        <p:cTn id="338" dur="400"/>
                                        <p:tgtEl>
                                          <p:spTgt spid="82"/>
                                        </p:tgtEl>
                                      </p:cBhvr>
                                    </p:animEffect>
                                  </p:childTnLst>
                                </p:cTn>
                              </p:par>
                              <p:par>
                                <p:cTn id="339" presetID="53" presetClass="entr" presetSubtype="16" fill="hold" nodeType="withEffect">
                                  <p:stCondLst>
                                    <p:cond delay="1250"/>
                                  </p:stCondLst>
                                  <p:childTnLst>
                                    <p:set>
                                      <p:cBhvr>
                                        <p:cTn id="340" dur="1" fill="hold">
                                          <p:stCondLst>
                                            <p:cond delay="0"/>
                                          </p:stCondLst>
                                        </p:cTn>
                                        <p:tgtEl>
                                          <p:spTgt spid="83"/>
                                        </p:tgtEl>
                                        <p:attrNameLst>
                                          <p:attrName>style.visibility</p:attrName>
                                        </p:attrNameLst>
                                      </p:cBhvr>
                                      <p:to>
                                        <p:strVal val="visible"/>
                                      </p:to>
                                    </p:set>
                                    <p:anim calcmode="lin" valueType="num">
                                      <p:cBhvr additive="base">
                                        <p:cTn id="341" dur="400" fill="hold"/>
                                        <p:tgtEl>
                                          <p:spTgt spid="83"/>
                                        </p:tgtEl>
                                        <p:attrNameLst>
                                          <p:attrName>ppt_w</p:attrName>
                                        </p:attrNameLst>
                                      </p:cBhvr>
                                      <p:tavLst>
                                        <p:tav tm="0">
                                          <p:val>
                                            <p:strVal val="0"/>
                                          </p:val>
                                        </p:tav>
                                        <p:tav tm="100000">
                                          <p:val>
                                            <p:strVal val="#ppt_w"/>
                                          </p:val>
                                        </p:tav>
                                      </p:tavLst>
                                    </p:anim>
                                    <p:anim calcmode="lin" valueType="num">
                                      <p:cBhvr additive="base">
                                        <p:cTn id="342" dur="400" fill="hold"/>
                                        <p:tgtEl>
                                          <p:spTgt spid="83"/>
                                        </p:tgtEl>
                                        <p:attrNameLst>
                                          <p:attrName>ppt_h</p:attrName>
                                        </p:attrNameLst>
                                      </p:cBhvr>
                                      <p:tavLst>
                                        <p:tav tm="0">
                                          <p:val>
                                            <p:strVal val="0"/>
                                          </p:val>
                                        </p:tav>
                                        <p:tav tm="100000">
                                          <p:val>
                                            <p:strVal val="#ppt_h"/>
                                          </p:val>
                                        </p:tav>
                                      </p:tavLst>
                                    </p:anim>
                                    <p:animEffect transition="in" filter="fade">
                                      <p:cBhvr>
                                        <p:cTn id="343" dur="400"/>
                                        <p:tgtEl>
                                          <p:spTgt spid="83"/>
                                        </p:tgtEl>
                                      </p:cBhvr>
                                    </p:animEffect>
                                  </p:childTnLst>
                                </p:cTn>
                              </p:par>
                              <p:par>
                                <p:cTn id="344" presetID="22" presetClass="entr" presetSubtype="8" fill="hold" nodeType="withEffect">
                                  <p:stCondLst>
                                    <p:cond delay="1450"/>
                                  </p:stCondLst>
                                  <p:childTnLst>
                                    <p:set>
                                      <p:cBhvr>
                                        <p:cTn id="345" dur="1" fill="hold">
                                          <p:stCondLst>
                                            <p:cond delay="0"/>
                                          </p:stCondLst>
                                        </p:cTn>
                                        <p:tgtEl>
                                          <p:spTgt spid="73"/>
                                        </p:tgtEl>
                                        <p:attrNameLst>
                                          <p:attrName>style.visibility</p:attrName>
                                        </p:attrNameLst>
                                      </p:cBhvr>
                                      <p:to>
                                        <p:strVal val="visible"/>
                                      </p:to>
                                    </p:set>
                                    <p:animEffect transition="in" filter="wipe(left)">
                                      <p:cBhvr>
                                        <p:cTn id="346" dur="450"/>
                                        <p:tgtEl>
                                          <p:spTgt spid="73"/>
                                        </p:tgtEl>
                                      </p:cBhvr>
                                    </p:animEffect>
                                  </p:childTnLst>
                                </p:cTn>
                              </p:par>
                              <p:par>
                                <p:cTn id="347" presetID="22" presetClass="entr" presetSubtype="8" fill="hold" nodeType="withEffect">
                                  <p:stCondLst>
                                    <p:cond delay="1450"/>
                                  </p:stCondLst>
                                  <p:childTnLst>
                                    <p:set>
                                      <p:cBhvr>
                                        <p:cTn id="348" dur="1" fill="hold">
                                          <p:stCondLst>
                                            <p:cond delay="0"/>
                                          </p:stCondLst>
                                        </p:cTn>
                                        <p:tgtEl>
                                          <p:spTgt spid="74"/>
                                        </p:tgtEl>
                                        <p:attrNameLst>
                                          <p:attrName>style.visibility</p:attrName>
                                        </p:attrNameLst>
                                      </p:cBhvr>
                                      <p:to>
                                        <p:strVal val="visible"/>
                                      </p:to>
                                    </p:set>
                                    <p:animEffect transition="in" filter="wipe(left)">
                                      <p:cBhvr>
                                        <p:cTn id="349" dur="450"/>
                                        <p:tgtEl>
                                          <p:spTgt spid="74"/>
                                        </p:tgtEl>
                                      </p:cBhvr>
                                    </p:animEffect>
                                  </p:childTnLst>
                                </p:cTn>
                              </p:par>
                              <p:par>
                                <p:cTn id="350" presetID="22" presetClass="entr" presetSubtype="8" fill="hold" nodeType="withEffect">
                                  <p:stCondLst>
                                    <p:cond delay="1450"/>
                                  </p:stCondLst>
                                  <p:childTnLst>
                                    <p:set>
                                      <p:cBhvr>
                                        <p:cTn id="351" dur="1" fill="hold">
                                          <p:stCondLst>
                                            <p:cond delay="0"/>
                                          </p:stCondLst>
                                        </p:cTn>
                                        <p:tgtEl>
                                          <p:spTgt spid="75"/>
                                        </p:tgtEl>
                                        <p:attrNameLst>
                                          <p:attrName>style.visibility</p:attrName>
                                        </p:attrNameLst>
                                      </p:cBhvr>
                                      <p:to>
                                        <p:strVal val="visible"/>
                                      </p:to>
                                    </p:set>
                                    <p:animEffect transition="in" filter="wipe(left)">
                                      <p:cBhvr>
                                        <p:cTn id="352" dur="450"/>
                                        <p:tgtEl>
                                          <p:spTgt spid="75"/>
                                        </p:tgtEl>
                                      </p:cBhvr>
                                    </p:animEffect>
                                  </p:childTnLst>
                                </p:cTn>
                              </p:par>
                              <p:par>
                                <p:cTn id="353" presetID="22" presetClass="entr" presetSubtype="8" fill="hold" nodeType="withEffect">
                                  <p:stCondLst>
                                    <p:cond delay="1450"/>
                                  </p:stCondLst>
                                  <p:childTnLst>
                                    <p:set>
                                      <p:cBhvr>
                                        <p:cTn id="354" dur="1" fill="hold">
                                          <p:stCondLst>
                                            <p:cond delay="0"/>
                                          </p:stCondLst>
                                        </p:cTn>
                                        <p:tgtEl>
                                          <p:spTgt spid="76"/>
                                        </p:tgtEl>
                                        <p:attrNameLst>
                                          <p:attrName>style.visibility</p:attrName>
                                        </p:attrNameLst>
                                      </p:cBhvr>
                                      <p:to>
                                        <p:strVal val="visible"/>
                                      </p:to>
                                    </p:set>
                                    <p:animEffect transition="in" filter="wipe(left)">
                                      <p:cBhvr>
                                        <p:cTn id="355" dur="450"/>
                                        <p:tgtEl>
                                          <p:spTgt spid="76"/>
                                        </p:tgtEl>
                                      </p:cBhvr>
                                    </p:animEffect>
                                  </p:childTnLst>
                                </p:cTn>
                              </p:par>
                              <p:par>
                                <p:cTn id="356" presetID="53" presetClass="entr" presetSubtype="16" fill="hold" nodeType="withEffect">
                                  <p:stCondLst>
                                    <p:cond delay="1470"/>
                                  </p:stCondLst>
                                  <p:childTnLst>
                                    <p:set>
                                      <p:cBhvr>
                                        <p:cTn id="357" dur="1" fill="hold">
                                          <p:stCondLst>
                                            <p:cond delay="0"/>
                                          </p:stCondLst>
                                        </p:cTn>
                                        <p:tgtEl>
                                          <p:spTgt spid="84"/>
                                        </p:tgtEl>
                                        <p:attrNameLst>
                                          <p:attrName>style.visibility</p:attrName>
                                        </p:attrNameLst>
                                      </p:cBhvr>
                                      <p:to>
                                        <p:strVal val="visible"/>
                                      </p:to>
                                    </p:set>
                                    <p:anim calcmode="lin" valueType="num">
                                      <p:cBhvr additive="base">
                                        <p:cTn id="358" dur="400" fill="hold"/>
                                        <p:tgtEl>
                                          <p:spTgt spid="84"/>
                                        </p:tgtEl>
                                        <p:attrNameLst>
                                          <p:attrName>ppt_w</p:attrName>
                                        </p:attrNameLst>
                                      </p:cBhvr>
                                      <p:tavLst>
                                        <p:tav tm="0">
                                          <p:val>
                                            <p:strVal val="0"/>
                                          </p:val>
                                        </p:tav>
                                        <p:tav tm="100000">
                                          <p:val>
                                            <p:strVal val="#ppt_w"/>
                                          </p:val>
                                        </p:tav>
                                      </p:tavLst>
                                    </p:anim>
                                    <p:anim calcmode="lin" valueType="num">
                                      <p:cBhvr additive="base">
                                        <p:cTn id="359" dur="400" fill="hold"/>
                                        <p:tgtEl>
                                          <p:spTgt spid="84"/>
                                        </p:tgtEl>
                                        <p:attrNameLst>
                                          <p:attrName>ppt_h</p:attrName>
                                        </p:attrNameLst>
                                      </p:cBhvr>
                                      <p:tavLst>
                                        <p:tav tm="0">
                                          <p:val>
                                            <p:strVal val="0"/>
                                          </p:val>
                                        </p:tav>
                                        <p:tav tm="100000">
                                          <p:val>
                                            <p:strVal val="#ppt_h"/>
                                          </p:val>
                                        </p:tav>
                                      </p:tavLst>
                                    </p:anim>
                                    <p:animEffect transition="in" filter="fade">
                                      <p:cBhvr>
                                        <p:cTn id="360" dur="400"/>
                                        <p:tgtEl>
                                          <p:spTgt spid="84"/>
                                        </p:tgtEl>
                                      </p:cBhvr>
                                    </p:animEffect>
                                  </p:childTnLst>
                                </p:cTn>
                              </p:par>
                              <p:par>
                                <p:cTn id="361" presetID="53" presetClass="entr" presetSubtype="16" fill="hold" nodeType="withEffect">
                                  <p:stCondLst>
                                    <p:cond delay="1470"/>
                                  </p:stCondLst>
                                  <p:childTnLst>
                                    <p:set>
                                      <p:cBhvr>
                                        <p:cTn id="362" dur="1" fill="hold">
                                          <p:stCondLst>
                                            <p:cond delay="0"/>
                                          </p:stCondLst>
                                        </p:cTn>
                                        <p:tgtEl>
                                          <p:spTgt spid="94"/>
                                        </p:tgtEl>
                                        <p:attrNameLst>
                                          <p:attrName>style.visibility</p:attrName>
                                        </p:attrNameLst>
                                      </p:cBhvr>
                                      <p:to>
                                        <p:strVal val="visible"/>
                                      </p:to>
                                    </p:set>
                                    <p:anim calcmode="lin" valueType="num">
                                      <p:cBhvr additive="base">
                                        <p:cTn id="363" dur="400" fill="hold"/>
                                        <p:tgtEl>
                                          <p:spTgt spid="94"/>
                                        </p:tgtEl>
                                        <p:attrNameLst>
                                          <p:attrName>ppt_w</p:attrName>
                                        </p:attrNameLst>
                                      </p:cBhvr>
                                      <p:tavLst>
                                        <p:tav tm="0">
                                          <p:val>
                                            <p:strVal val="0"/>
                                          </p:val>
                                        </p:tav>
                                        <p:tav tm="100000">
                                          <p:val>
                                            <p:strVal val="#ppt_w"/>
                                          </p:val>
                                        </p:tav>
                                      </p:tavLst>
                                    </p:anim>
                                    <p:anim calcmode="lin" valueType="num">
                                      <p:cBhvr additive="base">
                                        <p:cTn id="364" dur="400" fill="hold"/>
                                        <p:tgtEl>
                                          <p:spTgt spid="94"/>
                                        </p:tgtEl>
                                        <p:attrNameLst>
                                          <p:attrName>ppt_h</p:attrName>
                                        </p:attrNameLst>
                                      </p:cBhvr>
                                      <p:tavLst>
                                        <p:tav tm="0">
                                          <p:val>
                                            <p:strVal val="0"/>
                                          </p:val>
                                        </p:tav>
                                        <p:tav tm="100000">
                                          <p:val>
                                            <p:strVal val="#ppt_h"/>
                                          </p:val>
                                        </p:tav>
                                      </p:tavLst>
                                    </p:anim>
                                    <p:animEffect transition="in" filter="fade">
                                      <p:cBhvr>
                                        <p:cTn id="365" dur="400"/>
                                        <p:tgtEl>
                                          <p:spTgt spid="94"/>
                                        </p:tgtEl>
                                      </p:cBhvr>
                                    </p:animEffect>
                                  </p:childTnLst>
                                </p:cTn>
                              </p:par>
                              <p:par>
                                <p:cTn id="366" presetID="53" presetClass="entr" presetSubtype="16" fill="hold" nodeType="withEffect">
                                  <p:stCondLst>
                                    <p:cond delay="1470"/>
                                  </p:stCondLst>
                                  <p:childTnLst>
                                    <p:set>
                                      <p:cBhvr>
                                        <p:cTn id="367" dur="1" fill="hold">
                                          <p:stCondLst>
                                            <p:cond delay="0"/>
                                          </p:stCondLst>
                                        </p:cTn>
                                        <p:tgtEl>
                                          <p:spTgt spid="95"/>
                                        </p:tgtEl>
                                        <p:attrNameLst>
                                          <p:attrName>style.visibility</p:attrName>
                                        </p:attrNameLst>
                                      </p:cBhvr>
                                      <p:to>
                                        <p:strVal val="visible"/>
                                      </p:to>
                                    </p:set>
                                    <p:anim calcmode="lin" valueType="num">
                                      <p:cBhvr additive="base">
                                        <p:cTn id="368" dur="400" fill="hold"/>
                                        <p:tgtEl>
                                          <p:spTgt spid="95"/>
                                        </p:tgtEl>
                                        <p:attrNameLst>
                                          <p:attrName>ppt_w</p:attrName>
                                        </p:attrNameLst>
                                      </p:cBhvr>
                                      <p:tavLst>
                                        <p:tav tm="0">
                                          <p:val>
                                            <p:strVal val="0"/>
                                          </p:val>
                                        </p:tav>
                                        <p:tav tm="100000">
                                          <p:val>
                                            <p:strVal val="#ppt_w"/>
                                          </p:val>
                                        </p:tav>
                                      </p:tavLst>
                                    </p:anim>
                                    <p:anim calcmode="lin" valueType="num">
                                      <p:cBhvr additive="base">
                                        <p:cTn id="369" dur="400" fill="hold"/>
                                        <p:tgtEl>
                                          <p:spTgt spid="95"/>
                                        </p:tgtEl>
                                        <p:attrNameLst>
                                          <p:attrName>ppt_h</p:attrName>
                                        </p:attrNameLst>
                                      </p:cBhvr>
                                      <p:tavLst>
                                        <p:tav tm="0">
                                          <p:val>
                                            <p:strVal val="0"/>
                                          </p:val>
                                        </p:tav>
                                        <p:tav tm="100000">
                                          <p:val>
                                            <p:strVal val="#ppt_h"/>
                                          </p:val>
                                        </p:tav>
                                      </p:tavLst>
                                    </p:anim>
                                    <p:animEffect transition="in" filter="fade">
                                      <p:cBhvr>
                                        <p:cTn id="370" dur="400"/>
                                        <p:tgtEl>
                                          <p:spTgt spid="95"/>
                                        </p:tgtEl>
                                      </p:cBhvr>
                                    </p:animEffect>
                                  </p:childTnLst>
                                </p:cTn>
                              </p:par>
                              <p:par>
                                <p:cTn id="371" presetID="53" presetClass="entr" presetSubtype="16" fill="hold" nodeType="withEffect">
                                  <p:stCondLst>
                                    <p:cond delay="1470"/>
                                  </p:stCondLst>
                                  <p:childTnLst>
                                    <p:set>
                                      <p:cBhvr>
                                        <p:cTn id="372" dur="1" fill="hold">
                                          <p:stCondLst>
                                            <p:cond delay="0"/>
                                          </p:stCondLst>
                                        </p:cTn>
                                        <p:tgtEl>
                                          <p:spTgt spid="96"/>
                                        </p:tgtEl>
                                        <p:attrNameLst>
                                          <p:attrName>style.visibility</p:attrName>
                                        </p:attrNameLst>
                                      </p:cBhvr>
                                      <p:to>
                                        <p:strVal val="visible"/>
                                      </p:to>
                                    </p:set>
                                    <p:anim calcmode="lin" valueType="num">
                                      <p:cBhvr additive="base">
                                        <p:cTn id="373" dur="400" fill="hold"/>
                                        <p:tgtEl>
                                          <p:spTgt spid="96"/>
                                        </p:tgtEl>
                                        <p:attrNameLst>
                                          <p:attrName>ppt_w</p:attrName>
                                        </p:attrNameLst>
                                      </p:cBhvr>
                                      <p:tavLst>
                                        <p:tav tm="0">
                                          <p:val>
                                            <p:strVal val="0"/>
                                          </p:val>
                                        </p:tav>
                                        <p:tav tm="100000">
                                          <p:val>
                                            <p:strVal val="#ppt_w"/>
                                          </p:val>
                                        </p:tav>
                                      </p:tavLst>
                                    </p:anim>
                                    <p:anim calcmode="lin" valueType="num">
                                      <p:cBhvr additive="base">
                                        <p:cTn id="374" dur="400" fill="hold"/>
                                        <p:tgtEl>
                                          <p:spTgt spid="96"/>
                                        </p:tgtEl>
                                        <p:attrNameLst>
                                          <p:attrName>ppt_h</p:attrName>
                                        </p:attrNameLst>
                                      </p:cBhvr>
                                      <p:tavLst>
                                        <p:tav tm="0">
                                          <p:val>
                                            <p:strVal val="0"/>
                                          </p:val>
                                        </p:tav>
                                        <p:tav tm="100000">
                                          <p:val>
                                            <p:strVal val="#ppt_h"/>
                                          </p:val>
                                        </p:tav>
                                      </p:tavLst>
                                    </p:anim>
                                    <p:animEffect transition="in" filter="fade">
                                      <p:cBhvr>
                                        <p:cTn id="375" dur="400"/>
                                        <p:tgtEl>
                                          <p:spTgt spid="96"/>
                                        </p:tgtEl>
                                      </p:cBhvr>
                                    </p:animEffect>
                                  </p:childTnLst>
                                </p:cTn>
                              </p:par>
                              <p:par>
                                <p:cTn id="376" presetID="53" presetClass="entr" presetSubtype="16" fill="hold" nodeType="withEffect">
                                  <p:stCondLst>
                                    <p:cond delay="1470"/>
                                  </p:stCondLst>
                                  <p:childTnLst>
                                    <p:set>
                                      <p:cBhvr>
                                        <p:cTn id="377" dur="1" fill="hold">
                                          <p:stCondLst>
                                            <p:cond delay="0"/>
                                          </p:stCondLst>
                                        </p:cTn>
                                        <p:tgtEl>
                                          <p:spTgt spid="97"/>
                                        </p:tgtEl>
                                        <p:attrNameLst>
                                          <p:attrName>style.visibility</p:attrName>
                                        </p:attrNameLst>
                                      </p:cBhvr>
                                      <p:to>
                                        <p:strVal val="visible"/>
                                      </p:to>
                                    </p:set>
                                    <p:anim calcmode="lin" valueType="num">
                                      <p:cBhvr additive="base">
                                        <p:cTn id="378" dur="400" fill="hold"/>
                                        <p:tgtEl>
                                          <p:spTgt spid="97"/>
                                        </p:tgtEl>
                                        <p:attrNameLst>
                                          <p:attrName>ppt_w</p:attrName>
                                        </p:attrNameLst>
                                      </p:cBhvr>
                                      <p:tavLst>
                                        <p:tav tm="0">
                                          <p:val>
                                            <p:strVal val="0"/>
                                          </p:val>
                                        </p:tav>
                                        <p:tav tm="100000">
                                          <p:val>
                                            <p:strVal val="#ppt_w"/>
                                          </p:val>
                                        </p:tav>
                                      </p:tavLst>
                                    </p:anim>
                                    <p:anim calcmode="lin" valueType="num">
                                      <p:cBhvr additive="base">
                                        <p:cTn id="379" dur="400" fill="hold"/>
                                        <p:tgtEl>
                                          <p:spTgt spid="97"/>
                                        </p:tgtEl>
                                        <p:attrNameLst>
                                          <p:attrName>ppt_h</p:attrName>
                                        </p:attrNameLst>
                                      </p:cBhvr>
                                      <p:tavLst>
                                        <p:tav tm="0">
                                          <p:val>
                                            <p:strVal val="0"/>
                                          </p:val>
                                        </p:tav>
                                        <p:tav tm="100000">
                                          <p:val>
                                            <p:strVal val="#ppt_h"/>
                                          </p:val>
                                        </p:tav>
                                      </p:tavLst>
                                    </p:anim>
                                    <p:animEffect transition="in" filter="fade">
                                      <p:cBhvr>
                                        <p:cTn id="380" dur="400"/>
                                        <p:tgtEl>
                                          <p:spTgt spid="97"/>
                                        </p:tgtEl>
                                      </p:cBhvr>
                                    </p:animEffect>
                                  </p:childTnLst>
                                </p:cTn>
                              </p:par>
                              <p:par>
                                <p:cTn id="381" presetID="53" presetClass="entr" presetSubtype="16" fill="hold" nodeType="withEffect">
                                  <p:stCondLst>
                                    <p:cond delay="1470"/>
                                  </p:stCondLst>
                                  <p:childTnLst>
                                    <p:set>
                                      <p:cBhvr>
                                        <p:cTn id="382" dur="1" fill="hold">
                                          <p:stCondLst>
                                            <p:cond delay="0"/>
                                          </p:stCondLst>
                                        </p:cTn>
                                        <p:tgtEl>
                                          <p:spTgt spid="98"/>
                                        </p:tgtEl>
                                        <p:attrNameLst>
                                          <p:attrName>style.visibility</p:attrName>
                                        </p:attrNameLst>
                                      </p:cBhvr>
                                      <p:to>
                                        <p:strVal val="visible"/>
                                      </p:to>
                                    </p:set>
                                    <p:anim calcmode="lin" valueType="num">
                                      <p:cBhvr additive="base">
                                        <p:cTn id="383" dur="400" fill="hold"/>
                                        <p:tgtEl>
                                          <p:spTgt spid="98"/>
                                        </p:tgtEl>
                                        <p:attrNameLst>
                                          <p:attrName>ppt_w</p:attrName>
                                        </p:attrNameLst>
                                      </p:cBhvr>
                                      <p:tavLst>
                                        <p:tav tm="0">
                                          <p:val>
                                            <p:strVal val="0"/>
                                          </p:val>
                                        </p:tav>
                                        <p:tav tm="100000">
                                          <p:val>
                                            <p:strVal val="#ppt_w"/>
                                          </p:val>
                                        </p:tav>
                                      </p:tavLst>
                                    </p:anim>
                                    <p:anim calcmode="lin" valueType="num">
                                      <p:cBhvr additive="base">
                                        <p:cTn id="384" dur="400" fill="hold"/>
                                        <p:tgtEl>
                                          <p:spTgt spid="98"/>
                                        </p:tgtEl>
                                        <p:attrNameLst>
                                          <p:attrName>ppt_h</p:attrName>
                                        </p:attrNameLst>
                                      </p:cBhvr>
                                      <p:tavLst>
                                        <p:tav tm="0">
                                          <p:val>
                                            <p:strVal val="0"/>
                                          </p:val>
                                        </p:tav>
                                        <p:tav tm="100000">
                                          <p:val>
                                            <p:strVal val="#ppt_h"/>
                                          </p:val>
                                        </p:tav>
                                      </p:tavLst>
                                    </p:anim>
                                    <p:animEffect transition="in" filter="fade">
                                      <p:cBhvr>
                                        <p:cTn id="385" dur="400"/>
                                        <p:tgtEl>
                                          <p:spTgt spid="98"/>
                                        </p:tgtEl>
                                      </p:cBhvr>
                                    </p:animEffect>
                                  </p:childTnLst>
                                </p:cTn>
                              </p:par>
                              <p:par>
                                <p:cTn id="386" presetID="53" presetClass="entr" presetSubtype="16" fill="hold" nodeType="withEffect">
                                  <p:stCondLst>
                                    <p:cond delay="1470"/>
                                  </p:stCondLst>
                                  <p:childTnLst>
                                    <p:set>
                                      <p:cBhvr>
                                        <p:cTn id="387" dur="1" fill="hold">
                                          <p:stCondLst>
                                            <p:cond delay="0"/>
                                          </p:stCondLst>
                                        </p:cTn>
                                        <p:tgtEl>
                                          <p:spTgt spid="99"/>
                                        </p:tgtEl>
                                        <p:attrNameLst>
                                          <p:attrName>style.visibility</p:attrName>
                                        </p:attrNameLst>
                                      </p:cBhvr>
                                      <p:to>
                                        <p:strVal val="visible"/>
                                      </p:to>
                                    </p:set>
                                    <p:anim calcmode="lin" valueType="num">
                                      <p:cBhvr additive="base">
                                        <p:cTn id="388" dur="400" fill="hold"/>
                                        <p:tgtEl>
                                          <p:spTgt spid="99"/>
                                        </p:tgtEl>
                                        <p:attrNameLst>
                                          <p:attrName>ppt_w</p:attrName>
                                        </p:attrNameLst>
                                      </p:cBhvr>
                                      <p:tavLst>
                                        <p:tav tm="0">
                                          <p:val>
                                            <p:strVal val="0"/>
                                          </p:val>
                                        </p:tav>
                                        <p:tav tm="100000">
                                          <p:val>
                                            <p:strVal val="#ppt_w"/>
                                          </p:val>
                                        </p:tav>
                                      </p:tavLst>
                                    </p:anim>
                                    <p:anim calcmode="lin" valueType="num">
                                      <p:cBhvr additive="base">
                                        <p:cTn id="389" dur="400" fill="hold"/>
                                        <p:tgtEl>
                                          <p:spTgt spid="99"/>
                                        </p:tgtEl>
                                        <p:attrNameLst>
                                          <p:attrName>ppt_h</p:attrName>
                                        </p:attrNameLst>
                                      </p:cBhvr>
                                      <p:tavLst>
                                        <p:tav tm="0">
                                          <p:val>
                                            <p:strVal val="0"/>
                                          </p:val>
                                        </p:tav>
                                        <p:tav tm="100000">
                                          <p:val>
                                            <p:strVal val="#ppt_h"/>
                                          </p:val>
                                        </p:tav>
                                      </p:tavLst>
                                    </p:anim>
                                    <p:animEffect transition="in" filter="fade">
                                      <p:cBhvr>
                                        <p:cTn id="390" dur="400"/>
                                        <p:tgtEl>
                                          <p:spTgt spid="99"/>
                                        </p:tgtEl>
                                      </p:cBhvr>
                                    </p:animEffect>
                                  </p:childTnLst>
                                </p:cTn>
                              </p:par>
                              <p:par>
                                <p:cTn id="391" presetID="53" presetClass="entr" presetSubtype="16" fill="hold" nodeType="withEffect">
                                  <p:stCondLst>
                                    <p:cond delay="1470"/>
                                  </p:stCondLst>
                                  <p:childTnLst>
                                    <p:set>
                                      <p:cBhvr>
                                        <p:cTn id="392" dur="1" fill="hold">
                                          <p:stCondLst>
                                            <p:cond delay="0"/>
                                          </p:stCondLst>
                                        </p:cTn>
                                        <p:tgtEl>
                                          <p:spTgt spid="100"/>
                                        </p:tgtEl>
                                        <p:attrNameLst>
                                          <p:attrName>style.visibility</p:attrName>
                                        </p:attrNameLst>
                                      </p:cBhvr>
                                      <p:to>
                                        <p:strVal val="visible"/>
                                      </p:to>
                                    </p:set>
                                    <p:anim calcmode="lin" valueType="num">
                                      <p:cBhvr additive="base">
                                        <p:cTn id="393" dur="400" fill="hold"/>
                                        <p:tgtEl>
                                          <p:spTgt spid="100"/>
                                        </p:tgtEl>
                                        <p:attrNameLst>
                                          <p:attrName>ppt_w</p:attrName>
                                        </p:attrNameLst>
                                      </p:cBhvr>
                                      <p:tavLst>
                                        <p:tav tm="0">
                                          <p:val>
                                            <p:strVal val="0"/>
                                          </p:val>
                                        </p:tav>
                                        <p:tav tm="100000">
                                          <p:val>
                                            <p:strVal val="#ppt_w"/>
                                          </p:val>
                                        </p:tav>
                                      </p:tavLst>
                                    </p:anim>
                                    <p:anim calcmode="lin" valueType="num">
                                      <p:cBhvr additive="base">
                                        <p:cTn id="394" dur="400" fill="hold"/>
                                        <p:tgtEl>
                                          <p:spTgt spid="100"/>
                                        </p:tgtEl>
                                        <p:attrNameLst>
                                          <p:attrName>ppt_h</p:attrName>
                                        </p:attrNameLst>
                                      </p:cBhvr>
                                      <p:tavLst>
                                        <p:tav tm="0">
                                          <p:val>
                                            <p:strVal val="0"/>
                                          </p:val>
                                        </p:tav>
                                        <p:tav tm="100000">
                                          <p:val>
                                            <p:strVal val="#ppt_h"/>
                                          </p:val>
                                        </p:tav>
                                      </p:tavLst>
                                    </p:anim>
                                    <p:animEffect transition="in" filter="fade">
                                      <p:cBhvr>
                                        <p:cTn id="395" dur="400"/>
                                        <p:tgtEl>
                                          <p:spTgt spid="100"/>
                                        </p:tgtEl>
                                      </p:cBhvr>
                                    </p:animEffect>
                                  </p:childTnLst>
                                </p:cTn>
                              </p:par>
                              <p:par>
                                <p:cTn id="396" presetID="53" presetClass="entr" presetSubtype="16" fill="hold" nodeType="withEffect">
                                  <p:stCondLst>
                                    <p:cond delay="1470"/>
                                  </p:stCondLst>
                                  <p:childTnLst>
                                    <p:set>
                                      <p:cBhvr>
                                        <p:cTn id="397" dur="1" fill="hold">
                                          <p:stCondLst>
                                            <p:cond delay="0"/>
                                          </p:stCondLst>
                                        </p:cTn>
                                        <p:tgtEl>
                                          <p:spTgt spid="101"/>
                                        </p:tgtEl>
                                        <p:attrNameLst>
                                          <p:attrName>style.visibility</p:attrName>
                                        </p:attrNameLst>
                                      </p:cBhvr>
                                      <p:to>
                                        <p:strVal val="visible"/>
                                      </p:to>
                                    </p:set>
                                    <p:anim calcmode="lin" valueType="num">
                                      <p:cBhvr additive="base">
                                        <p:cTn id="398" dur="400" fill="hold"/>
                                        <p:tgtEl>
                                          <p:spTgt spid="101"/>
                                        </p:tgtEl>
                                        <p:attrNameLst>
                                          <p:attrName>ppt_w</p:attrName>
                                        </p:attrNameLst>
                                      </p:cBhvr>
                                      <p:tavLst>
                                        <p:tav tm="0">
                                          <p:val>
                                            <p:strVal val="0"/>
                                          </p:val>
                                        </p:tav>
                                        <p:tav tm="100000">
                                          <p:val>
                                            <p:strVal val="#ppt_w"/>
                                          </p:val>
                                        </p:tav>
                                      </p:tavLst>
                                    </p:anim>
                                    <p:anim calcmode="lin" valueType="num">
                                      <p:cBhvr additive="base">
                                        <p:cTn id="399" dur="400" fill="hold"/>
                                        <p:tgtEl>
                                          <p:spTgt spid="101"/>
                                        </p:tgtEl>
                                        <p:attrNameLst>
                                          <p:attrName>ppt_h</p:attrName>
                                        </p:attrNameLst>
                                      </p:cBhvr>
                                      <p:tavLst>
                                        <p:tav tm="0">
                                          <p:val>
                                            <p:strVal val="0"/>
                                          </p:val>
                                        </p:tav>
                                        <p:tav tm="100000">
                                          <p:val>
                                            <p:strVal val="#ppt_h"/>
                                          </p:val>
                                        </p:tav>
                                      </p:tavLst>
                                    </p:anim>
                                    <p:animEffect transition="in" filter="fade">
                                      <p:cBhvr>
                                        <p:cTn id="400" dur="400"/>
                                        <p:tgtEl>
                                          <p:spTgt spid="101"/>
                                        </p:tgtEl>
                                      </p:cBhvr>
                                    </p:animEffect>
                                  </p:childTnLst>
                                </p:cTn>
                              </p:par>
                              <p:par>
                                <p:cTn id="401" presetID="22" presetClass="entr" presetSubtype="8" fill="hold" nodeType="withEffect">
                                  <p:stCondLst>
                                    <p:cond delay="1670"/>
                                  </p:stCondLst>
                                  <p:childTnLst>
                                    <p:set>
                                      <p:cBhvr>
                                        <p:cTn id="402" dur="1" fill="hold">
                                          <p:stCondLst>
                                            <p:cond delay="0"/>
                                          </p:stCondLst>
                                        </p:cTn>
                                        <p:tgtEl>
                                          <p:spTgt spid="85"/>
                                        </p:tgtEl>
                                        <p:attrNameLst>
                                          <p:attrName>style.visibility</p:attrName>
                                        </p:attrNameLst>
                                      </p:cBhvr>
                                      <p:to>
                                        <p:strVal val="visible"/>
                                      </p:to>
                                    </p:set>
                                    <p:animEffect transition="in" filter="wipe(left)">
                                      <p:cBhvr>
                                        <p:cTn id="403" dur="450"/>
                                        <p:tgtEl>
                                          <p:spTgt spid="85"/>
                                        </p:tgtEl>
                                      </p:cBhvr>
                                    </p:animEffect>
                                  </p:childTnLst>
                                </p:cTn>
                              </p:par>
                              <p:par>
                                <p:cTn id="404" presetID="22" presetClass="entr" presetSubtype="8" fill="hold" nodeType="withEffect">
                                  <p:stCondLst>
                                    <p:cond delay="1670"/>
                                  </p:stCondLst>
                                  <p:childTnLst>
                                    <p:set>
                                      <p:cBhvr>
                                        <p:cTn id="405" dur="1" fill="hold">
                                          <p:stCondLst>
                                            <p:cond delay="0"/>
                                          </p:stCondLst>
                                        </p:cTn>
                                        <p:tgtEl>
                                          <p:spTgt spid="86"/>
                                        </p:tgtEl>
                                        <p:attrNameLst>
                                          <p:attrName>style.visibility</p:attrName>
                                        </p:attrNameLst>
                                      </p:cBhvr>
                                      <p:to>
                                        <p:strVal val="visible"/>
                                      </p:to>
                                    </p:set>
                                    <p:animEffect transition="in" filter="wipe(left)">
                                      <p:cBhvr>
                                        <p:cTn id="406" dur="450"/>
                                        <p:tgtEl>
                                          <p:spTgt spid="86"/>
                                        </p:tgtEl>
                                      </p:cBhvr>
                                    </p:animEffect>
                                  </p:childTnLst>
                                </p:cTn>
                              </p:par>
                              <p:par>
                                <p:cTn id="407" presetID="22" presetClass="entr" presetSubtype="8" fill="hold" nodeType="withEffect">
                                  <p:stCondLst>
                                    <p:cond delay="1670"/>
                                  </p:stCondLst>
                                  <p:childTnLst>
                                    <p:set>
                                      <p:cBhvr>
                                        <p:cTn id="408" dur="1" fill="hold">
                                          <p:stCondLst>
                                            <p:cond delay="0"/>
                                          </p:stCondLst>
                                        </p:cTn>
                                        <p:tgtEl>
                                          <p:spTgt spid="87"/>
                                        </p:tgtEl>
                                        <p:attrNameLst>
                                          <p:attrName>style.visibility</p:attrName>
                                        </p:attrNameLst>
                                      </p:cBhvr>
                                      <p:to>
                                        <p:strVal val="visible"/>
                                      </p:to>
                                    </p:set>
                                    <p:animEffect transition="in" filter="wipe(left)">
                                      <p:cBhvr>
                                        <p:cTn id="409" dur="450"/>
                                        <p:tgtEl>
                                          <p:spTgt spid="87"/>
                                        </p:tgtEl>
                                      </p:cBhvr>
                                    </p:animEffect>
                                  </p:childTnLst>
                                </p:cTn>
                              </p:par>
                              <p:par>
                                <p:cTn id="410" presetID="22" presetClass="entr" presetSubtype="8" fill="hold" nodeType="withEffect">
                                  <p:stCondLst>
                                    <p:cond delay="1670"/>
                                  </p:stCondLst>
                                  <p:childTnLst>
                                    <p:set>
                                      <p:cBhvr>
                                        <p:cTn id="411" dur="1" fill="hold">
                                          <p:stCondLst>
                                            <p:cond delay="0"/>
                                          </p:stCondLst>
                                        </p:cTn>
                                        <p:tgtEl>
                                          <p:spTgt spid="88"/>
                                        </p:tgtEl>
                                        <p:attrNameLst>
                                          <p:attrName>style.visibility</p:attrName>
                                        </p:attrNameLst>
                                      </p:cBhvr>
                                      <p:to>
                                        <p:strVal val="visible"/>
                                      </p:to>
                                    </p:set>
                                    <p:animEffect transition="in" filter="wipe(left)">
                                      <p:cBhvr>
                                        <p:cTn id="412" dur="450"/>
                                        <p:tgtEl>
                                          <p:spTgt spid="88"/>
                                        </p:tgtEl>
                                      </p:cBhvr>
                                    </p:animEffect>
                                  </p:childTnLst>
                                </p:cTn>
                              </p:par>
                              <p:par>
                                <p:cTn id="413" presetID="22" presetClass="entr" presetSubtype="8" fill="hold" nodeType="withEffect">
                                  <p:stCondLst>
                                    <p:cond delay="1670"/>
                                  </p:stCondLst>
                                  <p:childTnLst>
                                    <p:set>
                                      <p:cBhvr>
                                        <p:cTn id="414" dur="1" fill="hold">
                                          <p:stCondLst>
                                            <p:cond delay="0"/>
                                          </p:stCondLst>
                                        </p:cTn>
                                        <p:tgtEl>
                                          <p:spTgt spid="89"/>
                                        </p:tgtEl>
                                        <p:attrNameLst>
                                          <p:attrName>style.visibility</p:attrName>
                                        </p:attrNameLst>
                                      </p:cBhvr>
                                      <p:to>
                                        <p:strVal val="visible"/>
                                      </p:to>
                                    </p:set>
                                    <p:animEffect transition="in" filter="wipe(left)">
                                      <p:cBhvr>
                                        <p:cTn id="415" dur="450"/>
                                        <p:tgtEl>
                                          <p:spTgt spid="89"/>
                                        </p:tgtEl>
                                      </p:cBhvr>
                                    </p:animEffect>
                                  </p:childTnLst>
                                </p:cTn>
                              </p:par>
                              <p:par>
                                <p:cTn id="416" presetID="22" presetClass="entr" presetSubtype="8" fill="hold" nodeType="withEffect">
                                  <p:stCondLst>
                                    <p:cond delay="1670"/>
                                  </p:stCondLst>
                                  <p:childTnLst>
                                    <p:set>
                                      <p:cBhvr>
                                        <p:cTn id="417" dur="1" fill="hold">
                                          <p:stCondLst>
                                            <p:cond delay="0"/>
                                          </p:stCondLst>
                                        </p:cTn>
                                        <p:tgtEl>
                                          <p:spTgt spid="90"/>
                                        </p:tgtEl>
                                        <p:attrNameLst>
                                          <p:attrName>style.visibility</p:attrName>
                                        </p:attrNameLst>
                                      </p:cBhvr>
                                      <p:to>
                                        <p:strVal val="visible"/>
                                      </p:to>
                                    </p:set>
                                    <p:animEffect transition="in" filter="wipe(left)">
                                      <p:cBhvr>
                                        <p:cTn id="418" dur="450"/>
                                        <p:tgtEl>
                                          <p:spTgt spid="90"/>
                                        </p:tgtEl>
                                      </p:cBhvr>
                                    </p:animEffect>
                                  </p:childTnLst>
                                </p:cTn>
                              </p:par>
                              <p:par>
                                <p:cTn id="419" presetID="22" presetClass="entr" presetSubtype="8" fill="hold" nodeType="withEffect">
                                  <p:stCondLst>
                                    <p:cond delay="1670"/>
                                  </p:stCondLst>
                                  <p:childTnLst>
                                    <p:set>
                                      <p:cBhvr>
                                        <p:cTn id="420" dur="1" fill="hold">
                                          <p:stCondLst>
                                            <p:cond delay="0"/>
                                          </p:stCondLst>
                                        </p:cTn>
                                        <p:tgtEl>
                                          <p:spTgt spid="91"/>
                                        </p:tgtEl>
                                        <p:attrNameLst>
                                          <p:attrName>style.visibility</p:attrName>
                                        </p:attrNameLst>
                                      </p:cBhvr>
                                      <p:to>
                                        <p:strVal val="visible"/>
                                      </p:to>
                                    </p:set>
                                    <p:animEffect transition="in" filter="wipe(left)">
                                      <p:cBhvr>
                                        <p:cTn id="421" dur="450"/>
                                        <p:tgtEl>
                                          <p:spTgt spid="91"/>
                                        </p:tgtEl>
                                      </p:cBhvr>
                                    </p:animEffect>
                                  </p:childTnLst>
                                </p:cTn>
                              </p:par>
                              <p:par>
                                <p:cTn id="422" presetID="22" presetClass="entr" presetSubtype="8" fill="hold" nodeType="withEffect">
                                  <p:stCondLst>
                                    <p:cond delay="1670"/>
                                  </p:stCondLst>
                                  <p:childTnLst>
                                    <p:set>
                                      <p:cBhvr>
                                        <p:cTn id="423" dur="1" fill="hold">
                                          <p:stCondLst>
                                            <p:cond delay="0"/>
                                          </p:stCondLst>
                                        </p:cTn>
                                        <p:tgtEl>
                                          <p:spTgt spid="92"/>
                                        </p:tgtEl>
                                        <p:attrNameLst>
                                          <p:attrName>style.visibility</p:attrName>
                                        </p:attrNameLst>
                                      </p:cBhvr>
                                      <p:to>
                                        <p:strVal val="visible"/>
                                      </p:to>
                                    </p:set>
                                    <p:animEffect transition="in" filter="wipe(left)">
                                      <p:cBhvr>
                                        <p:cTn id="424" dur="450"/>
                                        <p:tgtEl>
                                          <p:spTgt spid="92"/>
                                        </p:tgtEl>
                                      </p:cBhvr>
                                    </p:animEffect>
                                  </p:childTnLst>
                                </p:cTn>
                              </p:par>
                              <p:par>
                                <p:cTn id="425" presetID="22" presetClass="entr" presetSubtype="8" fill="hold" nodeType="withEffect">
                                  <p:stCondLst>
                                    <p:cond delay="1670"/>
                                  </p:stCondLst>
                                  <p:childTnLst>
                                    <p:set>
                                      <p:cBhvr>
                                        <p:cTn id="426" dur="1" fill="hold">
                                          <p:stCondLst>
                                            <p:cond delay="0"/>
                                          </p:stCondLst>
                                        </p:cTn>
                                        <p:tgtEl>
                                          <p:spTgt spid="93"/>
                                        </p:tgtEl>
                                        <p:attrNameLst>
                                          <p:attrName>style.visibility</p:attrName>
                                        </p:attrNameLst>
                                      </p:cBhvr>
                                      <p:to>
                                        <p:strVal val="visible"/>
                                      </p:to>
                                    </p:set>
                                    <p:animEffect transition="in" filter="wipe(left)">
                                      <p:cBhvr>
                                        <p:cTn id="427" dur="450"/>
                                        <p:tgtEl>
                                          <p:spTgt spid="93"/>
                                        </p:tgtEl>
                                      </p:cBhvr>
                                    </p:animEffect>
                                  </p:childTnLst>
                                </p:cTn>
                              </p:par>
                              <p:par>
                                <p:cTn id="428" presetID="53" presetClass="entr" presetSubtype="16" fill="hold" nodeType="withEffect">
                                  <p:stCondLst>
                                    <p:cond delay="1690"/>
                                  </p:stCondLst>
                                  <p:childTnLst>
                                    <p:set>
                                      <p:cBhvr>
                                        <p:cTn id="429" dur="1" fill="hold">
                                          <p:stCondLst>
                                            <p:cond delay="0"/>
                                          </p:stCondLst>
                                        </p:cTn>
                                        <p:tgtEl>
                                          <p:spTgt spid="102"/>
                                        </p:tgtEl>
                                        <p:attrNameLst>
                                          <p:attrName>style.visibility</p:attrName>
                                        </p:attrNameLst>
                                      </p:cBhvr>
                                      <p:to>
                                        <p:strVal val="visible"/>
                                      </p:to>
                                    </p:set>
                                    <p:anim calcmode="lin" valueType="num">
                                      <p:cBhvr additive="base">
                                        <p:cTn id="430" dur="400" fill="hold"/>
                                        <p:tgtEl>
                                          <p:spTgt spid="102"/>
                                        </p:tgtEl>
                                        <p:attrNameLst>
                                          <p:attrName>ppt_w</p:attrName>
                                        </p:attrNameLst>
                                      </p:cBhvr>
                                      <p:tavLst>
                                        <p:tav tm="0">
                                          <p:val>
                                            <p:strVal val="0"/>
                                          </p:val>
                                        </p:tav>
                                        <p:tav tm="100000">
                                          <p:val>
                                            <p:strVal val="#ppt_w"/>
                                          </p:val>
                                        </p:tav>
                                      </p:tavLst>
                                    </p:anim>
                                    <p:anim calcmode="lin" valueType="num">
                                      <p:cBhvr additive="base">
                                        <p:cTn id="431" dur="400" fill="hold"/>
                                        <p:tgtEl>
                                          <p:spTgt spid="102"/>
                                        </p:tgtEl>
                                        <p:attrNameLst>
                                          <p:attrName>ppt_h</p:attrName>
                                        </p:attrNameLst>
                                      </p:cBhvr>
                                      <p:tavLst>
                                        <p:tav tm="0">
                                          <p:val>
                                            <p:strVal val="0"/>
                                          </p:val>
                                        </p:tav>
                                        <p:tav tm="100000">
                                          <p:val>
                                            <p:strVal val="#ppt_h"/>
                                          </p:val>
                                        </p:tav>
                                      </p:tavLst>
                                    </p:anim>
                                    <p:animEffect transition="in" filter="fade">
                                      <p:cBhvr>
                                        <p:cTn id="432" dur="400"/>
                                        <p:tgtEl>
                                          <p:spTgt spid="102"/>
                                        </p:tgtEl>
                                      </p:cBhvr>
                                    </p:animEffect>
                                  </p:childTnLst>
                                </p:cTn>
                              </p:par>
                              <p:par>
                                <p:cTn id="433" presetID="53" presetClass="entr" presetSubtype="16" fill="hold" nodeType="withEffect">
                                  <p:stCondLst>
                                    <p:cond delay="1690"/>
                                  </p:stCondLst>
                                  <p:childTnLst>
                                    <p:set>
                                      <p:cBhvr>
                                        <p:cTn id="434" dur="1" fill="hold">
                                          <p:stCondLst>
                                            <p:cond delay="0"/>
                                          </p:stCondLst>
                                        </p:cTn>
                                        <p:tgtEl>
                                          <p:spTgt spid="104"/>
                                        </p:tgtEl>
                                        <p:attrNameLst>
                                          <p:attrName>style.visibility</p:attrName>
                                        </p:attrNameLst>
                                      </p:cBhvr>
                                      <p:to>
                                        <p:strVal val="visible"/>
                                      </p:to>
                                    </p:set>
                                    <p:anim calcmode="lin" valueType="num">
                                      <p:cBhvr additive="base">
                                        <p:cTn id="435" dur="400" fill="hold"/>
                                        <p:tgtEl>
                                          <p:spTgt spid="104"/>
                                        </p:tgtEl>
                                        <p:attrNameLst>
                                          <p:attrName>ppt_w</p:attrName>
                                        </p:attrNameLst>
                                      </p:cBhvr>
                                      <p:tavLst>
                                        <p:tav tm="0">
                                          <p:val>
                                            <p:strVal val="0"/>
                                          </p:val>
                                        </p:tav>
                                        <p:tav tm="100000">
                                          <p:val>
                                            <p:strVal val="#ppt_w"/>
                                          </p:val>
                                        </p:tav>
                                      </p:tavLst>
                                    </p:anim>
                                    <p:anim calcmode="lin" valueType="num">
                                      <p:cBhvr additive="base">
                                        <p:cTn id="436" dur="400" fill="hold"/>
                                        <p:tgtEl>
                                          <p:spTgt spid="104"/>
                                        </p:tgtEl>
                                        <p:attrNameLst>
                                          <p:attrName>ppt_h</p:attrName>
                                        </p:attrNameLst>
                                      </p:cBhvr>
                                      <p:tavLst>
                                        <p:tav tm="0">
                                          <p:val>
                                            <p:strVal val="0"/>
                                          </p:val>
                                        </p:tav>
                                        <p:tav tm="100000">
                                          <p:val>
                                            <p:strVal val="#ppt_h"/>
                                          </p:val>
                                        </p:tav>
                                      </p:tavLst>
                                    </p:anim>
                                    <p:animEffect transition="in" filter="fade">
                                      <p:cBhvr>
                                        <p:cTn id="437" dur="400"/>
                                        <p:tgtEl>
                                          <p:spTgt spid="104"/>
                                        </p:tgtEl>
                                      </p:cBhvr>
                                    </p:animEffect>
                                  </p:childTnLst>
                                </p:cTn>
                              </p:par>
                              <p:par>
                                <p:cTn id="438" presetID="53" presetClass="entr" presetSubtype="16" fill="hold" nodeType="withEffect">
                                  <p:stCondLst>
                                    <p:cond delay="1690"/>
                                  </p:stCondLst>
                                  <p:childTnLst>
                                    <p:set>
                                      <p:cBhvr>
                                        <p:cTn id="439" dur="1" fill="hold">
                                          <p:stCondLst>
                                            <p:cond delay="0"/>
                                          </p:stCondLst>
                                        </p:cTn>
                                        <p:tgtEl>
                                          <p:spTgt spid="105"/>
                                        </p:tgtEl>
                                        <p:attrNameLst>
                                          <p:attrName>style.visibility</p:attrName>
                                        </p:attrNameLst>
                                      </p:cBhvr>
                                      <p:to>
                                        <p:strVal val="visible"/>
                                      </p:to>
                                    </p:set>
                                    <p:anim calcmode="lin" valueType="num">
                                      <p:cBhvr additive="base">
                                        <p:cTn id="440" dur="400" fill="hold"/>
                                        <p:tgtEl>
                                          <p:spTgt spid="105"/>
                                        </p:tgtEl>
                                        <p:attrNameLst>
                                          <p:attrName>ppt_w</p:attrName>
                                        </p:attrNameLst>
                                      </p:cBhvr>
                                      <p:tavLst>
                                        <p:tav tm="0">
                                          <p:val>
                                            <p:strVal val="0"/>
                                          </p:val>
                                        </p:tav>
                                        <p:tav tm="100000">
                                          <p:val>
                                            <p:strVal val="#ppt_w"/>
                                          </p:val>
                                        </p:tav>
                                      </p:tavLst>
                                    </p:anim>
                                    <p:anim calcmode="lin" valueType="num">
                                      <p:cBhvr additive="base">
                                        <p:cTn id="441" dur="400" fill="hold"/>
                                        <p:tgtEl>
                                          <p:spTgt spid="105"/>
                                        </p:tgtEl>
                                        <p:attrNameLst>
                                          <p:attrName>ppt_h</p:attrName>
                                        </p:attrNameLst>
                                      </p:cBhvr>
                                      <p:tavLst>
                                        <p:tav tm="0">
                                          <p:val>
                                            <p:strVal val="0"/>
                                          </p:val>
                                        </p:tav>
                                        <p:tav tm="100000">
                                          <p:val>
                                            <p:strVal val="#ppt_h"/>
                                          </p:val>
                                        </p:tav>
                                      </p:tavLst>
                                    </p:anim>
                                    <p:animEffect transition="in" filter="fade">
                                      <p:cBhvr>
                                        <p:cTn id="442" dur="400"/>
                                        <p:tgtEl>
                                          <p:spTgt spid="105"/>
                                        </p:tgtEl>
                                      </p:cBhvr>
                                    </p:animEffect>
                                  </p:childTnLst>
                                </p:cTn>
                              </p:par>
                              <p:par>
                                <p:cTn id="443" presetID="53" presetClass="entr" presetSubtype="16" fill="hold" nodeType="withEffect">
                                  <p:stCondLst>
                                    <p:cond delay="1690"/>
                                  </p:stCondLst>
                                  <p:childTnLst>
                                    <p:set>
                                      <p:cBhvr>
                                        <p:cTn id="444" dur="1" fill="hold">
                                          <p:stCondLst>
                                            <p:cond delay="0"/>
                                          </p:stCondLst>
                                        </p:cTn>
                                        <p:tgtEl>
                                          <p:spTgt spid="106"/>
                                        </p:tgtEl>
                                        <p:attrNameLst>
                                          <p:attrName>style.visibility</p:attrName>
                                        </p:attrNameLst>
                                      </p:cBhvr>
                                      <p:to>
                                        <p:strVal val="visible"/>
                                      </p:to>
                                    </p:set>
                                    <p:anim calcmode="lin" valueType="num">
                                      <p:cBhvr additive="base">
                                        <p:cTn id="445" dur="400" fill="hold"/>
                                        <p:tgtEl>
                                          <p:spTgt spid="106"/>
                                        </p:tgtEl>
                                        <p:attrNameLst>
                                          <p:attrName>ppt_w</p:attrName>
                                        </p:attrNameLst>
                                      </p:cBhvr>
                                      <p:tavLst>
                                        <p:tav tm="0">
                                          <p:val>
                                            <p:strVal val="0"/>
                                          </p:val>
                                        </p:tav>
                                        <p:tav tm="100000">
                                          <p:val>
                                            <p:strVal val="#ppt_w"/>
                                          </p:val>
                                        </p:tav>
                                      </p:tavLst>
                                    </p:anim>
                                    <p:anim calcmode="lin" valueType="num">
                                      <p:cBhvr additive="base">
                                        <p:cTn id="446" dur="400" fill="hold"/>
                                        <p:tgtEl>
                                          <p:spTgt spid="106"/>
                                        </p:tgtEl>
                                        <p:attrNameLst>
                                          <p:attrName>ppt_h</p:attrName>
                                        </p:attrNameLst>
                                      </p:cBhvr>
                                      <p:tavLst>
                                        <p:tav tm="0">
                                          <p:val>
                                            <p:strVal val="0"/>
                                          </p:val>
                                        </p:tav>
                                        <p:tav tm="100000">
                                          <p:val>
                                            <p:strVal val="#ppt_h"/>
                                          </p:val>
                                        </p:tav>
                                      </p:tavLst>
                                    </p:anim>
                                    <p:animEffect transition="in" filter="fade">
                                      <p:cBhvr>
                                        <p:cTn id="447" dur="400"/>
                                        <p:tgtEl>
                                          <p:spTgt spid="106"/>
                                        </p:tgtEl>
                                      </p:cBhvr>
                                    </p:animEffect>
                                  </p:childTnLst>
                                </p:cTn>
                              </p:par>
                              <p:par>
                                <p:cTn id="448" presetID="22" presetClass="entr" presetSubtype="8" fill="hold" nodeType="withEffect">
                                  <p:stCondLst>
                                    <p:cond delay="1890"/>
                                  </p:stCondLst>
                                  <p:childTnLst>
                                    <p:set>
                                      <p:cBhvr>
                                        <p:cTn id="449" dur="1" fill="hold">
                                          <p:stCondLst>
                                            <p:cond delay="0"/>
                                          </p:stCondLst>
                                        </p:cTn>
                                        <p:tgtEl>
                                          <p:spTgt spid="103"/>
                                        </p:tgtEl>
                                        <p:attrNameLst>
                                          <p:attrName>style.visibility</p:attrName>
                                        </p:attrNameLst>
                                      </p:cBhvr>
                                      <p:to>
                                        <p:strVal val="visible"/>
                                      </p:to>
                                    </p:set>
                                    <p:animEffect transition="in" filter="wipe(left)">
                                      <p:cBhvr>
                                        <p:cTn id="450" dur="45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05  ·  BUILT FOR UPAY</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Location risk and agent hundi, built for upay</a:t>
            </a:r>
            <a:endParaRPr lang="en-US" sz="3400" dirty="0"/>
          </a:p>
        </p:txBody>
      </p:sp>
      <p:sp>
        <p:nvSpPr>
          <p:cNvPr id="5" name="nd0__1"/>
          <p:cNvSpPr/>
          <p:nvPr/>
        </p:nvSpPr>
        <p:spPr>
          <a:xfrm>
            <a:off x="548640" y="1627632"/>
            <a:ext cx="5454396" cy="4389120"/>
          </a:xfrm>
          <a:prstGeom prst="roundRect">
            <a:avLst>
              <a:gd name="adj" fmla="val 25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nd0__2"/>
          <p:cNvSpPr/>
          <p:nvPr/>
        </p:nvSpPr>
        <p:spPr>
          <a:xfrm>
            <a:off x="777240" y="1783080"/>
            <a:ext cx="640080" cy="640080"/>
          </a:xfrm>
          <a:prstGeom prst="ellipse">
            <a:avLst/>
          </a:prstGeom>
          <a:solidFill>
            <a:srgbClr val="F5A524">
              <a:alpha val="18000"/>
            </a:srgbClr>
          </a:solidFill>
          <a:ln w="12700">
            <a:solidFill>
              <a:srgbClr val="F5A524">
                <a:alpha val="60000"/>
              </a:srgbClr>
            </a:solidFill>
            <a:prstDash val="solid"/>
          </a:ln>
        </p:spPr>
      </p:sp>
      <p:pic>
        <p:nvPicPr>
          <p:cNvPr id="7" name="nd0__3" descr="preencoded.png">    </p:cNvPr>
          <p:cNvPicPr>
            <a:picLocks noChangeAspect="1"/>
          </p:cNvPicPr>
          <p:nvPr/>
        </p:nvPicPr>
        <p:blipFill>
          <a:blip r:embed="rId2"/>
          <a:stretch>
            <a:fillRect/>
          </a:stretch>
        </p:blipFill>
        <p:spPr>
          <a:xfrm>
            <a:off x="937260" y="1943100"/>
            <a:ext cx="320040" cy="320040"/>
          </a:xfrm>
          <a:prstGeom prst="rect">
            <a:avLst/>
          </a:prstGeom>
        </p:spPr>
      </p:pic>
      <p:sp>
        <p:nvSpPr>
          <p:cNvPr id="8" name="nd0__4"/>
          <p:cNvSpPr txBox="1"/>
          <p:nvPr/>
        </p:nvSpPr>
        <p:spPr>
          <a:xfrm>
            <a:off x="1554480" y="1764792"/>
            <a:ext cx="4265676" cy="384048"/>
          </a:xfrm>
          <a:prstGeom prst="rect">
            <a:avLst/>
          </a:prstGeom>
          <a:noFill/>
          <a:ln/>
        </p:spPr>
        <p:txBody>
          <a:bodyPr wrap="square" lIns="0" tIns="0" rIns="0" bIns="0" rtlCol="0" anchor="ctr"/>
          <a:lstStyle/>
          <a:p>
            <a:pPr indent="0" marL="0">
              <a:buNone/>
            </a:pPr>
            <a:r>
              <a:rPr lang="en-US" sz="1700" b="1" dirty="0">
                <a:solidFill>
                  <a:srgbClr val="F1F5FB"/>
                </a:solidFill>
                <a:latin typeface="Arial" pitchFamily="34" charset="0"/>
                <a:ea typeface="Arial" pitchFamily="34" charset="-122"/>
                <a:cs typeface="Arial" pitchFamily="34" charset="-120"/>
              </a:rPr>
              <a:t>Risk-area account takeover</a:t>
            </a:r>
            <a:endParaRPr lang="en-US" sz="1700" dirty="0"/>
          </a:p>
        </p:txBody>
      </p:sp>
      <p:sp>
        <p:nvSpPr>
          <p:cNvPr id="9" name="nd0__5"/>
          <p:cNvSpPr txBox="1"/>
          <p:nvPr/>
        </p:nvSpPr>
        <p:spPr>
          <a:xfrm>
            <a:off x="1554480" y="2130552"/>
            <a:ext cx="4265676" cy="329184"/>
          </a:xfrm>
          <a:prstGeom prst="rect">
            <a:avLst/>
          </a:prstGeom>
          <a:noFill/>
          <a:ln/>
        </p:spPr>
        <p:txBody>
          <a:bodyPr wrap="square" lIns="0" tIns="0" rIns="0" bIns="0" rtlCol="0" anchor="ctr"/>
          <a:lstStyle/>
          <a:p>
            <a:pPr indent="0" marL="0">
              <a:buNone/>
            </a:pPr>
            <a:r>
              <a:rPr lang="en-US" sz="1200" b="1" dirty="0">
                <a:solidFill>
                  <a:srgbClr val="F5A524"/>
                </a:solidFill>
                <a:latin typeface="Calibri" pitchFamily="34" charset="0"/>
                <a:ea typeface="Calibri" pitchFamily="34" charset="-122"/>
                <a:cs typeface="Calibri" pitchFamily="34" charset="-120"/>
              </a:rPr>
              <a:t>Risk judged against each customer's own baseline</a:t>
            </a:r>
            <a:endParaRPr lang="en-US" sz="1200" dirty="0"/>
          </a:p>
        </p:txBody>
      </p:sp>
      <p:sp>
        <p:nvSpPr>
          <p:cNvPr id="10" name="nd0__6"/>
          <p:cNvSpPr txBox="1"/>
          <p:nvPr/>
        </p:nvSpPr>
        <p:spPr>
          <a:xfrm>
            <a:off x="822960" y="2633472"/>
            <a:ext cx="4951476" cy="16002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Learns each wallet's usual areas and handsets from its own history</a:t>
            </a:r>
            <a:endParaRPr lang="en-US" sz="1200" dirty="0"/>
          </a:p>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Risk areas come from upay's fraud team (demo uses placeholders Zone-13, Zone-14)</a:t>
            </a:r>
            <a:endParaRPr lang="en-US" sz="1200" dirty="0"/>
          </a:p>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Alert needs at least two signals: area new for this customer, new handset, unusually fast outflow, new receivers</a:t>
            </a:r>
            <a:endParaRPr lang="en-US" sz="1200" dirty="0"/>
          </a:p>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Also flags the collector wallet that gathers money from several taken-over accounts</a:t>
            </a:r>
            <a:endParaRPr lang="en-US" sz="1200" dirty="0"/>
          </a:p>
        </p:txBody>
      </p:sp>
      <p:sp>
        <p:nvSpPr>
          <p:cNvPr id="11" name="nd0__7"/>
          <p:cNvSpPr/>
          <p:nvPr/>
        </p:nvSpPr>
        <p:spPr>
          <a:xfrm>
            <a:off x="777240" y="4279392"/>
            <a:ext cx="4997196" cy="749808"/>
          </a:xfrm>
          <a:prstGeom prst="roundRect">
            <a:avLst>
              <a:gd name="adj" fmla="val 14634"/>
            </a:avLst>
          </a:prstGeom>
          <a:solidFill>
            <a:srgbClr val="34D399">
              <a:alpha val="12000"/>
            </a:srgbClr>
          </a:solidFill>
          <a:ln w="12700">
            <a:solidFill>
              <a:srgbClr val="34D399"/>
            </a:solidFill>
            <a:prstDash val="solid"/>
          </a:ln>
        </p:spPr>
      </p:sp>
      <p:sp>
        <p:nvSpPr>
          <p:cNvPr id="12" name="nd0__8"/>
          <p:cNvSpPr txBox="1"/>
          <p:nvPr/>
        </p:nvSpPr>
        <p:spPr>
          <a:xfrm>
            <a:off x="932688" y="4297680"/>
            <a:ext cx="4722876" cy="713232"/>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No hassle for legit users  </a:t>
            </a:r>
            <a:pPr indent="0" marL="0">
              <a:buNone/>
            </a:pPr>
            <a:r>
              <a:rPr lang="en-US" sz="1150" dirty="0">
                <a:solidFill>
                  <a:srgbClr val="F1F5FB"/>
                </a:solidFill>
                <a:latin typeface="Calibri" pitchFamily="34" charset="0"/>
                <a:ea typeface="Calibri" pitchFamily="34" charset="-122"/>
                <a:cs typeface="Calibri" pitchFamily="34" charset="-120"/>
              </a:rPr>
              <a:t>Customers who regularly transact from a risk zone are not flagged. A first-time hit triggers step-up checks (PIN / OTP) or analyst review, never an automatic block.</a:t>
            </a:r>
            <a:endParaRPr lang="en-US" sz="1150" dirty="0"/>
          </a:p>
        </p:txBody>
      </p:sp>
      <p:sp>
        <p:nvSpPr>
          <p:cNvPr id="13" name="nd0__9"/>
          <p:cNvSpPr txBox="1"/>
          <p:nvPr/>
        </p:nvSpPr>
        <p:spPr>
          <a:xfrm>
            <a:off x="822960" y="5138928"/>
            <a:ext cx="4951476" cy="777240"/>
          </a:xfrm>
          <a:prstGeom prst="rect">
            <a:avLst/>
          </a:prstGeom>
          <a:noFill/>
          <a:ln/>
        </p:spPr>
        <p:txBody>
          <a:bodyPr wrap="square" lIns="0" tIns="0" rIns="0" bIns="0" rtlCol="0" anchor="t"/>
          <a:lstStyle/>
          <a:p>
            <a:pPr indent="0" marL="0">
              <a:buNone/>
            </a:pPr>
            <a:r>
              <a:rPr lang="en-US" sz="1150" b="1" dirty="0">
                <a:solidFill>
                  <a:srgbClr val="38BDF8"/>
                </a:solidFill>
                <a:latin typeface="Calibri" pitchFamily="34" charset="0"/>
                <a:ea typeface="Calibri" pitchFamily="34" charset="-122"/>
                <a:cs typeface="Calibri" pitchFamily="34" charset="-120"/>
              </a:rPr>
              <a:t>Measured  </a:t>
            </a:r>
            <a:pPr indent="0" marL="0">
              <a:buNone/>
            </a:pPr>
            <a:r>
              <a:rPr lang="en-US" sz="1150" dirty="0">
                <a:solidFill>
                  <a:srgbClr val="9AABC4"/>
                </a:solidFill>
                <a:latin typeface="Calibri" pitchFamily="34" charset="0"/>
                <a:ea typeface="Calibri" pitchFamily="34" charset="-122"/>
                <a:cs typeface="Calibri" pitchFamily="34" charset="-120"/>
              </a:rPr>
              <a:t>Precision 93.1%, recall 84.4%, false-positive rate 0.02%. Residents of risk areas flagged: 0 of 5,136. Visitors: 8 of 1,027. Collector wallets: 24 of 24.</a:t>
            </a:r>
            <a:endParaRPr lang="en-US" sz="1150" dirty="0"/>
          </a:p>
        </p:txBody>
      </p:sp>
      <p:sp>
        <p:nvSpPr>
          <p:cNvPr id="14" name="nd1__1"/>
          <p:cNvSpPr/>
          <p:nvPr/>
        </p:nvSpPr>
        <p:spPr>
          <a:xfrm>
            <a:off x="6185916" y="1627632"/>
            <a:ext cx="5454396" cy="4389120"/>
          </a:xfrm>
          <a:prstGeom prst="roundRect">
            <a:avLst>
              <a:gd name="adj" fmla="val 25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5" name="nd1__2"/>
          <p:cNvSpPr/>
          <p:nvPr/>
        </p:nvSpPr>
        <p:spPr>
          <a:xfrm>
            <a:off x="6414516" y="1783080"/>
            <a:ext cx="640080" cy="640080"/>
          </a:xfrm>
          <a:prstGeom prst="ellipse">
            <a:avLst/>
          </a:prstGeom>
          <a:solidFill>
            <a:srgbClr val="FF4D5E">
              <a:alpha val="18000"/>
            </a:srgbClr>
          </a:solidFill>
          <a:ln w="12700">
            <a:solidFill>
              <a:srgbClr val="FF4D5E">
                <a:alpha val="60000"/>
              </a:srgbClr>
            </a:solidFill>
            <a:prstDash val="solid"/>
          </a:ln>
        </p:spPr>
      </p:sp>
      <p:pic>
        <p:nvPicPr>
          <p:cNvPr id="16" name="nd1__3" descr="preencoded.png">    </p:cNvPr>
          <p:cNvPicPr>
            <a:picLocks noChangeAspect="1"/>
          </p:cNvPicPr>
          <p:nvPr/>
        </p:nvPicPr>
        <p:blipFill>
          <a:blip r:embed="rId3"/>
          <a:stretch>
            <a:fillRect/>
          </a:stretch>
        </p:blipFill>
        <p:spPr>
          <a:xfrm>
            <a:off x="6574536" y="1943100"/>
            <a:ext cx="320040" cy="320040"/>
          </a:xfrm>
          <a:prstGeom prst="rect">
            <a:avLst/>
          </a:prstGeom>
        </p:spPr>
      </p:pic>
      <p:sp>
        <p:nvSpPr>
          <p:cNvPr id="17" name="nd1__4"/>
          <p:cNvSpPr txBox="1"/>
          <p:nvPr/>
        </p:nvSpPr>
        <p:spPr>
          <a:xfrm>
            <a:off x="7191756" y="1764792"/>
            <a:ext cx="4265676" cy="384048"/>
          </a:xfrm>
          <a:prstGeom prst="rect">
            <a:avLst/>
          </a:prstGeom>
          <a:noFill/>
          <a:ln/>
        </p:spPr>
        <p:txBody>
          <a:bodyPr wrap="square" lIns="0" tIns="0" rIns="0" bIns="0" rtlCol="0" anchor="ctr"/>
          <a:lstStyle/>
          <a:p>
            <a:pPr indent="0" marL="0">
              <a:buNone/>
            </a:pPr>
            <a:r>
              <a:rPr lang="en-US" sz="1700" b="1" dirty="0">
                <a:solidFill>
                  <a:srgbClr val="F1F5FB"/>
                </a:solidFill>
                <a:latin typeface="Arial" pitchFamily="34" charset="0"/>
                <a:ea typeface="Arial" pitchFamily="34" charset="-122"/>
                <a:cs typeface="Arial" pitchFamily="34" charset="-120"/>
              </a:rPr>
              <a:t>Agent hundi operator</a:t>
            </a:r>
            <a:endParaRPr lang="en-US" sz="1700" dirty="0"/>
          </a:p>
        </p:txBody>
      </p:sp>
      <p:sp>
        <p:nvSpPr>
          <p:cNvPr id="18" name="nd1__5"/>
          <p:cNvSpPr txBox="1"/>
          <p:nvPr/>
        </p:nvSpPr>
        <p:spPr>
          <a:xfrm>
            <a:off x="7191756" y="2130552"/>
            <a:ext cx="4265676" cy="329184"/>
          </a:xfrm>
          <a:prstGeom prst="rect">
            <a:avLst/>
          </a:prstGeom>
          <a:noFill/>
          <a:ln/>
        </p:spPr>
        <p:txBody>
          <a:bodyPr wrap="square" lIns="0" tIns="0" rIns="0" bIns="0" rtlCol="0" anchor="ctr"/>
          <a:lstStyle/>
          <a:p>
            <a:pPr indent="0" marL="0">
              <a:buNone/>
            </a:pPr>
            <a:r>
              <a:rPr lang="en-US" sz="1200" b="1" dirty="0">
                <a:solidFill>
                  <a:srgbClr val="FF4D5E"/>
                </a:solidFill>
                <a:latin typeface="Calibri" pitchFamily="34" charset="0"/>
                <a:ea typeface="Calibri" pitchFamily="34" charset="-122"/>
                <a:cs typeface="Calibri" pitchFamily="34" charset="-120"/>
              </a:rPr>
              <a:t>Recurring foreign-linked money through one agent</a:t>
            </a:r>
            <a:endParaRPr lang="en-US" sz="1200" dirty="0"/>
          </a:p>
        </p:txBody>
      </p:sp>
      <p:sp>
        <p:nvSpPr>
          <p:cNvPr id="19" name="nd1__6"/>
          <p:cNvSpPr txBox="1"/>
          <p:nvPr/>
        </p:nvSpPr>
        <p:spPr>
          <a:xfrm>
            <a:off x="6460236" y="2633472"/>
            <a:ext cx="4951476" cy="16002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Agent funded informally (no licensed inward-remittance or distributor source)</a:t>
            </a:r>
            <a:endParaRPr lang="en-US" sz="1200" dirty="0"/>
          </a:p>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Pays out to five or more beneficiaries soon after funding</a:t>
            </a:r>
            <a:endParaRPr lang="en-US" sz="1200" dirty="0"/>
          </a:p>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The same beneficiaries are paid again in two or more cycles</a:t>
            </a:r>
            <a:endParaRPr lang="en-US" sz="1200" dirty="0"/>
          </a:p>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Also flags the funders who keep topping the agent up</a:t>
            </a:r>
            <a:endParaRPr lang="en-US" sz="1200" dirty="0"/>
          </a:p>
        </p:txBody>
      </p:sp>
      <p:sp>
        <p:nvSpPr>
          <p:cNvPr id="20" name="nd1__7"/>
          <p:cNvSpPr/>
          <p:nvPr/>
        </p:nvSpPr>
        <p:spPr>
          <a:xfrm>
            <a:off x="6414516" y="4279392"/>
            <a:ext cx="4997196" cy="749808"/>
          </a:xfrm>
          <a:prstGeom prst="roundRect">
            <a:avLst>
              <a:gd name="adj" fmla="val 14634"/>
            </a:avLst>
          </a:prstGeom>
          <a:solidFill>
            <a:srgbClr val="34D399">
              <a:alpha val="12000"/>
            </a:srgbClr>
          </a:solidFill>
          <a:ln w="12700">
            <a:solidFill>
              <a:srgbClr val="34D399"/>
            </a:solidFill>
            <a:prstDash val="solid"/>
          </a:ln>
        </p:spPr>
      </p:sp>
      <p:sp>
        <p:nvSpPr>
          <p:cNvPr id="21" name="nd1__8"/>
          <p:cNvSpPr txBox="1"/>
          <p:nvPr/>
        </p:nvSpPr>
        <p:spPr>
          <a:xfrm>
            <a:off x="6569964" y="4297680"/>
            <a:ext cx="4722876" cy="713232"/>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No hassle for legit users  </a:t>
            </a:r>
            <a:pPr indent="0" marL="0">
              <a:buNone/>
            </a:pPr>
            <a:r>
              <a:rPr lang="en-US" sz="1150" dirty="0">
                <a:solidFill>
                  <a:srgbClr val="F1F5FB"/>
                </a:solidFill>
                <a:latin typeface="Calibri" pitchFamily="34" charset="0"/>
                <a:ea typeface="Calibri" pitchFamily="34" charset="-122"/>
                <a:cs typeface="Calibri" pitchFamily="34" charset="-120"/>
              </a:rPr>
              <a:t>Agents doing licensed remittance payout are not flagged (0 of 117), and families who simply receive money are scored on their own history.</a:t>
            </a:r>
            <a:endParaRPr lang="en-US" sz="1150" dirty="0"/>
          </a:p>
        </p:txBody>
      </p:sp>
      <p:sp>
        <p:nvSpPr>
          <p:cNvPr id="22" name="nd1__9"/>
          <p:cNvSpPr txBox="1"/>
          <p:nvPr/>
        </p:nvSpPr>
        <p:spPr>
          <a:xfrm>
            <a:off x="6460236" y="5138928"/>
            <a:ext cx="4951476" cy="777240"/>
          </a:xfrm>
          <a:prstGeom prst="rect">
            <a:avLst/>
          </a:prstGeom>
          <a:noFill/>
          <a:ln/>
        </p:spPr>
        <p:txBody>
          <a:bodyPr wrap="square" lIns="0" tIns="0" rIns="0" bIns="0" rtlCol="0" anchor="t"/>
          <a:lstStyle/>
          <a:p>
            <a:pPr indent="0" marL="0">
              <a:buNone/>
            </a:pPr>
            <a:r>
              <a:rPr lang="en-US" sz="1150" b="1" dirty="0">
                <a:solidFill>
                  <a:srgbClr val="38BDF8"/>
                </a:solidFill>
                <a:latin typeface="Calibri" pitchFamily="34" charset="0"/>
                <a:ea typeface="Calibri" pitchFamily="34" charset="-122"/>
                <a:cs typeface="Calibri" pitchFamily="34" charset="-120"/>
              </a:rPr>
              <a:t>Measured  </a:t>
            </a:r>
            <a:pPr indent="0" marL="0">
              <a:buNone/>
            </a:pPr>
            <a:r>
              <a:rPr lang="en-US" sz="1150" dirty="0">
                <a:solidFill>
                  <a:srgbClr val="9AABC4"/>
                </a:solidFill>
                <a:latin typeface="Calibri" pitchFamily="34" charset="0"/>
                <a:ea typeface="Calibri" pitchFamily="34" charset="-122"/>
                <a:cs typeface="Calibri" pitchFamily="34" charset="-120"/>
              </a:rPr>
              <a:t>Operator: precision 100%, recall 91.7%. Funders: 100% / 92.9%. Licensed remittance agents flagged: 0 of 117.</a:t>
            </a:r>
            <a:endParaRPr lang="en-US" sz="11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50"/>
                                        <p:tgtEl>
                                          <p:spTgt spid="5"/>
                                        </p:tgtEl>
                                      </p:cBhvr>
                                    </p:animEffect>
                                    <p:anim calcmode="lin" valueType="num">
                                      <p:cBhvr additive="base">
                                        <p:cTn id="8" dur="550" fill="hold"/>
                                        <p:tgtEl>
                                          <p:spTgt spid="5"/>
                                        </p:tgtEl>
                                        <p:attrNameLst>
                                          <p:attrName>ppt_x</p:attrName>
                                        </p:attrNameLst>
                                      </p:cBhvr>
                                      <p:tavLst>
                                        <p:tav tm="0">
                                          <p:val>
                                            <p:strVal val="#ppt_x"/>
                                          </p:val>
                                        </p:tav>
                                        <p:tav tm="100000">
                                          <p:val>
                                            <p:strVal val="#ppt_x"/>
                                          </p:val>
                                        </p:tav>
                                      </p:tavLst>
                                    </p:anim>
                                    <p:anim calcmode="lin" valueType="num">
                                      <p:cBhvr additive="base">
                                        <p:cTn id="9" dur="55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50"/>
                                        <p:tgtEl>
                                          <p:spTgt spid="6"/>
                                        </p:tgtEl>
                                      </p:cBhvr>
                                    </p:animEffect>
                                    <p:anim calcmode="lin" valueType="num">
                                      <p:cBhvr additive="base">
                                        <p:cTn id="13" dur="550" fill="hold"/>
                                        <p:tgtEl>
                                          <p:spTgt spid="6"/>
                                        </p:tgtEl>
                                        <p:attrNameLst>
                                          <p:attrName>ppt_x</p:attrName>
                                        </p:attrNameLst>
                                      </p:cBhvr>
                                      <p:tavLst>
                                        <p:tav tm="0">
                                          <p:val>
                                            <p:strVal val="#ppt_x"/>
                                          </p:val>
                                        </p:tav>
                                        <p:tav tm="100000">
                                          <p:val>
                                            <p:strVal val="#ppt_x"/>
                                          </p:val>
                                        </p:tav>
                                      </p:tavLst>
                                    </p:anim>
                                    <p:anim calcmode="lin" valueType="num">
                                      <p:cBhvr additive="base">
                                        <p:cTn id="14" dur="55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anim calcmode="lin" valueType="num">
                                      <p:cBhvr additive="base">
                                        <p:cTn id="18" dur="550" fill="hold"/>
                                        <p:tgtEl>
                                          <p:spTgt spid="7"/>
                                        </p:tgtEl>
                                        <p:attrNameLst>
                                          <p:attrName>ppt_x</p:attrName>
                                        </p:attrNameLst>
                                      </p:cBhvr>
                                      <p:tavLst>
                                        <p:tav tm="0">
                                          <p:val>
                                            <p:strVal val="#ppt_x"/>
                                          </p:val>
                                        </p:tav>
                                        <p:tav tm="100000">
                                          <p:val>
                                            <p:strVal val="#ppt_x"/>
                                          </p:val>
                                        </p:tav>
                                      </p:tavLst>
                                    </p:anim>
                                    <p:anim calcmode="lin" valueType="num">
                                      <p:cBhvr additive="base">
                                        <p:cTn id="19" dur="55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anim calcmode="lin" valueType="num">
                                      <p:cBhvr additive="base">
                                        <p:cTn id="23" dur="550" fill="hold"/>
                                        <p:tgtEl>
                                          <p:spTgt spid="8"/>
                                        </p:tgtEl>
                                        <p:attrNameLst>
                                          <p:attrName>ppt_x</p:attrName>
                                        </p:attrNameLst>
                                      </p:cBhvr>
                                      <p:tavLst>
                                        <p:tav tm="0">
                                          <p:val>
                                            <p:strVal val="#ppt_x"/>
                                          </p:val>
                                        </p:tav>
                                        <p:tav tm="100000">
                                          <p:val>
                                            <p:strVal val="#ppt_x"/>
                                          </p:val>
                                        </p:tav>
                                      </p:tavLst>
                                    </p:anim>
                                    <p:anim calcmode="lin" valueType="num">
                                      <p:cBhvr additive="base">
                                        <p:cTn id="24" dur="55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50"/>
                                        <p:tgtEl>
                                          <p:spTgt spid="9"/>
                                        </p:tgtEl>
                                      </p:cBhvr>
                                    </p:animEffect>
                                    <p:anim calcmode="lin" valueType="num">
                                      <p:cBhvr additive="base">
                                        <p:cTn id="28" dur="550" fill="hold"/>
                                        <p:tgtEl>
                                          <p:spTgt spid="9"/>
                                        </p:tgtEl>
                                        <p:attrNameLst>
                                          <p:attrName>ppt_x</p:attrName>
                                        </p:attrNameLst>
                                      </p:cBhvr>
                                      <p:tavLst>
                                        <p:tav tm="0">
                                          <p:val>
                                            <p:strVal val="#ppt_x"/>
                                          </p:val>
                                        </p:tav>
                                        <p:tav tm="100000">
                                          <p:val>
                                            <p:strVal val="#ppt_x"/>
                                          </p:val>
                                        </p:tav>
                                      </p:tavLst>
                                    </p:anim>
                                    <p:anim calcmode="lin" valueType="num">
                                      <p:cBhvr additive="base">
                                        <p:cTn id="29" dur="55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2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50"/>
                                        <p:tgtEl>
                                          <p:spTgt spid="10"/>
                                        </p:tgtEl>
                                      </p:cBhvr>
                                    </p:animEffect>
                                    <p:anim calcmode="lin" valueType="num">
                                      <p:cBhvr additive="base">
                                        <p:cTn id="33" dur="550" fill="hold"/>
                                        <p:tgtEl>
                                          <p:spTgt spid="10"/>
                                        </p:tgtEl>
                                        <p:attrNameLst>
                                          <p:attrName>ppt_x</p:attrName>
                                        </p:attrNameLst>
                                      </p:cBhvr>
                                      <p:tavLst>
                                        <p:tav tm="0">
                                          <p:val>
                                            <p:strVal val="#ppt_x"/>
                                          </p:val>
                                        </p:tav>
                                        <p:tav tm="100000">
                                          <p:val>
                                            <p:strVal val="#ppt_x"/>
                                          </p:val>
                                        </p:tav>
                                      </p:tavLst>
                                    </p:anim>
                                    <p:anim calcmode="lin" valueType="num">
                                      <p:cBhvr additive="base">
                                        <p:cTn id="34" dur="55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2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50"/>
                                        <p:tgtEl>
                                          <p:spTgt spid="11"/>
                                        </p:tgtEl>
                                      </p:cBhvr>
                                    </p:animEffect>
                                    <p:anim calcmode="lin" valueType="num">
                                      <p:cBhvr additive="base">
                                        <p:cTn id="38" dur="550" fill="hold"/>
                                        <p:tgtEl>
                                          <p:spTgt spid="11"/>
                                        </p:tgtEl>
                                        <p:attrNameLst>
                                          <p:attrName>ppt_x</p:attrName>
                                        </p:attrNameLst>
                                      </p:cBhvr>
                                      <p:tavLst>
                                        <p:tav tm="0">
                                          <p:val>
                                            <p:strVal val="#ppt_x"/>
                                          </p:val>
                                        </p:tav>
                                        <p:tav tm="100000">
                                          <p:val>
                                            <p:strVal val="#ppt_x"/>
                                          </p:val>
                                        </p:tav>
                                      </p:tavLst>
                                    </p:anim>
                                    <p:anim calcmode="lin" valueType="num">
                                      <p:cBhvr additive="base">
                                        <p:cTn id="39" dur="55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20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anim calcmode="lin" valueType="num">
                                      <p:cBhvr additive="base">
                                        <p:cTn id="43" dur="550" fill="hold"/>
                                        <p:tgtEl>
                                          <p:spTgt spid="12"/>
                                        </p:tgtEl>
                                        <p:attrNameLst>
                                          <p:attrName>ppt_x</p:attrName>
                                        </p:attrNameLst>
                                      </p:cBhvr>
                                      <p:tavLst>
                                        <p:tav tm="0">
                                          <p:val>
                                            <p:strVal val="#ppt_x"/>
                                          </p:val>
                                        </p:tav>
                                        <p:tav tm="100000">
                                          <p:val>
                                            <p:strVal val="#ppt_x"/>
                                          </p:val>
                                        </p:tav>
                                      </p:tavLst>
                                    </p:anim>
                                    <p:anim calcmode="lin" valueType="num">
                                      <p:cBhvr additive="base">
                                        <p:cTn id="44" dur="55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20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50"/>
                                        <p:tgtEl>
                                          <p:spTgt spid="13"/>
                                        </p:tgtEl>
                                      </p:cBhvr>
                                    </p:animEffect>
                                    <p:anim calcmode="lin" valueType="num">
                                      <p:cBhvr additive="base">
                                        <p:cTn id="48" dur="550" fill="hold"/>
                                        <p:tgtEl>
                                          <p:spTgt spid="13"/>
                                        </p:tgtEl>
                                        <p:attrNameLst>
                                          <p:attrName>ppt_x</p:attrName>
                                        </p:attrNameLst>
                                      </p:cBhvr>
                                      <p:tavLst>
                                        <p:tav tm="0">
                                          <p:val>
                                            <p:strVal val="#ppt_x"/>
                                          </p:val>
                                        </p:tav>
                                        <p:tav tm="100000">
                                          <p:val>
                                            <p:strVal val="#ppt_x"/>
                                          </p:val>
                                        </p:tav>
                                      </p:tavLst>
                                    </p:anim>
                                    <p:anim calcmode="lin" valueType="num">
                                      <p:cBhvr additive="base">
                                        <p:cTn id="49" dur="55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70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50"/>
                                        <p:tgtEl>
                                          <p:spTgt spid="14"/>
                                        </p:tgtEl>
                                      </p:cBhvr>
                                    </p:animEffect>
                                    <p:anim calcmode="lin" valueType="num">
                                      <p:cBhvr additive="base">
                                        <p:cTn id="53" dur="550" fill="hold"/>
                                        <p:tgtEl>
                                          <p:spTgt spid="14"/>
                                        </p:tgtEl>
                                        <p:attrNameLst>
                                          <p:attrName>ppt_x</p:attrName>
                                        </p:attrNameLst>
                                      </p:cBhvr>
                                      <p:tavLst>
                                        <p:tav tm="0">
                                          <p:val>
                                            <p:strVal val="#ppt_x"/>
                                          </p:val>
                                        </p:tav>
                                        <p:tav tm="100000">
                                          <p:val>
                                            <p:strVal val="#ppt_x"/>
                                          </p:val>
                                        </p:tav>
                                      </p:tavLst>
                                    </p:anim>
                                    <p:anim calcmode="lin" valueType="num">
                                      <p:cBhvr additive="base">
                                        <p:cTn id="54" dur="55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7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50"/>
                                        <p:tgtEl>
                                          <p:spTgt spid="15"/>
                                        </p:tgtEl>
                                      </p:cBhvr>
                                    </p:animEffect>
                                    <p:anim calcmode="lin" valueType="num">
                                      <p:cBhvr additive="base">
                                        <p:cTn id="58" dur="550" fill="hold"/>
                                        <p:tgtEl>
                                          <p:spTgt spid="15"/>
                                        </p:tgtEl>
                                        <p:attrNameLst>
                                          <p:attrName>ppt_x</p:attrName>
                                        </p:attrNameLst>
                                      </p:cBhvr>
                                      <p:tavLst>
                                        <p:tav tm="0">
                                          <p:val>
                                            <p:strVal val="#ppt_x"/>
                                          </p:val>
                                        </p:tav>
                                        <p:tav tm="100000">
                                          <p:val>
                                            <p:strVal val="#ppt_x"/>
                                          </p:val>
                                        </p:tav>
                                      </p:tavLst>
                                    </p:anim>
                                    <p:anim calcmode="lin" valueType="num">
                                      <p:cBhvr additive="base">
                                        <p:cTn id="59" dur="55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7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50"/>
                                        <p:tgtEl>
                                          <p:spTgt spid="16"/>
                                        </p:tgtEl>
                                      </p:cBhvr>
                                    </p:animEffect>
                                    <p:anim calcmode="lin" valueType="num">
                                      <p:cBhvr additive="base">
                                        <p:cTn id="63" dur="550" fill="hold"/>
                                        <p:tgtEl>
                                          <p:spTgt spid="16"/>
                                        </p:tgtEl>
                                        <p:attrNameLst>
                                          <p:attrName>ppt_x</p:attrName>
                                        </p:attrNameLst>
                                      </p:cBhvr>
                                      <p:tavLst>
                                        <p:tav tm="0">
                                          <p:val>
                                            <p:strVal val="#ppt_x"/>
                                          </p:val>
                                        </p:tav>
                                        <p:tav tm="100000">
                                          <p:val>
                                            <p:strVal val="#ppt_x"/>
                                          </p:val>
                                        </p:tav>
                                      </p:tavLst>
                                    </p:anim>
                                    <p:anim calcmode="lin" valueType="num">
                                      <p:cBhvr additive="base">
                                        <p:cTn id="64" dur="55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7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50"/>
                                        <p:tgtEl>
                                          <p:spTgt spid="17"/>
                                        </p:tgtEl>
                                      </p:cBhvr>
                                    </p:animEffect>
                                    <p:anim calcmode="lin" valueType="num">
                                      <p:cBhvr additive="base">
                                        <p:cTn id="68" dur="550" fill="hold"/>
                                        <p:tgtEl>
                                          <p:spTgt spid="17"/>
                                        </p:tgtEl>
                                        <p:attrNameLst>
                                          <p:attrName>ppt_x</p:attrName>
                                        </p:attrNameLst>
                                      </p:cBhvr>
                                      <p:tavLst>
                                        <p:tav tm="0">
                                          <p:val>
                                            <p:strVal val="#ppt_x"/>
                                          </p:val>
                                        </p:tav>
                                        <p:tav tm="100000">
                                          <p:val>
                                            <p:strVal val="#ppt_x"/>
                                          </p:val>
                                        </p:tav>
                                      </p:tavLst>
                                    </p:anim>
                                    <p:anim calcmode="lin" valueType="num">
                                      <p:cBhvr additive="base">
                                        <p:cTn id="69" dur="55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70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50"/>
                                        <p:tgtEl>
                                          <p:spTgt spid="18"/>
                                        </p:tgtEl>
                                      </p:cBhvr>
                                    </p:animEffect>
                                    <p:anim calcmode="lin" valueType="num">
                                      <p:cBhvr additive="base">
                                        <p:cTn id="73" dur="550" fill="hold"/>
                                        <p:tgtEl>
                                          <p:spTgt spid="18"/>
                                        </p:tgtEl>
                                        <p:attrNameLst>
                                          <p:attrName>ppt_x</p:attrName>
                                        </p:attrNameLst>
                                      </p:cBhvr>
                                      <p:tavLst>
                                        <p:tav tm="0">
                                          <p:val>
                                            <p:strVal val="#ppt_x"/>
                                          </p:val>
                                        </p:tav>
                                        <p:tav tm="100000">
                                          <p:val>
                                            <p:strVal val="#ppt_x"/>
                                          </p:val>
                                        </p:tav>
                                      </p:tavLst>
                                    </p:anim>
                                    <p:anim calcmode="lin" valueType="num">
                                      <p:cBhvr additive="base">
                                        <p:cTn id="74" dur="55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70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50"/>
                                        <p:tgtEl>
                                          <p:spTgt spid="19"/>
                                        </p:tgtEl>
                                      </p:cBhvr>
                                    </p:animEffect>
                                    <p:anim calcmode="lin" valueType="num">
                                      <p:cBhvr additive="base">
                                        <p:cTn id="78" dur="550" fill="hold"/>
                                        <p:tgtEl>
                                          <p:spTgt spid="19"/>
                                        </p:tgtEl>
                                        <p:attrNameLst>
                                          <p:attrName>ppt_x</p:attrName>
                                        </p:attrNameLst>
                                      </p:cBhvr>
                                      <p:tavLst>
                                        <p:tav tm="0">
                                          <p:val>
                                            <p:strVal val="#ppt_x"/>
                                          </p:val>
                                        </p:tav>
                                        <p:tav tm="100000">
                                          <p:val>
                                            <p:strVal val="#ppt_x"/>
                                          </p:val>
                                        </p:tav>
                                      </p:tavLst>
                                    </p:anim>
                                    <p:anim calcmode="lin" valueType="num">
                                      <p:cBhvr additive="base">
                                        <p:cTn id="79" dur="55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70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50"/>
                                        <p:tgtEl>
                                          <p:spTgt spid="20"/>
                                        </p:tgtEl>
                                      </p:cBhvr>
                                    </p:animEffect>
                                    <p:anim calcmode="lin" valueType="num">
                                      <p:cBhvr additive="base">
                                        <p:cTn id="83" dur="550" fill="hold"/>
                                        <p:tgtEl>
                                          <p:spTgt spid="20"/>
                                        </p:tgtEl>
                                        <p:attrNameLst>
                                          <p:attrName>ppt_x</p:attrName>
                                        </p:attrNameLst>
                                      </p:cBhvr>
                                      <p:tavLst>
                                        <p:tav tm="0">
                                          <p:val>
                                            <p:strVal val="#ppt_x"/>
                                          </p:val>
                                        </p:tav>
                                        <p:tav tm="100000">
                                          <p:val>
                                            <p:strVal val="#ppt_x"/>
                                          </p:val>
                                        </p:tav>
                                      </p:tavLst>
                                    </p:anim>
                                    <p:anim calcmode="lin" valueType="num">
                                      <p:cBhvr additive="base">
                                        <p:cTn id="84" dur="55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70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50"/>
                                        <p:tgtEl>
                                          <p:spTgt spid="21"/>
                                        </p:tgtEl>
                                      </p:cBhvr>
                                    </p:animEffect>
                                    <p:anim calcmode="lin" valueType="num">
                                      <p:cBhvr additive="base">
                                        <p:cTn id="88" dur="550" fill="hold"/>
                                        <p:tgtEl>
                                          <p:spTgt spid="21"/>
                                        </p:tgtEl>
                                        <p:attrNameLst>
                                          <p:attrName>ppt_x</p:attrName>
                                        </p:attrNameLst>
                                      </p:cBhvr>
                                      <p:tavLst>
                                        <p:tav tm="0">
                                          <p:val>
                                            <p:strVal val="#ppt_x"/>
                                          </p:val>
                                        </p:tav>
                                        <p:tav tm="100000">
                                          <p:val>
                                            <p:strVal val="#ppt_x"/>
                                          </p:val>
                                        </p:tav>
                                      </p:tavLst>
                                    </p:anim>
                                    <p:anim calcmode="lin" valueType="num">
                                      <p:cBhvr additive="base">
                                        <p:cTn id="89" dur="550" fill="hold"/>
                                        <p:tgtEl>
                                          <p:spTgt spid="21"/>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70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50"/>
                                        <p:tgtEl>
                                          <p:spTgt spid="22"/>
                                        </p:tgtEl>
                                      </p:cBhvr>
                                    </p:animEffect>
                                    <p:anim calcmode="lin" valueType="num">
                                      <p:cBhvr additive="base">
                                        <p:cTn id="93" dur="550" fill="hold"/>
                                        <p:tgtEl>
                                          <p:spTgt spid="22"/>
                                        </p:tgtEl>
                                        <p:attrNameLst>
                                          <p:attrName>ppt_x</p:attrName>
                                        </p:attrNameLst>
                                      </p:cBhvr>
                                      <p:tavLst>
                                        <p:tav tm="0">
                                          <p:val>
                                            <p:strVal val="#ppt_x"/>
                                          </p:val>
                                        </p:tav>
                                        <p:tav tm="100000">
                                          <p:val>
                                            <p:strVal val="#ppt_x"/>
                                          </p:val>
                                        </p:tav>
                                      </p:tavLst>
                                    </p:anim>
                                    <p:anim calcmode="lin" valueType="num">
                                      <p:cBhvr additive="base">
                                        <p:cTn id="94" dur="55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06  ·  HOW IT WORKS</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From raw transfers to an explained risk score</a:t>
            </a:r>
            <a:endParaRPr lang="en-US" sz="3400" dirty="0"/>
          </a:p>
        </p:txBody>
      </p:sp>
      <p:sp>
        <p:nvSpPr>
          <p:cNvPr id="5" name="st0__1"/>
          <p:cNvSpPr/>
          <p:nvPr/>
        </p:nvSpPr>
        <p:spPr>
          <a:xfrm>
            <a:off x="548640" y="1783080"/>
            <a:ext cx="1664208" cy="2926080"/>
          </a:xfrm>
          <a:prstGeom prst="roundRect">
            <a:avLst>
              <a:gd name="adj" fmla="val 659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st0__2"/>
          <p:cNvSpPr txBox="1"/>
          <p:nvPr/>
        </p:nvSpPr>
        <p:spPr>
          <a:xfrm>
            <a:off x="731520" y="1920240"/>
            <a:ext cx="640080" cy="320040"/>
          </a:xfrm>
          <a:prstGeom prst="rect">
            <a:avLst/>
          </a:prstGeom>
          <a:noFill/>
          <a:ln/>
        </p:spPr>
        <p:txBody>
          <a:bodyPr wrap="square" lIns="0" tIns="0" rIns="0" bIns="0" rtlCol="0" anchor="ctr"/>
          <a:lstStyle/>
          <a:p>
            <a:pPr indent="0" marL="0">
              <a:buNone/>
            </a:pPr>
            <a:r>
              <a:rPr lang="en-US" sz="1300" b="1" dirty="0">
                <a:solidFill>
                  <a:srgbClr val="5F7090"/>
                </a:solidFill>
                <a:latin typeface="Arial" pitchFamily="34" charset="0"/>
                <a:ea typeface="Arial" pitchFamily="34" charset="-122"/>
                <a:cs typeface="Arial" pitchFamily="34" charset="-120"/>
              </a:rPr>
              <a:t>01</a:t>
            </a:r>
            <a:endParaRPr lang="en-US" sz="1300" dirty="0"/>
          </a:p>
        </p:txBody>
      </p:sp>
      <p:sp>
        <p:nvSpPr>
          <p:cNvPr id="7" name="st0__3"/>
          <p:cNvSpPr/>
          <p:nvPr/>
        </p:nvSpPr>
        <p:spPr>
          <a:xfrm>
            <a:off x="969264" y="2240280"/>
            <a:ext cx="822960" cy="822960"/>
          </a:xfrm>
          <a:prstGeom prst="ellipse">
            <a:avLst/>
          </a:prstGeom>
          <a:solidFill>
            <a:srgbClr val="38BDF8">
              <a:alpha val="18000"/>
            </a:srgbClr>
          </a:solidFill>
          <a:ln w="12700">
            <a:solidFill>
              <a:srgbClr val="38BDF8">
                <a:alpha val="60000"/>
              </a:srgbClr>
            </a:solidFill>
            <a:prstDash val="solid"/>
          </a:ln>
        </p:spPr>
      </p:sp>
      <p:pic>
        <p:nvPicPr>
          <p:cNvPr id="8" name="st0__4" descr="preencoded.png">    </p:cNvPr>
          <p:cNvPicPr>
            <a:picLocks noChangeAspect="1"/>
          </p:cNvPicPr>
          <p:nvPr/>
        </p:nvPicPr>
        <p:blipFill>
          <a:blip r:embed="rId2"/>
          <a:stretch>
            <a:fillRect/>
          </a:stretch>
        </p:blipFill>
        <p:spPr>
          <a:xfrm>
            <a:off x="1175004" y="2446020"/>
            <a:ext cx="411480" cy="411480"/>
          </a:xfrm>
          <a:prstGeom prst="rect">
            <a:avLst/>
          </a:prstGeom>
        </p:spPr>
      </p:pic>
      <p:sp>
        <p:nvSpPr>
          <p:cNvPr id="9" name="st0__5"/>
          <p:cNvSpPr txBox="1"/>
          <p:nvPr/>
        </p:nvSpPr>
        <p:spPr>
          <a:xfrm>
            <a:off x="658368" y="3200400"/>
            <a:ext cx="1444752" cy="384048"/>
          </a:xfrm>
          <a:prstGeom prst="rect">
            <a:avLst/>
          </a:prstGeom>
          <a:noFill/>
          <a:ln/>
        </p:spPr>
        <p:txBody>
          <a:bodyPr wrap="square" lIns="0" tIns="0" rIns="0" bIns="0" rtlCol="0" anchor="ctr"/>
          <a:lstStyle/>
          <a:p>
            <a:pPr algn="ctr" indent="0" marL="0">
              <a:buNone/>
            </a:pPr>
            <a:r>
              <a:rPr lang="en-US" sz="1600" b="1" dirty="0">
                <a:solidFill>
                  <a:srgbClr val="F1F5FB"/>
                </a:solidFill>
                <a:latin typeface="Arial" pitchFamily="34" charset="0"/>
                <a:ea typeface="Arial" pitchFamily="34" charset="-122"/>
                <a:cs typeface="Arial" pitchFamily="34" charset="-120"/>
              </a:rPr>
              <a:t>Validate</a:t>
            </a:r>
            <a:endParaRPr lang="en-US" sz="1600" dirty="0"/>
          </a:p>
        </p:txBody>
      </p:sp>
      <p:sp>
        <p:nvSpPr>
          <p:cNvPr id="10" name="st0__6"/>
          <p:cNvSpPr txBox="1"/>
          <p:nvPr/>
        </p:nvSpPr>
        <p:spPr>
          <a:xfrm>
            <a:off x="685800" y="3611880"/>
            <a:ext cx="1389888" cy="1051560"/>
          </a:xfrm>
          <a:prstGeom prst="rect">
            <a:avLst/>
          </a:prstGeom>
          <a:noFill/>
          <a:ln/>
        </p:spPr>
        <p:txBody>
          <a:bodyPr wrap="square" lIns="0" tIns="0" rIns="0" bIns="0" rtlCol="0" anchor="t"/>
          <a:lstStyle/>
          <a:p>
            <a:pPr algn="ctr" indent="0" marL="0">
              <a:buNone/>
            </a:pPr>
            <a:r>
              <a:rPr lang="en-US" sz="1300" dirty="0">
                <a:solidFill>
                  <a:srgbClr val="9AABC4"/>
                </a:solidFill>
                <a:latin typeface="Calibri" pitchFamily="34" charset="0"/>
                <a:ea typeface="Calibri" pitchFamily="34" charset="-122"/>
                <a:cs typeface="Calibri" pitchFamily="34" charset="-120"/>
              </a:rPr>
              <a:t>Reject bad data: negatives, NaN, duplicates, self-transfers</a:t>
            </a:r>
            <a:endParaRPr lang="en-US" sz="1300" dirty="0"/>
          </a:p>
        </p:txBody>
      </p:sp>
      <p:sp>
        <p:nvSpPr>
          <p:cNvPr id="11" name="stA0__1"/>
          <p:cNvSpPr/>
          <p:nvPr/>
        </p:nvSpPr>
        <p:spPr>
          <a:xfrm>
            <a:off x="2231136" y="2651760"/>
            <a:ext cx="179222" cy="914"/>
          </a:xfrm>
          <a:prstGeom prst="line">
            <a:avLst/>
          </a:prstGeom>
          <a:noFill/>
          <a:ln w="22225">
            <a:solidFill>
              <a:srgbClr val="38BDF8"/>
            </a:solidFill>
            <a:prstDash val="solid"/>
            <a:tailEnd type="triangle"/>
          </a:ln>
        </p:spPr>
      </p:sp>
      <p:sp>
        <p:nvSpPr>
          <p:cNvPr id="12" name="st1__1"/>
          <p:cNvSpPr/>
          <p:nvPr/>
        </p:nvSpPr>
        <p:spPr>
          <a:xfrm>
            <a:off x="2428646" y="1783080"/>
            <a:ext cx="1664208" cy="2926080"/>
          </a:xfrm>
          <a:prstGeom prst="roundRect">
            <a:avLst>
              <a:gd name="adj" fmla="val 659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3" name="st1__2"/>
          <p:cNvSpPr txBox="1"/>
          <p:nvPr/>
        </p:nvSpPr>
        <p:spPr>
          <a:xfrm>
            <a:off x="2611526" y="1920240"/>
            <a:ext cx="640080" cy="320040"/>
          </a:xfrm>
          <a:prstGeom prst="rect">
            <a:avLst/>
          </a:prstGeom>
          <a:noFill/>
          <a:ln/>
        </p:spPr>
        <p:txBody>
          <a:bodyPr wrap="square" lIns="0" tIns="0" rIns="0" bIns="0" rtlCol="0" anchor="ctr"/>
          <a:lstStyle/>
          <a:p>
            <a:pPr indent="0" marL="0">
              <a:buNone/>
            </a:pPr>
            <a:r>
              <a:rPr lang="en-US" sz="1300" b="1" dirty="0">
                <a:solidFill>
                  <a:srgbClr val="5F7090"/>
                </a:solidFill>
                <a:latin typeface="Arial" pitchFamily="34" charset="0"/>
                <a:ea typeface="Arial" pitchFamily="34" charset="-122"/>
                <a:cs typeface="Arial" pitchFamily="34" charset="-120"/>
              </a:rPr>
              <a:t>02</a:t>
            </a:r>
            <a:endParaRPr lang="en-US" sz="1300" dirty="0"/>
          </a:p>
        </p:txBody>
      </p:sp>
      <p:sp>
        <p:nvSpPr>
          <p:cNvPr id="14" name="st1__3"/>
          <p:cNvSpPr/>
          <p:nvPr/>
        </p:nvSpPr>
        <p:spPr>
          <a:xfrm>
            <a:off x="2849270" y="2240280"/>
            <a:ext cx="822960" cy="822960"/>
          </a:xfrm>
          <a:prstGeom prst="ellipse">
            <a:avLst/>
          </a:prstGeom>
          <a:solidFill>
            <a:srgbClr val="38BDF8">
              <a:alpha val="18000"/>
            </a:srgbClr>
          </a:solidFill>
          <a:ln w="12700">
            <a:solidFill>
              <a:srgbClr val="38BDF8">
                <a:alpha val="60000"/>
              </a:srgbClr>
            </a:solidFill>
            <a:prstDash val="solid"/>
          </a:ln>
        </p:spPr>
      </p:sp>
      <p:pic>
        <p:nvPicPr>
          <p:cNvPr id="15" name="st1__4" descr="preencoded.png">    </p:cNvPr>
          <p:cNvPicPr>
            <a:picLocks noChangeAspect="1"/>
          </p:cNvPicPr>
          <p:nvPr/>
        </p:nvPicPr>
        <p:blipFill>
          <a:blip r:embed="rId3"/>
          <a:stretch>
            <a:fillRect/>
          </a:stretch>
        </p:blipFill>
        <p:spPr>
          <a:xfrm>
            <a:off x="3055010" y="2446020"/>
            <a:ext cx="411480" cy="411480"/>
          </a:xfrm>
          <a:prstGeom prst="rect">
            <a:avLst/>
          </a:prstGeom>
        </p:spPr>
      </p:pic>
      <p:sp>
        <p:nvSpPr>
          <p:cNvPr id="16" name="st1__5"/>
          <p:cNvSpPr txBox="1"/>
          <p:nvPr/>
        </p:nvSpPr>
        <p:spPr>
          <a:xfrm>
            <a:off x="2538374" y="3200400"/>
            <a:ext cx="1444752" cy="384048"/>
          </a:xfrm>
          <a:prstGeom prst="rect">
            <a:avLst/>
          </a:prstGeom>
          <a:noFill/>
          <a:ln/>
        </p:spPr>
        <p:txBody>
          <a:bodyPr wrap="square" lIns="0" tIns="0" rIns="0" bIns="0" rtlCol="0" anchor="ctr"/>
          <a:lstStyle/>
          <a:p>
            <a:pPr algn="ctr" indent="0" marL="0">
              <a:buNone/>
            </a:pPr>
            <a:r>
              <a:rPr lang="en-US" sz="1600" b="1" dirty="0">
                <a:solidFill>
                  <a:srgbClr val="F1F5FB"/>
                </a:solidFill>
                <a:latin typeface="Arial" pitchFamily="34" charset="0"/>
                <a:ea typeface="Arial" pitchFamily="34" charset="-122"/>
                <a:cs typeface="Arial" pitchFamily="34" charset="-120"/>
              </a:rPr>
              <a:t>Build graph</a:t>
            </a:r>
            <a:endParaRPr lang="en-US" sz="1600" dirty="0"/>
          </a:p>
        </p:txBody>
      </p:sp>
      <p:sp>
        <p:nvSpPr>
          <p:cNvPr id="17" name="st1__6"/>
          <p:cNvSpPr txBox="1"/>
          <p:nvPr/>
        </p:nvSpPr>
        <p:spPr>
          <a:xfrm>
            <a:off x="2565806" y="3611880"/>
            <a:ext cx="1389888" cy="1051560"/>
          </a:xfrm>
          <a:prstGeom prst="rect">
            <a:avLst/>
          </a:prstGeom>
          <a:noFill/>
          <a:ln/>
        </p:spPr>
        <p:txBody>
          <a:bodyPr wrap="square" lIns="0" tIns="0" rIns="0" bIns="0" rtlCol="0" anchor="t"/>
          <a:lstStyle/>
          <a:p>
            <a:pPr algn="ctr" indent="0" marL="0">
              <a:buNone/>
            </a:pPr>
            <a:r>
              <a:rPr lang="en-US" sz="1300" dirty="0">
                <a:solidFill>
                  <a:srgbClr val="9AABC4"/>
                </a:solidFill>
                <a:latin typeface="Calibri" pitchFamily="34" charset="0"/>
                <a:ea typeface="Calibri" pitchFamily="34" charset="-122"/>
                <a:cs typeface="Calibri" pitchFamily="34" charset="-120"/>
              </a:rPr>
              <a:t>Accounts become nodes, transfers become directed edges</a:t>
            </a:r>
            <a:endParaRPr lang="en-US" sz="1300" dirty="0"/>
          </a:p>
        </p:txBody>
      </p:sp>
      <p:sp>
        <p:nvSpPr>
          <p:cNvPr id="18" name="stA1__1"/>
          <p:cNvSpPr/>
          <p:nvPr/>
        </p:nvSpPr>
        <p:spPr>
          <a:xfrm>
            <a:off x="4111142" y="2651760"/>
            <a:ext cx="179222" cy="914"/>
          </a:xfrm>
          <a:prstGeom prst="line">
            <a:avLst/>
          </a:prstGeom>
          <a:noFill/>
          <a:ln w="22225">
            <a:solidFill>
              <a:srgbClr val="38BDF8"/>
            </a:solidFill>
            <a:prstDash val="solid"/>
            <a:tailEnd type="triangle"/>
          </a:ln>
        </p:spPr>
      </p:sp>
      <p:sp>
        <p:nvSpPr>
          <p:cNvPr id="19" name="st2__1"/>
          <p:cNvSpPr/>
          <p:nvPr/>
        </p:nvSpPr>
        <p:spPr>
          <a:xfrm>
            <a:off x="4308653" y="1783080"/>
            <a:ext cx="1664208" cy="2926080"/>
          </a:xfrm>
          <a:prstGeom prst="roundRect">
            <a:avLst>
              <a:gd name="adj" fmla="val 659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0" name="st2__2"/>
          <p:cNvSpPr txBox="1"/>
          <p:nvPr/>
        </p:nvSpPr>
        <p:spPr>
          <a:xfrm>
            <a:off x="4491533" y="1920240"/>
            <a:ext cx="640080" cy="320040"/>
          </a:xfrm>
          <a:prstGeom prst="rect">
            <a:avLst/>
          </a:prstGeom>
          <a:noFill/>
          <a:ln/>
        </p:spPr>
        <p:txBody>
          <a:bodyPr wrap="square" lIns="0" tIns="0" rIns="0" bIns="0" rtlCol="0" anchor="ctr"/>
          <a:lstStyle/>
          <a:p>
            <a:pPr indent="0" marL="0">
              <a:buNone/>
            </a:pPr>
            <a:r>
              <a:rPr lang="en-US" sz="1300" b="1" dirty="0">
                <a:solidFill>
                  <a:srgbClr val="5F7090"/>
                </a:solidFill>
                <a:latin typeface="Arial" pitchFamily="34" charset="0"/>
                <a:ea typeface="Arial" pitchFamily="34" charset="-122"/>
                <a:cs typeface="Arial" pitchFamily="34" charset="-120"/>
              </a:rPr>
              <a:t>03</a:t>
            </a:r>
            <a:endParaRPr lang="en-US" sz="1300" dirty="0"/>
          </a:p>
        </p:txBody>
      </p:sp>
      <p:sp>
        <p:nvSpPr>
          <p:cNvPr id="21" name="st2__3"/>
          <p:cNvSpPr/>
          <p:nvPr/>
        </p:nvSpPr>
        <p:spPr>
          <a:xfrm>
            <a:off x="4729277" y="2240280"/>
            <a:ext cx="822960" cy="822960"/>
          </a:xfrm>
          <a:prstGeom prst="ellipse">
            <a:avLst/>
          </a:prstGeom>
          <a:solidFill>
            <a:srgbClr val="38BDF8">
              <a:alpha val="18000"/>
            </a:srgbClr>
          </a:solidFill>
          <a:ln w="12700">
            <a:solidFill>
              <a:srgbClr val="38BDF8">
                <a:alpha val="60000"/>
              </a:srgbClr>
            </a:solidFill>
            <a:prstDash val="solid"/>
          </a:ln>
        </p:spPr>
      </p:sp>
      <p:pic>
        <p:nvPicPr>
          <p:cNvPr id="22" name="st2__4" descr="preencoded.png">    </p:cNvPr>
          <p:cNvPicPr>
            <a:picLocks noChangeAspect="1"/>
          </p:cNvPicPr>
          <p:nvPr/>
        </p:nvPicPr>
        <p:blipFill>
          <a:blip r:embed="rId4"/>
          <a:stretch>
            <a:fillRect/>
          </a:stretch>
        </p:blipFill>
        <p:spPr>
          <a:xfrm>
            <a:off x="4935017" y="2446020"/>
            <a:ext cx="411480" cy="411480"/>
          </a:xfrm>
          <a:prstGeom prst="rect">
            <a:avLst/>
          </a:prstGeom>
        </p:spPr>
      </p:pic>
      <p:sp>
        <p:nvSpPr>
          <p:cNvPr id="23" name="st2__5"/>
          <p:cNvSpPr txBox="1"/>
          <p:nvPr/>
        </p:nvSpPr>
        <p:spPr>
          <a:xfrm>
            <a:off x="4418381" y="3200400"/>
            <a:ext cx="1444752" cy="384048"/>
          </a:xfrm>
          <a:prstGeom prst="rect">
            <a:avLst/>
          </a:prstGeom>
          <a:noFill/>
          <a:ln/>
        </p:spPr>
        <p:txBody>
          <a:bodyPr wrap="square" lIns="0" tIns="0" rIns="0" bIns="0" rtlCol="0" anchor="ctr"/>
          <a:lstStyle/>
          <a:p>
            <a:pPr algn="ctr" indent="0" marL="0">
              <a:buNone/>
            </a:pPr>
            <a:r>
              <a:rPr lang="en-US" sz="1600" b="1" dirty="0">
                <a:solidFill>
                  <a:srgbClr val="F1F5FB"/>
                </a:solidFill>
                <a:latin typeface="Arial" pitchFamily="34" charset="0"/>
                <a:ea typeface="Arial" pitchFamily="34" charset="-122"/>
                <a:cs typeface="Arial" pitchFamily="34" charset="-120"/>
              </a:rPr>
              <a:t>Detect</a:t>
            </a:r>
            <a:endParaRPr lang="en-US" sz="1600" dirty="0"/>
          </a:p>
        </p:txBody>
      </p:sp>
      <p:sp>
        <p:nvSpPr>
          <p:cNvPr id="24" name="st2__6"/>
          <p:cNvSpPr txBox="1"/>
          <p:nvPr/>
        </p:nvSpPr>
        <p:spPr>
          <a:xfrm>
            <a:off x="4445813" y="3611880"/>
            <a:ext cx="1389888" cy="1051560"/>
          </a:xfrm>
          <a:prstGeom prst="rect">
            <a:avLst/>
          </a:prstGeom>
          <a:noFill/>
          <a:ln/>
        </p:spPr>
        <p:txBody>
          <a:bodyPr wrap="square" lIns="0" tIns="0" rIns="0" bIns="0" rtlCol="0" anchor="t"/>
          <a:lstStyle/>
          <a:p>
            <a:pPr algn="ctr" indent="0" marL="0">
              <a:buNone/>
            </a:pPr>
            <a:r>
              <a:rPr lang="en-US" sz="1300" dirty="0">
                <a:solidFill>
                  <a:srgbClr val="9AABC4"/>
                </a:solidFill>
                <a:latin typeface="Calibri" pitchFamily="34" charset="0"/>
                <a:ea typeface="Calibri" pitchFamily="34" charset="-122"/>
                <a:cs typeface="Calibri" pitchFamily="34" charset="-120"/>
              </a:rPr>
              <a:t>Network, hundi and takeover detectors scan the graph</a:t>
            </a:r>
            <a:endParaRPr lang="en-US" sz="1300" dirty="0"/>
          </a:p>
        </p:txBody>
      </p:sp>
      <p:sp>
        <p:nvSpPr>
          <p:cNvPr id="25" name="stA2__1"/>
          <p:cNvSpPr/>
          <p:nvPr/>
        </p:nvSpPr>
        <p:spPr>
          <a:xfrm>
            <a:off x="5991149" y="2651760"/>
            <a:ext cx="179222" cy="914"/>
          </a:xfrm>
          <a:prstGeom prst="line">
            <a:avLst/>
          </a:prstGeom>
          <a:noFill/>
          <a:ln w="22225">
            <a:solidFill>
              <a:srgbClr val="38BDF8"/>
            </a:solidFill>
            <a:prstDash val="solid"/>
            <a:tailEnd type="triangle"/>
          </a:ln>
        </p:spPr>
      </p:sp>
      <p:sp>
        <p:nvSpPr>
          <p:cNvPr id="26" name="st3__1"/>
          <p:cNvSpPr/>
          <p:nvPr/>
        </p:nvSpPr>
        <p:spPr>
          <a:xfrm>
            <a:off x="6188659" y="1783080"/>
            <a:ext cx="1664208" cy="2926080"/>
          </a:xfrm>
          <a:prstGeom prst="roundRect">
            <a:avLst>
              <a:gd name="adj" fmla="val 659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7" name="st3__2"/>
          <p:cNvSpPr txBox="1"/>
          <p:nvPr/>
        </p:nvSpPr>
        <p:spPr>
          <a:xfrm>
            <a:off x="6371539" y="1920240"/>
            <a:ext cx="640080" cy="320040"/>
          </a:xfrm>
          <a:prstGeom prst="rect">
            <a:avLst/>
          </a:prstGeom>
          <a:noFill/>
          <a:ln/>
        </p:spPr>
        <p:txBody>
          <a:bodyPr wrap="square" lIns="0" tIns="0" rIns="0" bIns="0" rtlCol="0" anchor="ctr"/>
          <a:lstStyle/>
          <a:p>
            <a:pPr indent="0" marL="0">
              <a:buNone/>
            </a:pPr>
            <a:r>
              <a:rPr lang="en-US" sz="1300" b="1" dirty="0">
                <a:solidFill>
                  <a:srgbClr val="5F7090"/>
                </a:solidFill>
                <a:latin typeface="Arial" pitchFamily="34" charset="0"/>
                <a:ea typeface="Arial" pitchFamily="34" charset="-122"/>
                <a:cs typeface="Arial" pitchFamily="34" charset="-120"/>
              </a:rPr>
              <a:t>04</a:t>
            </a:r>
            <a:endParaRPr lang="en-US" sz="1300" dirty="0"/>
          </a:p>
        </p:txBody>
      </p:sp>
      <p:sp>
        <p:nvSpPr>
          <p:cNvPr id="28" name="st3__3"/>
          <p:cNvSpPr/>
          <p:nvPr/>
        </p:nvSpPr>
        <p:spPr>
          <a:xfrm>
            <a:off x="6609283" y="2240280"/>
            <a:ext cx="822960" cy="822960"/>
          </a:xfrm>
          <a:prstGeom prst="ellipse">
            <a:avLst/>
          </a:prstGeom>
          <a:solidFill>
            <a:srgbClr val="38BDF8">
              <a:alpha val="18000"/>
            </a:srgbClr>
          </a:solidFill>
          <a:ln w="12700">
            <a:solidFill>
              <a:srgbClr val="38BDF8">
                <a:alpha val="60000"/>
              </a:srgbClr>
            </a:solidFill>
            <a:prstDash val="solid"/>
          </a:ln>
        </p:spPr>
      </p:sp>
      <p:pic>
        <p:nvPicPr>
          <p:cNvPr id="29" name="st3__4" descr="preencoded.png">    </p:cNvPr>
          <p:cNvPicPr>
            <a:picLocks noChangeAspect="1"/>
          </p:cNvPicPr>
          <p:nvPr/>
        </p:nvPicPr>
        <p:blipFill>
          <a:blip r:embed="rId5"/>
          <a:stretch>
            <a:fillRect/>
          </a:stretch>
        </p:blipFill>
        <p:spPr>
          <a:xfrm>
            <a:off x="6815023" y="2446020"/>
            <a:ext cx="411480" cy="411480"/>
          </a:xfrm>
          <a:prstGeom prst="rect">
            <a:avLst/>
          </a:prstGeom>
        </p:spPr>
      </p:pic>
      <p:sp>
        <p:nvSpPr>
          <p:cNvPr id="30" name="st3__5"/>
          <p:cNvSpPr txBox="1"/>
          <p:nvPr/>
        </p:nvSpPr>
        <p:spPr>
          <a:xfrm>
            <a:off x="6298387" y="3200400"/>
            <a:ext cx="1444752" cy="384048"/>
          </a:xfrm>
          <a:prstGeom prst="rect">
            <a:avLst/>
          </a:prstGeom>
          <a:noFill/>
          <a:ln/>
        </p:spPr>
        <p:txBody>
          <a:bodyPr wrap="square" lIns="0" tIns="0" rIns="0" bIns="0" rtlCol="0" anchor="ctr"/>
          <a:lstStyle/>
          <a:p>
            <a:pPr algn="ctr" indent="0" marL="0">
              <a:buNone/>
            </a:pPr>
            <a:r>
              <a:rPr lang="en-US" sz="1600" b="1" dirty="0">
                <a:solidFill>
                  <a:srgbClr val="F1F5FB"/>
                </a:solidFill>
                <a:latin typeface="Arial" pitchFamily="34" charset="0"/>
                <a:ea typeface="Arial" pitchFamily="34" charset="-122"/>
                <a:cs typeface="Arial" pitchFamily="34" charset="-120"/>
              </a:rPr>
              <a:t>Featurise</a:t>
            </a:r>
            <a:endParaRPr lang="en-US" sz="1600" dirty="0"/>
          </a:p>
        </p:txBody>
      </p:sp>
      <p:sp>
        <p:nvSpPr>
          <p:cNvPr id="31" name="st3__6"/>
          <p:cNvSpPr txBox="1"/>
          <p:nvPr/>
        </p:nvSpPr>
        <p:spPr>
          <a:xfrm>
            <a:off x="6325819" y="3611880"/>
            <a:ext cx="1389888" cy="1051560"/>
          </a:xfrm>
          <a:prstGeom prst="rect">
            <a:avLst/>
          </a:prstGeom>
          <a:noFill/>
          <a:ln/>
        </p:spPr>
        <p:txBody>
          <a:bodyPr wrap="square" lIns="0" tIns="0" rIns="0" bIns="0" rtlCol="0" anchor="t"/>
          <a:lstStyle/>
          <a:p>
            <a:pPr algn="ctr" indent="0" marL="0">
              <a:buNone/>
            </a:pPr>
            <a:r>
              <a:rPr lang="en-US" sz="1300" dirty="0">
                <a:solidFill>
                  <a:srgbClr val="9AABC4"/>
                </a:solidFill>
                <a:latin typeface="Calibri" pitchFamily="34" charset="0"/>
                <a:ea typeface="Calibri" pitchFamily="34" charset="-122"/>
                <a:cs typeface="Calibri" pitchFamily="34" charset="-120"/>
              </a:rPr>
              <a:t>Graph and behavioural features per account</a:t>
            </a:r>
            <a:endParaRPr lang="en-US" sz="1300" dirty="0"/>
          </a:p>
        </p:txBody>
      </p:sp>
      <p:sp>
        <p:nvSpPr>
          <p:cNvPr id="32" name="stA3__1"/>
          <p:cNvSpPr/>
          <p:nvPr/>
        </p:nvSpPr>
        <p:spPr>
          <a:xfrm>
            <a:off x="7871155" y="2651760"/>
            <a:ext cx="179222" cy="914"/>
          </a:xfrm>
          <a:prstGeom prst="line">
            <a:avLst/>
          </a:prstGeom>
          <a:noFill/>
          <a:ln w="22225">
            <a:solidFill>
              <a:srgbClr val="38BDF8"/>
            </a:solidFill>
            <a:prstDash val="solid"/>
            <a:tailEnd type="triangle"/>
          </a:ln>
        </p:spPr>
      </p:sp>
      <p:sp>
        <p:nvSpPr>
          <p:cNvPr id="33" name="st4__1"/>
          <p:cNvSpPr/>
          <p:nvPr/>
        </p:nvSpPr>
        <p:spPr>
          <a:xfrm>
            <a:off x="8068666" y="1783080"/>
            <a:ext cx="1664208" cy="2926080"/>
          </a:xfrm>
          <a:prstGeom prst="roundRect">
            <a:avLst>
              <a:gd name="adj" fmla="val 659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34" name="st4__2"/>
          <p:cNvSpPr txBox="1"/>
          <p:nvPr/>
        </p:nvSpPr>
        <p:spPr>
          <a:xfrm>
            <a:off x="8251546" y="1920240"/>
            <a:ext cx="640080" cy="320040"/>
          </a:xfrm>
          <a:prstGeom prst="rect">
            <a:avLst/>
          </a:prstGeom>
          <a:noFill/>
          <a:ln/>
        </p:spPr>
        <p:txBody>
          <a:bodyPr wrap="square" lIns="0" tIns="0" rIns="0" bIns="0" rtlCol="0" anchor="ctr"/>
          <a:lstStyle/>
          <a:p>
            <a:pPr indent="0" marL="0">
              <a:buNone/>
            </a:pPr>
            <a:r>
              <a:rPr lang="en-US" sz="1300" b="1" dirty="0">
                <a:solidFill>
                  <a:srgbClr val="5F7090"/>
                </a:solidFill>
                <a:latin typeface="Arial" pitchFamily="34" charset="0"/>
                <a:ea typeface="Arial" pitchFamily="34" charset="-122"/>
                <a:cs typeface="Arial" pitchFamily="34" charset="-120"/>
              </a:rPr>
              <a:t>05</a:t>
            </a:r>
            <a:endParaRPr lang="en-US" sz="1300" dirty="0"/>
          </a:p>
        </p:txBody>
      </p:sp>
      <p:sp>
        <p:nvSpPr>
          <p:cNvPr id="35" name="st4__3"/>
          <p:cNvSpPr/>
          <p:nvPr/>
        </p:nvSpPr>
        <p:spPr>
          <a:xfrm>
            <a:off x="8489290" y="2240280"/>
            <a:ext cx="822960" cy="822960"/>
          </a:xfrm>
          <a:prstGeom prst="ellipse">
            <a:avLst/>
          </a:prstGeom>
          <a:solidFill>
            <a:srgbClr val="A78BFA">
              <a:alpha val="18000"/>
            </a:srgbClr>
          </a:solidFill>
          <a:ln w="12700">
            <a:solidFill>
              <a:srgbClr val="A78BFA">
                <a:alpha val="60000"/>
              </a:srgbClr>
            </a:solidFill>
            <a:prstDash val="solid"/>
          </a:ln>
        </p:spPr>
      </p:sp>
      <p:pic>
        <p:nvPicPr>
          <p:cNvPr id="36" name="st4__4" descr="preencoded.png">    </p:cNvPr>
          <p:cNvPicPr>
            <a:picLocks noChangeAspect="1"/>
          </p:cNvPicPr>
          <p:nvPr/>
        </p:nvPicPr>
        <p:blipFill>
          <a:blip r:embed="rId6"/>
          <a:stretch>
            <a:fillRect/>
          </a:stretch>
        </p:blipFill>
        <p:spPr>
          <a:xfrm>
            <a:off x="8695030" y="2446020"/>
            <a:ext cx="411480" cy="411480"/>
          </a:xfrm>
          <a:prstGeom prst="rect">
            <a:avLst/>
          </a:prstGeom>
        </p:spPr>
      </p:pic>
      <p:sp>
        <p:nvSpPr>
          <p:cNvPr id="37" name="st4__5"/>
          <p:cNvSpPr txBox="1"/>
          <p:nvPr/>
        </p:nvSpPr>
        <p:spPr>
          <a:xfrm>
            <a:off x="8178394" y="3200400"/>
            <a:ext cx="1444752" cy="384048"/>
          </a:xfrm>
          <a:prstGeom prst="rect">
            <a:avLst/>
          </a:prstGeom>
          <a:noFill/>
          <a:ln/>
        </p:spPr>
        <p:txBody>
          <a:bodyPr wrap="square" lIns="0" tIns="0" rIns="0" bIns="0" rtlCol="0" anchor="ctr"/>
          <a:lstStyle/>
          <a:p>
            <a:pPr algn="ctr" indent="0" marL="0">
              <a:buNone/>
            </a:pPr>
            <a:r>
              <a:rPr lang="en-US" sz="1600" b="1" dirty="0">
                <a:solidFill>
                  <a:srgbClr val="F1F5FB"/>
                </a:solidFill>
                <a:latin typeface="Arial" pitchFamily="34" charset="0"/>
                <a:ea typeface="Arial" pitchFamily="34" charset="-122"/>
                <a:cs typeface="Arial" pitchFamily="34" charset="-120"/>
              </a:rPr>
              <a:t>Score</a:t>
            </a:r>
            <a:endParaRPr lang="en-US" sz="1600" dirty="0"/>
          </a:p>
        </p:txBody>
      </p:sp>
      <p:sp>
        <p:nvSpPr>
          <p:cNvPr id="38" name="st4__6"/>
          <p:cNvSpPr txBox="1"/>
          <p:nvPr/>
        </p:nvSpPr>
        <p:spPr>
          <a:xfrm>
            <a:off x="8205826" y="3611880"/>
            <a:ext cx="1389888" cy="1051560"/>
          </a:xfrm>
          <a:prstGeom prst="rect">
            <a:avLst/>
          </a:prstGeom>
          <a:noFill/>
          <a:ln/>
        </p:spPr>
        <p:txBody>
          <a:bodyPr wrap="square" lIns="0" tIns="0" rIns="0" bIns="0" rtlCol="0" anchor="t"/>
          <a:lstStyle/>
          <a:p>
            <a:pPr algn="ctr" indent="0" marL="0">
              <a:buNone/>
            </a:pPr>
            <a:r>
              <a:rPr lang="en-US" sz="1300" dirty="0">
                <a:solidFill>
                  <a:srgbClr val="9AABC4"/>
                </a:solidFill>
                <a:latin typeface="Calibri" pitchFamily="34" charset="0"/>
                <a:ea typeface="Calibri" pitchFamily="34" charset="-122"/>
                <a:cs typeface="Calibri" pitchFamily="34" charset="-120"/>
              </a:rPr>
              <a:t>Isolation Forest finds outliers, no labels needed</a:t>
            </a:r>
            <a:endParaRPr lang="en-US" sz="1300" dirty="0"/>
          </a:p>
        </p:txBody>
      </p:sp>
      <p:sp>
        <p:nvSpPr>
          <p:cNvPr id="39" name="stA4__1"/>
          <p:cNvSpPr/>
          <p:nvPr/>
        </p:nvSpPr>
        <p:spPr>
          <a:xfrm>
            <a:off x="9751162" y="2651760"/>
            <a:ext cx="179222" cy="914"/>
          </a:xfrm>
          <a:prstGeom prst="line">
            <a:avLst/>
          </a:prstGeom>
          <a:noFill/>
          <a:ln w="22225">
            <a:solidFill>
              <a:srgbClr val="38BDF8"/>
            </a:solidFill>
            <a:prstDash val="solid"/>
            <a:tailEnd type="triangle"/>
          </a:ln>
        </p:spPr>
      </p:sp>
      <p:sp>
        <p:nvSpPr>
          <p:cNvPr id="40" name="st5__1"/>
          <p:cNvSpPr/>
          <p:nvPr/>
        </p:nvSpPr>
        <p:spPr>
          <a:xfrm>
            <a:off x="9948672" y="1783080"/>
            <a:ext cx="1664208" cy="2926080"/>
          </a:xfrm>
          <a:prstGeom prst="roundRect">
            <a:avLst>
              <a:gd name="adj" fmla="val 659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41" name="st5__2"/>
          <p:cNvSpPr txBox="1"/>
          <p:nvPr/>
        </p:nvSpPr>
        <p:spPr>
          <a:xfrm>
            <a:off x="10131552" y="1920240"/>
            <a:ext cx="640080" cy="320040"/>
          </a:xfrm>
          <a:prstGeom prst="rect">
            <a:avLst/>
          </a:prstGeom>
          <a:noFill/>
          <a:ln/>
        </p:spPr>
        <p:txBody>
          <a:bodyPr wrap="square" lIns="0" tIns="0" rIns="0" bIns="0" rtlCol="0" anchor="ctr"/>
          <a:lstStyle/>
          <a:p>
            <a:pPr indent="0" marL="0">
              <a:buNone/>
            </a:pPr>
            <a:r>
              <a:rPr lang="en-US" sz="1300" b="1" dirty="0">
                <a:solidFill>
                  <a:srgbClr val="5F7090"/>
                </a:solidFill>
                <a:latin typeface="Arial" pitchFamily="34" charset="0"/>
                <a:ea typeface="Arial" pitchFamily="34" charset="-122"/>
                <a:cs typeface="Arial" pitchFamily="34" charset="-120"/>
              </a:rPr>
              <a:t>06</a:t>
            </a:r>
            <a:endParaRPr lang="en-US" sz="1300" dirty="0"/>
          </a:p>
        </p:txBody>
      </p:sp>
      <p:sp>
        <p:nvSpPr>
          <p:cNvPr id="42" name="st5__3"/>
          <p:cNvSpPr/>
          <p:nvPr/>
        </p:nvSpPr>
        <p:spPr>
          <a:xfrm>
            <a:off x="10369296" y="2240280"/>
            <a:ext cx="822960" cy="822960"/>
          </a:xfrm>
          <a:prstGeom prst="ellipse">
            <a:avLst/>
          </a:prstGeom>
          <a:solidFill>
            <a:srgbClr val="FF4D5E">
              <a:alpha val="18000"/>
            </a:srgbClr>
          </a:solidFill>
          <a:ln w="12700">
            <a:solidFill>
              <a:srgbClr val="FF4D5E">
                <a:alpha val="60000"/>
              </a:srgbClr>
            </a:solidFill>
            <a:prstDash val="solid"/>
          </a:ln>
        </p:spPr>
      </p:sp>
      <p:pic>
        <p:nvPicPr>
          <p:cNvPr id="43" name="st5__4" descr="preencoded.png">    </p:cNvPr>
          <p:cNvPicPr>
            <a:picLocks noChangeAspect="1"/>
          </p:cNvPicPr>
          <p:nvPr/>
        </p:nvPicPr>
        <p:blipFill>
          <a:blip r:embed="rId7"/>
          <a:stretch>
            <a:fillRect/>
          </a:stretch>
        </p:blipFill>
        <p:spPr>
          <a:xfrm>
            <a:off x="10575036" y="2446020"/>
            <a:ext cx="411480" cy="411480"/>
          </a:xfrm>
          <a:prstGeom prst="rect">
            <a:avLst/>
          </a:prstGeom>
        </p:spPr>
      </p:pic>
      <p:sp>
        <p:nvSpPr>
          <p:cNvPr id="44" name="st5__5"/>
          <p:cNvSpPr txBox="1"/>
          <p:nvPr/>
        </p:nvSpPr>
        <p:spPr>
          <a:xfrm>
            <a:off x="10058400" y="3200400"/>
            <a:ext cx="1444752" cy="384048"/>
          </a:xfrm>
          <a:prstGeom prst="rect">
            <a:avLst/>
          </a:prstGeom>
          <a:noFill/>
          <a:ln/>
        </p:spPr>
        <p:txBody>
          <a:bodyPr wrap="square" lIns="0" tIns="0" rIns="0" bIns="0" rtlCol="0" anchor="ctr"/>
          <a:lstStyle/>
          <a:p>
            <a:pPr algn="ctr" indent="0" marL="0">
              <a:buNone/>
            </a:pPr>
            <a:r>
              <a:rPr lang="en-US" sz="1600" b="1" dirty="0">
                <a:solidFill>
                  <a:srgbClr val="F1F5FB"/>
                </a:solidFill>
                <a:latin typeface="Arial" pitchFamily="34" charset="0"/>
                <a:ea typeface="Arial" pitchFamily="34" charset="-122"/>
                <a:cs typeface="Arial" pitchFamily="34" charset="-120"/>
              </a:rPr>
              <a:t>Explain</a:t>
            </a:r>
            <a:endParaRPr lang="en-US" sz="1600" dirty="0"/>
          </a:p>
        </p:txBody>
      </p:sp>
      <p:sp>
        <p:nvSpPr>
          <p:cNvPr id="45" name="st5__6"/>
          <p:cNvSpPr txBox="1"/>
          <p:nvPr/>
        </p:nvSpPr>
        <p:spPr>
          <a:xfrm>
            <a:off x="10085832" y="3611880"/>
            <a:ext cx="1389888" cy="1051560"/>
          </a:xfrm>
          <a:prstGeom prst="rect">
            <a:avLst/>
          </a:prstGeom>
          <a:noFill/>
          <a:ln/>
        </p:spPr>
        <p:txBody>
          <a:bodyPr wrap="square" lIns="0" tIns="0" rIns="0" bIns="0" rtlCol="0" anchor="t"/>
          <a:lstStyle/>
          <a:p>
            <a:pPr algn="ctr" indent="0" marL="0">
              <a:buNone/>
            </a:pPr>
            <a:r>
              <a:rPr lang="en-US" sz="1300" dirty="0">
                <a:solidFill>
                  <a:srgbClr val="9AABC4"/>
                </a:solidFill>
                <a:latin typeface="Calibri" pitchFamily="34" charset="0"/>
                <a:ea typeface="Calibri" pitchFamily="34" charset="-122"/>
                <a:cs typeface="Calibri" pitchFamily="34" charset="-120"/>
              </a:rPr>
              <a:t>0–100 risk score with grounded evidence</a:t>
            </a:r>
            <a:endParaRPr lang="en-US" sz="1300" dirty="0"/>
          </a:p>
        </p:txBody>
      </p:sp>
      <p:sp>
        <p:nvSpPr>
          <p:cNvPr id="46" name="stmt__1"/>
          <p:cNvSpPr/>
          <p:nvPr/>
        </p:nvSpPr>
        <p:spPr>
          <a:xfrm>
            <a:off x="548640" y="5120640"/>
            <a:ext cx="11091672" cy="868680"/>
          </a:xfrm>
          <a:prstGeom prst="roundRect">
            <a:avLst>
              <a:gd name="adj" fmla="val 12632"/>
            </a:avLst>
          </a:prstGeom>
          <a:solidFill>
            <a:srgbClr val="38BDF8">
              <a:alpha val="12000"/>
            </a:srgbClr>
          </a:solidFill>
          <a:ln w="12700">
            <a:solidFill>
              <a:srgbClr val="38BDF8"/>
            </a:solidFill>
            <a:prstDash val="solid"/>
          </a:ln>
          <a:effectLst>
            <a:outerShdw sx="100000" sy="100000" kx="0" ky="0" algn="bl" rotWithShape="0" blurRad="101600" dist="38100" dir="5400000">
              <a:srgbClr val="000000">
                <a:alpha val="45000"/>
              </a:srgbClr>
            </a:outerShdw>
          </a:effectLst>
        </p:spPr>
      </p:sp>
      <p:sp>
        <p:nvSpPr>
          <p:cNvPr id="47" name="stmt__2"/>
          <p:cNvSpPr txBox="1"/>
          <p:nvPr/>
        </p:nvSpPr>
        <p:spPr>
          <a:xfrm>
            <a:off x="822960" y="5120640"/>
            <a:ext cx="10607040" cy="868680"/>
          </a:xfrm>
          <a:prstGeom prst="rect">
            <a:avLst/>
          </a:prstGeom>
          <a:noFill/>
          <a:ln/>
        </p:spPr>
        <p:txBody>
          <a:bodyPr wrap="square" lIns="0" tIns="0" rIns="0" bIns="0" rtlCol="0" anchor="ctr"/>
          <a:lstStyle/>
          <a:p>
            <a:pPr indent="0" marL="0">
              <a:buNone/>
            </a:pPr>
            <a:r>
              <a:rPr lang="en-US" sz="2000" dirty="0">
                <a:solidFill>
                  <a:srgbClr val="F1F5FB"/>
                </a:solidFill>
                <a:latin typeface="Calibri" pitchFamily="34" charset="0"/>
                <a:ea typeface="Calibri" pitchFamily="34" charset="-122"/>
                <a:cs typeface="Calibri" pitchFamily="34" charset="-120"/>
              </a:rPr>
              <a:t>Accounts become nodes. Transactions become edges. </a:t>
            </a:r>
            <a:pPr indent="0" marL="0">
              <a:buNone/>
            </a:pPr>
            <a:r>
              <a:rPr lang="en-US" sz="2000" b="1" dirty="0">
                <a:solidFill>
                  <a:srgbClr val="38BDF8"/>
                </a:solidFill>
                <a:latin typeface="Calibri" pitchFamily="34" charset="0"/>
                <a:ea typeface="Calibri" pitchFamily="34" charset="-122"/>
                <a:cs typeface="Calibri" pitchFamily="34" charset="-120"/>
              </a:rPr>
              <a:t>Suspicious shapes become evidence.</a:t>
            </a:r>
            <a:endParaRPr lang="en-US" sz="2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anim calcmode="lin" valueType="num">
                                      <p:cBhvr additive="base">
                                        <p:cTn id="13" dur="450" fill="hold"/>
                                        <p:tgtEl>
                                          <p:spTgt spid="6"/>
                                        </p:tgtEl>
                                        <p:attrNameLst>
                                          <p:attrName>ppt_x</p:attrName>
                                        </p:attrNameLst>
                                      </p:cBhvr>
                                      <p:tavLst>
                                        <p:tav tm="0">
                                          <p:val>
                                            <p:strVal val="#ppt_x"/>
                                          </p:val>
                                        </p:tav>
                                        <p:tav tm="100000">
                                          <p:val>
                                            <p:strVal val="#ppt_x"/>
                                          </p:val>
                                        </p:tav>
                                      </p:tavLst>
                                    </p:anim>
                                    <p:anim calcmode="lin" valueType="num">
                                      <p:cBhvr additive="base">
                                        <p:cTn id="14" dur="45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anim calcmode="lin" valueType="num">
                                      <p:cBhvr additive="base">
                                        <p:cTn id="18" dur="450" fill="hold"/>
                                        <p:tgtEl>
                                          <p:spTgt spid="7"/>
                                        </p:tgtEl>
                                        <p:attrNameLst>
                                          <p:attrName>ppt_x</p:attrName>
                                        </p:attrNameLst>
                                      </p:cBhvr>
                                      <p:tavLst>
                                        <p:tav tm="0">
                                          <p:val>
                                            <p:strVal val="#ppt_x"/>
                                          </p:val>
                                        </p:tav>
                                        <p:tav tm="100000">
                                          <p:val>
                                            <p:strVal val="#ppt_x"/>
                                          </p:val>
                                        </p:tav>
                                      </p:tavLst>
                                    </p:anim>
                                    <p:anim calcmode="lin" valueType="num">
                                      <p:cBhvr additive="base">
                                        <p:cTn id="19" dur="45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anim calcmode="lin" valueType="num">
                                      <p:cBhvr additive="base">
                                        <p:cTn id="23" dur="450" fill="hold"/>
                                        <p:tgtEl>
                                          <p:spTgt spid="8"/>
                                        </p:tgtEl>
                                        <p:attrNameLst>
                                          <p:attrName>ppt_x</p:attrName>
                                        </p:attrNameLst>
                                      </p:cBhvr>
                                      <p:tavLst>
                                        <p:tav tm="0">
                                          <p:val>
                                            <p:strVal val="#ppt_x"/>
                                          </p:val>
                                        </p:tav>
                                        <p:tav tm="100000">
                                          <p:val>
                                            <p:strVal val="#ppt_x"/>
                                          </p:val>
                                        </p:tav>
                                      </p:tavLst>
                                    </p:anim>
                                    <p:anim calcmode="lin" valueType="num">
                                      <p:cBhvr additive="base">
                                        <p:cTn id="24" dur="45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ppt_x</p:attrName>
                                        </p:attrNameLst>
                                      </p:cBhvr>
                                      <p:tavLst>
                                        <p:tav tm="0">
                                          <p:val>
                                            <p:strVal val="#ppt_x"/>
                                          </p:val>
                                        </p:tav>
                                        <p:tav tm="100000">
                                          <p:val>
                                            <p:strVal val="#ppt_x"/>
                                          </p:val>
                                        </p:tav>
                                      </p:tavLst>
                                    </p:anim>
                                    <p:anim calcmode="lin" valueType="num">
                                      <p:cBhvr additive="base">
                                        <p:cTn id="29" dur="45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2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anim calcmode="lin" valueType="num">
                                      <p:cBhvr additive="base">
                                        <p:cTn id="33" dur="450" fill="hold"/>
                                        <p:tgtEl>
                                          <p:spTgt spid="10"/>
                                        </p:tgtEl>
                                        <p:attrNameLst>
                                          <p:attrName>ppt_x</p:attrName>
                                        </p:attrNameLst>
                                      </p:cBhvr>
                                      <p:tavLst>
                                        <p:tav tm="0">
                                          <p:val>
                                            <p:strVal val="#ppt_x"/>
                                          </p:val>
                                        </p:tav>
                                        <p:tav tm="100000">
                                          <p:val>
                                            <p:strVal val="#ppt_x"/>
                                          </p:val>
                                        </p:tav>
                                      </p:tavLst>
                                    </p:anim>
                                    <p:anim calcmode="lin" valueType="num">
                                      <p:cBhvr additive="base">
                                        <p:cTn id="34" dur="450" fill="hold"/>
                                        <p:tgtEl>
                                          <p:spTgt spid="10"/>
                                        </p:tgtEl>
                                        <p:attrNameLst>
                                          <p:attrName>ppt_y</p:attrName>
                                        </p:attrNameLst>
                                      </p:cBhvr>
                                      <p:tavLst>
                                        <p:tav tm="0">
                                          <p:val>
                                            <p:strVal val="#ppt_y+.1"/>
                                          </p:val>
                                        </p:tav>
                                        <p:tav tm="100000">
                                          <p:val>
                                            <p:strVal val="#ppt_y"/>
                                          </p:val>
                                        </p:tav>
                                      </p:tavLst>
                                    </p:anim>
                                  </p:childTnLst>
                                </p:cTn>
                              </p:par>
                              <p:par>
                                <p:cTn id="35" presetID="22" presetClass="entr" presetSubtype="8" fill="hold" nodeType="withEffect">
                                  <p:stCondLst>
                                    <p:cond delay="52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250"/>
                                        <p:tgtEl>
                                          <p:spTgt spid="11"/>
                                        </p:tgtEl>
                                      </p:cBhvr>
                                    </p:animEffect>
                                  </p:childTnLst>
                                </p:cTn>
                              </p:par>
                              <p:par>
                                <p:cTn id="38" presetID="42" presetClass="entr" presetSubtype="0" fill="hold" nodeType="withEffect">
                                  <p:stCondLst>
                                    <p:cond delay="58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50"/>
                                        <p:tgtEl>
                                          <p:spTgt spid="12"/>
                                        </p:tgtEl>
                                      </p:cBhvr>
                                    </p:animEffect>
                                    <p:anim calcmode="lin" valueType="num">
                                      <p:cBhvr additive="base">
                                        <p:cTn id="41" dur="450" fill="hold"/>
                                        <p:tgtEl>
                                          <p:spTgt spid="12"/>
                                        </p:tgtEl>
                                        <p:attrNameLst>
                                          <p:attrName>ppt_x</p:attrName>
                                        </p:attrNameLst>
                                      </p:cBhvr>
                                      <p:tavLst>
                                        <p:tav tm="0">
                                          <p:val>
                                            <p:strVal val="#ppt_x"/>
                                          </p:val>
                                        </p:tav>
                                        <p:tav tm="100000">
                                          <p:val>
                                            <p:strVal val="#ppt_x"/>
                                          </p:val>
                                        </p:tav>
                                      </p:tavLst>
                                    </p:anim>
                                    <p:anim calcmode="lin" valueType="num">
                                      <p:cBhvr additive="base">
                                        <p:cTn id="42" dur="450" fill="hold"/>
                                        <p:tgtEl>
                                          <p:spTgt spid="12"/>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58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450"/>
                                        <p:tgtEl>
                                          <p:spTgt spid="13"/>
                                        </p:tgtEl>
                                      </p:cBhvr>
                                    </p:animEffect>
                                    <p:anim calcmode="lin" valueType="num">
                                      <p:cBhvr additive="base">
                                        <p:cTn id="46" dur="450" fill="hold"/>
                                        <p:tgtEl>
                                          <p:spTgt spid="13"/>
                                        </p:tgtEl>
                                        <p:attrNameLst>
                                          <p:attrName>ppt_x</p:attrName>
                                        </p:attrNameLst>
                                      </p:cBhvr>
                                      <p:tavLst>
                                        <p:tav tm="0">
                                          <p:val>
                                            <p:strVal val="#ppt_x"/>
                                          </p:val>
                                        </p:tav>
                                        <p:tav tm="100000">
                                          <p:val>
                                            <p:strVal val="#ppt_x"/>
                                          </p:val>
                                        </p:tav>
                                      </p:tavLst>
                                    </p:anim>
                                    <p:anim calcmode="lin" valueType="num">
                                      <p:cBhvr additive="base">
                                        <p:cTn id="47" dur="45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58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450"/>
                                        <p:tgtEl>
                                          <p:spTgt spid="14"/>
                                        </p:tgtEl>
                                      </p:cBhvr>
                                    </p:animEffect>
                                    <p:anim calcmode="lin" valueType="num">
                                      <p:cBhvr additive="base">
                                        <p:cTn id="51" dur="450" fill="hold"/>
                                        <p:tgtEl>
                                          <p:spTgt spid="14"/>
                                        </p:tgtEl>
                                        <p:attrNameLst>
                                          <p:attrName>ppt_x</p:attrName>
                                        </p:attrNameLst>
                                      </p:cBhvr>
                                      <p:tavLst>
                                        <p:tav tm="0">
                                          <p:val>
                                            <p:strVal val="#ppt_x"/>
                                          </p:val>
                                        </p:tav>
                                        <p:tav tm="100000">
                                          <p:val>
                                            <p:strVal val="#ppt_x"/>
                                          </p:val>
                                        </p:tav>
                                      </p:tavLst>
                                    </p:anim>
                                    <p:anim calcmode="lin" valueType="num">
                                      <p:cBhvr additive="base">
                                        <p:cTn id="52" dur="450" fill="hold"/>
                                        <p:tgtEl>
                                          <p:spTgt spid="14"/>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58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450"/>
                                        <p:tgtEl>
                                          <p:spTgt spid="15"/>
                                        </p:tgtEl>
                                      </p:cBhvr>
                                    </p:animEffect>
                                    <p:anim calcmode="lin" valueType="num">
                                      <p:cBhvr additive="base">
                                        <p:cTn id="56" dur="450" fill="hold"/>
                                        <p:tgtEl>
                                          <p:spTgt spid="15"/>
                                        </p:tgtEl>
                                        <p:attrNameLst>
                                          <p:attrName>ppt_x</p:attrName>
                                        </p:attrNameLst>
                                      </p:cBhvr>
                                      <p:tavLst>
                                        <p:tav tm="0">
                                          <p:val>
                                            <p:strVal val="#ppt_x"/>
                                          </p:val>
                                        </p:tav>
                                        <p:tav tm="100000">
                                          <p:val>
                                            <p:strVal val="#ppt_x"/>
                                          </p:val>
                                        </p:tav>
                                      </p:tavLst>
                                    </p:anim>
                                    <p:anim calcmode="lin" valueType="num">
                                      <p:cBhvr additive="base">
                                        <p:cTn id="57" dur="450" fill="hold"/>
                                        <p:tgtEl>
                                          <p:spTgt spid="15"/>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58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450"/>
                                        <p:tgtEl>
                                          <p:spTgt spid="16"/>
                                        </p:tgtEl>
                                      </p:cBhvr>
                                    </p:animEffect>
                                    <p:anim calcmode="lin" valueType="num">
                                      <p:cBhvr additive="base">
                                        <p:cTn id="61" dur="450" fill="hold"/>
                                        <p:tgtEl>
                                          <p:spTgt spid="16"/>
                                        </p:tgtEl>
                                        <p:attrNameLst>
                                          <p:attrName>ppt_x</p:attrName>
                                        </p:attrNameLst>
                                      </p:cBhvr>
                                      <p:tavLst>
                                        <p:tav tm="0">
                                          <p:val>
                                            <p:strVal val="#ppt_x"/>
                                          </p:val>
                                        </p:tav>
                                        <p:tav tm="100000">
                                          <p:val>
                                            <p:strVal val="#ppt_x"/>
                                          </p:val>
                                        </p:tav>
                                      </p:tavLst>
                                    </p:anim>
                                    <p:anim calcmode="lin" valueType="num">
                                      <p:cBhvr additive="base">
                                        <p:cTn id="62" dur="450" fill="hold"/>
                                        <p:tgtEl>
                                          <p:spTgt spid="16"/>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58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450"/>
                                        <p:tgtEl>
                                          <p:spTgt spid="17"/>
                                        </p:tgtEl>
                                      </p:cBhvr>
                                    </p:animEffect>
                                    <p:anim calcmode="lin" valueType="num">
                                      <p:cBhvr additive="base">
                                        <p:cTn id="66" dur="450" fill="hold"/>
                                        <p:tgtEl>
                                          <p:spTgt spid="17"/>
                                        </p:tgtEl>
                                        <p:attrNameLst>
                                          <p:attrName>ppt_x</p:attrName>
                                        </p:attrNameLst>
                                      </p:cBhvr>
                                      <p:tavLst>
                                        <p:tav tm="0">
                                          <p:val>
                                            <p:strVal val="#ppt_x"/>
                                          </p:val>
                                        </p:tav>
                                        <p:tav tm="100000">
                                          <p:val>
                                            <p:strVal val="#ppt_x"/>
                                          </p:val>
                                        </p:tav>
                                      </p:tavLst>
                                    </p:anim>
                                    <p:anim calcmode="lin" valueType="num">
                                      <p:cBhvr additive="base">
                                        <p:cTn id="67" dur="450" fill="hold"/>
                                        <p:tgtEl>
                                          <p:spTgt spid="17"/>
                                        </p:tgtEl>
                                        <p:attrNameLst>
                                          <p:attrName>ppt_y</p:attrName>
                                        </p:attrNameLst>
                                      </p:cBhvr>
                                      <p:tavLst>
                                        <p:tav tm="0">
                                          <p:val>
                                            <p:strVal val="#ppt_y+.1"/>
                                          </p:val>
                                        </p:tav>
                                        <p:tav tm="100000">
                                          <p:val>
                                            <p:strVal val="#ppt_y"/>
                                          </p:val>
                                        </p:tav>
                                      </p:tavLst>
                                    </p:anim>
                                  </p:childTnLst>
                                </p:cTn>
                              </p:par>
                              <p:par>
                                <p:cTn id="68" presetID="22" presetClass="entr" presetSubtype="8" fill="hold" nodeType="withEffect">
                                  <p:stCondLst>
                                    <p:cond delay="900"/>
                                  </p:stCondLst>
                                  <p:childTnLst>
                                    <p:set>
                                      <p:cBhvr>
                                        <p:cTn id="69" dur="1" fill="hold">
                                          <p:stCondLst>
                                            <p:cond delay="0"/>
                                          </p:stCondLst>
                                        </p:cTn>
                                        <p:tgtEl>
                                          <p:spTgt spid="18"/>
                                        </p:tgtEl>
                                        <p:attrNameLst>
                                          <p:attrName>style.visibility</p:attrName>
                                        </p:attrNameLst>
                                      </p:cBhvr>
                                      <p:to>
                                        <p:strVal val="visible"/>
                                      </p:to>
                                    </p:set>
                                    <p:animEffect transition="in" filter="wipe(left)">
                                      <p:cBhvr>
                                        <p:cTn id="70" dur="250"/>
                                        <p:tgtEl>
                                          <p:spTgt spid="18"/>
                                        </p:tgtEl>
                                      </p:cBhvr>
                                    </p:animEffect>
                                  </p:childTnLst>
                                </p:cTn>
                              </p:par>
                              <p:par>
                                <p:cTn id="71" presetID="42" presetClass="entr" presetSubtype="0" fill="hold" nodeType="withEffect">
                                  <p:stCondLst>
                                    <p:cond delay="96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450"/>
                                        <p:tgtEl>
                                          <p:spTgt spid="19"/>
                                        </p:tgtEl>
                                      </p:cBhvr>
                                    </p:animEffect>
                                    <p:anim calcmode="lin" valueType="num">
                                      <p:cBhvr additive="base">
                                        <p:cTn id="74" dur="450" fill="hold"/>
                                        <p:tgtEl>
                                          <p:spTgt spid="19"/>
                                        </p:tgtEl>
                                        <p:attrNameLst>
                                          <p:attrName>ppt_x</p:attrName>
                                        </p:attrNameLst>
                                      </p:cBhvr>
                                      <p:tavLst>
                                        <p:tav tm="0">
                                          <p:val>
                                            <p:strVal val="#ppt_x"/>
                                          </p:val>
                                        </p:tav>
                                        <p:tav tm="100000">
                                          <p:val>
                                            <p:strVal val="#ppt_x"/>
                                          </p:val>
                                        </p:tav>
                                      </p:tavLst>
                                    </p:anim>
                                    <p:anim calcmode="lin" valueType="num">
                                      <p:cBhvr additive="base">
                                        <p:cTn id="75" dur="450" fill="hold"/>
                                        <p:tgtEl>
                                          <p:spTgt spid="19"/>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96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450"/>
                                        <p:tgtEl>
                                          <p:spTgt spid="20"/>
                                        </p:tgtEl>
                                      </p:cBhvr>
                                    </p:animEffect>
                                    <p:anim calcmode="lin" valueType="num">
                                      <p:cBhvr additive="base">
                                        <p:cTn id="79" dur="450" fill="hold"/>
                                        <p:tgtEl>
                                          <p:spTgt spid="20"/>
                                        </p:tgtEl>
                                        <p:attrNameLst>
                                          <p:attrName>ppt_x</p:attrName>
                                        </p:attrNameLst>
                                      </p:cBhvr>
                                      <p:tavLst>
                                        <p:tav tm="0">
                                          <p:val>
                                            <p:strVal val="#ppt_x"/>
                                          </p:val>
                                        </p:tav>
                                        <p:tav tm="100000">
                                          <p:val>
                                            <p:strVal val="#ppt_x"/>
                                          </p:val>
                                        </p:tav>
                                      </p:tavLst>
                                    </p:anim>
                                    <p:anim calcmode="lin" valueType="num">
                                      <p:cBhvr additive="base">
                                        <p:cTn id="80" dur="450" fill="hold"/>
                                        <p:tgtEl>
                                          <p:spTgt spid="20"/>
                                        </p:tgtEl>
                                        <p:attrNameLst>
                                          <p:attrName>ppt_y</p:attrName>
                                        </p:attrNameLst>
                                      </p:cBhvr>
                                      <p:tavLst>
                                        <p:tav tm="0">
                                          <p:val>
                                            <p:strVal val="#ppt_y+.1"/>
                                          </p:val>
                                        </p:tav>
                                        <p:tav tm="100000">
                                          <p:val>
                                            <p:strVal val="#ppt_y"/>
                                          </p:val>
                                        </p:tav>
                                      </p:tavLst>
                                    </p:anim>
                                  </p:childTnLst>
                                </p:cTn>
                              </p:par>
                              <p:par>
                                <p:cTn id="81" presetID="42" presetClass="entr" presetSubtype="0" fill="hold" nodeType="withEffect">
                                  <p:stCondLst>
                                    <p:cond delay="96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50"/>
                                        <p:tgtEl>
                                          <p:spTgt spid="21"/>
                                        </p:tgtEl>
                                      </p:cBhvr>
                                    </p:animEffect>
                                    <p:anim calcmode="lin" valueType="num">
                                      <p:cBhvr additive="base">
                                        <p:cTn id="84" dur="450" fill="hold"/>
                                        <p:tgtEl>
                                          <p:spTgt spid="21"/>
                                        </p:tgtEl>
                                        <p:attrNameLst>
                                          <p:attrName>ppt_x</p:attrName>
                                        </p:attrNameLst>
                                      </p:cBhvr>
                                      <p:tavLst>
                                        <p:tav tm="0">
                                          <p:val>
                                            <p:strVal val="#ppt_x"/>
                                          </p:val>
                                        </p:tav>
                                        <p:tav tm="100000">
                                          <p:val>
                                            <p:strVal val="#ppt_x"/>
                                          </p:val>
                                        </p:tav>
                                      </p:tavLst>
                                    </p:anim>
                                    <p:anim calcmode="lin" valueType="num">
                                      <p:cBhvr additive="base">
                                        <p:cTn id="85" dur="450" fill="hold"/>
                                        <p:tgtEl>
                                          <p:spTgt spid="21"/>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96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450"/>
                                        <p:tgtEl>
                                          <p:spTgt spid="22"/>
                                        </p:tgtEl>
                                      </p:cBhvr>
                                    </p:animEffect>
                                    <p:anim calcmode="lin" valueType="num">
                                      <p:cBhvr additive="base">
                                        <p:cTn id="89" dur="450" fill="hold"/>
                                        <p:tgtEl>
                                          <p:spTgt spid="22"/>
                                        </p:tgtEl>
                                        <p:attrNameLst>
                                          <p:attrName>ppt_x</p:attrName>
                                        </p:attrNameLst>
                                      </p:cBhvr>
                                      <p:tavLst>
                                        <p:tav tm="0">
                                          <p:val>
                                            <p:strVal val="#ppt_x"/>
                                          </p:val>
                                        </p:tav>
                                        <p:tav tm="100000">
                                          <p:val>
                                            <p:strVal val="#ppt_x"/>
                                          </p:val>
                                        </p:tav>
                                      </p:tavLst>
                                    </p:anim>
                                    <p:anim calcmode="lin" valueType="num">
                                      <p:cBhvr additive="base">
                                        <p:cTn id="90" dur="450" fill="hold"/>
                                        <p:tgtEl>
                                          <p:spTgt spid="22"/>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96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450"/>
                                        <p:tgtEl>
                                          <p:spTgt spid="23"/>
                                        </p:tgtEl>
                                      </p:cBhvr>
                                    </p:animEffect>
                                    <p:anim calcmode="lin" valueType="num">
                                      <p:cBhvr additive="base">
                                        <p:cTn id="94" dur="450" fill="hold"/>
                                        <p:tgtEl>
                                          <p:spTgt spid="23"/>
                                        </p:tgtEl>
                                        <p:attrNameLst>
                                          <p:attrName>ppt_x</p:attrName>
                                        </p:attrNameLst>
                                      </p:cBhvr>
                                      <p:tavLst>
                                        <p:tav tm="0">
                                          <p:val>
                                            <p:strVal val="#ppt_x"/>
                                          </p:val>
                                        </p:tav>
                                        <p:tav tm="100000">
                                          <p:val>
                                            <p:strVal val="#ppt_x"/>
                                          </p:val>
                                        </p:tav>
                                      </p:tavLst>
                                    </p:anim>
                                    <p:anim calcmode="lin" valueType="num">
                                      <p:cBhvr additive="base">
                                        <p:cTn id="95" dur="450" fill="hold"/>
                                        <p:tgtEl>
                                          <p:spTgt spid="23"/>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96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450"/>
                                        <p:tgtEl>
                                          <p:spTgt spid="24"/>
                                        </p:tgtEl>
                                      </p:cBhvr>
                                    </p:animEffect>
                                    <p:anim calcmode="lin" valueType="num">
                                      <p:cBhvr additive="base">
                                        <p:cTn id="99" dur="450" fill="hold"/>
                                        <p:tgtEl>
                                          <p:spTgt spid="24"/>
                                        </p:tgtEl>
                                        <p:attrNameLst>
                                          <p:attrName>ppt_x</p:attrName>
                                        </p:attrNameLst>
                                      </p:cBhvr>
                                      <p:tavLst>
                                        <p:tav tm="0">
                                          <p:val>
                                            <p:strVal val="#ppt_x"/>
                                          </p:val>
                                        </p:tav>
                                        <p:tav tm="100000">
                                          <p:val>
                                            <p:strVal val="#ppt_x"/>
                                          </p:val>
                                        </p:tav>
                                      </p:tavLst>
                                    </p:anim>
                                    <p:anim calcmode="lin" valueType="num">
                                      <p:cBhvr additive="base">
                                        <p:cTn id="100" dur="450" fill="hold"/>
                                        <p:tgtEl>
                                          <p:spTgt spid="24"/>
                                        </p:tgtEl>
                                        <p:attrNameLst>
                                          <p:attrName>ppt_y</p:attrName>
                                        </p:attrNameLst>
                                      </p:cBhvr>
                                      <p:tavLst>
                                        <p:tav tm="0">
                                          <p:val>
                                            <p:strVal val="#ppt_y+.1"/>
                                          </p:val>
                                        </p:tav>
                                        <p:tav tm="100000">
                                          <p:val>
                                            <p:strVal val="#ppt_y"/>
                                          </p:val>
                                        </p:tav>
                                      </p:tavLst>
                                    </p:anim>
                                  </p:childTnLst>
                                </p:cTn>
                              </p:par>
                              <p:par>
                                <p:cTn id="101" presetID="22" presetClass="entr" presetSubtype="8" fill="hold" nodeType="withEffect">
                                  <p:stCondLst>
                                    <p:cond delay="1280"/>
                                  </p:stCondLst>
                                  <p:childTnLst>
                                    <p:set>
                                      <p:cBhvr>
                                        <p:cTn id="102" dur="1" fill="hold">
                                          <p:stCondLst>
                                            <p:cond delay="0"/>
                                          </p:stCondLst>
                                        </p:cTn>
                                        <p:tgtEl>
                                          <p:spTgt spid="25"/>
                                        </p:tgtEl>
                                        <p:attrNameLst>
                                          <p:attrName>style.visibility</p:attrName>
                                        </p:attrNameLst>
                                      </p:cBhvr>
                                      <p:to>
                                        <p:strVal val="visible"/>
                                      </p:to>
                                    </p:set>
                                    <p:animEffect transition="in" filter="wipe(left)">
                                      <p:cBhvr>
                                        <p:cTn id="103" dur="250"/>
                                        <p:tgtEl>
                                          <p:spTgt spid="25"/>
                                        </p:tgtEl>
                                      </p:cBhvr>
                                    </p:animEffect>
                                  </p:childTnLst>
                                </p:cTn>
                              </p:par>
                              <p:par>
                                <p:cTn id="104" presetID="42" presetClass="entr" presetSubtype="0" fill="hold" nodeType="withEffect">
                                  <p:stCondLst>
                                    <p:cond delay="134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450"/>
                                        <p:tgtEl>
                                          <p:spTgt spid="26"/>
                                        </p:tgtEl>
                                      </p:cBhvr>
                                    </p:animEffect>
                                    <p:anim calcmode="lin" valueType="num">
                                      <p:cBhvr additive="base">
                                        <p:cTn id="107" dur="450" fill="hold"/>
                                        <p:tgtEl>
                                          <p:spTgt spid="26"/>
                                        </p:tgtEl>
                                        <p:attrNameLst>
                                          <p:attrName>ppt_x</p:attrName>
                                        </p:attrNameLst>
                                      </p:cBhvr>
                                      <p:tavLst>
                                        <p:tav tm="0">
                                          <p:val>
                                            <p:strVal val="#ppt_x"/>
                                          </p:val>
                                        </p:tav>
                                        <p:tav tm="100000">
                                          <p:val>
                                            <p:strVal val="#ppt_x"/>
                                          </p:val>
                                        </p:tav>
                                      </p:tavLst>
                                    </p:anim>
                                    <p:anim calcmode="lin" valueType="num">
                                      <p:cBhvr additive="base">
                                        <p:cTn id="108" dur="450" fill="hold"/>
                                        <p:tgtEl>
                                          <p:spTgt spid="26"/>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134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450"/>
                                        <p:tgtEl>
                                          <p:spTgt spid="27"/>
                                        </p:tgtEl>
                                      </p:cBhvr>
                                    </p:animEffect>
                                    <p:anim calcmode="lin" valueType="num">
                                      <p:cBhvr additive="base">
                                        <p:cTn id="112" dur="450" fill="hold"/>
                                        <p:tgtEl>
                                          <p:spTgt spid="27"/>
                                        </p:tgtEl>
                                        <p:attrNameLst>
                                          <p:attrName>ppt_x</p:attrName>
                                        </p:attrNameLst>
                                      </p:cBhvr>
                                      <p:tavLst>
                                        <p:tav tm="0">
                                          <p:val>
                                            <p:strVal val="#ppt_x"/>
                                          </p:val>
                                        </p:tav>
                                        <p:tav tm="100000">
                                          <p:val>
                                            <p:strVal val="#ppt_x"/>
                                          </p:val>
                                        </p:tav>
                                      </p:tavLst>
                                    </p:anim>
                                    <p:anim calcmode="lin" valueType="num">
                                      <p:cBhvr additive="base">
                                        <p:cTn id="113" dur="450" fill="hold"/>
                                        <p:tgtEl>
                                          <p:spTgt spid="27"/>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1340"/>
                                  </p:stCondLst>
                                  <p:childTnLst>
                                    <p:set>
                                      <p:cBhvr>
                                        <p:cTn id="115" dur="1" fill="hold">
                                          <p:stCondLst>
                                            <p:cond delay="0"/>
                                          </p:stCondLst>
                                        </p:cTn>
                                        <p:tgtEl>
                                          <p:spTgt spid="28"/>
                                        </p:tgtEl>
                                        <p:attrNameLst>
                                          <p:attrName>style.visibility</p:attrName>
                                        </p:attrNameLst>
                                      </p:cBhvr>
                                      <p:to>
                                        <p:strVal val="visible"/>
                                      </p:to>
                                    </p:set>
                                    <p:animEffect transition="in" filter="fade">
                                      <p:cBhvr>
                                        <p:cTn id="116" dur="450"/>
                                        <p:tgtEl>
                                          <p:spTgt spid="28"/>
                                        </p:tgtEl>
                                      </p:cBhvr>
                                    </p:animEffect>
                                    <p:anim calcmode="lin" valueType="num">
                                      <p:cBhvr additive="base">
                                        <p:cTn id="117" dur="450" fill="hold"/>
                                        <p:tgtEl>
                                          <p:spTgt spid="28"/>
                                        </p:tgtEl>
                                        <p:attrNameLst>
                                          <p:attrName>ppt_x</p:attrName>
                                        </p:attrNameLst>
                                      </p:cBhvr>
                                      <p:tavLst>
                                        <p:tav tm="0">
                                          <p:val>
                                            <p:strVal val="#ppt_x"/>
                                          </p:val>
                                        </p:tav>
                                        <p:tav tm="100000">
                                          <p:val>
                                            <p:strVal val="#ppt_x"/>
                                          </p:val>
                                        </p:tav>
                                      </p:tavLst>
                                    </p:anim>
                                    <p:anim calcmode="lin" valueType="num">
                                      <p:cBhvr additive="base">
                                        <p:cTn id="118" dur="450" fill="hold"/>
                                        <p:tgtEl>
                                          <p:spTgt spid="28"/>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1340"/>
                                  </p:stCondLst>
                                  <p:childTnLst>
                                    <p:set>
                                      <p:cBhvr>
                                        <p:cTn id="120" dur="1" fill="hold">
                                          <p:stCondLst>
                                            <p:cond delay="0"/>
                                          </p:stCondLst>
                                        </p:cTn>
                                        <p:tgtEl>
                                          <p:spTgt spid="29"/>
                                        </p:tgtEl>
                                        <p:attrNameLst>
                                          <p:attrName>style.visibility</p:attrName>
                                        </p:attrNameLst>
                                      </p:cBhvr>
                                      <p:to>
                                        <p:strVal val="visible"/>
                                      </p:to>
                                    </p:set>
                                    <p:animEffect transition="in" filter="fade">
                                      <p:cBhvr>
                                        <p:cTn id="121" dur="450"/>
                                        <p:tgtEl>
                                          <p:spTgt spid="29"/>
                                        </p:tgtEl>
                                      </p:cBhvr>
                                    </p:animEffect>
                                    <p:anim calcmode="lin" valueType="num">
                                      <p:cBhvr additive="base">
                                        <p:cTn id="122" dur="450" fill="hold"/>
                                        <p:tgtEl>
                                          <p:spTgt spid="29"/>
                                        </p:tgtEl>
                                        <p:attrNameLst>
                                          <p:attrName>ppt_x</p:attrName>
                                        </p:attrNameLst>
                                      </p:cBhvr>
                                      <p:tavLst>
                                        <p:tav tm="0">
                                          <p:val>
                                            <p:strVal val="#ppt_x"/>
                                          </p:val>
                                        </p:tav>
                                        <p:tav tm="100000">
                                          <p:val>
                                            <p:strVal val="#ppt_x"/>
                                          </p:val>
                                        </p:tav>
                                      </p:tavLst>
                                    </p:anim>
                                    <p:anim calcmode="lin" valueType="num">
                                      <p:cBhvr additive="base">
                                        <p:cTn id="123" dur="450" fill="hold"/>
                                        <p:tgtEl>
                                          <p:spTgt spid="29"/>
                                        </p:tgtEl>
                                        <p:attrNameLst>
                                          <p:attrName>ppt_y</p:attrName>
                                        </p:attrNameLst>
                                      </p:cBhvr>
                                      <p:tavLst>
                                        <p:tav tm="0">
                                          <p:val>
                                            <p:strVal val="#ppt_y+.1"/>
                                          </p:val>
                                        </p:tav>
                                        <p:tav tm="100000">
                                          <p:val>
                                            <p:strVal val="#ppt_y"/>
                                          </p:val>
                                        </p:tav>
                                      </p:tavLst>
                                    </p:anim>
                                  </p:childTnLst>
                                </p:cTn>
                              </p:par>
                              <p:par>
                                <p:cTn id="124" presetID="42" presetClass="entr" presetSubtype="0" fill="hold" nodeType="withEffect">
                                  <p:stCondLst>
                                    <p:cond delay="1340"/>
                                  </p:stCondLst>
                                  <p:childTnLst>
                                    <p:set>
                                      <p:cBhvr>
                                        <p:cTn id="125" dur="1" fill="hold">
                                          <p:stCondLst>
                                            <p:cond delay="0"/>
                                          </p:stCondLst>
                                        </p:cTn>
                                        <p:tgtEl>
                                          <p:spTgt spid="30"/>
                                        </p:tgtEl>
                                        <p:attrNameLst>
                                          <p:attrName>style.visibility</p:attrName>
                                        </p:attrNameLst>
                                      </p:cBhvr>
                                      <p:to>
                                        <p:strVal val="visible"/>
                                      </p:to>
                                    </p:set>
                                    <p:animEffect transition="in" filter="fade">
                                      <p:cBhvr>
                                        <p:cTn id="126" dur="450"/>
                                        <p:tgtEl>
                                          <p:spTgt spid="30"/>
                                        </p:tgtEl>
                                      </p:cBhvr>
                                    </p:animEffect>
                                    <p:anim calcmode="lin" valueType="num">
                                      <p:cBhvr additive="base">
                                        <p:cTn id="127" dur="450" fill="hold"/>
                                        <p:tgtEl>
                                          <p:spTgt spid="30"/>
                                        </p:tgtEl>
                                        <p:attrNameLst>
                                          <p:attrName>ppt_x</p:attrName>
                                        </p:attrNameLst>
                                      </p:cBhvr>
                                      <p:tavLst>
                                        <p:tav tm="0">
                                          <p:val>
                                            <p:strVal val="#ppt_x"/>
                                          </p:val>
                                        </p:tav>
                                        <p:tav tm="100000">
                                          <p:val>
                                            <p:strVal val="#ppt_x"/>
                                          </p:val>
                                        </p:tav>
                                      </p:tavLst>
                                    </p:anim>
                                    <p:anim calcmode="lin" valueType="num">
                                      <p:cBhvr additive="base">
                                        <p:cTn id="128" dur="450" fill="hold"/>
                                        <p:tgtEl>
                                          <p:spTgt spid="30"/>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1340"/>
                                  </p:stCondLst>
                                  <p:childTnLst>
                                    <p:set>
                                      <p:cBhvr>
                                        <p:cTn id="130" dur="1" fill="hold">
                                          <p:stCondLst>
                                            <p:cond delay="0"/>
                                          </p:stCondLst>
                                        </p:cTn>
                                        <p:tgtEl>
                                          <p:spTgt spid="31"/>
                                        </p:tgtEl>
                                        <p:attrNameLst>
                                          <p:attrName>style.visibility</p:attrName>
                                        </p:attrNameLst>
                                      </p:cBhvr>
                                      <p:to>
                                        <p:strVal val="visible"/>
                                      </p:to>
                                    </p:set>
                                    <p:animEffect transition="in" filter="fade">
                                      <p:cBhvr>
                                        <p:cTn id="131" dur="450"/>
                                        <p:tgtEl>
                                          <p:spTgt spid="31"/>
                                        </p:tgtEl>
                                      </p:cBhvr>
                                    </p:animEffect>
                                    <p:anim calcmode="lin" valueType="num">
                                      <p:cBhvr additive="base">
                                        <p:cTn id="132" dur="450" fill="hold"/>
                                        <p:tgtEl>
                                          <p:spTgt spid="31"/>
                                        </p:tgtEl>
                                        <p:attrNameLst>
                                          <p:attrName>ppt_x</p:attrName>
                                        </p:attrNameLst>
                                      </p:cBhvr>
                                      <p:tavLst>
                                        <p:tav tm="0">
                                          <p:val>
                                            <p:strVal val="#ppt_x"/>
                                          </p:val>
                                        </p:tav>
                                        <p:tav tm="100000">
                                          <p:val>
                                            <p:strVal val="#ppt_x"/>
                                          </p:val>
                                        </p:tav>
                                      </p:tavLst>
                                    </p:anim>
                                    <p:anim calcmode="lin" valueType="num">
                                      <p:cBhvr additive="base">
                                        <p:cTn id="133" dur="450" fill="hold"/>
                                        <p:tgtEl>
                                          <p:spTgt spid="31"/>
                                        </p:tgtEl>
                                        <p:attrNameLst>
                                          <p:attrName>ppt_y</p:attrName>
                                        </p:attrNameLst>
                                      </p:cBhvr>
                                      <p:tavLst>
                                        <p:tav tm="0">
                                          <p:val>
                                            <p:strVal val="#ppt_y+.1"/>
                                          </p:val>
                                        </p:tav>
                                        <p:tav tm="100000">
                                          <p:val>
                                            <p:strVal val="#ppt_y"/>
                                          </p:val>
                                        </p:tav>
                                      </p:tavLst>
                                    </p:anim>
                                  </p:childTnLst>
                                </p:cTn>
                              </p:par>
                              <p:par>
                                <p:cTn id="134" presetID="22" presetClass="entr" presetSubtype="8" fill="hold" nodeType="withEffect">
                                  <p:stCondLst>
                                    <p:cond delay="1660"/>
                                  </p:stCondLst>
                                  <p:childTnLst>
                                    <p:set>
                                      <p:cBhvr>
                                        <p:cTn id="135" dur="1" fill="hold">
                                          <p:stCondLst>
                                            <p:cond delay="0"/>
                                          </p:stCondLst>
                                        </p:cTn>
                                        <p:tgtEl>
                                          <p:spTgt spid="32"/>
                                        </p:tgtEl>
                                        <p:attrNameLst>
                                          <p:attrName>style.visibility</p:attrName>
                                        </p:attrNameLst>
                                      </p:cBhvr>
                                      <p:to>
                                        <p:strVal val="visible"/>
                                      </p:to>
                                    </p:set>
                                    <p:animEffect transition="in" filter="wipe(left)">
                                      <p:cBhvr>
                                        <p:cTn id="136" dur="250"/>
                                        <p:tgtEl>
                                          <p:spTgt spid="32"/>
                                        </p:tgtEl>
                                      </p:cBhvr>
                                    </p:animEffect>
                                  </p:childTnLst>
                                </p:cTn>
                              </p:par>
                              <p:par>
                                <p:cTn id="137" presetID="42" presetClass="entr" presetSubtype="0" fill="hold" nodeType="withEffect">
                                  <p:stCondLst>
                                    <p:cond delay="1720"/>
                                  </p:stCondLst>
                                  <p:childTnLst>
                                    <p:set>
                                      <p:cBhvr>
                                        <p:cTn id="138" dur="1" fill="hold">
                                          <p:stCondLst>
                                            <p:cond delay="0"/>
                                          </p:stCondLst>
                                        </p:cTn>
                                        <p:tgtEl>
                                          <p:spTgt spid="33"/>
                                        </p:tgtEl>
                                        <p:attrNameLst>
                                          <p:attrName>style.visibility</p:attrName>
                                        </p:attrNameLst>
                                      </p:cBhvr>
                                      <p:to>
                                        <p:strVal val="visible"/>
                                      </p:to>
                                    </p:set>
                                    <p:animEffect transition="in" filter="fade">
                                      <p:cBhvr>
                                        <p:cTn id="139" dur="450"/>
                                        <p:tgtEl>
                                          <p:spTgt spid="33"/>
                                        </p:tgtEl>
                                      </p:cBhvr>
                                    </p:animEffect>
                                    <p:anim calcmode="lin" valueType="num">
                                      <p:cBhvr additive="base">
                                        <p:cTn id="140" dur="450" fill="hold"/>
                                        <p:tgtEl>
                                          <p:spTgt spid="33"/>
                                        </p:tgtEl>
                                        <p:attrNameLst>
                                          <p:attrName>ppt_x</p:attrName>
                                        </p:attrNameLst>
                                      </p:cBhvr>
                                      <p:tavLst>
                                        <p:tav tm="0">
                                          <p:val>
                                            <p:strVal val="#ppt_x"/>
                                          </p:val>
                                        </p:tav>
                                        <p:tav tm="100000">
                                          <p:val>
                                            <p:strVal val="#ppt_x"/>
                                          </p:val>
                                        </p:tav>
                                      </p:tavLst>
                                    </p:anim>
                                    <p:anim calcmode="lin" valueType="num">
                                      <p:cBhvr additive="base">
                                        <p:cTn id="141" dur="450" fill="hold"/>
                                        <p:tgtEl>
                                          <p:spTgt spid="33"/>
                                        </p:tgtEl>
                                        <p:attrNameLst>
                                          <p:attrName>ppt_y</p:attrName>
                                        </p:attrNameLst>
                                      </p:cBhvr>
                                      <p:tavLst>
                                        <p:tav tm="0">
                                          <p:val>
                                            <p:strVal val="#ppt_y+.1"/>
                                          </p:val>
                                        </p:tav>
                                        <p:tav tm="100000">
                                          <p:val>
                                            <p:strVal val="#ppt_y"/>
                                          </p:val>
                                        </p:tav>
                                      </p:tavLst>
                                    </p:anim>
                                  </p:childTnLst>
                                </p:cTn>
                              </p:par>
                              <p:par>
                                <p:cTn id="142" presetID="42" presetClass="entr" presetSubtype="0" fill="hold" nodeType="withEffect">
                                  <p:stCondLst>
                                    <p:cond delay="1720"/>
                                  </p:stCondLst>
                                  <p:childTnLst>
                                    <p:set>
                                      <p:cBhvr>
                                        <p:cTn id="143" dur="1" fill="hold">
                                          <p:stCondLst>
                                            <p:cond delay="0"/>
                                          </p:stCondLst>
                                        </p:cTn>
                                        <p:tgtEl>
                                          <p:spTgt spid="34"/>
                                        </p:tgtEl>
                                        <p:attrNameLst>
                                          <p:attrName>style.visibility</p:attrName>
                                        </p:attrNameLst>
                                      </p:cBhvr>
                                      <p:to>
                                        <p:strVal val="visible"/>
                                      </p:to>
                                    </p:set>
                                    <p:animEffect transition="in" filter="fade">
                                      <p:cBhvr>
                                        <p:cTn id="144" dur="450"/>
                                        <p:tgtEl>
                                          <p:spTgt spid="34"/>
                                        </p:tgtEl>
                                      </p:cBhvr>
                                    </p:animEffect>
                                    <p:anim calcmode="lin" valueType="num">
                                      <p:cBhvr additive="base">
                                        <p:cTn id="145" dur="450" fill="hold"/>
                                        <p:tgtEl>
                                          <p:spTgt spid="34"/>
                                        </p:tgtEl>
                                        <p:attrNameLst>
                                          <p:attrName>ppt_x</p:attrName>
                                        </p:attrNameLst>
                                      </p:cBhvr>
                                      <p:tavLst>
                                        <p:tav tm="0">
                                          <p:val>
                                            <p:strVal val="#ppt_x"/>
                                          </p:val>
                                        </p:tav>
                                        <p:tav tm="100000">
                                          <p:val>
                                            <p:strVal val="#ppt_x"/>
                                          </p:val>
                                        </p:tav>
                                      </p:tavLst>
                                    </p:anim>
                                    <p:anim calcmode="lin" valueType="num">
                                      <p:cBhvr additive="base">
                                        <p:cTn id="146" dur="450" fill="hold"/>
                                        <p:tgtEl>
                                          <p:spTgt spid="34"/>
                                        </p:tgtEl>
                                        <p:attrNameLst>
                                          <p:attrName>ppt_y</p:attrName>
                                        </p:attrNameLst>
                                      </p:cBhvr>
                                      <p:tavLst>
                                        <p:tav tm="0">
                                          <p:val>
                                            <p:strVal val="#ppt_y+.1"/>
                                          </p:val>
                                        </p:tav>
                                        <p:tav tm="100000">
                                          <p:val>
                                            <p:strVal val="#ppt_y"/>
                                          </p:val>
                                        </p:tav>
                                      </p:tavLst>
                                    </p:anim>
                                  </p:childTnLst>
                                </p:cTn>
                              </p:par>
                              <p:par>
                                <p:cTn id="147" presetID="42" presetClass="entr" presetSubtype="0" fill="hold" nodeType="withEffect">
                                  <p:stCondLst>
                                    <p:cond delay="1720"/>
                                  </p:stCondLst>
                                  <p:childTnLst>
                                    <p:set>
                                      <p:cBhvr>
                                        <p:cTn id="148" dur="1" fill="hold">
                                          <p:stCondLst>
                                            <p:cond delay="0"/>
                                          </p:stCondLst>
                                        </p:cTn>
                                        <p:tgtEl>
                                          <p:spTgt spid="35"/>
                                        </p:tgtEl>
                                        <p:attrNameLst>
                                          <p:attrName>style.visibility</p:attrName>
                                        </p:attrNameLst>
                                      </p:cBhvr>
                                      <p:to>
                                        <p:strVal val="visible"/>
                                      </p:to>
                                    </p:set>
                                    <p:animEffect transition="in" filter="fade">
                                      <p:cBhvr>
                                        <p:cTn id="149" dur="450"/>
                                        <p:tgtEl>
                                          <p:spTgt spid="35"/>
                                        </p:tgtEl>
                                      </p:cBhvr>
                                    </p:animEffect>
                                    <p:anim calcmode="lin" valueType="num">
                                      <p:cBhvr additive="base">
                                        <p:cTn id="150" dur="450" fill="hold"/>
                                        <p:tgtEl>
                                          <p:spTgt spid="35"/>
                                        </p:tgtEl>
                                        <p:attrNameLst>
                                          <p:attrName>ppt_x</p:attrName>
                                        </p:attrNameLst>
                                      </p:cBhvr>
                                      <p:tavLst>
                                        <p:tav tm="0">
                                          <p:val>
                                            <p:strVal val="#ppt_x"/>
                                          </p:val>
                                        </p:tav>
                                        <p:tav tm="100000">
                                          <p:val>
                                            <p:strVal val="#ppt_x"/>
                                          </p:val>
                                        </p:tav>
                                      </p:tavLst>
                                    </p:anim>
                                    <p:anim calcmode="lin" valueType="num">
                                      <p:cBhvr additive="base">
                                        <p:cTn id="151" dur="450" fill="hold"/>
                                        <p:tgtEl>
                                          <p:spTgt spid="35"/>
                                        </p:tgtEl>
                                        <p:attrNameLst>
                                          <p:attrName>ppt_y</p:attrName>
                                        </p:attrNameLst>
                                      </p:cBhvr>
                                      <p:tavLst>
                                        <p:tav tm="0">
                                          <p:val>
                                            <p:strVal val="#ppt_y+.1"/>
                                          </p:val>
                                        </p:tav>
                                        <p:tav tm="100000">
                                          <p:val>
                                            <p:strVal val="#ppt_y"/>
                                          </p:val>
                                        </p:tav>
                                      </p:tavLst>
                                    </p:anim>
                                  </p:childTnLst>
                                </p:cTn>
                              </p:par>
                              <p:par>
                                <p:cTn id="152" presetID="42" presetClass="entr" presetSubtype="0" fill="hold" nodeType="withEffect">
                                  <p:stCondLst>
                                    <p:cond delay="1720"/>
                                  </p:stCondLst>
                                  <p:childTnLst>
                                    <p:set>
                                      <p:cBhvr>
                                        <p:cTn id="153" dur="1" fill="hold">
                                          <p:stCondLst>
                                            <p:cond delay="0"/>
                                          </p:stCondLst>
                                        </p:cTn>
                                        <p:tgtEl>
                                          <p:spTgt spid="36"/>
                                        </p:tgtEl>
                                        <p:attrNameLst>
                                          <p:attrName>style.visibility</p:attrName>
                                        </p:attrNameLst>
                                      </p:cBhvr>
                                      <p:to>
                                        <p:strVal val="visible"/>
                                      </p:to>
                                    </p:set>
                                    <p:animEffect transition="in" filter="fade">
                                      <p:cBhvr>
                                        <p:cTn id="154" dur="450"/>
                                        <p:tgtEl>
                                          <p:spTgt spid="36"/>
                                        </p:tgtEl>
                                      </p:cBhvr>
                                    </p:animEffect>
                                    <p:anim calcmode="lin" valueType="num">
                                      <p:cBhvr additive="base">
                                        <p:cTn id="155" dur="450" fill="hold"/>
                                        <p:tgtEl>
                                          <p:spTgt spid="36"/>
                                        </p:tgtEl>
                                        <p:attrNameLst>
                                          <p:attrName>ppt_x</p:attrName>
                                        </p:attrNameLst>
                                      </p:cBhvr>
                                      <p:tavLst>
                                        <p:tav tm="0">
                                          <p:val>
                                            <p:strVal val="#ppt_x"/>
                                          </p:val>
                                        </p:tav>
                                        <p:tav tm="100000">
                                          <p:val>
                                            <p:strVal val="#ppt_x"/>
                                          </p:val>
                                        </p:tav>
                                      </p:tavLst>
                                    </p:anim>
                                    <p:anim calcmode="lin" valueType="num">
                                      <p:cBhvr additive="base">
                                        <p:cTn id="156" dur="450" fill="hold"/>
                                        <p:tgtEl>
                                          <p:spTgt spid="36"/>
                                        </p:tgtEl>
                                        <p:attrNameLst>
                                          <p:attrName>ppt_y</p:attrName>
                                        </p:attrNameLst>
                                      </p:cBhvr>
                                      <p:tavLst>
                                        <p:tav tm="0">
                                          <p:val>
                                            <p:strVal val="#ppt_y+.1"/>
                                          </p:val>
                                        </p:tav>
                                        <p:tav tm="100000">
                                          <p:val>
                                            <p:strVal val="#ppt_y"/>
                                          </p:val>
                                        </p:tav>
                                      </p:tavLst>
                                    </p:anim>
                                  </p:childTnLst>
                                </p:cTn>
                              </p:par>
                              <p:par>
                                <p:cTn id="157" presetID="42" presetClass="entr" presetSubtype="0" fill="hold" nodeType="withEffect">
                                  <p:stCondLst>
                                    <p:cond delay="1720"/>
                                  </p:stCondLst>
                                  <p:childTnLst>
                                    <p:set>
                                      <p:cBhvr>
                                        <p:cTn id="158" dur="1" fill="hold">
                                          <p:stCondLst>
                                            <p:cond delay="0"/>
                                          </p:stCondLst>
                                        </p:cTn>
                                        <p:tgtEl>
                                          <p:spTgt spid="37"/>
                                        </p:tgtEl>
                                        <p:attrNameLst>
                                          <p:attrName>style.visibility</p:attrName>
                                        </p:attrNameLst>
                                      </p:cBhvr>
                                      <p:to>
                                        <p:strVal val="visible"/>
                                      </p:to>
                                    </p:set>
                                    <p:animEffect transition="in" filter="fade">
                                      <p:cBhvr>
                                        <p:cTn id="159" dur="450"/>
                                        <p:tgtEl>
                                          <p:spTgt spid="37"/>
                                        </p:tgtEl>
                                      </p:cBhvr>
                                    </p:animEffect>
                                    <p:anim calcmode="lin" valueType="num">
                                      <p:cBhvr additive="base">
                                        <p:cTn id="160" dur="450" fill="hold"/>
                                        <p:tgtEl>
                                          <p:spTgt spid="37"/>
                                        </p:tgtEl>
                                        <p:attrNameLst>
                                          <p:attrName>ppt_x</p:attrName>
                                        </p:attrNameLst>
                                      </p:cBhvr>
                                      <p:tavLst>
                                        <p:tav tm="0">
                                          <p:val>
                                            <p:strVal val="#ppt_x"/>
                                          </p:val>
                                        </p:tav>
                                        <p:tav tm="100000">
                                          <p:val>
                                            <p:strVal val="#ppt_x"/>
                                          </p:val>
                                        </p:tav>
                                      </p:tavLst>
                                    </p:anim>
                                    <p:anim calcmode="lin" valueType="num">
                                      <p:cBhvr additive="base">
                                        <p:cTn id="161" dur="450" fill="hold"/>
                                        <p:tgtEl>
                                          <p:spTgt spid="37"/>
                                        </p:tgtEl>
                                        <p:attrNameLst>
                                          <p:attrName>ppt_y</p:attrName>
                                        </p:attrNameLst>
                                      </p:cBhvr>
                                      <p:tavLst>
                                        <p:tav tm="0">
                                          <p:val>
                                            <p:strVal val="#ppt_y+.1"/>
                                          </p:val>
                                        </p:tav>
                                        <p:tav tm="100000">
                                          <p:val>
                                            <p:strVal val="#ppt_y"/>
                                          </p:val>
                                        </p:tav>
                                      </p:tavLst>
                                    </p:anim>
                                  </p:childTnLst>
                                </p:cTn>
                              </p:par>
                              <p:par>
                                <p:cTn id="162" presetID="42" presetClass="entr" presetSubtype="0" fill="hold" nodeType="withEffect">
                                  <p:stCondLst>
                                    <p:cond delay="1720"/>
                                  </p:stCondLst>
                                  <p:childTnLst>
                                    <p:set>
                                      <p:cBhvr>
                                        <p:cTn id="163" dur="1" fill="hold">
                                          <p:stCondLst>
                                            <p:cond delay="0"/>
                                          </p:stCondLst>
                                        </p:cTn>
                                        <p:tgtEl>
                                          <p:spTgt spid="38"/>
                                        </p:tgtEl>
                                        <p:attrNameLst>
                                          <p:attrName>style.visibility</p:attrName>
                                        </p:attrNameLst>
                                      </p:cBhvr>
                                      <p:to>
                                        <p:strVal val="visible"/>
                                      </p:to>
                                    </p:set>
                                    <p:animEffect transition="in" filter="fade">
                                      <p:cBhvr>
                                        <p:cTn id="164" dur="450"/>
                                        <p:tgtEl>
                                          <p:spTgt spid="38"/>
                                        </p:tgtEl>
                                      </p:cBhvr>
                                    </p:animEffect>
                                    <p:anim calcmode="lin" valueType="num">
                                      <p:cBhvr additive="base">
                                        <p:cTn id="165" dur="450" fill="hold"/>
                                        <p:tgtEl>
                                          <p:spTgt spid="38"/>
                                        </p:tgtEl>
                                        <p:attrNameLst>
                                          <p:attrName>ppt_x</p:attrName>
                                        </p:attrNameLst>
                                      </p:cBhvr>
                                      <p:tavLst>
                                        <p:tav tm="0">
                                          <p:val>
                                            <p:strVal val="#ppt_x"/>
                                          </p:val>
                                        </p:tav>
                                        <p:tav tm="100000">
                                          <p:val>
                                            <p:strVal val="#ppt_x"/>
                                          </p:val>
                                        </p:tav>
                                      </p:tavLst>
                                    </p:anim>
                                    <p:anim calcmode="lin" valueType="num">
                                      <p:cBhvr additive="base">
                                        <p:cTn id="166" dur="450" fill="hold"/>
                                        <p:tgtEl>
                                          <p:spTgt spid="38"/>
                                        </p:tgtEl>
                                        <p:attrNameLst>
                                          <p:attrName>ppt_y</p:attrName>
                                        </p:attrNameLst>
                                      </p:cBhvr>
                                      <p:tavLst>
                                        <p:tav tm="0">
                                          <p:val>
                                            <p:strVal val="#ppt_y+.1"/>
                                          </p:val>
                                        </p:tav>
                                        <p:tav tm="100000">
                                          <p:val>
                                            <p:strVal val="#ppt_y"/>
                                          </p:val>
                                        </p:tav>
                                      </p:tavLst>
                                    </p:anim>
                                  </p:childTnLst>
                                </p:cTn>
                              </p:par>
                              <p:par>
                                <p:cTn id="167" presetID="22" presetClass="entr" presetSubtype="8" fill="hold" nodeType="withEffect">
                                  <p:stCondLst>
                                    <p:cond delay="2040"/>
                                  </p:stCondLst>
                                  <p:childTnLst>
                                    <p:set>
                                      <p:cBhvr>
                                        <p:cTn id="168" dur="1" fill="hold">
                                          <p:stCondLst>
                                            <p:cond delay="0"/>
                                          </p:stCondLst>
                                        </p:cTn>
                                        <p:tgtEl>
                                          <p:spTgt spid="39"/>
                                        </p:tgtEl>
                                        <p:attrNameLst>
                                          <p:attrName>style.visibility</p:attrName>
                                        </p:attrNameLst>
                                      </p:cBhvr>
                                      <p:to>
                                        <p:strVal val="visible"/>
                                      </p:to>
                                    </p:set>
                                    <p:animEffect transition="in" filter="wipe(left)">
                                      <p:cBhvr>
                                        <p:cTn id="169" dur="250"/>
                                        <p:tgtEl>
                                          <p:spTgt spid="39"/>
                                        </p:tgtEl>
                                      </p:cBhvr>
                                    </p:animEffect>
                                  </p:childTnLst>
                                </p:cTn>
                              </p:par>
                              <p:par>
                                <p:cTn id="170" presetID="42" presetClass="entr" presetSubtype="0" fill="hold" nodeType="withEffect">
                                  <p:stCondLst>
                                    <p:cond delay="2100"/>
                                  </p:stCondLst>
                                  <p:childTnLst>
                                    <p:set>
                                      <p:cBhvr>
                                        <p:cTn id="171" dur="1" fill="hold">
                                          <p:stCondLst>
                                            <p:cond delay="0"/>
                                          </p:stCondLst>
                                        </p:cTn>
                                        <p:tgtEl>
                                          <p:spTgt spid="40"/>
                                        </p:tgtEl>
                                        <p:attrNameLst>
                                          <p:attrName>style.visibility</p:attrName>
                                        </p:attrNameLst>
                                      </p:cBhvr>
                                      <p:to>
                                        <p:strVal val="visible"/>
                                      </p:to>
                                    </p:set>
                                    <p:animEffect transition="in" filter="fade">
                                      <p:cBhvr>
                                        <p:cTn id="172" dur="450"/>
                                        <p:tgtEl>
                                          <p:spTgt spid="40"/>
                                        </p:tgtEl>
                                      </p:cBhvr>
                                    </p:animEffect>
                                    <p:anim calcmode="lin" valueType="num">
                                      <p:cBhvr additive="base">
                                        <p:cTn id="173" dur="450" fill="hold"/>
                                        <p:tgtEl>
                                          <p:spTgt spid="40"/>
                                        </p:tgtEl>
                                        <p:attrNameLst>
                                          <p:attrName>ppt_x</p:attrName>
                                        </p:attrNameLst>
                                      </p:cBhvr>
                                      <p:tavLst>
                                        <p:tav tm="0">
                                          <p:val>
                                            <p:strVal val="#ppt_x"/>
                                          </p:val>
                                        </p:tav>
                                        <p:tav tm="100000">
                                          <p:val>
                                            <p:strVal val="#ppt_x"/>
                                          </p:val>
                                        </p:tav>
                                      </p:tavLst>
                                    </p:anim>
                                    <p:anim calcmode="lin" valueType="num">
                                      <p:cBhvr additive="base">
                                        <p:cTn id="174" dur="450" fill="hold"/>
                                        <p:tgtEl>
                                          <p:spTgt spid="40"/>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2100"/>
                                  </p:stCondLst>
                                  <p:childTnLst>
                                    <p:set>
                                      <p:cBhvr>
                                        <p:cTn id="176" dur="1" fill="hold">
                                          <p:stCondLst>
                                            <p:cond delay="0"/>
                                          </p:stCondLst>
                                        </p:cTn>
                                        <p:tgtEl>
                                          <p:spTgt spid="41"/>
                                        </p:tgtEl>
                                        <p:attrNameLst>
                                          <p:attrName>style.visibility</p:attrName>
                                        </p:attrNameLst>
                                      </p:cBhvr>
                                      <p:to>
                                        <p:strVal val="visible"/>
                                      </p:to>
                                    </p:set>
                                    <p:animEffect transition="in" filter="fade">
                                      <p:cBhvr>
                                        <p:cTn id="177" dur="450"/>
                                        <p:tgtEl>
                                          <p:spTgt spid="41"/>
                                        </p:tgtEl>
                                      </p:cBhvr>
                                    </p:animEffect>
                                    <p:anim calcmode="lin" valueType="num">
                                      <p:cBhvr additive="base">
                                        <p:cTn id="178" dur="450" fill="hold"/>
                                        <p:tgtEl>
                                          <p:spTgt spid="41"/>
                                        </p:tgtEl>
                                        <p:attrNameLst>
                                          <p:attrName>ppt_x</p:attrName>
                                        </p:attrNameLst>
                                      </p:cBhvr>
                                      <p:tavLst>
                                        <p:tav tm="0">
                                          <p:val>
                                            <p:strVal val="#ppt_x"/>
                                          </p:val>
                                        </p:tav>
                                        <p:tav tm="100000">
                                          <p:val>
                                            <p:strVal val="#ppt_x"/>
                                          </p:val>
                                        </p:tav>
                                      </p:tavLst>
                                    </p:anim>
                                    <p:anim calcmode="lin" valueType="num">
                                      <p:cBhvr additive="base">
                                        <p:cTn id="179" dur="450" fill="hold"/>
                                        <p:tgtEl>
                                          <p:spTgt spid="41"/>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2100"/>
                                  </p:stCondLst>
                                  <p:childTnLst>
                                    <p:set>
                                      <p:cBhvr>
                                        <p:cTn id="181" dur="1" fill="hold">
                                          <p:stCondLst>
                                            <p:cond delay="0"/>
                                          </p:stCondLst>
                                        </p:cTn>
                                        <p:tgtEl>
                                          <p:spTgt spid="42"/>
                                        </p:tgtEl>
                                        <p:attrNameLst>
                                          <p:attrName>style.visibility</p:attrName>
                                        </p:attrNameLst>
                                      </p:cBhvr>
                                      <p:to>
                                        <p:strVal val="visible"/>
                                      </p:to>
                                    </p:set>
                                    <p:animEffect transition="in" filter="fade">
                                      <p:cBhvr>
                                        <p:cTn id="182" dur="450"/>
                                        <p:tgtEl>
                                          <p:spTgt spid="42"/>
                                        </p:tgtEl>
                                      </p:cBhvr>
                                    </p:animEffect>
                                    <p:anim calcmode="lin" valueType="num">
                                      <p:cBhvr additive="base">
                                        <p:cTn id="183" dur="450" fill="hold"/>
                                        <p:tgtEl>
                                          <p:spTgt spid="42"/>
                                        </p:tgtEl>
                                        <p:attrNameLst>
                                          <p:attrName>ppt_x</p:attrName>
                                        </p:attrNameLst>
                                      </p:cBhvr>
                                      <p:tavLst>
                                        <p:tav tm="0">
                                          <p:val>
                                            <p:strVal val="#ppt_x"/>
                                          </p:val>
                                        </p:tav>
                                        <p:tav tm="100000">
                                          <p:val>
                                            <p:strVal val="#ppt_x"/>
                                          </p:val>
                                        </p:tav>
                                      </p:tavLst>
                                    </p:anim>
                                    <p:anim calcmode="lin" valueType="num">
                                      <p:cBhvr additive="base">
                                        <p:cTn id="184" dur="450" fill="hold"/>
                                        <p:tgtEl>
                                          <p:spTgt spid="42"/>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2100"/>
                                  </p:stCondLst>
                                  <p:childTnLst>
                                    <p:set>
                                      <p:cBhvr>
                                        <p:cTn id="186" dur="1" fill="hold">
                                          <p:stCondLst>
                                            <p:cond delay="0"/>
                                          </p:stCondLst>
                                        </p:cTn>
                                        <p:tgtEl>
                                          <p:spTgt spid="43"/>
                                        </p:tgtEl>
                                        <p:attrNameLst>
                                          <p:attrName>style.visibility</p:attrName>
                                        </p:attrNameLst>
                                      </p:cBhvr>
                                      <p:to>
                                        <p:strVal val="visible"/>
                                      </p:to>
                                    </p:set>
                                    <p:animEffect transition="in" filter="fade">
                                      <p:cBhvr>
                                        <p:cTn id="187" dur="450"/>
                                        <p:tgtEl>
                                          <p:spTgt spid="43"/>
                                        </p:tgtEl>
                                      </p:cBhvr>
                                    </p:animEffect>
                                    <p:anim calcmode="lin" valueType="num">
                                      <p:cBhvr additive="base">
                                        <p:cTn id="188" dur="450" fill="hold"/>
                                        <p:tgtEl>
                                          <p:spTgt spid="43"/>
                                        </p:tgtEl>
                                        <p:attrNameLst>
                                          <p:attrName>ppt_x</p:attrName>
                                        </p:attrNameLst>
                                      </p:cBhvr>
                                      <p:tavLst>
                                        <p:tav tm="0">
                                          <p:val>
                                            <p:strVal val="#ppt_x"/>
                                          </p:val>
                                        </p:tav>
                                        <p:tav tm="100000">
                                          <p:val>
                                            <p:strVal val="#ppt_x"/>
                                          </p:val>
                                        </p:tav>
                                      </p:tavLst>
                                    </p:anim>
                                    <p:anim calcmode="lin" valueType="num">
                                      <p:cBhvr additive="base">
                                        <p:cTn id="189" dur="450" fill="hold"/>
                                        <p:tgtEl>
                                          <p:spTgt spid="43"/>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2100"/>
                                  </p:stCondLst>
                                  <p:childTnLst>
                                    <p:set>
                                      <p:cBhvr>
                                        <p:cTn id="191" dur="1" fill="hold">
                                          <p:stCondLst>
                                            <p:cond delay="0"/>
                                          </p:stCondLst>
                                        </p:cTn>
                                        <p:tgtEl>
                                          <p:spTgt spid="44"/>
                                        </p:tgtEl>
                                        <p:attrNameLst>
                                          <p:attrName>style.visibility</p:attrName>
                                        </p:attrNameLst>
                                      </p:cBhvr>
                                      <p:to>
                                        <p:strVal val="visible"/>
                                      </p:to>
                                    </p:set>
                                    <p:animEffect transition="in" filter="fade">
                                      <p:cBhvr>
                                        <p:cTn id="192" dur="450"/>
                                        <p:tgtEl>
                                          <p:spTgt spid="44"/>
                                        </p:tgtEl>
                                      </p:cBhvr>
                                    </p:animEffect>
                                    <p:anim calcmode="lin" valueType="num">
                                      <p:cBhvr additive="base">
                                        <p:cTn id="193" dur="450" fill="hold"/>
                                        <p:tgtEl>
                                          <p:spTgt spid="44"/>
                                        </p:tgtEl>
                                        <p:attrNameLst>
                                          <p:attrName>ppt_x</p:attrName>
                                        </p:attrNameLst>
                                      </p:cBhvr>
                                      <p:tavLst>
                                        <p:tav tm="0">
                                          <p:val>
                                            <p:strVal val="#ppt_x"/>
                                          </p:val>
                                        </p:tav>
                                        <p:tav tm="100000">
                                          <p:val>
                                            <p:strVal val="#ppt_x"/>
                                          </p:val>
                                        </p:tav>
                                      </p:tavLst>
                                    </p:anim>
                                    <p:anim calcmode="lin" valueType="num">
                                      <p:cBhvr additive="base">
                                        <p:cTn id="194" dur="450" fill="hold"/>
                                        <p:tgtEl>
                                          <p:spTgt spid="44"/>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2100"/>
                                  </p:stCondLst>
                                  <p:childTnLst>
                                    <p:set>
                                      <p:cBhvr>
                                        <p:cTn id="196" dur="1" fill="hold">
                                          <p:stCondLst>
                                            <p:cond delay="0"/>
                                          </p:stCondLst>
                                        </p:cTn>
                                        <p:tgtEl>
                                          <p:spTgt spid="45"/>
                                        </p:tgtEl>
                                        <p:attrNameLst>
                                          <p:attrName>style.visibility</p:attrName>
                                        </p:attrNameLst>
                                      </p:cBhvr>
                                      <p:to>
                                        <p:strVal val="visible"/>
                                      </p:to>
                                    </p:set>
                                    <p:animEffect transition="in" filter="fade">
                                      <p:cBhvr>
                                        <p:cTn id="197" dur="450"/>
                                        <p:tgtEl>
                                          <p:spTgt spid="45"/>
                                        </p:tgtEl>
                                      </p:cBhvr>
                                    </p:animEffect>
                                    <p:anim calcmode="lin" valueType="num">
                                      <p:cBhvr additive="base">
                                        <p:cTn id="198" dur="450" fill="hold"/>
                                        <p:tgtEl>
                                          <p:spTgt spid="45"/>
                                        </p:tgtEl>
                                        <p:attrNameLst>
                                          <p:attrName>ppt_x</p:attrName>
                                        </p:attrNameLst>
                                      </p:cBhvr>
                                      <p:tavLst>
                                        <p:tav tm="0">
                                          <p:val>
                                            <p:strVal val="#ppt_x"/>
                                          </p:val>
                                        </p:tav>
                                        <p:tav tm="100000">
                                          <p:val>
                                            <p:strVal val="#ppt_x"/>
                                          </p:val>
                                        </p:tav>
                                      </p:tavLst>
                                    </p:anim>
                                    <p:anim calcmode="lin" valueType="num">
                                      <p:cBhvr additive="base">
                                        <p:cTn id="199" dur="450" fill="hold"/>
                                        <p:tgtEl>
                                          <p:spTgt spid="45"/>
                                        </p:tgtEl>
                                        <p:attrNameLst>
                                          <p:attrName>ppt_y</p:attrName>
                                        </p:attrNameLst>
                                      </p:cBhvr>
                                      <p:tavLst>
                                        <p:tav tm="0">
                                          <p:val>
                                            <p:strVal val="#ppt_y+.1"/>
                                          </p:val>
                                        </p:tav>
                                        <p:tav tm="100000">
                                          <p:val>
                                            <p:strVal val="#ppt_y"/>
                                          </p:val>
                                        </p:tav>
                                      </p:tavLst>
                                    </p:anim>
                                  </p:childTnLst>
                                </p:cTn>
                              </p:par>
                              <p:par>
                                <p:cTn id="200" presetID="10" presetClass="entr" presetSubtype="0" fill="hold" nodeType="withEffect">
                                  <p:stCondLst>
                                    <p:cond delay="2700"/>
                                  </p:stCondLst>
                                  <p:childTnLst>
                                    <p:set>
                                      <p:cBhvr>
                                        <p:cTn id="201" dur="1" fill="hold">
                                          <p:stCondLst>
                                            <p:cond delay="0"/>
                                          </p:stCondLst>
                                        </p:cTn>
                                        <p:tgtEl>
                                          <p:spTgt spid="46"/>
                                        </p:tgtEl>
                                        <p:attrNameLst>
                                          <p:attrName>style.visibility</p:attrName>
                                        </p:attrNameLst>
                                      </p:cBhvr>
                                      <p:to>
                                        <p:strVal val="visible"/>
                                      </p:to>
                                    </p:set>
                                    <p:animEffect transition="in" filter="fade">
                                      <p:cBhvr>
                                        <p:cTn id="202" dur="600"/>
                                        <p:tgtEl>
                                          <p:spTgt spid="46"/>
                                        </p:tgtEl>
                                      </p:cBhvr>
                                    </p:animEffect>
                                  </p:childTnLst>
                                </p:cTn>
                              </p:par>
                              <p:par>
                                <p:cTn id="203" presetID="10" presetClass="entr" presetSubtype="0" fill="hold" nodeType="withEffect">
                                  <p:stCondLst>
                                    <p:cond delay="2700"/>
                                  </p:stCondLst>
                                  <p:childTnLst>
                                    <p:set>
                                      <p:cBhvr>
                                        <p:cTn id="204" dur="1" fill="hold">
                                          <p:stCondLst>
                                            <p:cond delay="0"/>
                                          </p:stCondLst>
                                        </p:cTn>
                                        <p:tgtEl>
                                          <p:spTgt spid="47"/>
                                        </p:tgtEl>
                                        <p:attrNameLst>
                                          <p:attrName>style.visibility</p:attrName>
                                        </p:attrNameLst>
                                      </p:cBhvr>
                                      <p:to>
                                        <p:strVal val="visible"/>
                                      </p:to>
                                    </p:set>
                                    <p:animEffect transition="in" filter="fade">
                                      <p:cBhvr>
                                        <p:cTn id="205" dur="6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07  ·  EXPLAINABLE AI</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Every risk score shows its working</a:t>
            </a:r>
            <a:endParaRPr lang="en-US" sz="3400" dirty="0"/>
          </a:p>
        </p:txBody>
      </p:sp>
      <p:graphicFrame>
        <p:nvGraphicFramePr>
          <p:cNvPr id="5" name="donut__1" descr=""/>
          <p:cNvGraphicFramePr/>
          <p:nvPr/>
        </p:nvGraphicFramePr>
        <p:xfrm>
          <a:off x="548640" y="1600200"/>
          <a:ext cx="3840480" cy="3429000"/>
        </p:xfrm>
        <a:graphic xmlns:a="http://schemas.openxmlformats.org/drawingml/2006/main">
          <a:graphicData uri="http://schemas.openxmlformats.org/drawingml/2006/chart">
            <c:chart xmlns:c="http://schemas.openxmlformats.org/drawingml/2006/chart" r:id="rId2"/>
          </a:graphicData>
        </a:graphic>
      </p:graphicFrame>
      <p:sp>
        <p:nvSpPr>
          <p:cNvPr id="6" name="donutC__1"/>
          <p:cNvSpPr txBox="1"/>
          <p:nvPr/>
        </p:nvSpPr>
        <p:spPr>
          <a:xfrm>
            <a:off x="1325880" y="2880360"/>
            <a:ext cx="2286000" cy="868680"/>
          </a:xfrm>
          <a:prstGeom prst="rect">
            <a:avLst/>
          </a:prstGeom>
          <a:noFill/>
          <a:ln/>
        </p:spPr>
        <p:txBody>
          <a:bodyPr wrap="square" lIns="0" tIns="0" rIns="0" bIns="0" rtlCol="0" anchor="ctr"/>
          <a:lstStyle/>
          <a:p>
            <a:pPr algn="ctr" indent="0" marL="0">
              <a:buNone/>
            </a:pPr>
            <a:r>
              <a:rPr lang="en-US" sz="3000" b="1" dirty="0">
                <a:solidFill>
                  <a:srgbClr val="F1F5FB"/>
                </a:solidFill>
                <a:latin typeface="Arial" pitchFamily="34" charset="0"/>
                <a:ea typeface="Arial" pitchFamily="34" charset="-122"/>
                <a:cs typeface="Arial" pitchFamily="34" charset="-120"/>
              </a:rPr>
              <a:t>0–100</a:t>
            </a:r>
            <a:endParaRPr lang="en-US" sz="3000" dirty="0"/>
          </a:p>
          <a:p>
            <a:pPr algn="ctr" indent="0" marL="0">
              <a:buNone/>
            </a:pPr>
            <a:r>
              <a:rPr lang="en-US" sz="1300" dirty="0">
                <a:solidFill>
                  <a:srgbClr val="9AABC4"/>
                </a:solidFill>
                <a:latin typeface="Calibri" pitchFamily="34" charset="0"/>
                <a:ea typeface="Calibri" pitchFamily="34" charset="-122"/>
                <a:cs typeface="Calibri" pitchFamily="34" charset="-120"/>
              </a:rPr>
              <a:t>composite score</a:t>
            </a:r>
            <a:endParaRPr lang="en-US" sz="3000" dirty="0"/>
          </a:p>
        </p:txBody>
      </p:sp>
      <p:sp>
        <p:nvSpPr>
          <p:cNvPr id="7" name="leg__1"/>
          <p:cNvSpPr/>
          <p:nvPr/>
        </p:nvSpPr>
        <p:spPr>
          <a:xfrm>
            <a:off x="777240" y="5285232"/>
            <a:ext cx="164592" cy="164592"/>
          </a:xfrm>
          <a:prstGeom prst="ellipse">
            <a:avLst/>
          </a:prstGeom>
          <a:solidFill>
            <a:srgbClr val="38BDF8"/>
          </a:solidFill>
          <a:ln w="12700">
            <a:solidFill>
              <a:srgbClr val="38BDF8"/>
            </a:solidFill>
            <a:prstDash val="solid"/>
          </a:ln>
        </p:spPr>
      </p:sp>
      <p:sp>
        <p:nvSpPr>
          <p:cNvPr id="8" name="leg__2"/>
          <p:cNvSpPr txBox="1"/>
          <p:nvPr/>
        </p:nvSpPr>
        <p:spPr>
          <a:xfrm>
            <a:off x="1005840" y="5138928"/>
            <a:ext cx="1097280" cy="457200"/>
          </a:xfrm>
          <a:prstGeom prst="rect">
            <a:avLst/>
          </a:prstGeom>
          <a:noFill/>
          <a:ln/>
        </p:spPr>
        <p:txBody>
          <a:bodyPr wrap="square" lIns="0" tIns="0" rIns="0" bIns="0"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40% </a:t>
            </a:r>
            <a:pPr indent="0" marL="0">
              <a:buNone/>
            </a:pPr>
            <a:r>
              <a:rPr lang="en-US" sz="1200" dirty="0">
                <a:solidFill>
                  <a:srgbClr val="9AABC4"/>
                </a:solidFill>
                <a:latin typeface="Calibri" pitchFamily="34" charset="0"/>
                <a:ea typeface="Calibri" pitchFamily="34" charset="-122"/>
                <a:cs typeface="Calibri" pitchFamily="34" charset="-120"/>
              </a:rPr>
              <a:t>ML</a:t>
            </a:r>
            <a:endParaRPr lang="en-US" sz="1200" dirty="0"/>
          </a:p>
        </p:txBody>
      </p:sp>
      <p:sp>
        <p:nvSpPr>
          <p:cNvPr id="9" name="leg__3"/>
          <p:cNvSpPr/>
          <p:nvPr/>
        </p:nvSpPr>
        <p:spPr>
          <a:xfrm>
            <a:off x="1965960" y="5285232"/>
            <a:ext cx="164592" cy="164592"/>
          </a:xfrm>
          <a:prstGeom prst="ellipse">
            <a:avLst/>
          </a:prstGeom>
          <a:solidFill>
            <a:srgbClr val="A78BFA"/>
          </a:solidFill>
          <a:ln w="12700">
            <a:solidFill>
              <a:srgbClr val="A78BFA"/>
            </a:solidFill>
            <a:prstDash val="solid"/>
          </a:ln>
        </p:spPr>
      </p:sp>
      <p:sp>
        <p:nvSpPr>
          <p:cNvPr id="10" name="leg__4"/>
          <p:cNvSpPr txBox="1"/>
          <p:nvPr/>
        </p:nvSpPr>
        <p:spPr>
          <a:xfrm>
            <a:off x="2194560" y="5138928"/>
            <a:ext cx="1097280" cy="457200"/>
          </a:xfrm>
          <a:prstGeom prst="rect">
            <a:avLst/>
          </a:prstGeom>
          <a:noFill/>
          <a:ln/>
        </p:spPr>
        <p:txBody>
          <a:bodyPr wrap="square" lIns="0" tIns="0" rIns="0" bIns="0" rtlCol="0" anchor="ctr"/>
          <a:lstStyle/>
          <a:p>
            <a:pPr indent="0" marL="0">
              <a:buNone/>
            </a:pPr>
            <a:r>
              <a:rPr lang="en-US" sz="1200" b="1" dirty="0">
                <a:solidFill>
                  <a:srgbClr val="A78BFA"/>
                </a:solidFill>
                <a:latin typeface="Calibri" pitchFamily="34" charset="0"/>
                <a:ea typeface="Calibri" pitchFamily="34" charset="-122"/>
                <a:cs typeface="Calibri" pitchFamily="34" charset="-120"/>
              </a:rPr>
              <a:t>40% </a:t>
            </a:r>
            <a:pPr indent="0" marL="0">
              <a:buNone/>
            </a:pPr>
            <a:r>
              <a:rPr lang="en-US" sz="1200" dirty="0">
                <a:solidFill>
                  <a:srgbClr val="9AABC4"/>
                </a:solidFill>
                <a:latin typeface="Calibri" pitchFamily="34" charset="0"/>
                <a:ea typeface="Calibri" pitchFamily="34" charset="-122"/>
                <a:cs typeface="Calibri" pitchFamily="34" charset="-120"/>
              </a:rPr>
              <a:t>Graph</a:t>
            </a:r>
            <a:endParaRPr lang="en-US" sz="1200" dirty="0"/>
          </a:p>
        </p:txBody>
      </p:sp>
      <p:sp>
        <p:nvSpPr>
          <p:cNvPr id="11" name="leg__5"/>
          <p:cNvSpPr/>
          <p:nvPr/>
        </p:nvSpPr>
        <p:spPr>
          <a:xfrm>
            <a:off x="3154680" y="5285232"/>
            <a:ext cx="164592" cy="164592"/>
          </a:xfrm>
          <a:prstGeom prst="ellipse">
            <a:avLst/>
          </a:prstGeom>
          <a:solidFill>
            <a:srgbClr val="F5A524"/>
          </a:solidFill>
          <a:ln w="12700">
            <a:solidFill>
              <a:srgbClr val="F5A524"/>
            </a:solidFill>
            <a:prstDash val="solid"/>
          </a:ln>
        </p:spPr>
      </p:sp>
      <p:sp>
        <p:nvSpPr>
          <p:cNvPr id="12" name="leg__6"/>
          <p:cNvSpPr txBox="1"/>
          <p:nvPr/>
        </p:nvSpPr>
        <p:spPr>
          <a:xfrm>
            <a:off x="3383280" y="5138928"/>
            <a:ext cx="1097280" cy="457200"/>
          </a:xfrm>
          <a:prstGeom prst="rect">
            <a:avLst/>
          </a:prstGeom>
          <a:noFill/>
          <a:ln/>
        </p:spPr>
        <p:txBody>
          <a:bodyPr wrap="square" lIns="0" tIns="0" rIns="0" bIns="0" rtlCol="0" anchor="ctr"/>
          <a:lstStyle/>
          <a:p>
            <a:pPr indent="0" marL="0">
              <a:buNone/>
            </a:pPr>
            <a:r>
              <a:rPr lang="en-US" sz="1200" b="1" dirty="0">
                <a:solidFill>
                  <a:srgbClr val="F5A524"/>
                </a:solidFill>
                <a:latin typeface="Calibri" pitchFamily="34" charset="0"/>
                <a:ea typeface="Calibri" pitchFamily="34" charset="-122"/>
                <a:cs typeface="Calibri" pitchFamily="34" charset="-120"/>
              </a:rPr>
              <a:t>20% </a:t>
            </a:r>
            <a:pPr indent="0" marL="0">
              <a:buNone/>
            </a:pPr>
            <a:r>
              <a:rPr lang="en-US" sz="1200" dirty="0">
                <a:solidFill>
                  <a:srgbClr val="9AABC4"/>
                </a:solidFill>
                <a:latin typeface="Calibri" pitchFamily="34" charset="0"/>
                <a:ea typeface="Calibri" pitchFamily="34" charset="-122"/>
                <a:cs typeface="Calibri" pitchFamily="34" charset="-120"/>
              </a:rPr>
              <a:t>Behaviour</a:t>
            </a:r>
            <a:endParaRPr lang="en-US" sz="1200" dirty="0"/>
          </a:p>
        </p:txBody>
      </p:sp>
      <p:sp>
        <p:nvSpPr>
          <p:cNvPr id="13" name="form__1"/>
          <p:cNvSpPr/>
          <p:nvPr/>
        </p:nvSpPr>
        <p:spPr>
          <a:xfrm>
            <a:off x="4800600" y="1691640"/>
            <a:ext cx="6839712" cy="868680"/>
          </a:xfrm>
          <a:prstGeom prst="roundRect">
            <a:avLst>
              <a:gd name="adj" fmla="val 12632"/>
            </a:avLst>
          </a:prstGeom>
          <a:solidFill>
            <a:srgbClr val="13203A">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4" name="form__2"/>
          <p:cNvSpPr txBox="1"/>
          <p:nvPr/>
        </p:nvSpPr>
        <p:spPr>
          <a:xfrm>
            <a:off x="5029200" y="1691640"/>
            <a:ext cx="6492240" cy="868680"/>
          </a:xfrm>
          <a:prstGeom prst="rect">
            <a:avLst/>
          </a:prstGeom>
          <a:noFill/>
          <a:ln/>
        </p:spPr>
        <p:txBody>
          <a:bodyPr wrap="square" lIns="0" tIns="0" rIns="0" bIns="0" rtlCol="0" anchor="ctr"/>
          <a:lstStyle/>
          <a:p>
            <a:pPr indent="0" marL="0">
              <a:buNone/>
            </a:pPr>
            <a:r>
              <a:rPr lang="en-US" sz="1800" b="1" dirty="0">
                <a:solidFill>
                  <a:srgbClr val="F1F5FB"/>
                </a:solidFill>
                <a:latin typeface="Arial" pitchFamily="34" charset="0"/>
                <a:ea typeface="Arial" pitchFamily="34" charset="-122"/>
                <a:cs typeface="Arial" pitchFamily="34" charset="-120"/>
              </a:rPr>
              <a:t>Risk  =  </a:t>
            </a:r>
            <a:pPr indent="0" marL="0">
              <a:buNone/>
            </a:pPr>
            <a:r>
              <a:rPr lang="en-US" sz="1800" b="1" dirty="0">
                <a:solidFill>
                  <a:srgbClr val="38BDF8"/>
                </a:solidFill>
                <a:latin typeface="Arial" pitchFamily="34" charset="0"/>
                <a:ea typeface="Arial" pitchFamily="34" charset="-122"/>
                <a:cs typeface="Arial" pitchFamily="34" charset="-120"/>
              </a:rPr>
              <a:t>0.40 × ML</a:t>
            </a:r>
            <a:pPr indent="0" marL="0">
              <a:buNone/>
            </a:pPr>
            <a:r>
              <a:rPr lang="en-US" sz="1800" dirty="0">
                <a:solidFill>
                  <a:srgbClr val="9AABC4"/>
                </a:solidFill>
                <a:latin typeface="Arial" pitchFamily="34" charset="0"/>
                <a:ea typeface="Arial" pitchFamily="34" charset="-122"/>
                <a:cs typeface="Arial" pitchFamily="34" charset="-120"/>
              </a:rPr>
              <a:t>  +  </a:t>
            </a:r>
            <a:pPr indent="0" marL="0">
              <a:buNone/>
            </a:pPr>
            <a:r>
              <a:rPr lang="en-US" sz="1800" b="1" dirty="0">
                <a:solidFill>
                  <a:srgbClr val="A78BFA"/>
                </a:solidFill>
                <a:latin typeface="Arial" pitchFamily="34" charset="0"/>
                <a:ea typeface="Arial" pitchFamily="34" charset="-122"/>
                <a:cs typeface="Arial" pitchFamily="34" charset="-120"/>
              </a:rPr>
              <a:t>0.40 × Graph</a:t>
            </a:r>
            <a:pPr indent="0" marL="0">
              <a:buNone/>
            </a:pPr>
            <a:r>
              <a:rPr lang="en-US" sz="1800" dirty="0">
                <a:solidFill>
                  <a:srgbClr val="9AABC4"/>
                </a:solidFill>
                <a:latin typeface="Arial" pitchFamily="34" charset="0"/>
                <a:ea typeface="Arial" pitchFamily="34" charset="-122"/>
                <a:cs typeface="Arial" pitchFamily="34" charset="-120"/>
              </a:rPr>
              <a:t>  +  </a:t>
            </a:r>
            <a:pPr indent="0" marL="0">
              <a:buNone/>
            </a:pPr>
            <a:r>
              <a:rPr lang="en-US" sz="1800" b="1" dirty="0">
                <a:solidFill>
                  <a:srgbClr val="F5A524"/>
                </a:solidFill>
                <a:latin typeface="Arial" pitchFamily="34" charset="0"/>
                <a:ea typeface="Arial" pitchFamily="34" charset="-122"/>
                <a:cs typeface="Arial" pitchFamily="34" charset="-120"/>
              </a:rPr>
              <a:t>0.20 × Behaviour</a:t>
            </a:r>
            <a:endParaRPr lang="en-US" sz="1800" dirty="0"/>
          </a:p>
        </p:txBody>
      </p:sp>
      <p:sp>
        <p:nvSpPr>
          <p:cNvPr id="15" name="ex__1"/>
          <p:cNvSpPr/>
          <p:nvPr/>
        </p:nvSpPr>
        <p:spPr>
          <a:xfrm>
            <a:off x="4800600" y="2788920"/>
            <a:ext cx="6839712" cy="1874520"/>
          </a:xfrm>
          <a:prstGeom prst="roundRect">
            <a:avLst>
              <a:gd name="adj" fmla="val 5854"/>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6" name="ex__2"/>
          <p:cNvSpPr txBox="1"/>
          <p:nvPr/>
        </p:nvSpPr>
        <p:spPr>
          <a:xfrm>
            <a:off x="5029200" y="2907792"/>
            <a:ext cx="6400800" cy="347472"/>
          </a:xfrm>
          <a:prstGeom prst="rect">
            <a:avLst/>
          </a:prstGeom>
          <a:noFill/>
          <a:ln/>
        </p:spPr>
        <p:txBody>
          <a:bodyPr wrap="square" lIns="0" tIns="0" rIns="0" bIns="0" rtlCol="0" anchor="ctr"/>
          <a:lstStyle/>
          <a:p>
            <a:pPr indent="0" marL="0">
              <a:buNone/>
            </a:pPr>
            <a:r>
              <a:rPr lang="en-US" sz="1100" b="1" spc="200" kern="0" dirty="0">
                <a:solidFill>
                  <a:srgbClr val="9AABC4"/>
                </a:solidFill>
                <a:latin typeface="Arial" pitchFamily="34" charset="0"/>
                <a:ea typeface="Arial" pitchFamily="34" charset="-122"/>
                <a:cs typeface="Arial" pitchFamily="34" charset="-120"/>
              </a:rPr>
              <a:t>WORKED EXAMPLE  </a:t>
            </a:r>
            <a:pPr indent="0" marL="0">
              <a:buNone/>
            </a:pPr>
            <a:r>
              <a:rPr lang="en-US" sz="1400" b="1" dirty="0">
                <a:solidFill>
                  <a:srgbClr val="F1F5FB"/>
                </a:solidFill>
                <a:latin typeface="Calibri" pitchFamily="34" charset="0"/>
                <a:ea typeface="Calibri" pitchFamily="34" charset="-122"/>
                <a:cs typeface="Calibri" pitchFamily="34" charset="-120"/>
              </a:rPr>
              <a:t>ACC_MULE_HUB  ·  money-mule collection hub</a:t>
            </a:r>
            <a:endParaRPr lang="en-US" sz="1100" dirty="0"/>
          </a:p>
        </p:txBody>
      </p:sp>
      <p:sp>
        <p:nvSpPr>
          <p:cNvPr id="17" name="exb__1"/>
          <p:cNvSpPr txBox="1"/>
          <p:nvPr/>
        </p:nvSpPr>
        <p:spPr>
          <a:xfrm>
            <a:off x="5029200" y="3383280"/>
            <a:ext cx="1325880" cy="292608"/>
          </a:xfrm>
          <a:prstGeom prst="rect">
            <a:avLst/>
          </a:prstGeom>
          <a:noFill/>
          <a:ln/>
        </p:spPr>
        <p:txBody>
          <a:bodyPr wrap="square" lIns="0" tIns="0" rIns="0" bIns="0" rtlCol="0" anchor="ctr"/>
          <a:lstStyle/>
          <a:p>
            <a:pPr indent="0" marL="0">
              <a:buNone/>
            </a:pPr>
            <a:r>
              <a:rPr lang="en-US" sz="1300" dirty="0">
                <a:solidFill>
                  <a:srgbClr val="9AABC4"/>
                </a:solidFill>
                <a:latin typeface="Calibri" pitchFamily="34" charset="0"/>
                <a:ea typeface="Calibri" pitchFamily="34" charset="-122"/>
                <a:cs typeface="Calibri" pitchFamily="34" charset="-120"/>
              </a:rPr>
              <a:t>ML anomaly</a:t>
            </a:r>
            <a:endParaRPr lang="en-US" sz="1300" dirty="0"/>
          </a:p>
        </p:txBody>
      </p:sp>
      <p:sp>
        <p:nvSpPr>
          <p:cNvPr id="18" name="exb__2"/>
          <p:cNvSpPr/>
          <p:nvPr/>
        </p:nvSpPr>
        <p:spPr>
          <a:xfrm>
            <a:off x="6400800" y="3456432"/>
            <a:ext cx="2377440" cy="146304"/>
          </a:xfrm>
          <a:prstGeom prst="roundRect">
            <a:avLst>
              <a:gd name="adj" fmla="val 50000"/>
            </a:avLst>
          </a:prstGeom>
          <a:solidFill>
            <a:srgbClr val="13203A"/>
          </a:solidFill>
          <a:ln w="12700">
            <a:solidFill>
              <a:srgbClr val="13203A"/>
            </a:solidFill>
            <a:prstDash val="solid"/>
          </a:ln>
        </p:spPr>
      </p:sp>
      <p:sp>
        <p:nvSpPr>
          <p:cNvPr id="19" name="exf0__1"/>
          <p:cNvSpPr/>
          <p:nvPr/>
        </p:nvSpPr>
        <p:spPr>
          <a:xfrm>
            <a:off x="6400800" y="3456432"/>
            <a:ext cx="2371496" cy="146304"/>
          </a:xfrm>
          <a:prstGeom prst="roundRect">
            <a:avLst>
              <a:gd name="adj" fmla="val 50000"/>
            </a:avLst>
          </a:prstGeom>
          <a:solidFill>
            <a:srgbClr val="38BDF8"/>
          </a:solidFill>
          <a:ln w="12700">
            <a:solidFill>
              <a:srgbClr val="38BDF8"/>
            </a:solidFill>
            <a:prstDash val="solid"/>
          </a:ln>
        </p:spPr>
      </p:sp>
      <p:sp>
        <p:nvSpPr>
          <p:cNvPr id="20" name="exb__3"/>
          <p:cNvSpPr txBox="1"/>
          <p:nvPr/>
        </p:nvSpPr>
        <p:spPr>
          <a:xfrm>
            <a:off x="8869680" y="3383280"/>
            <a:ext cx="548640" cy="292608"/>
          </a:xfrm>
          <a:prstGeom prst="rect">
            <a:avLst/>
          </a:prstGeom>
          <a:noFill/>
          <a:ln/>
        </p:spPr>
        <p:txBody>
          <a:bodyPr wrap="square" lIns="0" tIns="0" rIns="0" bIns="0" rtlCol="0" anchor="ctr"/>
          <a:lstStyle/>
          <a:p>
            <a:pPr algn="r" indent="0" marL="0">
              <a:buNone/>
            </a:pPr>
            <a:r>
              <a:rPr lang="en-US" sz="1300" b="1" dirty="0">
                <a:solidFill>
                  <a:srgbClr val="38BDF8"/>
                </a:solidFill>
                <a:latin typeface="Calibri" pitchFamily="34" charset="0"/>
                <a:ea typeface="Calibri" pitchFamily="34" charset="-122"/>
                <a:cs typeface="Calibri" pitchFamily="34" charset="-120"/>
              </a:rPr>
              <a:t>99.8</a:t>
            </a:r>
            <a:endParaRPr lang="en-US" sz="1300" dirty="0"/>
          </a:p>
        </p:txBody>
      </p:sp>
      <p:sp>
        <p:nvSpPr>
          <p:cNvPr id="21" name="exb__4"/>
          <p:cNvSpPr txBox="1"/>
          <p:nvPr/>
        </p:nvSpPr>
        <p:spPr>
          <a:xfrm>
            <a:off x="5029200" y="3785616"/>
            <a:ext cx="1325880" cy="292608"/>
          </a:xfrm>
          <a:prstGeom prst="rect">
            <a:avLst/>
          </a:prstGeom>
          <a:noFill/>
          <a:ln/>
        </p:spPr>
        <p:txBody>
          <a:bodyPr wrap="square" lIns="0" tIns="0" rIns="0" bIns="0" rtlCol="0" anchor="ctr"/>
          <a:lstStyle/>
          <a:p>
            <a:pPr indent="0" marL="0">
              <a:buNone/>
            </a:pPr>
            <a:r>
              <a:rPr lang="en-US" sz="1300" dirty="0">
                <a:solidFill>
                  <a:srgbClr val="9AABC4"/>
                </a:solidFill>
                <a:latin typeface="Calibri" pitchFamily="34" charset="0"/>
                <a:ea typeface="Calibri" pitchFamily="34" charset="-122"/>
                <a:cs typeface="Calibri" pitchFamily="34" charset="-120"/>
              </a:rPr>
              <a:t>Graph pattern</a:t>
            </a:r>
            <a:endParaRPr lang="en-US" sz="1300" dirty="0"/>
          </a:p>
        </p:txBody>
      </p:sp>
      <p:sp>
        <p:nvSpPr>
          <p:cNvPr id="22" name="exb__5"/>
          <p:cNvSpPr/>
          <p:nvPr/>
        </p:nvSpPr>
        <p:spPr>
          <a:xfrm>
            <a:off x="6400800" y="3858768"/>
            <a:ext cx="2377440" cy="146304"/>
          </a:xfrm>
          <a:prstGeom prst="roundRect">
            <a:avLst>
              <a:gd name="adj" fmla="val 50000"/>
            </a:avLst>
          </a:prstGeom>
          <a:solidFill>
            <a:srgbClr val="13203A"/>
          </a:solidFill>
          <a:ln w="12700">
            <a:solidFill>
              <a:srgbClr val="13203A"/>
            </a:solidFill>
            <a:prstDash val="solid"/>
          </a:ln>
        </p:spPr>
      </p:sp>
      <p:sp>
        <p:nvSpPr>
          <p:cNvPr id="23" name="exf1__1"/>
          <p:cNvSpPr/>
          <p:nvPr/>
        </p:nvSpPr>
        <p:spPr>
          <a:xfrm>
            <a:off x="6400800" y="3858768"/>
            <a:ext cx="2377440" cy="146304"/>
          </a:xfrm>
          <a:prstGeom prst="roundRect">
            <a:avLst>
              <a:gd name="adj" fmla="val 50000"/>
            </a:avLst>
          </a:prstGeom>
          <a:solidFill>
            <a:srgbClr val="A78BFA"/>
          </a:solidFill>
          <a:ln w="12700">
            <a:solidFill>
              <a:srgbClr val="A78BFA"/>
            </a:solidFill>
            <a:prstDash val="solid"/>
          </a:ln>
        </p:spPr>
      </p:sp>
      <p:sp>
        <p:nvSpPr>
          <p:cNvPr id="24" name="exb__6"/>
          <p:cNvSpPr txBox="1"/>
          <p:nvPr/>
        </p:nvSpPr>
        <p:spPr>
          <a:xfrm>
            <a:off x="8869680" y="3785616"/>
            <a:ext cx="548640" cy="292608"/>
          </a:xfrm>
          <a:prstGeom prst="rect">
            <a:avLst/>
          </a:prstGeom>
          <a:noFill/>
          <a:ln/>
        </p:spPr>
        <p:txBody>
          <a:bodyPr wrap="square" lIns="0" tIns="0" rIns="0" bIns="0" rtlCol="0" anchor="ctr"/>
          <a:lstStyle/>
          <a:p>
            <a:pPr algn="r" indent="0" marL="0">
              <a:buNone/>
            </a:pPr>
            <a:r>
              <a:rPr lang="en-US" sz="1300" b="1" dirty="0">
                <a:solidFill>
                  <a:srgbClr val="A78BFA"/>
                </a:solidFill>
                <a:latin typeface="Calibri" pitchFamily="34" charset="0"/>
                <a:ea typeface="Calibri" pitchFamily="34" charset="-122"/>
                <a:cs typeface="Calibri" pitchFamily="34" charset="-120"/>
              </a:rPr>
              <a:t>100.0</a:t>
            </a:r>
            <a:endParaRPr lang="en-US" sz="1300" dirty="0"/>
          </a:p>
        </p:txBody>
      </p:sp>
      <p:sp>
        <p:nvSpPr>
          <p:cNvPr id="25" name="exb__7"/>
          <p:cNvSpPr txBox="1"/>
          <p:nvPr/>
        </p:nvSpPr>
        <p:spPr>
          <a:xfrm>
            <a:off x="5029200" y="4187952"/>
            <a:ext cx="1325880" cy="292608"/>
          </a:xfrm>
          <a:prstGeom prst="rect">
            <a:avLst/>
          </a:prstGeom>
          <a:noFill/>
          <a:ln/>
        </p:spPr>
        <p:txBody>
          <a:bodyPr wrap="square" lIns="0" tIns="0" rIns="0" bIns="0" rtlCol="0" anchor="ctr"/>
          <a:lstStyle/>
          <a:p>
            <a:pPr indent="0" marL="0">
              <a:buNone/>
            </a:pPr>
            <a:r>
              <a:rPr lang="en-US" sz="1300" dirty="0">
                <a:solidFill>
                  <a:srgbClr val="9AABC4"/>
                </a:solidFill>
                <a:latin typeface="Calibri" pitchFamily="34" charset="0"/>
                <a:ea typeface="Calibri" pitchFamily="34" charset="-122"/>
                <a:cs typeface="Calibri" pitchFamily="34" charset="-120"/>
              </a:rPr>
              <a:t>Behaviour</a:t>
            </a:r>
            <a:endParaRPr lang="en-US" sz="1300" dirty="0"/>
          </a:p>
        </p:txBody>
      </p:sp>
      <p:sp>
        <p:nvSpPr>
          <p:cNvPr id="26" name="exb__8"/>
          <p:cNvSpPr/>
          <p:nvPr/>
        </p:nvSpPr>
        <p:spPr>
          <a:xfrm>
            <a:off x="6400800" y="4261104"/>
            <a:ext cx="2377440" cy="146304"/>
          </a:xfrm>
          <a:prstGeom prst="roundRect">
            <a:avLst>
              <a:gd name="adj" fmla="val 50000"/>
            </a:avLst>
          </a:prstGeom>
          <a:solidFill>
            <a:srgbClr val="13203A"/>
          </a:solidFill>
          <a:ln w="12700">
            <a:solidFill>
              <a:srgbClr val="13203A"/>
            </a:solidFill>
            <a:prstDash val="solid"/>
          </a:ln>
        </p:spPr>
      </p:sp>
      <p:sp>
        <p:nvSpPr>
          <p:cNvPr id="27" name="exf2__1"/>
          <p:cNvSpPr/>
          <p:nvPr/>
        </p:nvSpPr>
        <p:spPr>
          <a:xfrm>
            <a:off x="6400800" y="4261104"/>
            <a:ext cx="1474013" cy="146304"/>
          </a:xfrm>
          <a:prstGeom prst="roundRect">
            <a:avLst>
              <a:gd name="adj" fmla="val 50000"/>
            </a:avLst>
          </a:prstGeom>
          <a:solidFill>
            <a:srgbClr val="F5A524"/>
          </a:solidFill>
          <a:ln w="12700">
            <a:solidFill>
              <a:srgbClr val="F5A524"/>
            </a:solidFill>
            <a:prstDash val="solid"/>
          </a:ln>
        </p:spPr>
      </p:sp>
      <p:sp>
        <p:nvSpPr>
          <p:cNvPr id="28" name="exb__9"/>
          <p:cNvSpPr txBox="1"/>
          <p:nvPr/>
        </p:nvSpPr>
        <p:spPr>
          <a:xfrm>
            <a:off x="8869680" y="4187952"/>
            <a:ext cx="548640" cy="292608"/>
          </a:xfrm>
          <a:prstGeom prst="rect">
            <a:avLst/>
          </a:prstGeom>
          <a:noFill/>
          <a:ln/>
        </p:spPr>
        <p:txBody>
          <a:bodyPr wrap="square" lIns="0" tIns="0" rIns="0" bIns="0" rtlCol="0" anchor="ctr"/>
          <a:lstStyle/>
          <a:p>
            <a:pPr algn="r" indent="0" marL="0">
              <a:buNone/>
            </a:pPr>
            <a:r>
              <a:rPr lang="en-US" sz="1300" b="1" dirty="0">
                <a:solidFill>
                  <a:srgbClr val="F5A524"/>
                </a:solidFill>
                <a:latin typeface="Calibri" pitchFamily="34" charset="0"/>
                <a:ea typeface="Calibri" pitchFamily="34" charset="-122"/>
                <a:cs typeface="Calibri" pitchFamily="34" charset="-120"/>
              </a:rPr>
              <a:t>62.0</a:t>
            </a:r>
            <a:endParaRPr lang="en-US" sz="1300" dirty="0"/>
          </a:p>
        </p:txBody>
      </p:sp>
      <p:sp>
        <p:nvSpPr>
          <p:cNvPr id="29" name="exR__1"/>
          <p:cNvSpPr txBox="1"/>
          <p:nvPr/>
        </p:nvSpPr>
        <p:spPr>
          <a:xfrm>
            <a:off x="9646920" y="3337560"/>
            <a:ext cx="1828800" cy="1188720"/>
          </a:xfrm>
          <a:prstGeom prst="rect">
            <a:avLst/>
          </a:prstGeom>
          <a:noFill/>
          <a:ln/>
        </p:spPr>
        <p:txBody>
          <a:bodyPr wrap="square" lIns="0" tIns="0" rIns="0" bIns="0" rtlCol="0" anchor="ctr"/>
          <a:lstStyle/>
          <a:p>
            <a:pPr algn="ctr" indent="0" marL="0">
              <a:buNone/>
            </a:pPr>
            <a:r>
              <a:rPr lang="en-US" sz="4000" b="1" dirty="0">
                <a:solidFill>
                  <a:srgbClr val="FF4D5E"/>
                </a:solidFill>
                <a:latin typeface="Arial" pitchFamily="34" charset="0"/>
                <a:ea typeface="Arial" pitchFamily="34" charset="-122"/>
                <a:cs typeface="Arial" pitchFamily="34" charset="-120"/>
              </a:rPr>
              <a:t>92.3</a:t>
            </a:r>
            <a:endParaRPr lang="en-US" sz="4000" dirty="0"/>
          </a:p>
          <a:p>
            <a:pPr algn="ctr" indent="0" marL="0">
              <a:buNone/>
            </a:pPr>
            <a:r>
              <a:rPr lang="en-US" sz="1200" b="1" spc="200" kern="0" dirty="0">
                <a:solidFill>
                  <a:srgbClr val="FF4D5E"/>
                </a:solidFill>
                <a:latin typeface="Arial" pitchFamily="34" charset="0"/>
                <a:ea typeface="Arial" pitchFamily="34" charset="-122"/>
                <a:cs typeface="Arial" pitchFamily="34" charset="-120"/>
              </a:rPr>
              <a:t>CRITICAL RISK</a:t>
            </a:r>
            <a:endParaRPr lang="en-US" sz="4000" dirty="0"/>
          </a:p>
        </p:txBody>
      </p:sp>
      <p:sp>
        <p:nvSpPr>
          <p:cNvPr id="30" name="tier__1"/>
          <p:cNvSpPr/>
          <p:nvPr/>
        </p:nvSpPr>
        <p:spPr>
          <a:xfrm>
            <a:off x="4800600" y="5074920"/>
            <a:ext cx="2699309" cy="384048"/>
          </a:xfrm>
          <a:prstGeom prst="rect">
            <a:avLst/>
          </a:prstGeom>
          <a:solidFill>
            <a:srgbClr val="34D399">
              <a:alpha val="28000"/>
            </a:srgbClr>
          </a:solidFill>
          <a:ln w="12700">
            <a:solidFill>
              <a:srgbClr val="34D399"/>
            </a:solidFill>
            <a:prstDash val="solid"/>
          </a:ln>
        </p:spPr>
      </p:sp>
      <p:sp>
        <p:nvSpPr>
          <p:cNvPr id="31" name="tier__2"/>
          <p:cNvSpPr txBox="1"/>
          <p:nvPr/>
        </p:nvSpPr>
        <p:spPr>
          <a:xfrm>
            <a:off x="4800600" y="5074920"/>
            <a:ext cx="2699309" cy="384048"/>
          </a:xfrm>
          <a:prstGeom prst="rect">
            <a:avLst/>
          </a:prstGeom>
          <a:noFill/>
          <a:ln/>
        </p:spPr>
        <p:txBody>
          <a:bodyPr wrap="square" lIns="0" tIns="0" rIns="0" bIns="0" rtlCol="0" anchor="ctr"/>
          <a:lstStyle/>
          <a:p>
            <a:pPr algn="ctr" indent="0" marL="0">
              <a:buNone/>
            </a:pPr>
            <a:r>
              <a:rPr lang="en-US" sz="1000" b="1" dirty="0">
                <a:solidFill>
                  <a:srgbClr val="34D399"/>
                </a:solidFill>
                <a:latin typeface="Arial" pitchFamily="34" charset="0"/>
                <a:ea typeface="Arial" pitchFamily="34" charset="-122"/>
                <a:cs typeface="Arial" pitchFamily="34" charset="-120"/>
              </a:rPr>
              <a:t>LOW</a:t>
            </a:r>
            <a:endParaRPr lang="en-US" sz="1000" dirty="0"/>
          </a:p>
        </p:txBody>
      </p:sp>
      <p:sp>
        <p:nvSpPr>
          <p:cNvPr id="32" name="tier__3"/>
          <p:cNvSpPr/>
          <p:nvPr/>
        </p:nvSpPr>
        <p:spPr>
          <a:xfrm>
            <a:off x="7536485" y="5074920"/>
            <a:ext cx="2015338" cy="384048"/>
          </a:xfrm>
          <a:prstGeom prst="rect">
            <a:avLst/>
          </a:prstGeom>
          <a:solidFill>
            <a:srgbClr val="F5A524">
              <a:alpha val="28000"/>
            </a:srgbClr>
          </a:solidFill>
          <a:ln w="12700">
            <a:solidFill>
              <a:srgbClr val="F5A524"/>
            </a:solidFill>
            <a:prstDash val="solid"/>
          </a:ln>
        </p:spPr>
      </p:sp>
      <p:sp>
        <p:nvSpPr>
          <p:cNvPr id="33" name="tier__4"/>
          <p:cNvSpPr txBox="1"/>
          <p:nvPr/>
        </p:nvSpPr>
        <p:spPr>
          <a:xfrm>
            <a:off x="7536485" y="5074920"/>
            <a:ext cx="2015338" cy="384048"/>
          </a:xfrm>
          <a:prstGeom prst="rect">
            <a:avLst/>
          </a:prstGeom>
          <a:noFill/>
          <a:ln/>
        </p:spPr>
        <p:txBody>
          <a:bodyPr wrap="square" lIns="0" tIns="0" rIns="0" bIns="0" rtlCol="0" anchor="ctr"/>
          <a:lstStyle/>
          <a:p>
            <a:pPr algn="ctr" indent="0" marL="0">
              <a:buNone/>
            </a:pPr>
            <a:r>
              <a:rPr lang="en-US" sz="1000" b="1" dirty="0">
                <a:solidFill>
                  <a:srgbClr val="F5A524"/>
                </a:solidFill>
                <a:latin typeface="Arial" pitchFamily="34" charset="0"/>
                <a:ea typeface="Arial" pitchFamily="34" charset="-122"/>
                <a:cs typeface="Arial" pitchFamily="34" charset="-120"/>
              </a:rPr>
              <a:t>MEDIUM</a:t>
            </a:r>
            <a:endParaRPr lang="en-US" sz="1000" dirty="0"/>
          </a:p>
        </p:txBody>
      </p:sp>
      <p:sp>
        <p:nvSpPr>
          <p:cNvPr id="34" name="tier__5"/>
          <p:cNvSpPr/>
          <p:nvPr/>
        </p:nvSpPr>
        <p:spPr>
          <a:xfrm>
            <a:off x="9588398" y="5074920"/>
            <a:ext cx="1331366" cy="384048"/>
          </a:xfrm>
          <a:prstGeom prst="rect">
            <a:avLst/>
          </a:prstGeom>
          <a:solidFill>
            <a:srgbClr val="FB7A3C">
              <a:alpha val="28000"/>
            </a:srgbClr>
          </a:solidFill>
          <a:ln w="12700">
            <a:solidFill>
              <a:srgbClr val="FB7A3C"/>
            </a:solidFill>
            <a:prstDash val="solid"/>
          </a:ln>
        </p:spPr>
      </p:sp>
      <p:sp>
        <p:nvSpPr>
          <p:cNvPr id="35" name="tier__6"/>
          <p:cNvSpPr txBox="1"/>
          <p:nvPr/>
        </p:nvSpPr>
        <p:spPr>
          <a:xfrm>
            <a:off x="9588398" y="5074920"/>
            <a:ext cx="1331366" cy="384048"/>
          </a:xfrm>
          <a:prstGeom prst="rect">
            <a:avLst/>
          </a:prstGeom>
          <a:noFill/>
          <a:ln/>
        </p:spPr>
        <p:txBody>
          <a:bodyPr wrap="square" lIns="0" tIns="0" rIns="0" bIns="0" rtlCol="0" anchor="ctr"/>
          <a:lstStyle/>
          <a:p>
            <a:pPr algn="ctr" indent="0" marL="0">
              <a:buNone/>
            </a:pPr>
            <a:r>
              <a:rPr lang="en-US" sz="1000" b="1" dirty="0">
                <a:solidFill>
                  <a:srgbClr val="FB7A3C"/>
                </a:solidFill>
                <a:latin typeface="Arial" pitchFamily="34" charset="0"/>
                <a:ea typeface="Arial" pitchFamily="34" charset="-122"/>
                <a:cs typeface="Arial" pitchFamily="34" charset="-120"/>
              </a:rPr>
              <a:t>HIGH</a:t>
            </a:r>
            <a:endParaRPr lang="en-US" sz="1000" dirty="0"/>
          </a:p>
        </p:txBody>
      </p:sp>
      <p:sp>
        <p:nvSpPr>
          <p:cNvPr id="36" name="tier__7"/>
          <p:cNvSpPr/>
          <p:nvPr/>
        </p:nvSpPr>
        <p:spPr>
          <a:xfrm>
            <a:off x="10956341" y="5074920"/>
            <a:ext cx="647395" cy="384048"/>
          </a:xfrm>
          <a:prstGeom prst="rect">
            <a:avLst/>
          </a:prstGeom>
          <a:solidFill>
            <a:srgbClr val="FF4D5E">
              <a:alpha val="28000"/>
            </a:srgbClr>
          </a:solidFill>
          <a:ln w="12700">
            <a:solidFill>
              <a:srgbClr val="FF4D5E"/>
            </a:solidFill>
            <a:prstDash val="solid"/>
          </a:ln>
        </p:spPr>
      </p:sp>
      <p:sp>
        <p:nvSpPr>
          <p:cNvPr id="37" name="tier__8"/>
          <p:cNvSpPr txBox="1"/>
          <p:nvPr/>
        </p:nvSpPr>
        <p:spPr>
          <a:xfrm>
            <a:off x="10956341" y="5074920"/>
            <a:ext cx="647395" cy="384048"/>
          </a:xfrm>
          <a:prstGeom prst="rect">
            <a:avLst/>
          </a:prstGeom>
          <a:noFill/>
          <a:ln/>
        </p:spPr>
        <p:txBody>
          <a:bodyPr wrap="square" lIns="0" tIns="0" rIns="0" bIns="0" rtlCol="0" anchor="ctr"/>
          <a:lstStyle/>
          <a:p>
            <a:pPr algn="ctr" indent="0" marL="0">
              <a:buNone/>
            </a:pPr>
            <a:r>
              <a:rPr lang="en-US" sz="1000" b="1" dirty="0">
                <a:solidFill>
                  <a:srgbClr val="FF4D5E"/>
                </a:solidFill>
                <a:latin typeface="Arial" pitchFamily="34" charset="0"/>
                <a:ea typeface="Arial" pitchFamily="34" charset="-122"/>
                <a:cs typeface="Arial" pitchFamily="34" charset="-120"/>
              </a:rPr>
              <a:t>CRITICAL</a:t>
            </a:r>
            <a:endParaRPr lang="en-US" sz="1000" dirty="0"/>
          </a:p>
        </p:txBody>
      </p:sp>
      <p:sp>
        <p:nvSpPr>
          <p:cNvPr id="38" name="tier__9"/>
          <p:cNvSpPr txBox="1"/>
          <p:nvPr/>
        </p:nvSpPr>
        <p:spPr>
          <a:xfrm>
            <a:off x="4526280" y="5504688"/>
            <a:ext cx="548640" cy="228600"/>
          </a:xfrm>
          <a:prstGeom prst="rect">
            <a:avLst/>
          </a:prstGeom>
          <a:noFill/>
          <a:ln/>
        </p:spPr>
        <p:txBody>
          <a:bodyPr wrap="square" lIns="0" tIns="0" rIns="0" bIns="0" rtlCol="0" anchor="ctr"/>
          <a:lstStyle/>
          <a:p>
            <a:pPr algn="ctr" indent="0" marL="0">
              <a:buNone/>
            </a:pPr>
            <a:r>
              <a:rPr lang="en-US" sz="1000" dirty="0">
                <a:solidFill>
                  <a:srgbClr val="5F7090"/>
                </a:solidFill>
                <a:latin typeface="Calibri" pitchFamily="34" charset="0"/>
                <a:ea typeface="Calibri" pitchFamily="34" charset="-122"/>
                <a:cs typeface="Calibri" pitchFamily="34" charset="-120"/>
              </a:rPr>
              <a:t>0</a:t>
            </a:r>
            <a:endParaRPr lang="en-US" sz="1000" dirty="0"/>
          </a:p>
        </p:txBody>
      </p:sp>
      <p:sp>
        <p:nvSpPr>
          <p:cNvPr id="39" name="tier__10"/>
          <p:cNvSpPr txBox="1"/>
          <p:nvPr/>
        </p:nvSpPr>
        <p:spPr>
          <a:xfrm>
            <a:off x="7262165" y="5504688"/>
            <a:ext cx="548640" cy="228600"/>
          </a:xfrm>
          <a:prstGeom prst="rect">
            <a:avLst/>
          </a:prstGeom>
          <a:noFill/>
          <a:ln/>
        </p:spPr>
        <p:txBody>
          <a:bodyPr wrap="square" lIns="0" tIns="0" rIns="0" bIns="0" rtlCol="0" anchor="ctr"/>
          <a:lstStyle/>
          <a:p>
            <a:pPr algn="ctr" indent="0" marL="0">
              <a:buNone/>
            </a:pPr>
            <a:r>
              <a:rPr lang="en-US" sz="1000" dirty="0">
                <a:solidFill>
                  <a:srgbClr val="5F7090"/>
                </a:solidFill>
                <a:latin typeface="Calibri" pitchFamily="34" charset="0"/>
                <a:ea typeface="Calibri" pitchFamily="34" charset="-122"/>
                <a:cs typeface="Calibri" pitchFamily="34" charset="-120"/>
              </a:rPr>
              <a:t>40</a:t>
            </a:r>
            <a:endParaRPr lang="en-US" sz="1000" dirty="0"/>
          </a:p>
        </p:txBody>
      </p:sp>
      <p:sp>
        <p:nvSpPr>
          <p:cNvPr id="40" name="tier__11"/>
          <p:cNvSpPr txBox="1"/>
          <p:nvPr/>
        </p:nvSpPr>
        <p:spPr>
          <a:xfrm>
            <a:off x="9314078" y="5504688"/>
            <a:ext cx="548640" cy="228600"/>
          </a:xfrm>
          <a:prstGeom prst="rect">
            <a:avLst/>
          </a:prstGeom>
          <a:noFill/>
          <a:ln/>
        </p:spPr>
        <p:txBody>
          <a:bodyPr wrap="square" lIns="0" tIns="0" rIns="0" bIns="0" rtlCol="0" anchor="ctr"/>
          <a:lstStyle/>
          <a:p>
            <a:pPr algn="ctr" indent="0" marL="0">
              <a:buNone/>
            </a:pPr>
            <a:r>
              <a:rPr lang="en-US" sz="1000" dirty="0">
                <a:solidFill>
                  <a:srgbClr val="5F7090"/>
                </a:solidFill>
                <a:latin typeface="Calibri" pitchFamily="34" charset="0"/>
                <a:ea typeface="Calibri" pitchFamily="34" charset="-122"/>
                <a:cs typeface="Calibri" pitchFamily="34" charset="-120"/>
              </a:rPr>
              <a:t>70</a:t>
            </a:r>
            <a:endParaRPr lang="en-US" sz="1000" dirty="0"/>
          </a:p>
        </p:txBody>
      </p:sp>
      <p:sp>
        <p:nvSpPr>
          <p:cNvPr id="41" name="tier__12"/>
          <p:cNvSpPr txBox="1"/>
          <p:nvPr/>
        </p:nvSpPr>
        <p:spPr>
          <a:xfrm>
            <a:off x="10682021" y="5504688"/>
            <a:ext cx="548640" cy="228600"/>
          </a:xfrm>
          <a:prstGeom prst="rect">
            <a:avLst/>
          </a:prstGeom>
          <a:noFill/>
          <a:ln/>
        </p:spPr>
        <p:txBody>
          <a:bodyPr wrap="square" lIns="0" tIns="0" rIns="0" bIns="0" rtlCol="0" anchor="ctr"/>
          <a:lstStyle/>
          <a:p>
            <a:pPr algn="ctr" indent="0" marL="0">
              <a:buNone/>
            </a:pPr>
            <a:r>
              <a:rPr lang="en-US" sz="1000" dirty="0">
                <a:solidFill>
                  <a:srgbClr val="5F7090"/>
                </a:solidFill>
                <a:latin typeface="Calibri" pitchFamily="34" charset="0"/>
                <a:ea typeface="Calibri" pitchFamily="34" charset="-122"/>
                <a:cs typeface="Calibri" pitchFamily="34" charset="-120"/>
              </a:rPr>
              <a:t>90</a:t>
            </a:r>
            <a:endParaRPr lang="en-US" sz="1000" dirty="0"/>
          </a:p>
        </p:txBody>
      </p:sp>
      <p:sp>
        <p:nvSpPr>
          <p:cNvPr id="42" name="tier__13"/>
          <p:cNvSpPr txBox="1"/>
          <p:nvPr/>
        </p:nvSpPr>
        <p:spPr>
          <a:xfrm>
            <a:off x="11365992" y="5504688"/>
            <a:ext cx="548640" cy="228600"/>
          </a:xfrm>
          <a:prstGeom prst="rect">
            <a:avLst/>
          </a:prstGeom>
          <a:noFill/>
          <a:ln/>
        </p:spPr>
        <p:txBody>
          <a:bodyPr wrap="square" lIns="0" tIns="0" rIns="0" bIns="0" rtlCol="0" anchor="ctr"/>
          <a:lstStyle/>
          <a:p>
            <a:pPr algn="ctr" indent="0" marL="0">
              <a:buNone/>
            </a:pPr>
            <a:r>
              <a:rPr lang="en-US" sz="1000" dirty="0">
                <a:solidFill>
                  <a:srgbClr val="5F7090"/>
                </a:solidFill>
                <a:latin typeface="Calibri" pitchFamily="34" charset="0"/>
                <a:ea typeface="Calibri" pitchFamily="34" charset="-122"/>
                <a:cs typeface="Calibri" pitchFamily="34" charset="-120"/>
              </a:rPr>
              <a:t>100</a:t>
            </a:r>
            <a:endParaRPr lang="en-US" sz="1000" dirty="0"/>
          </a:p>
        </p:txBody>
      </p:sp>
      <p:sp>
        <p:nvSpPr>
          <p:cNvPr id="43" name="mark__1"/>
          <p:cNvSpPr/>
          <p:nvPr/>
        </p:nvSpPr>
        <p:spPr>
          <a:xfrm rot="10800000">
            <a:off x="11003926" y="4828032"/>
            <a:ext cx="219456" cy="182880"/>
          </a:xfrm>
          <a:prstGeom prst="triangle">
            <a:avLst/>
          </a:prstGeom>
          <a:solidFill>
            <a:srgbClr val="F1F5FB"/>
          </a:solidFill>
          <a:ln w="12700">
            <a:solidFill>
              <a:srgbClr val="F1F5FB"/>
            </a:solidFill>
            <a:prstDash val="solid"/>
          </a:ln>
        </p:spPr>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2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fill="hold"/>
                                        <p:tgtEl>
                                          <p:spTgt spid="5"/>
                                        </p:tgtEl>
                                        <p:attrNameLst>
                                          <p:attrName>ppt_w</p:attrName>
                                        </p:attrNameLst>
                                      </p:cBhvr>
                                      <p:tavLst>
                                        <p:tav tm="0">
                                          <p:val>
                                            <p:strVal val="0"/>
                                          </p:val>
                                        </p:tav>
                                        <p:tav tm="100000">
                                          <p:val>
                                            <p:strVal val="#ppt_w"/>
                                          </p:val>
                                        </p:tav>
                                      </p:tavLst>
                                    </p:anim>
                                    <p:anim calcmode="lin" valueType="num">
                                      <p:cBhvr additive="base">
                                        <p:cTn id="8" dur="600" fill="hold"/>
                                        <p:tgtEl>
                                          <p:spTgt spid="5"/>
                                        </p:tgtEl>
                                        <p:attrNameLst>
                                          <p:attrName>ppt_h</p:attrName>
                                        </p:attrNameLst>
                                      </p:cBhvr>
                                      <p:tavLst>
                                        <p:tav tm="0">
                                          <p:val>
                                            <p:strVal val="0"/>
                                          </p:val>
                                        </p:tav>
                                        <p:tav tm="100000">
                                          <p:val>
                                            <p:strVal val="#ppt_h"/>
                                          </p:val>
                                        </p:tav>
                                      </p:tavLst>
                                    </p:anim>
                                    <p:animEffect transition="in" filter="fade">
                                      <p:cBhvr>
                                        <p:cTn id="9" dur="600"/>
                                        <p:tgtEl>
                                          <p:spTgt spid="5"/>
                                        </p:tgtEl>
                                      </p:cBhvr>
                                    </p:animEffect>
                                  </p:childTnLst>
                                </p:cTn>
                              </p:par>
                              <p:par>
                                <p:cTn id="10" presetID="10" presetClass="entr" presetSubtype="0" fill="hold" nodeType="withEffect">
                                  <p:stCondLst>
                                    <p:cond delay="7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nodeType="withEffect">
                                  <p:stCondLst>
                                    <p:cond delay="9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10" presetClass="entr" presetSubtype="0" fill="hold" nodeType="withEffect">
                                  <p:stCondLst>
                                    <p:cond delay="9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nodeType="withEffect">
                                  <p:stCondLst>
                                    <p:cond delay="90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nodeType="withEffect">
                                  <p:stCondLst>
                                    <p:cond delay="9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nodeType="withEffect">
                                  <p:stCondLst>
                                    <p:cond delay="9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nodeType="withEffect">
                                  <p:stCondLst>
                                    <p:cond delay="9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42" presetClass="entr" presetSubtype="0" fill="hold" nodeType="withEffect">
                                  <p:stCondLst>
                                    <p:cond delay="120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anim calcmode="lin" valueType="num">
                                      <p:cBhvr additive="base">
                                        <p:cTn id="34" dur="500" fill="hold"/>
                                        <p:tgtEl>
                                          <p:spTgt spid="13"/>
                                        </p:tgtEl>
                                        <p:attrNameLst>
                                          <p:attrName>ppt_x</p:attrName>
                                        </p:attrNameLst>
                                      </p:cBhvr>
                                      <p:tavLst>
                                        <p:tav tm="0">
                                          <p:val>
                                            <p:strVal val="#ppt_x"/>
                                          </p:val>
                                        </p:tav>
                                        <p:tav tm="100000">
                                          <p:val>
                                            <p:strVal val="#ppt_x"/>
                                          </p:val>
                                        </p:tav>
                                      </p:tavLst>
                                    </p:anim>
                                    <p:anim calcmode="lin" valueType="num">
                                      <p:cBhvr additive="base">
                                        <p:cTn id="35" dur="500" fill="hold"/>
                                        <p:tgtEl>
                                          <p:spTgt spid="13"/>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12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17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anim calcmode="lin" valueType="num">
                                      <p:cBhvr additive="base">
                                        <p:cTn id="44" dur="500" fill="hold"/>
                                        <p:tgtEl>
                                          <p:spTgt spid="15"/>
                                        </p:tgtEl>
                                        <p:attrNameLst>
                                          <p:attrName>ppt_x</p:attrName>
                                        </p:attrNameLst>
                                      </p:cBhvr>
                                      <p:tavLst>
                                        <p:tav tm="0">
                                          <p:val>
                                            <p:strVal val="#ppt_x"/>
                                          </p:val>
                                        </p:tav>
                                        <p:tav tm="100000">
                                          <p:val>
                                            <p:strVal val="#ppt_x"/>
                                          </p:val>
                                        </p:tav>
                                      </p:tavLst>
                                    </p:anim>
                                    <p:anim calcmode="lin" valueType="num">
                                      <p:cBhvr additive="base">
                                        <p:cTn id="45" dur="500" fill="hold"/>
                                        <p:tgtEl>
                                          <p:spTgt spid="15"/>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170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additive="base">
                                        <p:cTn id="49" dur="500" fill="hold"/>
                                        <p:tgtEl>
                                          <p:spTgt spid="16"/>
                                        </p:tgtEl>
                                        <p:attrNameLst>
                                          <p:attrName>ppt_x</p:attrName>
                                        </p:attrNameLst>
                                      </p:cBhvr>
                                      <p:tavLst>
                                        <p:tav tm="0">
                                          <p:val>
                                            <p:strVal val="#ppt_x"/>
                                          </p:val>
                                        </p:tav>
                                        <p:tav tm="100000">
                                          <p:val>
                                            <p:strVal val="#ppt_x"/>
                                          </p:val>
                                        </p:tav>
                                      </p:tavLst>
                                    </p:anim>
                                    <p:anim calcmode="lin" valueType="num">
                                      <p:cBhvr additive="base">
                                        <p:cTn id="50" dur="500" fill="hold"/>
                                        <p:tgtEl>
                                          <p:spTgt spid="16"/>
                                        </p:tgtEl>
                                        <p:attrNameLst>
                                          <p:attrName>ppt_y</p:attrName>
                                        </p:attrNameLst>
                                      </p:cBhvr>
                                      <p:tavLst>
                                        <p:tav tm="0">
                                          <p:val>
                                            <p:strVal val="#ppt_y+.1"/>
                                          </p:val>
                                        </p:tav>
                                        <p:tav tm="100000">
                                          <p:val>
                                            <p:strVal val="#ppt_y"/>
                                          </p:val>
                                        </p:tav>
                                      </p:tavLst>
                                    </p:anim>
                                  </p:childTnLst>
                                </p:cTn>
                              </p:par>
                              <p:par>
                                <p:cTn id="51" presetID="10" presetClass="entr" presetSubtype="0" fill="hold" nodeType="withEffect">
                                  <p:stCondLst>
                                    <p:cond delay="200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00"/>
                                        <p:tgtEl>
                                          <p:spTgt spid="17"/>
                                        </p:tgtEl>
                                      </p:cBhvr>
                                    </p:animEffect>
                                  </p:childTnLst>
                                </p:cTn>
                              </p:par>
                              <p:par>
                                <p:cTn id="54" presetID="10" presetClass="entr" presetSubtype="0" fill="hold" nodeType="withEffect">
                                  <p:stCondLst>
                                    <p:cond delay="200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par>
                                <p:cTn id="57" presetID="10" presetClass="entr" presetSubtype="0" fill="hold" nodeType="withEffect">
                                  <p:stCondLst>
                                    <p:cond delay="200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00"/>
                                        <p:tgtEl>
                                          <p:spTgt spid="20"/>
                                        </p:tgtEl>
                                      </p:cBhvr>
                                    </p:animEffect>
                                  </p:childTnLst>
                                </p:cTn>
                              </p:par>
                              <p:par>
                                <p:cTn id="60" presetID="10" presetClass="entr" presetSubtype="0" fill="hold" nodeType="withEffect">
                                  <p:stCondLst>
                                    <p:cond delay="200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400"/>
                                        <p:tgtEl>
                                          <p:spTgt spid="21"/>
                                        </p:tgtEl>
                                      </p:cBhvr>
                                    </p:animEffect>
                                  </p:childTnLst>
                                </p:cTn>
                              </p:par>
                              <p:par>
                                <p:cTn id="63" presetID="10" presetClass="entr" presetSubtype="0" fill="hold" nodeType="withEffect">
                                  <p:stCondLst>
                                    <p:cond delay="200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400"/>
                                        <p:tgtEl>
                                          <p:spTgt spid="22"/>
                                        </p:tgtEl>
                                      </p:cBhvr>
                                    </p:animEffect>
                                  </p:childTnLst>
                                </p:cTn>
                              </p:par>
                              <p:par>
                                <p:cTn id="66" presetID="10" presetClass="entr" presetSubtype="0" fill="hold" nodeType="withEffect">
                                  <p:stCondLst>
                                    <p:cond delay="200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00"/>
                                        <p:tgtEl>
                                          <p:spTgt spid="24"/>
                                        </p:tgtEl>
                                      </p:cBhvr>
                                    </p:animEffect>
                                  </p:childTnLst>
                                </p:cTn>
                              </p:par>
                              <p:par>
                                <p:cTn id="69" presetID="10" presetClass="entr" presetSubtype="0" fill="hold" nodeType="withEffect">
                                  <p:stCondLst>
                                    <p:cond delay="200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00"/>
                                        <p:tgtEl>
                                          <p:spTgt spid="25"/>
                                        </p:tgtEl>
                                      </p:cBhvr>
                                    </p:animEffect>
                                  </p:childTnLst>
                                </p:cTn>
                              </p:par>
                              <p:par>
                                <p:cTn id="72" presetID="10" presetClass="entr" presetSubtype="0" fill="hold" nodeType="withEffect">
                                  <p:stCondLst>
                                    <p:cond delay="200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00"/>
                                        <p:tgtEl>
                                          <p:spTgt spid="26"/>
                                        </p:tgtEl>
                                      </p:cBhvr>
                                    </p:animEffect>
                                  </p:childTnLst>
                                </p:cTn>
                              </p:par>
                              <p:par>
                                <p:cTn id="75" presetID="10" presetClass="entr" presetSubtype="0" fill="hold" nodeType="withEffect">
                                  <p:stCondLst>
                                    <p:cond delay="200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22" presetClass="entr" presetSubtype="8" fill="hold" nodeType="withEffect">
                                  <p:stCondLst>
                                    <p:cond delay="2200"/>
                                  </p:stCondLst>
                                  <p:childTnLst>
                                    <p:set>
                                      <p:cBhvr>
                                        <p:cTn id="79" dur="1" fill="hold">
                                          <p:stCondLst>
                                            <p:cond delay="0"/>
                                          </p:stCondLst>
                                        </p:cTn>
                                        <p:tgtEl>
                                          <p:spTgt spid="19"/>
                                        </p:tgtEl>
                                        <p:attrNameLst>
                                          <p:attrName>style.visibility</p:attrName>
                                        </p:attrNameLst>
                                      </p:cBhvr>
                                      <p:to>
                                        <p:strVal val="visible"/>
                                      </p:to>
                                    </p:set>
                                    <p:animEffect transition="in" filter="wipe(left)">
                                      <p:cBhvr>
                                        <p:cTn id="80" dur="500"/>
                                        <p:tgtEl>
                                          <p:spTgt spid="19"/>
                                        </p:tgtEl>
                                      </p:cBhvr>
                                    </p:animEffect>
                                  </p:childTnLst>
                                </p:cTn>
                              </p:par>
                              <p:par>
                                <p:cTn id="81" presetID="22" presetClass="entr" presetSubtype="8" fill="hold" nodeType="withEffect">
                                  <p:stCondLst>
                                    <p:cond delay="2450"/>
                                  </p:stCondLst>
                                  <p:childTnLst>
                                    <p:set>
                                      <p:cBhvr>
                                        <p:cTn id="82" dur="1" fill="hold">
                                          <p:stCondLst>
                                            <p:cond delay="0"/>
                                          </p:stCondLst>
                                        </p:cTn>
                                        <p:tgtEl>
                                          <p:spTgt spid="23"/>
                                        </p:tgtEl>
                                        <p:attrNameLst>
                                          <p:attrName>style.visibility</p:attrName>
                                        </p:attrNameLst>
                                      </p:cBhvr>
                                      <p:to>
                                        <p:strVal val="visible"/>
                                      </p:to>
                                    </p:set>
                                    <p:animEffect transition="in" filter="wipe(left)">
                                      <p:cBhvr>
                                        <p:cTn id="83" dur="600"/>
                                        <p:tgtEl>
                                          <p:spTgt spid="23"/>
                                        </p:tgtEl>
                                      </p:cBhvr>
                                    </p:animEffect>
                                  </p:childTnLst>
                                </p:cTn>
                              </p:par>
                              <p:par>
                                <p:cTn id="84" presetID="22" presetClass="entr" presetSubtype="8" fill="hold" nodeType="withEffect">
                                  <p:stCondLst>
                                    <p:cond delay="2700"/>
                                  </p:stCondLst>
                                  <p:childTnLst>
                                    <p:set>
                                      <p:cBhvr>
                                        <p:cTn id="85" dur="1" fill="hold">
                                          <p:stCondLst>
                                            <p:cond delay="0"/>
                                          </p:stCondLst>
                                        </p:cTn>
                                        <p:tgtEl>
                                          <p:spTgt spid="27"/>
                                        </p:tgtEl>
                                        <p:attrNameLst>
                                          <p:attrName>style.visibility</p:attrName>
                                        </p:attrNameLst>
                                      </p:cBhvr>
                                      <p:to>
                                        <p:strVal val="visible"/>
                                      </p:to>
                                    </p:set>
                                    <p:animEffect transition="in" filter="wipe(left)">
                                      <p:cBhvr>
                                        <p:cTn id="86" dur="500"/>
                                        <p:tgtEl>
                                          <p:spTgt spid="27"/>
                                        </p:tgtEl>
                                      </p:cBhvr>
                                    </p:animEffect>
                                  </p:childTnLst>
                                </p:cTn>
                              </p:par>
                              <p:par>
                                <p:cTn id="87" presetID="53" presetClass="entr" presetSubtype="16" fill="hold" nodeType="withEffect">
                                  <p:stCondLst>
                                    <p:cond delay="3200"/>
                                  </p:stCondLst>
                                  <p:childTnLst>
                                    <p:set>
                                      <p:cBhvr>
                                        <p:cTn id="88" dur="1" fill="hold">
                                          <p:stCondLst>
                                            <p:cond delay="0"/>
                                          </p:stCondLst>
                                        </p:cTn>
                                        <p:tgtEl>
                                          <p:spTgt spid="29"/>
                                        </p:tgtEl>
                                        <p:attrNameLst>
                                          <p:attrName>style.visibility</p:attrName>
                                        </p:attrNameLst>
                                      </p:cBhvr>
                                      <p:to>
                                        <p:strVal val="visible"/>
                                      </p:to>
                                    </p:set>
                                    <p:anim calcmode="lin" valueType="num">
                                      <p:cBhvr additive="base">
                                        <p:cTn id="89" dur="500" fill="hold"/>
                                        <p:tgtEl>
                                          <p:spTgt spid="29"/>
                                        </p:tgtEl>
                                        <p:attrNameLst>
                                          <p:attrName>ppt_w</p:attrName>
                                        </p:attrNameLst>
                                      </p:cBhvr>
                                      <p:tavLst>
                                        <p:tav tm="0">
                                          <p:val>
                                            <p:strVal val="0"/>
                                          </p:val>
                                        </p:tav>
                                        <p:tav tm="100000">
                                          <p:val>
                                            <p:strVal val="#ppt_w"/>
                                          </p:val>
                                        </p:tav>
                                      </p:tavLst>
                                    </p:anim>
                                    <p:anim calcmode="lin" valueType="num">
                                      <p:cBhvr additive="base">
                                        <p:cTn id="90" dur="500" fill="hold"/>
                                        <p:tgtEl>
                                          <p:spTgt spid="29"/>
                                        </p:tgtEl>
                                        <p:attrNameLst>
                                          <p:attrName>ppt_h</p:attrName>
                                        </p:attrNameLst>
                                      </p:cBhvr>
                                      <p:tavLst>
                                        <p:tav tm="0">
                                          <p:val>
                                            <p:strVal val="0"/>
                                          </p:val>
                                        </p:tav>
                                        <p:tav tm="100000">
                                          <p:val>
                                            <p:strVal val="#ppt_h"/>
                                          </p:val>
                                        </p:tav>
                                      </p:tavLst>
                                    </p:anim>
                                    <p:animEffect transition="in" filter="fade">
                                      <p:cBhvr>
                                        <p:cTn id="91" dur="500"/>
                                        <p:tgtEl>
                                          <p:spTgt spid="29"/>
                                        </p:tgtEl>
                                      </p:cBhvr>
                                    </p:animEffect>
                                  </p:childTnLst>
                                </p:cTn>
                              </p:par>
                              <p:par>
                                <p:cTn id="92" presetID="22" presetClass="entr" presetSubtype="8" fill="hold" nodeType="withEffect">
                                  <p:stCondLst>
                                    <p:cond delay="3600"/>
                                  </p:stCondLst>
                                  <p:childTnLst>
                                    <p:set>
                                      <p:cBhvr>
                                        <p:cTn id="93" dur="1" fill="hold">
                                          <p:stCondLst>
                                            <p:cond delay="0"/>
                                          </p:stCondLst>
                                        </p:cTn>
                                        <p:tgtEl>
                                          <p:spTgt spid="30"/>
                                        </p:tgtEl>
                                        <p:attrNameLst>
                                          <p:attrName>style.visibility</p:attrName>
                                        </p:attrNameLst>
                                      </p:cBhvr>
                                      <p:to>
                                        <p:strVal val="visible"/>
                                      </p:to>
                                    </p:set>
                                    <p:animEffect transition="in" filter="wipe(left)">
                                      <p:cBhvr>
                                        <p:cTn id="94" dur="700"/>
                                        <p:tgtEl>
                                          <p:spTgt spid="30"/>
                                        </p:tgtEl>
                                      </p:cBhvr>
                                    </p:animEffect>
                                  </p:childTnLst>
                                </p:cTn>
                              </p:par>
                              <p:par>
                                <p:cTn id="95" presetID="22" presetClass="entr" presetSubtype="8" fill="hold" nodeType="withEffect">
                                  <p:stCondLst>
                                    <p:cond delay="3600"/>
                                  </p:stCondLst>
                                  <p:childTnLst>
                                    <p:set>
                                      <p:cBhvr>
                                        <p:cTn id="96" dur="1" fill="hold">
                                          <p:stCondLst>
                                            <p:cond delay="0"/>
                                          </p:stCondLst>
                                        </p:cTn>
                                        <p:tgtEl>
                                          <p:spTgt spid="31"/>
                                        </p:tgtEl>
                                        <p:attrNameLst>
                                          <p:attrName>style.visibility</p:attrName>
                                        </p:attrNameLst>
                                      </p:cBhvr>
                                      <p:to>
                                        <p:strVal val="visible"/>
                                      </p:to>
                                    </p:set>
                                    <p:animEffect transition="in" filter="wipe(left)">
                                      <p:cBhvr>
                                        <p:cTn id="97" dur="700"/>
                                        <p:tgtEl>
                                          <p:spTgt spid="31"/>
                                        </p:tgtEl>
                                      </p:cBhvr>
                                    </p:animEffect>
                                  </p:childTnLst>
                                </p:cTn>
                              </p:par>
                              <p:par>
                                <p:cTn id="98" presetID="22" presetClass="entr" presetSubtype="8" fill="hold" nodeType="withEffect">
                                  <p:stCondLst>
                                    <p:cond delay="3600"/>
                                  </p:stCondLst>
                                  <p:childTnLst>
                                    <p:set>
                                      <p:cBhvr>
                                        <p:cTn id="99" dur="1" fill="hold">
                                          <p:stCondLst>
                                            <p:cond delay="0"/>
                                          </p:stCondLst>
                                        </p:cTn>
                                        <p:tgtEl>
                                          <p:spTgt spid="32"/>
                                        </p:tgtEl>
                                        <p:attrNameLst>
                                          <p:attrName>style.visibility</p:attrName>
                                        </p:attrNameLst>
                                      </p:cBhvr>
                                      <p:to>
                                        <p:strVal val="visible"/>
                                      </p:to>
                                    </p:set>
                                    <p:animEffect transition="in" filter="wipe(left)">
                                      <p:cBhvr>
                                        <p:cTn id="100" dur="700"/>
                                        <p:tgtEl>
                                          <p:spTgt spid="32"/>
                                        </p:tgtEl>
                                      </p:cBhvr>
                                    </p:animEffect>
                                  </p:childTnLst>
                                </p:cTn>
                              </p:par>
                              <p:par>
                                <p:cTn id="101" presetID="22" presetClass="entr" presetSubtype="8" fill="hold" nodeType="withEffect">
                                  <p:stCondLst>
                                    <p:cond delay="3600"/>
                                  </p:stCondLst>
                                  <p:childTnLst>
                                    <p:set>
                                      <p:cBhvr>
                                        <p:cTn id="102" dur="1" fill="hold">
                                          <p:stCondLst>
                                            <p:cond delay="0"/>
                                          </p:stCondLst>
                                        </p:cTn>
                                        <p:tgtEl>
                                          <p:spTgt spid="33"/>
                                        </p:tgtEl>
                                        <p:attrNameLst>
                                          <p:attrName>style.visibility</p:attrName>
                                        </p:attrNameLst>
                                      </p:cBhvr>
                                      <p:to>
                                        <p:strVal val="visible"/>
                                      </p:to>
                                    </p:set>
                                    <p:animEffect transition="in" filter="wipe(left)">
                                      <p:cBhvr>
                                        <p:cTn id="103" dur="700"/>
                                        <p:tgtEl>
                                          <p:spTgt spid="33"/>
                                        </p:tgtEl>
                                      </p:cBhvr>
                                    </p:animEffect>
                                  </p:childTnLst>
                                </p:cTn>
                              </p:par>
                              <p:par>
                                <p:cTn id="104" presetID="22" presetClass="entr" presetSubtype="8" fill="hold" nodeType="withEffect">
                                  <p:stCondLst>
                                    <p:cond delay="3600"/>
                                  </p:stCondLst>
                                  <p:childTnLst>
                                    <p:set>
                                      <p:cBhvr>
                                        <p:cTn id="105" dur="1" fill="hold">
                                          <p:stCondLst>
                                            <p:cond delay="0"/>
                                          </p:stCondLst>
                                        </p:cTn>
                                        <p:tgtEl>
                                          <p:spTgt spid="34"/>
                                        </p:tgtEl>
                                        <p:attrNameLst>
                                          <p:attrName>style.visibility</p:attrName>
                                        </p:attrNameLst>
                                      </p:cBhvr>
                                      <p:to>
                                        <p:strVal val="visible"/>
                                      </p:to>
                                    </p:set>
                                    <p:animEffect transition="in" filter="wipe(left)">
                                      <p:cBhvr>
                                        <p:cTn id="106" dur="700"/>
                                        <p:tgtEl>
                                          <p:spTgt spid="34"/>
                                        </p:tgtEl>
                                      </p:cBhvr>
                                    </p:animEffect>
                                  </p:childTnLst>
                                </p:cTn>
                              </p:par>
                              <p:par>
                                <p:cTn id="107" presetID="22" presetClass="entr" presetSubtype="8" fill="hold" nodeType="withEffect">
                                  <p:stCondLst>
                                    <p:cond delay="3600"/>
                                  </p:stCondLst>
                                  <p:childTnLst>
                                    <p:set>
                                      <p:cBhvr>
                                        <p:cTn id="108" dur="1" fill="hold">
                                          <p:stCondLst>
                                            <p:cond delay="0"/>
                                          </p:stCondLst>
                                        </p:cTn>
                                        <p:tgtEl>
                                          <p:spTgt spid="35"/>
                                        </p:tgtEl>
                                        <p:attrNameLst>
                                          <p:attrName>style.visibility</p:attrName>
                                        </p:attrNameLst>
                                      </p:cBhvr>
                                      <p:to>
                                        <p:strVal val="visible"/>
                                      </p:to>
                                    </p:set>
                                    <p:animEffect transition="in" filter="wipe(left)">
                                      <p:cBhvr>
                                        <p:cTn id="109" dur="700"/>
                                        <p:tgtEl>
                                          <p:spTgt spid="35"/>
                                        </p:tgtEl>
                                      </p:cBhvr>
                                    </p:animEffect>
                                  </p:childTnLst>
                                </p:cTn>
                              </p:par>
                              <p:par>
                                <p:cTn id="110" presetID="22" presetClass="entr" presetSubtype="8" fill="hold" nodeType="withEffect">
                                  <p:stCondLst>
                                    <p:cond delay="3600"/>
                                  </p:stCondLst>
                                  <p:childTnLst>
                                    <p:set>
                                      <p:cBhvr>
                                        <p:cTn id="111" dur="1" fill="hold">
                                          <p:stCondLst>
                                            <p:cond delay="0"/>
                                          </p:stCondLst>
                                        </p:cTn>
                                        <p:tgtEl>
                                          <p:spTgt spid="36"/>
                                        </p:tgtEl>
                                        <p:attrNameLst>
                                          <p:attrName>style.visibility</p:attrName>
                                        </p:attrNameLst>
                                      </p:cBhvr>
                                      <p:to>
                                        <p:strVal val="visible"/>
                                      </p:to>
                                    </p:set>
                                    <p:animEffect transition="in" filter="wipe(left)">
                                      <p:cBhvr>
                                        <p:cTn id="112" dur="700"/>
                                        <p:tgtEl>
                                          <p:spTgt spid="36"/>
                                        </p:tgtEl>
                                      </p:cBhvr>
                                    </p:animEffect>
                                  </p:childTnLst>
                                </p:cTn>
                              </p:par>
                              <p:par>
                                <p:cTn id="113" presetID="22" presetClass="entr" presetSubtype="8" fill="hold" nodeType="withEffect">
                                  <p:stCondLst>
                                    <p:cond delay="3600"/>
                                  </p:stCondLst>
                                  <p:childTnLst>
                                    <p:set>
                                      <p:cBhvr>
                                        <p:cTn id="114" dur="1" fill="hold">
                                          <p:stCondLst>
                                            <p:cond delay="0"/>
                                          </p:stCondLst>
                                        </p:cTn>
                                        <p:tgtEl>
                                          <p:spTgt spid="37"/>
                                        </p:tgtEl>
                                        <p:attrNameLst>
                                          <p:attrName>style.visibility</p:attrName>
                                        </p:attrNameLst>
                                      </p:cBhvr>
                                      <p:to>
                                        <p:strVal val="visible"/>
                                      </p:to>
                                    </p:set>
                                    <p:animEffect transition="in" filter="wipe(left)">
                                      <p:cBhvr>
                                        <p:cTn id="115" dur="700"/>
                                        <p:tgtEl>
                                          <p:spTgt spid="37"/>
                                        </p:tgtEl>
                                      </p:cBhvr>
                                    </p:animEffect>
                                  </p:childTnLst>
                                </p:cTn>
                              </p:par>
                              <p:par>
                                <p:cTn id="116" presetID="22" presetClass="entr" presetSubtype="8" fill="hold" nodeType="withEffect">
                                  <p:stCondLst>
                                    <p:cond delay="3600"/>
                                  </p:stCondLst>
                                  <p:childTnLst>
                                    <p:set>
                                      <p:cBhvr>
                                        <p:cTn id="117" dur="1" fill="hold">
                                          <p:stCondLst>
                                            <p:cond delay="0"/>
                                          </p:stCondLst>
                                        </p:cTn>
                                        <p:tgtEl>
                                          <p:spTgt spid="38"/>
                                        </p:tgtEl>
                                        <p:attrNameLst>
                                          <p:attrName>style.visibility</p:attrName>
                                        </p:attrNameLst>
                                      </p:cBhvr>
                                      <p:to>
                                        <p:strVal val="visible"/>
                                      </p:to>
                                    </p:set>
                                    <p:animEffect transition="in" filter="wipe(left)">
                                      <p:cBhvr>
                                        <p:cTn id="118" dur="700"/>
                                        <p:tgtEl>
                                          <p:spTgt spid="38"/>
                                        </p:tgtEl>
                                      </p:cBhvr>
                                    </p:animEffect>
                                  </p:childTnLst>
                                </p:cTn>
                              </p:par>
                              <p:par>
                                <p:cTn id="119" presetID="22" presetClass="entr" presetSubtype="8" fill="hold" nodeType="withEffect">
                                  <p:stCondLst>
                                    <p:cond delay="3600"/>
                                  </p:stCondLst>
                                  <p:childTnLst>
                                    <p:set>
                                      <p:cBhvr>
                                        <p:cTn id="120" dur="1" fill="hold">
                                          <p:stCondLst>
                                            <p:cond delay="0"/>
                                          </p:stCondLst>
                                        </p:cTn>
                                        <p:tgtEl>
                                          <p:spTgt spid="39"/>
                                        </p:tgtEl>
                                        <p:attrNameLst>
                                          <p:attrName>style.visibility</p:attrName>
                                        </p:attrNameLst>
                                      </p:cBhvr>
                                      <p:to>
                                        <p:strVal val="visible"/>
                                      </p:to>
                                    </p:set>
                                    <p:animEffect transition="in" filter="wipe(left)">
                                      <p:cBhvr>
                                        <p:cTn id="121" dur="700"/>
                                        <p:tgtEl>
                                          <p:spTgt spid="39"/>
                                        </p:tgtEl>
                                      </p:cBhvr>
                                    </p:animEffect>
                                  </p:childTnLst>
                                </p:cTn>
                              </p:par>
                              <p:par>
                                <p:cTn id="122" presetID="22" presetClass="entr" presetSubtype="8" fill="hold" nodeType="withEffect">
                                  <p:stCondLst>
                                    <p:cond delay="3600"/>
                                  </p:stCondLst>
                                  <p:childTnLst>
                                    <p:set>
                                      <p:cBhvr>
                                        <p:cTn id="123" dur="1" fill="hold">
                                          <p:stCondLst>
                                            <p:cond delay="0"/>
                                          </p:stCondLst>
                                        </p:cTn>
                                        <p:tgtEl>
                                          <p:spTgt spid="40"/>
                                        </p:tgtEl>
                                        <p:attrNameLst>
                                          <p:attrName>style.visibility</p:attrName>
                                        </p:attrNameLst>
                                      </p:cBhvr>
                                      <p:to>
                                        <p:strVal val="visible"/>
                                      </p:to>
                                    </p:set>
                                    <p:animEffect transition="in" filter="wipe(left)">
                                      <p:cBhvr>
                                        <p:cTn id="124" dur="700"/>
                                        <p:tgtEl>
                                          <p:spTgt spid="40"/>
                                        </p:tgtEl>
                                      </p:cBhvr>
                                    </p:animEffect>
                                  </p:childTnLst>
                                </p:cTn>
                              </p:par>
                              <p:par>
                                <p:cTn id="125" presetID="22" presetClass="entr" presetSubtype="8" fill="hold" nodeType="withEffect">
                                  <p:stCondLst>
                                    <p:cond delay="3600"/>
                                  </p:stCondLst>
                                  <p:childTnLst>
                                    <p:set>
                                      <p:cBhvr>
                                        <p:cTn id="126" dur="1" fill="hold">
                                          <p:stCondLst>
                                            <p:cond delay="0"/>
                                          </p:stCondLst>
                                        </p:cTn>
                                        <p:tgtEl>
                                          <p:spTgt spid="41"/>
                                        </p:tgtEl>
                                        <p:attrNameLst>
                                          <p:attrName>style.visibility</p:attrName>
                                        </p:attrNameLst>
                                      </p:cBhvr>
                                      <p:to>
                                        <p:strVal val="visible"/>
                                      </p:to>
                                    </p:set>
                                    <p:animEffect transition="in" filter="wipe(left)">
                                      <p:cBhvr>
                                        <p:cTn id="127" dur="700"/>
                                        <p:tgtEl>
                                          <p:spTgt spid="41"/>
                                        </p:tgtEl>
                                      </p:cBhvr>
                                    </p:animEffect>
                                  </p:childTnLst>
                                </p:cTn>
                              </p:par>
                              <p:par>
                                <p:cTn id="128" presetID="22" presetClass="entr" presetSubtype="8" fill="hold" nodeType="withEffect">
                                  <p:stCondLst>
                                    <p:cond delay="3600"/>
                                  </p:stCondLst>
                                  <p:childTnLst>
                                    <p:set>
                                      <p:cBhvr>
                                        <p:cTn id="129" dur="1" fill="hold">
                                          <p:stCondLst>
                                            <p:cond delay="0"/>
                                          </p:stCondLst>
                                        </p:cTn>
                                        <p:tgtEl>
                                          <p:spTgt spid="42"/>
                                        </p:tgtEl>
                                        <p:attrNameLst>
                                          <p:attrName>style.visibility</p:attrName>
                                        </p:attrNameLst>
                                      </p:cBhvr>
                                      <p:to>
                                        <p:strVal val="visible"/>
                                      </p:to>
                                    </p:set>
                                    <p:animEffect transition="in" filter="wipe(left)">
                                      <p:cBhvr>
                                        <p:cTn id="130" dur="700"/>
                                        <p:tgtEl>
                                          <p:spTgt spid="42"/>
                                        </p:tgtEl>
                                      </p:cBhvr>
                                    </p:animEffect>
                                  </p:childTnLst>
                                </p:cTn>
                              </p:par>
                              <p:par>
                                <p:cTn id="131" presetID="47" presetClass="entr" presetSubtype="0" fill="hold" nodeType="withEffect">
                                  <p:stCondLst>
                                    <p:cond delay="430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500"/>
                                        <p:tgtEl>
                                          <p:spTgt spid="43"/>
                                        </p:tgtEl>
                                      </p:cBhvr>
                                    </p:animEffect>
                                    <p:anim calcmode="lin" valueType="num">
                                      <p:cBhvr additive="base">
                                        <p:cTn id="134" dur="500" fill="hold"/>
                                        <p:tgtEl>
                                          <p:spTgt spid="43"/>
                                        </p:tgtEl>
                                        <p:attrNameLst>
                                          <p:attrName>ppt_x</p:attrName>
                                        </p:attrNameLst>
                                      </p:cBhvr>
                                      <p:tavLst>
                                        <p:tav tm="0">
                                          <p:val>
                                            <p:strVal val="#ppt_x"/>
                                          </p:val>
                                        </p:tav>
                                        <p:tav tm="100000">
                                          <p:val>
                                            <p:strVal val="#ppt_x"/>
                                          </p:val>
                                        </p:tav>
                                      </p:tavLst>
                                    </p:anim>
                                    <p:anim calcmode="lin" valueType="num">
                                      <p:cBhvr additive="base">
                                        <p:cTn id="135" dur="5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08  ·  LIVE DEMO</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Follow the Money, one hop at a time</a:t>
            </a:r>
            <a:endParaRPr lang="en-US" sz="3400" dirty="0"/>
          </a:p>
        </p:txBody>
      </p:sp>
      <p:sp>
        <p:nvSpPr>
          <p:cNvPr id="5" name="shot__1"/>
          <p:cNvSpPr/>
          <p:nvPr/>
        </p:nvSpPr>
        <p:spPr>
          <a:xfrm>
            <a:off x="502920" y="1600200"/>
            <a:ext cx="7406640" cy="4352544"/>
          </a:xfrm>
          <a:prstGeom prst="roundRect">
            <a:avLst>
              <a:gd name="adj" fmla="val 2101"/>
            </a:avLst>
          </a:prstGeom>
          <a:solidFill>
            <a:srgbClr val="0E1729"/>
          </a:solidFill>
          <a:ln w="12700">
            <a:solidFill>
              <a:srgbClr val="38BDF8">
                <a:alpha val="50000"/>
              </a:srgbClr>
            </a:solidFill>
            <a:prstDash val="solid"/>
          </a:ln>
          <a:effectLst>
            <a:outerShdw sx="100000" sy="100000" kx="0" ky="0" algn="bl" rotWithShape="0" blurRad="228600" dist="50800" dir="5400000">
              <a:srgbClr val="38BDF8">
                <a:alpha val="30000"/>
              </a:srgbClr>
            </a:outerShdw>
          </a:effectLst>
        </p:spPr>
      </p:sp>
      <p:pic>
        <p:nvPicPr>
          <p:cNvPr id="6" name="shot__2" descr="/tmp/claude-0/-home-claude/f925570b-377a-5c3c-9531-1679f3895fd9/scratchpad/deck/img/ftm.png">    </p:cNvPr>
          <p:cNvPicPr>
            <a:picLocks noChangeAspect="1"/>
          </p:cNvPicPr>
          <p:nvPr/>
        </p:nvPicPr>
        <p:blipFill>
          <a:blip r:embed="rId2"/>
          <a:stretch>
            <a:fillRect/>
          </a:stretch>
        </p:blipFill>
        <p:spPr>
          <a:xfrm>
            <a:off x="548640" y="1645920"/>
            <a:ext cx="7315200" cy="4261104"/>
          </a:xfrm>
          <a:prstGeom prst="rect">
            <a:avLst/>
          </a:prstGeom>
        </p:spPr>
      </p:pic>
      <p:sp>
        <p:nvSpPr>
          <p:cNvPr id="7" name="ftm0__1"/>
          <p:cNvSpPr/>
          <p:nvPr/>
        </p:nvSpPr>
        <p:spPr>
          <a:xfrm>
            <a:off x="8503920" y="1645920"/>
            <a:ext cx="640080" cy="640080"/>
          </a:xfrm>
          <a:prstGeom prst="ellipse">
            <a:avLst/>
          </a:prstGeom>
          <a:solidFill>
            <a:srgbClr val="38BDF8">
              <a:alpha val="18000"/>
            </a:srgbClr>
          </a:solidFill>
          <a:ln w="12700">
            <a:solidFill>
              <a:srgbClr val="38BDF8">
                <a:alpha val="60000"/>
              </a:srgbClr>
            </a:solidFill>
            <a:prstDash val="solid"/>
          </a:ln>
        </p:spPr>
      </p:sp>
      <p:pic>
        <p:nvPicPr>
          <p:cNvPr id="8" name="ftm0__2" descr="preencoded.png">    </p:cNvPr>
          <p:cNvPicPr>
            <a:picLocks noChangeAspect="1"/>
          </p:cNvPicPr>
          <p:nvPr/>
        </p:nvPicPr>
        <p:blipFill>
          <a:blip r:embed="rId3"/>
          <a:stretch>
            <a:fillRect/>
          </a:stretch>
        </p:blipFill>
        <p:spPr>
          <a:xfrm>
            <a:off x="8663940" y="1805940"/>
            <a:ext cx="320040" cy="320040"/>
          </a:xfrm>
          <a:prstGeom prst="rect">
            <a:avLst/>
          </a:prstGeom>
        </p:spPr>
      </p:pic>
      <p:sp>
        <p:nvSpPr>
          <p:cNvPr id="9" name="ftm0__3"/>
          <p:cNvSpPr txBox="1"/>
          <p:nvPr/>
        </p:nvSpPr>
        <p:spPr>
          <a:xfrm>
            <a:off x="9326880" y="1627632"/>
            <a:ext cx="2331720" cy="384048"/>
          </a:xfrm>
          <a:prstGeom prst="rect">
            <a:avLst/>
          </a:prstGeom>
          <a:noFill/>
          <a:ln/>
        </p:spPr>
        <p:txBody>
          <a:bodyPr wrap="square" lIns="0" tIns="0" rIns="0" bIns="0" rtlCol="0" anchor="ctr"/>
          <a:lstStyle/>
          <a:p>
            <a:pPr indent="0" marL="0">
              <a:buNone/>
            </a:pPr>
            <a:r>
              <a:rPr lang="en-US" sz="1600" b="1" dirty="0">
                <a:solidFill>
                  <a:srgbClr val="F1F5FB"/>
                </a:solidFill>
                <a:latin typeface="Arial" pitchFamily="34" charset="0"/>
                <a:ea typeface="Arial" pitchFamily="34" charset="-122"/>
                <a:cs typeface="Arial" pitchFamily="34" charset="-120"/>
              </a:rPr>
              <a:t>Pick a flagged account</a:t>
            </a:r>
            <a:endParaRPr lang="en-US" sz="1600" dirty="0"/>
          </a:p>
        </p:txBody>
      </p:sp>
      <p:sp>
        <p:nvSpPr>
          <p:cNvPr id="10" name="ftm0__4"/>
          <p:cNvSpPr txBox="1"/>
          <p:nvPr/>
        </p:nvSpPr>
        <p:spPr>
          <a:xfrm>
            <a:off x="9326880" y="2029968"/>
            <a:ext cx="2331720" cy="8229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Jump to any of 11 demo scenarios in one click.</a:t>
            </a:r>
            <a:endParaRPr lang="en-US" sz="1400" dirty="0"/>
          </a:p>
        </p:txBody>
      </p:sp>
      <p:sp>
        <p:nvSpPr>
          <p:cNvPr id="11" name="ftm1__1"/>
          <p:cNvSpPr/>
          <p:nvPr/>
        </p:nvSpPr>
        <p:spPr>
          <a:xfrm>
            <a:off x="8503920" y="2834640"/>
            <a:ext cx="640080" cy="640080"/>
          </a:xfrm>
          <a:prstGeom prst="ellipse">
            <a:avLst/>
          </a:prstGeom>
          <a:solidFill>
            <a:srgbClr val="38BDF8">
              <a:alpha val="18000"/>
            </a:srgbClr>
          </a:solidFill>
          <a:ln w="12700">
            <a:solidFill>
              <a:srgbClr val="38BDF8">
                <a:alpha val="60000"/>
              </a:srgbClr>
            </a:solidFill>
            <a:prstDash val="solid"/>
          </a:ln>
        </p:spPr>
      </p:sp>
      <p:pic>
        <p:nvPicPr>
          <p:cNvPr id="12" name="ftm1__2" descr="preencoded.png">    </p:cNvPr>
          <p:cNvPicPr>
            <a:picLocks noChangeAspect="1"/>
          </p:cNvPicPr>
          <p:nvPr/>
        </p:nvPicPr>
        <p:blipFill>
          <a:blip r:embed="rId4"/>
          <a:stretch>
            <a:fillRect/>
          </a:stretch>
        </p:blipFill>
        <p:spPr>
          <a:xfrm>
            <a:off x="8663940" y="2994660"/>
            <a:ext cx="320040" cy="320040"/>
          </a:xfrm>
          <a:prstGeom prst="rect">
            <a:avLst/>
          </a:prstGeom>
        </p:spPr>
      </p:pic>
      <p:sp>
        <p:nvSpPr>
          <p:cNvPr id="13" name="ftm1__3"/>
          <p:cNvSpPr txBox="1"/>
          <p:nvPr/>
        </p:nvSpPr>
        <p:spPr>
          <a:xfrm>
            <a:off x="9326880" y="2816352"/>
            <a:ext cx="2331720" cy="384048"/>
          </a:xfrm>
          <a:prstGeom prst="rect">
            <a:avLst/>
          </a:prstGeom>
          <a:noFill/>
          <a:ln/>
        </p:spPr>
        <p:txBody>
          <a:bodyPr wrap="square" lIns="0" tIns="0" rIns="0" bIns="0" rtlCol="0" anchor="ctr"/>
          <a:lstStyle/>
          <a:p>
            <a:pPr indent="0" marL="0">
              <a:buNone/>
            </a:pPr>
            <a:r>
              <a:rPr lang="en-US" sz="1600" b="1" dirty="0">
                <a:solidFill>
                  <a:srgbClr val="F1F5FB"/>
                </a:solidFill>
                <a:latin typeface="Arial" pitchFamily="34" charset="0"/>
                <a:ea typeface="Arial" pitchFamily="34" charset="-122"/>
                <a:cs typeface="Arial" pitchFamily="34" charset="-120"/>
              </a:rPr>
              <a:t>Expand 1 or 2 hops</a:t>
            </a:r>
            <a:endParaRPr lang="en-US" sz="1600" dirty="0"/>
          </a:p>
        </p:txBody>
      </p:sp>
      <p:sp>
        <p:nvSpPr>
          <p:cNvPr id="14" name="ftm1__4"/>
          <p:cNvSpPr txBox="1"/>
          <p:nvPr/>
        </p:nvSpPr>
        <p:spPr>
          <a:xfrm>
            <a:off x="9326880" y="3218688"/>
            <a:ext cx="2331720" cy="8229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Directed edges show exactly where the money went next.</a:t>
            </a:r>
            <a:endParaRPr lang="en-US" sz="1400" dirty="0"/>
          </a:p>
        </p:txBody>
      </p:sp>
      <p:sp>
        <p:nvSpPr>
          <p:cNvPr id="15" name="ftm2__1"/>
          <p:cNvSpPr/>
          <p:nvPr/>
        </p:nvSpPr>
        <p:spPr>
          <a:xfrm>
            <a:off x="8503920" y="4023360"/>
            <a:ext cx="640080" cy="640080"/>
          </a:xfrm>
          <a:prstGeom prst="ellipse">
            <a:avLst/>
          </a:prstGeom>
          <a:solidFill>
            <a:srgbClr val="38BDF8">
              <a:alpha val="18000"/>
            </a:srgbClr>
          </a:solidFill>
          <a:ln w="12700">
            <a:solidFill>
              <a:srgbClr val="38BDF8">
                <a:alpha val="60000"/>
              </a:srgbClr>
            </a:solidFill>
            <a:prstDash val="solid"/>
          </a:ln>
        </p:spPr>
      </p:sp>
      <p:pic>
        <p:nvPicPr>
          <p:cNvPr id="16" name="ftm2__2" descr="preencoded.png">    </p:cNvPr>
          <p:cNvPicPr>
            <a:picLocks noChangeAspect="1"/>
          </p:cNvPicPr>
          <p:nvPr/>
        </p:nvPicPr>
        <p:blipFill>
          <a:blip r:embed="rId5"/>
          <a:stretch>
            <a:fillRect/>
          </a:stretch>
        </p:blipFill>
        <p:spPr>
          <a:xfrm>
            <a:off x="8663940" y="4183380"/>
            <a:ext cx="320040" cy="320040"/>
          </a:xfrm>
          <a:prstGeom prst="rect">
            <a:avLst/>
          </a:prstGeom>
        </p:spPr>
      </p:pic>
      <p:sp>
        <p:nvSpPr>
          <p:cNvPr id="17" name="ftm2__3"/>
          <p:cNvSpPr txBox="1"/>
          <p:nvPr/>
        </p:nvSpPr>
        <p:spPr>
          <a:xfrm>
            <a:off x="9326880" y="4005072"/>
            <a:ext cx="2331720" cy="384048"/>
          </a:xfrm>
          <a:prstGeom prst="rect">
            <a:avLst/>
          </a:prstGeom>
          <a:noFill/>
          <a:ln/>
        </p:spPr>
        <p:txBody>
          <a:bodyPr wrap="square" lIns="0" tIns="0" rIns="0" bIns="0" rtlCol="0" anchor="ctr"/>
          <a:lstStyle/>
          <a:p>
            <a:pPr indent="0" marL="0">
              <a:buNone/>
            </a:pPr>
            <a:r>
              <a:rPr lang="en-US" sz="1600" b="1" dirty="0">
                <a:solidFill>
                  <a:srgbClr val="F1F5FB"/>
                </a:solidFill>
                <a:latin typeface="Arial" pitchFamily="34" charset="0"/>
                <a:ea typeface="Arial" pitchFamily="34" charset="-122"/>
                <a:cs typeface="Arial" pitchFamily="34" charset="-120"/>
              </a:rPr>
              <a:t>Read the evidence</a:t>
            </a:r>
            <a:endParaRPr lang="en-US" sz="1600" dirty="0"/>
          </a:p>
        </p:txBody>
      </p:sp>
      <p:sp>
        <p:nvSpPr>
          <p:cNvPr id="18" name="ftm2__4"/>
          <p:cNvSpPr txBox="1"/>
          <p:nvPr/>
        </p:nvSpPr>
        <p:spPr>
          <a:xfrm>
            <a:off x="9326880" y="4407408"/>
            <a:ext cx="2331720" cy="8229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Score, inflow, outflow and patterns for every account.</a:t>
            </a:r>
            <a:endParaRPr lang="en-US" sz="1400" dirty="0"/>
          </a:p>
        </p:txBody>
      </p:sp>
      <p:sp>
        <p:nvSpPr>
          <p:cNvPr id="19" name="live__1">
            <a:hlinkClick r:id="rId6" tooltip="Open the live dashboard"/>
          </p:cNvPr>
          <p:cNvSpPr/>
          <p:nvPr/>
        </p:nvSpPr>
        <p:spPr>
          <a:xfrm>
            <a:off x="8503920" y="5074920"/>
            <a:ext cx="3136392" cy="502920"/>
          </a:xfrm>
          <a:prstGeom prst="roundRect">
            <a:avLst>
              <a:gd name="adj" fmla="val 49091"/>
            </a:avLst>
          </a:prstGeom>
          <a:solidFill>
            <a:srgbClr val="38BDF8"/>
          </a:solidFill>
          <a:ln w="12700">
            <a:solidFill>
              <a:srgbClr val="38BDF8"/>
            </a:solidFill>
            <a:prstDash val="solid"/>
          </a:ln>
        </p:spPr>
      </p:sp>
      <p:sp>
        <p:nvSpPr>
          <p:cNvPr id="20" name="live__2"/>
          <p:cNvSpPr txBox="1"/>
          <p:nvPr/>
        </p:nvSpPr>
        <p:spPr>
          <a:xfrm>
            <a:off x="8503920" y="5074920"/>
            <a:ext cx="3136392" cy="502920"/>
          </a:xfrm>
          <a:prstGeom prst="rect">
            <a:avLst/>
          </a:prstGeom>
          <a:noFill/>
          <a:ln/>
        </p:spPr>
        <p:txBody>
          <a:bodyPr wrap="square" lIns="0" tIns="0" rIns="0" bIns="0" rtlCol="0" anchor="ctr"/>
          <a:lstStyle/>
          <a:p>
            <a:pPr algn="ctr" indent="0" marL="0">
              <a:buNone/>
            </a:pPr>
            <a:r>
              <a:rPr lang="en-US" sz="1400" b="1" u="sng" dirty="0">
                <a:solidFill>
                  <a:srgbClr val="070B16"/>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Open live dashboard</a:t>
            </a:r>
            <a:endParaRPr lang="en-US" sz="1400" dirty="0"/>
          </a:p>
        </p:txBody>
      </p:sp>
      <p:sp>
        <p:nvSpPr>
          <p:cNvPr id="21" name="live__3"/>
          <p:cNvSpPr txBox="1"/>
          <p:nvPr/>
        </p:nvSpPr>
        <p:spPr>
          <a:xfrm>
            <a:off x="8503920" y="5650992"/>
            <a:ext cx="3136392" cy="292608"/>
          </a:xfrm>
          <a:prstGeom prst="rect">
            <a:avLst/>
          </a:prstGeom>
          <a:noFill/>
          <a:ln/>
        </p:spPr>
        <p:txBody>
          <a:bodyPr wrap="square" lIns="0" tIns="0" rIns="0" bIns="0" rtlCol="0" anchor="ctr"/>
          <a:lstStyle/>
          <a:p>
            <a:pPr algn="ctr" indent="0" marL="0">
              <a:buNone/>
            </a:pPr>
            <a:r>
              <a:rPr lang="en-US" sz="1200" u="sng" dirty="0">
                <a:solidFill>
                  <a:srgbClr val="38BDF8"/>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Graph API docs</a:t>
            </a:r>
            <a:pPr algn="ctr" indent="0" marL="0">
              <a:buNone/>
            </a:pPr>
            <a:r>
              <a:rPr lang="en-US" sz="1200" dirty="0">
                <a:solidFill>
                  <a:srgbClr val="5F7090"/>
                </a:solidFill>
                <a:latin typeface="Calibri" pitchFamily="34" charset="0"/>
                <a:ea typeface="Calibri" pitchFamily="34" charset="-122"/>
                <a:cs typeface="Calibri" pitchFamily="34" charset="-120"/>
              </a:rPr>
              <a:t>   ·   </a:t>
            </a:r>
            <a:pPr algn="ctr" indent="0" marL="0">
              <a:buNone/>
            </a:pPr>
            <a:r>
              <a:rPr lang="en-US" sz="1200" u="sng" dirty="0">
                <a:solidFill>
                  <a:srgbClr val="38BDF8"/>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ML API docs</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additive="base">
                                        <p:cTn id="8" dur="500" fill="hold"/>
                                        <p:tgtEl>
                                          <p:spTgt spid="7"/>
                                        </p:tgtEl>
                                        <p:attrNameLst>
                                          <p:attrName>ppt_x</p:attrName>
                                        </p:attrNameLst>
                                      </p:cBhvr>
                                      <p:tavLst>
                                        <p:tav tm="0">
                                          <p:val>
                                            <p:strVal val="#ppt_x"/>
                                          </p:val>
                                        </p:tav>
                                        <p:tav tm="100000">
                                          <p:val>
                                            <p:strVal val="#ppt_x"/>
                                          </p:val>
                                        </p:tav>
                                      </p:tavLst>
                                    </p:anim>
                                    <p:anim calcmode="lin" valueType="num">
                                      <p:cBhvr additive="base">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1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11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11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15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anim calcmode="lin" valueType="num">
                                      <p:cBhvr additive="base">
                                        <p:cTn id="28" dur="500" fill="hold"/>
                                        <p:tgtEl>
                                          <p:spTgt spid="11"/>
                                        </p:tgtEl>
                                        <p:attrNameLst>
                                          <p:attrName>ppt_x</p:attrName>
                                        </p:attrNameLst>
                                      </p:cBhvr>
                                      <p:tavLst>
                                        <p:tav tm="0">
                                          <p:val>
                                            <p:strVal val="#ppt_x"/>
                                          </p:val>
                                        </p:tav>
                                        <p:tav tm="100000">
                                          <p:val>
                                            <p:strVal val="#ppt_x"/>
                                          </p:val>
                                        </p:tav>
                                      </p:tavLst>
                                    </p:anim>
                                    <p:anim calcmode="lin" valueType="num">
                                      <p:cBhvr additive="base">
                                        <p:cTn id="29" dur="5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155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55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anim calcmode="lin" valueType="num">
                                      <p:cBhvr additive="base">
                                        <p:cTn id="38" dur="500" fill="hold"/>
                                        <p:tgtEl>
                                          <p:spTgt spid="13"/>
                                        </p:tgtEl>
                                        <p:attrNameLst>
                                          <p:attrName>ppt_x</p:attrName>
                                        </p:attrNameLst>
                                      </p:cBhvr>
                                      <p:tavLst>
                                        <p:tav tm="0">
                                          <p:val>
                                            <p:strVal val="#ppt_x"/>
                                          </p:val>
                                        </p:tav>
                                        <p:tav tm="100000">
                                          <p:val>
                                            <p:strVal val="#ppt_x"/>
                                          </p:val>
                                        </p:tav>
                                      </p:tavLst>
                                    </p:anim>
                                    <p:anim calcmode="lin" valueType="num">
                                      <p:cBhvr additive="base">
                                        <p:cTn id="39" dur="500" fill="hold"/>
                                        <p:tgtEl>
                                          <p:spTgt spid="13"/>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55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200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anim calcmode="lin" valueType="num">
                                      <p:cBhvr additive="base">
                                        <p:cTn id="48" dur="500" fill="hold"/>
                                        <p:tgtEl>
                                          <p:spTgt spid="15"/>
                                        </p:tgtEl>
                                        <p:attrNameLst>
                                          <p:attrName>ppt_x</p:attrName>
                                        </p:attrNameLst>
                                      </p:cBhvr>
                                      <p:tavLst>
                                        <p:tav tm="0">
                                          <p:val>
                                            <p:strVal val="#ppt_x"/>
                                          </p:val>
                                        </p:tav>
                                        <p:tav tm="100000">
                                          <p:val>
                                            <p:strVal val="#ppt_x"/>
                                          </p:val>
                                        </p:tav>
                                      </p:tavLst>
                                    </p:anim>
                                    <p:anim calcmode="lin" valueType="num">
                                      <p:cBhvr additive="base">
                                        <p:cTn id="49" dur="500" fill="hold"/>
                                        <p:tgtEl>
                                          <p:spTgt spid="15"/>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200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anim calcmode="lin" valueType="num">
                                      <p:cBhvr additive="base">
                                        <p:cTn id="53" dur="500" fill="hold"/>
                                        <p:tgtEl>
                                          <p:spTgt spid="16"/>
                                        </p:tgtEl>
                                        <p:attrNameLst>
                                          <p:attrName>ppt_x</p:attrName>
                                        </p:attrNameLst>
                                      </p:cBhvr>
                                      <p:tavLst>
                                        <p:tav tm="0">
                                          <p:val>
                                            <p:strVal val="#ppt_x"/>
                                          </p:val>
                                        </p:tav>
                                        <p:tav tm="100000">
                                          <p:val>
                                            <p:strVal val="#ppt_x"/>
                                          </p:val>
                                        </p:tav>
                                      </p:tavLst>
                                    </p:anim>
                                    <p:anim calcmode="lin" valueType="num">
                                      <p:cBhvr additive="base">
                                        <p:cTn id="54" dur="500" fill="hold"/>
                                        <p:tgtEl>
                                          <p:spTgt spid="16"/>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200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anim calcmode="lin" valueType="num">
                                      <p:cBhvr additive="base">
                                        <p:cTn id="58" dur="500" fill="hold"/>
                                        <p:tgtEl>
                                          <p:spTgt spid="17"/>
                                        </p:tgtEl>
                                        <p:attrNameLst>
                                          <p:attrName>ppt_x</p:attrName>
                                        </p:attrNameLst>
                                      </p:cBhvr>
                                      <p:tavLst>
                                        <p:tav tm="0">
                                          <p:val>
                                            <p:strVal val="#ppt_x"/>
                                          </p:val>
                                        </p:tav>
                                        <p:tav tm="100000">
                                          <p:val>
                                            <p:strVal val="#ppt_x"/>
                                          </p:val>
                                        </p:tav>
                                      </p:tavLst>
                                    </p:anim>
                                    <p:anim calcmode="lin" valueType="num">
                                      <p:cBhvr additive="base">
                                        <p:cTn id="59" dur="500" fill="hold"/>
                                        <p:tgtEl>
                                          <p:spTgt spid="17"/>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200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anim calcmode="lin" valueType="num">
                                      <p:cBhvr additive="base">
                                        <p:cTn id="63" dur="500" fill="hold"/>
                                        <p:tgtEl>
                                          <p:spTgt spid="18"/>
                                        </p:tgtEl>
                                        <p:attrNameLst>
                                          <p:attrName>ppt_x</p:attrName>
                                        </p:attrNameLst>
                                      </p:cBhvr>
                                      <p:tavLst>
                                        <p:tav tm="0">
                                          <p:val>
                                            <p:strVal val="#ppt_x"/>
                                          </p:val>
                                        </p:tav>
                                        <p:tav tm="100000">
                                          <p:val>
                                            <p:strVal val="#ppt_x"/>
                                          </p:val>
                                        </p:tav>
                                      </p:tavLst>
                                    </p:anim>
                                    <p:anim calcmode="lin" valueType="num">
                                      <p:cBhvr additive="base">
                                        <p:cTn id="64" dur="500" fill="hold"/>
                                        <p:tgtEl>
                                          <p:spTgt spid="18"/>
                                        </p:tgtEl>
                                        <p:attrNameLst>
                                          <p:attrName>ppt_y</p:attrName>
                                        </p:attrNameLst>
                                      </p:cBhvr>
                                      <p:tavLst>
                                        <p:tav tm="0">
                                          <p:val>
                                            <p:strVal val="#ppt_y+.1"/>
                                          </p:val>
                                        </p:tav>
                                        <p:tav tm="100000">
                                          <p:val>
                                            <p:strVal val="#ppt_y"/>
                                          </p:val>
                                        </p:tav>
                                      </p:tavLst>
                                    </p:anim>
                                  </p:childTnLst>
                                </p:cTn>
                              </p:par>
                              <p:par>
                                <p:cTn id="65" presetID="53" presetClass="entr" presetSubtype="16" fill="hold" nodeType="withEffect">
                                  <p:stCondLst>
                                    <p:cond delay="260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ppt_w</p:attrName>
                                        </p:attrNameLst>
                                      </p:cBhvr>
                                      <p:tavLst>
                                        <p:tav tm="0">
                                          <p:val>
                                            <p:strVal val="0"/>
                                          </p:val>
                                        </p:tav>
                                        <p:tav tm="100000">
                                          <p:val>
                                            <p:strVal val="#ppt_w"/>
                                          </p:val>
                                        </p:tav>
                                      </p:tavLst>
                                    </p:anim>
                                    <p:anim calcmode="lin" valueType="num">
                                      <p:cBhvr additive="base">
                                        <p:cTn id="68" dur="500" fill="hold"/>
                                        <p:tgtEl>
                                          <p:spTgt spid="19"/>
                                        </p:tgtEl>
                                        <p:attrNameLst>
                                          <p:attrName>ppt_h</p:attrName>
                                        </p:attrNameLst>
                                      </p:cBhvr>
                                      <p:tavLst>
                                        <p:tav tm="0">
                                          <p:val>
                                            <p:strVal val="0"/>
                                          </p:val>
                                        </p:tav>
                                        <p:tav tm="100000">
                                          <p:val>
                                            <p:strVal val="#ppt_h"/>
                                          </p:val>
                                        </p:tav>
                                      </p:tavLst>
                                    </p:anim>
                                    <p:animEffect transition="in" filter="fade">
                                      <p:cBhvr>
                                        <p:cTn id="69" dur="500"/>
                                        <p:tgtEl>
                                          <p:spTgt spid="19"/>
                                        </p:tgtEl>
                                      </p:cBhvr>
                                    </p:animEffect>
                                  </p:childTnLst>
                                </p:cTn>
                              </p:par>
                              <p:par>
                                <p:cTn id="70" presetID="53" presetClass="entr" presetSubtype="16" fill="hold" nodeType="withEffect">
                                  <p:stCondLst>
                                    <p:cond delay="260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500" fill="hold"/>
                                        <p:tgtEl>
                                          <p:spTgt spid="20"/>
                                        </p:tgtEl>
                                        <p:attrNameLst>
                                          <p:attrName>ppt_w</p:attrName>
                                        </p:attrNameLst>
                                      </p:cBhvr>
                                      <p:tavLst>
                                        <p:tav tm="0">
                                          <p:val>
                                            <p:strVal val="0"/>
                                          </p:val>
                                        </p:tav>
                                        <p:tav tm="100000">
                                          <p:val>
                                            <p:strVal val="#ppt_w"/>
                                          </p:val>
                                        </p:tav>
                                      </p:tavLst>
                                    </p:anim>
                                    <p:anim calcmode="lin" valueType="num">
                                      <p:cBhvr additive="base">
                                        <p:cTn id="73" dur="500" fill="hold"/>
                                        <p:tgtEl>
                                          <p:spTgt spid="20"/>
                                        </p:tgtEl>
                                        <p:attrNameLst>
                                          <p:attrName>ppt_h</p:attrName>
                                        </p:attrNameLst>
                                      </p:cBhvr>
                                      <p:tavLst>
                                        <p:tav tm="0">
                                          <p:val>
                                            <p:strVal val="0"/>
                                          </p:val>
                                        </p:tav>
                                        <p:tav tm="100000">
                                          <p:val>
                                            <p:strVal val="#ppt_h"/>
                                          </p:val>
                                        </p:tav>
                                      </p:tavLst>
                                    </p:anim>
                                    <p:animEffect transition="in" filter="fade">
                                      <p:cBhvr>
                                        <p:cTn id="74" dur="500"/>
                                        <p:tgtEl>
                                          <p:spTgt spid="20"/>
                                        </p:tgtEl>
                                      </p:cBhvr>
                                    </p:animEffect>
                                  </p:childTnLst>
                                </p:cTn>
                              </p:par>
                              <p:par>
                                <p:cTn id="75" presetID="53" presetClass="entr" presetSubtype="16" fill="hold" nodeType="withEffect">
                                  <p:stCondLst>
                                    <p:cond delay="260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fill="hold"/>
                                        <p:tgtEl>
                                          <p:spTgt spid="21"/>
                                        </p:tgtEl>
                                        <p:attrNameLst>
                                          <p:attrName>ppt_w</p:attrName>
                                        </p:attrNameLst>
                                      </p:cBhvr>
                                      <p:tavLst>
                                        <p:tav tm="0">
                                          <p:val>
                                            <p:strVal val="0"/>
                                          </p:val>
                                        </p:tav>
                                        <p:tav tm="100000">
                                          <p:val>
                                            <p:strVal val="#ppt_w"/>
                                          </p:val>
                                        </p:tav>
                                      </p:tavLst>
                                    </p:anim>
                                    <p:anim calcmode="lin" valueType="num">
                                      <p:cBhvr additive="base">
                                        <p:cTn id="78" dur="500" fill="hold"/>
                                        <p:tgtEl>
                                          <p:spTgt spid="21"/>
                                        </p:tgtEl>
                                        <p:attrNameLst>
                                          <p:attrName>ppt_h</p:attrName>
                                        </p:attrNameLst>
                                      </p:cBhvr>
                                      <p:tavLst>
                                        <p:tav tm="0">
                                          <p:val>
                                            <p:strVal val="0"/>
                                          </p:val>
                                        </p:tav>
                                        <p:tav tm="100000">
                                          <p:val>
                                            <p:strVal val="#ppt_h"/>
                                          </p:val>
                                        </p:tav>
                                      </p:tavLst>
                                    </p:anim>
                                    <p:animEffect transition="in" filter="fade">
                                      <p:cBhvr>
                                        <p:cTn id="79" dur="500"/>
                                        <p:tgtEl>
                                          <p:spTgt spid="21"/>
                                        </p:tgtEl>
                                      </p:cBhvr>
                                    </p:animEffect>
                                  </p:childTnLst>
                                </p:cTn>
                              </p:par>
                              <p:par>
                                <p:cTn id="80" presetID="53" presetClass="entr" presetSubtype="16" fill="hold" nodeType="withEffect">
                                  <p:stCondLst>
                                    <p:cond delay="200"/>
                                  </p:stCondLst>
                                  <p:childTnLst>
                                    <p:set>
                                      <p:cBhvr>
                                        <p:cTn id="81" dur="1" fill="hold">
                                          <p:stCondLst>
                                            <p:cond delay="0"/>
                                          </p:stCondLst>
                                        </p:cTn>
                                        <p:tgtEl>
                                          <p:spTgt spid="5"/>
                                        </p:tgtEl>
                                        <p:attrNameLst>
                                          <p:attrName>style.visibility</p:attrName>
                                        </p:attrNameLst>
                                      </p:cBhvr>
                                      <p:to>
                                        <p:strVal val="visible"/>
                                      </p:to>
                                    </p:set>
                                    <p:anim calcmode="lin" valueType="num">
                                      <p:cBhvr additive="base">
                                        <p:cTn id="82" dur="700" fill="hold"/>
                                        <p:tgtEl>
                                          <p:spTgt spid="5"/>
                                        </p:tgtEl>
                                        <p:attrNameLst>
                                          <p:attrName>ppt_w</p:attrName>
                                        </p:attrNameLst>
                                      </p:cBhvr>
                                      <p:tavLst>
                                        <p:tav tm="0">
                                          <p:val>
                                            <p:strVal val="0"/>
                                          </p:val>
                                        </p:tav>
                                        <p:tav tm="100000">
                                          <p:val>
                                            <p:strVal val="#ppt_w"/>
                                          </p:val>
                                        </p:tav>
                                      </p:tavLst>
                                    </p:anim>
                                    <p:anim calcmode="lin" valueType="num">
                                      <p:cBhvr additive="base">
                                        <p:cTn id="83" dur="700" fill="hold"/>
                                        <p:tgtEl>
                                          <p:spTgt spid="5"/>
                                        </p:tgtEl>
                                        <p:attrNameLst>
                                          <p:attrName>ppt_h</p:attrName>
                                        </p:attrNameLst>
                                      </p:cBhvr>
                                      <p:tavLst>
                                        <p:tav tm="0">
                                          <p:val>
                                            <p:strVal val="0"/>
                                          </p:val>
                                        </p:tav>
                                        <p:tav tm="100000">
                                          <p:val>
                                            <p:strVal val="#ppt_h"/>
                                          </p:val>
                                        </p:tav>
                                      </p:tavLst>
                                    </p:anim>
                                    <p:animEffect transition="in" filter="fade">
                                      <p:cBhvr>
                                        <p:cTn id="84" dur="700"/>
                                        <p:tgtEl>
                                          <p:spTgt spid="5"/>
                                        </p:tgtEl>
                                      </p:cBhvr>
                                    </p:animEffect>
                                  </p:childTnLst>
                                </p:cTn>
                              </p:par>
                              <p:par>
                                <p:cTn id="85" presetID="53" presetClass="entr" presetSubtype="16" fill="hold" nodeType="withEffect">
                                  <p:stCondLst>
                                    <p:cond delay="200"/>
                                  </p:stCondLst>
                                  <p:childTnLst>
                                    <p:set>
                                      <p:cBhvr>
                                        <p:cTn id="86" dur="1" fill="hold">
                                          <p:stCondLst>
                                            <p:cond delay="0"/>
                                          </p:stCondLst>
                                        </p:cTn>
                                        <p:tgtEl>
                                          <p:spTgt spid="6"/>
                                        </p:tgtEl>
                                        <p:attrNameLst>
                                          <p:attrName>style.visibility</p:attrName>
                                        </p:attrNameLst>
                                      </p:cBhvr>
                                      <p:to>
                                        <p:strVal val="visible"/>
                                      </p:to>
                                    </p:set>
                                    <p:anim calcmode="lin" valueType="num">
                                      <p:cBhvr additive="base">
                                        <p:cTn id="87" dur="700" fill="hold"/>
                                        <p:tgtEl>
                                          <p:spTgt spid="6"/>
                                        </p:tgtEl>
                                        <p:attrNameLst>
                                          <p:attrName>ppt_w</p:attrName>
                                        </p:attrNameLst>
                                      </p:cBhvr>
                                      <p:tavLst>
                                        <p:tav tm="0">
                                          <p:val>
                                            <p:strVal val="0"/>
                                          </p:val>
                                        </p:tav>
                                        <p:tav tm="100000">
                                          <p:val>
                                            <p:strVal val="#ppt_w"/>
                                          </p:val>
                                        </p:tav>
                                      </p:tavLst>
                                    </p:anim>
                                    <p:anim calcmode="lin" valueType="num">
                                      <p:cBhvr additive="base">
                                        <p:cTn id="88" dur="700" fill="hold"/>
                                        <p:tgtEl>
                                          <p:spTgt spid="6"/>
                                        </p:tgtEl>
                                        <p:attrNameLst>
                                          <p:attrName>ppt_h</p:attrName>
                                        </p:attrNameLst>
                                      </p:cBhvr>
                                      <p:tavLst>
                                        <p:tav tm="0">
                                          <p:val>
                                            <p:strVal val="0"/>
                                          </p:val>
                                        </p:tav>
                                        <p:tav tm="100000">
                                          <p:val>
                                            <p:strVal val="#ppt_h"/>
                                          </p:val>
                                        </p:tav>
                                      </p:tavLst>
                                    </p:anim>
                                    <p:animEffect transition="in" filter="fade">
                                      <p:cBhvr>
                                        <p:cTn id="89"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09  ·  AI INVESTIGATOR</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From alert to next step in seconds</a:t>
            </a:r>
            <a:endParaRPr lang="en-US" sz="3400" dirty="0"/>
          </a:p>
        </p:txBody>
      </p:sp>
      <p:sp>
        <p:nvSpPr>
          <p:cNvPr id="5" name="inv0__1"/>
          <p:cNvSpPr/>
          <p:nvPr/>
        </p:nvSpPr>
        <p:spPr>
          <a:xfrm>
            <a:off x="548640" y="1645920"/>
            <a:ext cx="640080" cy="640080"/>
          </a:xfrm>
          <a:prstGeom prst="ellipse">
            <a:avLst/>
          </a:prstGeom>
          <a:solidFill>
            <a:srgbClr val="A78BFA">
              <a:alpha val="18000"/>
            </a:srgbClr>
          </a:solidFill>
          <a:ln w="12700">
            <a:solidFill>
              <a:srgbClr val="A78BFA">
                <a:alpha val="60000"/>
              </a:srgbClr>
            </a:solidFill>
            <a:prstDash val="solid"/>
          </a:ln>
        </p:spPr>
      </p:sp>
      <p:pic>
        <p:nvPicPr>
          <p:cNvPr id="6" name="inv0__2" descr="preencoded.png">    </p:cNvPr>
          <p:cNvPicPr>
            <a:picLocks noChangeAspect="1"/>
          </p:cNvPicPr>
          <p:nvPr/>
        </p:nvPicPr>
        <p:blipFill>
          <a:blip r:embed="rId2"/>
          <a:stretch>
            <a:fillRect/>
          </a:stretch>
        </p:blipFill>
        <p:spPr>
          <a:xfrm>
            <a:off x="708660" y="1805940"/>
            <a:ext cx="320040" cy="320040"/>
          </a:xfrm>
          <a:prstGeom prst="rect">
            <a:avLst/>
          </a:prstGeom>
        </p:spPr>
      </p:pic>
      <p:sp>
        <p:nvSpPr>
          <p:cNvPr id="7" name="inv0__3"/>
          <p:cNvSpPr txBox="1"/>
          <p:nvPr/>
        </p:nvSpPr>
        <p:spPr>
          <a:xfrm>
            <a:off x="1371600" y="1627632"/>
            <a:ext cx="5486400" cy="365760"/>
          </a:xfrm>
          <a:prstGeom prst="rect">
            <a:avLst/>
          </a:prstGeom>
          <a:noFill/>
          <a:ln/>
        </p:spPr>
        <p:txBody>
          <a:bodyPr wrap="square" lIns="0" tIns="0" rIns="0" bIns="0" rtlCol="0" anchor="ctr"/>
          <a:lstStyle/>
          <a:p>
            <a:pPr indent="0" marL="0">
              <a:buNone/>
            </a:pPr>
            <a:r>
              <a:rPr lang="en-US" sz="1600" b="1" dirty="0">
                <a:solidFill>
                  <a:srgbClr val="F1F5FB"/>
                </a:solidFill>
                <a:latin typeface="Arial" pitchFamily="34" charset="0"/>
                <a:ea typeface="Arial" pitchFamily="34" charset="-122"/>
                <a:cs typeface="Arial" pitchFamily="34" charset="-120"/>
              </a:rPr>
              <a:t>Names the typology</a:t>
            </a:r>
            <a:endParaRPr lang="en-US" sz="1600" dirty="0"/>
          </a:p>
        </p:txBody>
      </p:sp>
      <p:sp>
        <p:nvSpPr>
          <p:cNvPr id="8" name="inv0__4"/>
          <p:cNvSpPr txBox="1"/>
          <p:nvPr/>
        </p:nvSpPr>
        <p:spPr>
          <a:xfrm>
            <a:off x="1371600" y="2011680"/>
            <a:ext cx="5486400" cy="77724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Money-mule hub, layering loop, smurfing: each case gets a plain-language label and summary.</a:t>
            </a:r>
            <a:endParaRPr lang="en-US" sz="1400" dirty="0"/>
          </a:p>
        </p:txBody>
      </p:sp>
      <p:sp>
        <p:nvSpPr>
          <p:cNvPr id="9" name="inv1__1"/>
          <p:cNvSpPr/>
          <p:nvPr/>
        </p:nvSpPr>
        <p:spPr>
          <a:xfrm>
            <a:off x="548640" y="2907792"/>
            <a:ext cx="640080" cy="640080"/>
          </a:xfrm>
          <a:prstGeom prst="ellipse">
            <a:avLst/>
          </a:prstGeom>
          <a:solidFill>
            <a:srgbClr val="A78BFA">
              <a:alpha val="18000"/>
            </a:srgbClr>
          </a:solidFill>
          <a:ln w="12700">
            <a:solidFill>
              <a:srgbClr val="A78BFA">
                <a:alpha val="60000"/>
              </a:srgbClr>
            </a:solidFill>
            <a:prstDash val="solid"/>
          </a:ln>
        </p:spPr>
      </p:sp>
      <p:pic>
        <p:nvPicPr>
          <p:cNvPr id="10" name="inv1__2" descr="preencoded.png">    </p:cNvPr>
          <p:cNvPicPr>
            <a:picLocks noChangeAspect="1"/>
          </p:cNvPicPr>
          <p:nvPr/>
        </p:nvPicPr>
        <p:blipFill>
          <a:blip r:embed="rId3"/>
          <a:stretch>
            <a:fillRect/>
          </a:stretch>
        </p:blipFill>
        <p:spPr>
          <a:xfrm>
            <a:off x="708660" y="3067812"/>
            <a:ext cx="320040" cy="320040"/>
          </a:xfrm>
          <a:prstGeom prst="rect">
            <a:avLst/>
          </a:prstGeom>
        </p:spPr>
      </p:pic>
      <p:sp>
        <p:nvSpPr>
          <p:cNvPr id="11" name="inv1__3"/>
          <p:cNvSpPr txBox="1"/>
          <p:nvPr/>
        </p:nvSpPr>
        <p:spPr>
          <a:xfrm>
            <a:off x="1371600" y="2889504"/>
            <a:ext cx="5486400" cy="365760"/>
          </a:xfrm>
          <a:prstGeom prst="rect">
            <a:avLst/>
          </a:prstGeom>
          <a:noFill/>
          <a:ln/>
        </p:spPr>
        <p:txBody>
          <a:bodyPr wrap="square" lIns="0" tIns="0" rIns="0" bIns="0" rtlCol="0" anchor="ctr"/>
          <a:lstStyle/>
          <a:p>
            <a:pPr indent="0" marL="0">
              <a:buNone/>
            </a:pPr>
            <a:r>
              <a:rPr lang="en-US" sz="1600" b="1" dirty="0">
                <a:solidFill>
                  <a:srgbClr val="F1F5FB"/>
                </a:solidFill>
                <a:latin typeface="Arial" pitchFamily="34" charset="0"/>
                <a:ea typeface="Arial" pitchFamily="34" charset="-122"/>
                <a:cs typeface="Arial" pitchFamily="34" charset="-120"/>
              </a:rPr>
              <a:t>Explains with real numbers</a:t>
            </a:r>
            <a:endParaRPr lang="en-US" sz="1600" dirty="0"/>
          </a:p>
        </p:txBody>
      </p:sp>
      <p:sp>
        <p:nvSpPr>
          <p:cNvPr id="12" name="inv1__4"/>
          <p:cNvSpPr txBox="1"/>
          <p:nvPr/>
        </p:nvSpPr>
        <p:spPr>
          <a:xfrm>
            <a:off x="1371600" y="3273552"/>
            <a:ext cx="5486400" cy="77724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Key findings quote the pipeline's own metrics, so every sentence can be audited.</a:t>
            </a:r>
            <a:endParaRPr lang="en-US" sz="1400" dirty="0"/>
          </a:p>
        </p:txBody>
      </p:sp>
      <p:sp>
        <p:nvSpPr>
          <p:cNvPr id="13" name="inv2__1"/>
          <p:cNvSpPr/>
          <p:nvPr/>
        </p:nvSpPr>
        <p:spPr>
          <a:xfrm>
            <a:off x="548640" y="4169664"/>
            <a:ext cx="640080" cy="640080"/>
          </a:xfrm>
          <a:prstGeom prst="ellipse">
            <a:avLst/>
          </a:prstGeom>
          <a:solidFill>
            <a:srgbClr val="A78BFA">
              <a:alpha val="18000"/>
            </a:srgbClr>
          </a:solidFill>
          <a:ln w="12700">
            <a:solidFill>
              <a:srgbClr val="A78BFA">
                <a:alpha val="60000"/>
              </a:srgbClr>
            </a:solidFill>
            <a:prstDash val="solid"/>
          </a:ln>
        </p:spPr>
      </p:sp>
      <p:pic>
        <p:nvPicPr>
          <p:cNvPr id="14" name="inv2__2" descr="preencoded.png">    </p:cNvPr>
          <p:cNvPicPr>
            <a:picLocks noChangeAspect="1"/>
          </p:cNvPicPr>
          <p:nvPr/>
        </p:nvPicPr>
        <p:blipFill>
          <a:blip r:embed="rId4"/>
          <a:stretch>
            <a:fillRect/>
          </a:stretch>
        </p:blipFill>
        <p:spPr>
          <a:xfrm>
            <a:off x="708660" y="4329684"/>
            <a:ext cx="320040" cy="320040"/>
          </a:xfrm>
          <a:prstGeom prst="rect">
            <a:avLst/>
          </a:prstGeom>
        </p:spPr>
      </p:pic>
      <p:sp>
        <p:nvSpPr>
          <p:cNvPr id="15" name="inv2__3"/>
          <p:cNvSpPr txBox="1"/>
          <p:nvPr/>
        </p:nvSpPr>
        <p:spPr>
          <a:xfrm>
            <a:off x="1371600" y="4151376"/>
            <a:ext cx="5486400" cy="365760"/>
          </a:xfrm>
          <a:prstGeom prst="rect">
            <a:avLst/>
          </a:prstGeom>
          <a:noFill/>
          <a:ln/>
        </p:spPr>
        <p:txBody>
          <a:bodyPr wrap="square" lIns="0" tIns="0" rIns="0" bIns="0" rtlCol="0" anchor="ctr"/>
          <a:lstStyle/>
          <a:p>
            <a:pPr indent="0" marL="0">
              <a:buNone/>
            </a:pPr>
            <a:r>
              <a:rPr lang="en-US" sz="1600" b="1" dirty="0">
                <a:solidFill>
                  <a:srgbClr val="F1F5FB"/>
                </a:solidFill>
                <a:latin typeface="Arial" pitchFamily="34" charset="0"/>
                <a:ea typeface="Arial" pitchFamily="34" charset="-122"/>
                <a:cs typeface="Arial" pitchFamily="34" charset="-120"/>
              </a:rPr>
              <a:t>Recommends MFS next steps</a:t>
            </a:r>
            <a:endParaRPr lang="en-US" sz="1600" dirty="0"/>
          </a:p>
        </p:txBody>
      </p:sp>
      <p:sp>
        <p:nvSpPr>
          <p:cNvPr id="16" name="inv2__4"/>
          <p:cNvSpPr txBox="1"/>
          <p:nvPr/>
        </p:nvSpPr>
        <p:spPr>
          <a:xfrm>
            <a:off x="1371600" y="4535424"/>
            <a:ext cx="5486400" cy="77724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Check NID, SIM and device links, review agent cash-outs, and for CRITICAL cases prepare an STR for BFIU.</a:t>
            </a:r>
            <a:endParaRPr lang="en-US" sz="1400" dirty="0"/>
          </a:p>
        </p:txBody>
      </p:sp>
      <p:sp>
        <p:nvSpPr>
          <p:cNvPr id="17" name="invq__1"/>
          <p:cNvSpPr/>
          <p:nvPr/>
        </p:nvSpPr>
        <p:spPr>
          <a:xfrm>
            <a:off x="548640" y="5440680"/>
            <a:ext cx="6309360" cy="640080"/>
          </a:xfrm>
          <a:prstGeom prst="roundRect">
            <a:avLst>
              <a:gd name="adj" fmla="val 17143"/>
            </a:avLst>
          </a:prstGeom>
          <a:solidFill>
            <a:srgbClr val="A78BFA">
              <a:alpha val="12000"/>
            </a:srgbClr>
          </a:solidFill>
          <a:ln w="12700">
            <a:solidFill>
              <a:srgbClr val="A78BFA"/>
            </a:solidFill>
            <a:prstDash val="solid"/>
          </a:ln>
        </p:spPr>
      </p:sp>
      <p:sp>
        <p:nvSpPr>
          <p:cNvPr id="18" name="invq__2"/>
          <p:cNvSpPr txBox="1"/>
          <p:nvPr/>
        </p:nvSpPr>
        <p:spPr>
          <a:xfrm>
            <a:off x="731520" y="5440680"/>
            <a:ext cx="6035040" cy="640080"/>
          </a:xfrm>
          <a:prstGeom prst="rect">
            <a:avLst/>
          </a:prstGeom>
          <a:noFill/>
          <a:ln/>
        </p:spPr>
        <p:txBody>
          <a:bodyPr wrap="square" lIns="0" tIns="0" rIns="0" bIns="0" rtlCol="0" anchor="ctr"/>
          <a:lstStyle/>
          <a:p>
            <a:pPr indent="0" marL="0">
              <a:buNone/>
            </a:pPr>
            <a:r>
              <a:rPr lang="en-US" sz="1300" b="1" i="1" dirty="0">
                <a:solidFill>
                  <a:srgbClr val="F1F5FB"/>
                </a:solidFill>
                <a:latin typeface="Calibri" pitchFamily="34" charset="0"/>
                <a:ea typeface="Calibri" pitchFamily="34" charset="-122"/>
                <a:cs typeface="Calibri" pitchFamily="34" charset="-120"/>
              </a:rPr>
              <a:t>Works fully offline. </a:t>
            </a:r>
            <a:pPr indent="0" marL="0">
              <a:buNone/>
            </a:pPr>
            <a:r>
              <a:rPr lang="en-US" sz="1300" i="1" dirty="0">
                <a:solidFill>
                  <a:srgbClr val="F1F5FB"/>
                </a:solidFill>
                <a:latin typeface="Calibri" pitchFamily="34" charset="0"/>
                <a:ea typeface="Calibri" pitchFamily="34" charset="-122"/>
                <a:cs typeface="Calibri" pitchFamily="34" charset="-120"/>
              </a:rPr>
              <a:t>An optional Claude narrative rewrites the briefing using only the pipeline's facts.</a:t>
            </a:r>
            <a:endParaRPr lang="en-US" sz="1300" dirty="0"/>
          </a:p>
        </p:txBody>
      </p:sp>
      <p:sp>
        <p:nvSpPr>
          <p:cNvPr id="19" name="ishot__1"/>
          <p:cNvSpPr/>
          <p:nvPr/>
        </p:nvSpPr>
        <p:spPr>
          <a:xfrm>
            <a:off x="7388352" y="1572768"/>
            <a:ext cx="3931920" cy="4493941"/>
          </a:xfrm>
          <a:prstGeom prst="roundRect">
            <a:avLst>
              <a:gd name="adj" fmla="val 1860"/>
            </a:avLst>
          </a:prstGeom>
          <a:solidFill>
            <a:srgbClr val="0E1729"/>
          </a:solidFill>
          <a:ln w="12700">
            <a:solidFill>
              <a:srgbClr val="A78BFA">
                <a:alpha val="55000"/>
              </a:srgbClr>
            </a:solidFill>
            <a:prstDash val="solid"/>
          </a:ln>
          <a:effectLst>
            <a:outerShdw sx="100000" sy="100000" kx="0" ky="0" algn="bl" rotWithShape="0" blurRad="228600" dist="50800" dir="5400000">
              <a:srgbClr val="A78BFA">
                <a:alpha val="30000"/>
              </a:srgbClr>
            </a:outerShdw>
          </a:effectLst>
        </p:spPr>
      </p:sp>
      <p:pic>
        <p:nvPicPr>
          <p:cNvPr id="20" name="ishot__2" descr="/tmp/claude-0/-home-claude/f925570b-377a-5c3c-9531-1679f3895fd9/scratchpad/deck/img/inv.png">    </p:cNvPr>
          <p:cNvPicPr>
            <a:picLocks noChangeAspect="1"/>
          </p:cNvPicPr>
          <p:nvPr/>
        </p:nvPicPr>
        <p:blipFill>
          <a:blip r:embed="rId5"/>
          <a:stretch>
            <a:fillRect/>
          </a:stretch>
        </p:blipFill>
        <p:spPr>
          <a:xfrm>
            <a:off x="7434072" y="1618488"/>
            <a:ext cx="3840480" cy="4402501"/>
          </a:xfrm>
          <a:prstGeom prst="rect">
            <a:avLst/>
          </a:prstGeom>
        </p:spPr>
      </p:pic>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9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9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9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9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1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13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3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30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70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70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7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7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53" presetClass="entr" presetSubtype="16" fill="hold" nodeType="withEffect">
                                  <p:stCondLst>
                                    <p:cond delay="20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700" fill="hold"/>
                                        <p:tgtEl>
                                          <p:spTgt spid="19"/>
                                        </p:tgtEl>
                                        <p:attrNameLst>
                                          <p:attrName>ppt_w</p:attrName>
                                        </p:attrNameLst>
                                      </p:cBhvr>
                                      <p:tavLst>
                                        <p:tav tm="0">
                                          <p:val>
                                            <p:strVal val="0"/>
                                          </p:val>
                                        </p:tav>
                                        <p:tav tm="100000">
                                          <p:val>
                                            <p:strVal val="#ppt_w"/>
                                          </p:val>
                                        </p:tav>
                                      </p:tavLst>
                                    </p:anim>
                                    <p:anim calcmode="lin" valueType="num">
                                      <p:cBhvr additive="base">
                                        <p:cTn id="68" dur="700" fill="hold"/>
                                        <p:tgtEl>
                                          <p:spTgt spid="19"/>
                                        </p:tgtEl>
                                        <p:attrNameLst>
                                          <p:attrName>ppt_h</p:attrName>
                                        </p:attrNameLst>
                                      </p:cBhvr>
                                      <p:tavLst>
                                        <p:tav tm="0">
                                          <p:val>
                                            <p:strVal val="0"/>
                                          </p:val>
                                        </p:tav>
                                        <p:tav tm="100000">
                                          <p:val>
                                            <p:strVal val="#ppt_h"/>
                                          </p:val>
                                        </p:tav>
                                      </p:tavLst>
                                    </p:anim>
                                    <p:animEffect transition="in" filter="fade">
                                      <p:cBhvr>
                                        <p:cTn id="69" dur="700"/>
                                        <p:tgtEl>
                                          <p:spTgt spid="19"/>
                                        </p:tgtEl>
                                      </p:cBhvr>
                                    </p:animEffect>
                                  </p:childTnLst>
                                </p:cTn>
                              </p:par>
                              <p:par>
                                <p:cTn id="70" presetID="53" presetClass="entr" presetSubtype="16" fill="hold" nodeType="withEffect">
                                  <p:stCondLst>
                                    <p:cond delay="20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700" fill="hold"/>
                                        <p:tgtEl>
                                          <p:spTgt spid="20"/>
                                        </p:tgtEl>
                                        <p:attrNameLst>
                                          <p:attrName>ppt_w</p:attrName>
                                        </p:attrNameLst>
                                      </p:cBhvr>
                                      <p:tavLst>
                                        <p:tav tm="0">
                                          <p:val>
                                            <p:strVal val="0"/>
                                          </p:val>
                                        </p:tav>
                                        <p:tav tm="100000">
                                          <p:val>
                                            <p:strVal val="#ppt_w"/>
                                          </p:val>
                                        </p:tav>
                                      </p:tavLst>
                                    </p:anim>
                                    <p:anim calcmode="lin" valueType="num">
                                      <p:cBhvr additive="base">
                                        <p:cTn id="73" dur="700" fill="hold"/>
                                        <p:tgtEl>
                                          <p:spTgt spid="20"/>
                                        </p:tgtEl>
                                        <p:attrNameLst>
                                          <p:attrName>ppt_h</p:attrName>
                                        </p:attrNameLst>
                                      </p:cBhvr>
                                      <p:tavLst>
                                        <p:tav tm="0">
                                          <p:val>
                                            <p:strVal val="0"/>
                                          </p:val>
                                        </p:tav>
                                        <p:tav tm="100000">
                                          <p:val>
                                            <p:strVal val="#ppt_h"/>
                                          </p:val>
                                        </p:tav>
                                      </p:tavLst>
                                    </p:anim>
                                    <p:animEffect transition="in" filter="fade">
                                      <p:cBhvr>
                                        <p:cTn id="74" dur="700"/>
                                        <p:tgtEl>
                                          <p:spTgt spid="20"/>
                                        </p:tgtEl>
                                      </p:cBhvr>
                                    </p:animEffect>
                                  </p:childTnLst>
                                </p:cTn>
                              </p:par>
                              <p:par>
                                <p:cTn id="75" presetID="10" presetClass="entr" presetSubtype="0" fill="hold" nodeType="withEffect">
                                  <p:stCondLst>
                                    <p:cond delay="230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00"/>
                                        <p:tgtEl>
                                          <p:spTgt spid="17"/>
                                        </p:tgtEl>
                                      </p:cBhvr>
                                    </p:animEffect>
                                  </p:childTnLst>
                                </p:cTn>
                              </p:par>
                              <p:par>
                                <p:cTn id="78" presetID="10" presetClass="entr" presetSubtype="0" fill="hold" nodeType="withEffect">
                                  <p:stCondLst>
                                    <p:cond delay="230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10  ·  ANALYST WORKFLOW</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One flow, from alert to STR draft, all in the product</a:t>
            </a:r>
            <a:endParaRPr lang="en-US" sz="3400" dirty="0"/>
          </a:p>
        </p:txBody>
      </p:sp>
      <p:sp>
        <p:nvSpPr>
          <p:cNvPr id="5" name="wf0__1"/>
          <p:cNvSpPr/>
          <p:nvPr/>
        </p:nvSpPr>
        <p:spPr>
          <a:xfrm>
            <a:off x="548640" y="1737360"/>
            <a:ext cx="1719072" cy="2743200"/>
          </a:xfrm>
          <a:prstGeom prst="roundRect">
            <a:avLst>
              <a:gd name="adj" fmla="val 638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wf0__2"/>
          <p:cNvSpPr txBox="1"/>
          <p:nvPr/>
        </p:nvSpPr>
        <p:spPr>
          <a:xfrm>
            <a:off x="713232" y="1847088"/>
            <a:ext cx="548640" cy="274320"/>
          </a:xfrm>
          <a:prstGeom prst="rect">
            <a:avLst/>
          </a:prstGeom>
          <a:noFill/>
          <a:ln/>
        </p:spPr>
        <p:txBody>
          <a:bodyPr wrap="square" lIns="0" tIns="0" rIns="0" bIns="0" rtlCol="0" anchor="ctr"/>
          <a:lstStyle/>
          <a:p>
            <a:pPr indent="0" marL="0">
              <a:buNone/>
            </a:pPr>
            <a:r>
              <a:rPr lang="en-US" sz="1200" b="1" dirty="0">
                <a:solidFill>
                  <a:srgbClr val="5F7090"/>
                </a:solidFill>
                <a:latin typeface="Arial" pitchFamily="34" charset="0"/>
                <a:ea typeface="Arial" pitchFamily="34" charset="-122"/>
                <a:cs typeface="Arial" pitchFamily="34" charset="-120"/>
              </a:rPr>
              <a:t>01</a:t>
            </a:r>
            <a:endParaRPr lang="en-US" sz="1200" dirty="0"/>
          </a:p>
        </p:txBody>
      </p:sp>
      <p:sp>
        <p:nvSpPr>
          <p:cNvPr id="7" name="wf0__3"/>
          <p:cNvSpPr/>
          <p:nvPr/>
        </p:nvSpPr>
        <p:spPr>
          <a:xfrm>
            <a:off x="1371600" y="1865376"/>
            <a:ext cx="731520" cy="237744"/>
          </a:xfrm>
          <a:prstGeom prst="roundRect">
            <a:avLst>
              <a:gd name="adj" fmla="val 50000"/>
            </a:avLst>
          </a:prstGeom>
          <a:solidFill>
            <a:srgbClr val="34D399">
              <a:alpha val="18000"/>
            </a:srgbClr>
          </a:solidFill>
          <a:ln w="9525">
            <a:solidFill>
              <a:srgbClr val="34D399"/>
            </a:solidFill>
            <a:prstDash val="solid"/>
          </a:ln>
        </p:spPr>
      </p:sp>
      <p:sp>
        <p:nvSpPr>
          <p:cNvPr id="8" name="wf0__4"/>
          <p:cNvSpPr txBox="1"/>
          <p:nvPr/>
        </p:nvSpPr>
        <p:spPr>
          <a:xfrm>
            <a:off x="1371600" y="1865376"/>
            <a:ext cx="731520" cy="237744"/>
          </a:xfrm>
          <a:prstGeom prst="rect">
            <a:avLst/>
          </a:prstGeom>
          <a:noFill/>
          <a:ln/>
        </p:spPr>
        <p:txBody>
          <a:bodyPr wrap="square" lIns="0" tIns="0" rIns="0" bIns="0" rtlCol="0" anchor="ctr"/>
          <a:lstStyle/>
          <a:p>
            <a:pPr algn="ctr" indent="0" marL="0">
              <a:buNone/>
            </a:pPr>
            <a:r>
              <a:rPr lang="en-US" sz="800" b="1" dirty="0">
                <a:solidFill>
                  <a:srgbClr val="34D399"/>
                </a:solidFill>
                <a:latin typeface="Calibri" pitchFamily="34" charset="0"/>
                <a:ea typeface="Calibri" pitchFamily="34" charset="-122"/>
                <a:cs typeface="Calibri" pitchFamily="34" charset="-120"/>
              </a:rPr>
              <a:t>BUILT</a:t>
            </a:r>
            <a:endParaRPr lang="en-US" sz="800" dirty="0"/>
          </a:p>
        </p:txBody>
      </p:sp>
      <p:sp>
        <p:nvSpPr>
          <p:cNvPr id="9" name="wf0__5"/>
          <p:cNvSpPr/>
          <p:nvPr/>
        </p:nvSpPr>
        <p:spPr>
          <a:xfrm>
            <a:off x="1042416" y="2240280"/>
            <a:ext cx="731520" cy="731520"/>
          </a:xfrm>
          <a:prstGeom prst="ellipse">
            <a:avLst/>
          </a:prstGeom>
          <a:solidFill>
            <a:srgbClr val="38BDF8">
              <a:alpha val="18000"/>
            </a:srgbClr>
          </a:solidFill>
          <a:ln w="12700">
            <a:solidFill>
              <a:srgbClr val="38BDF8">
                <a:alpha val="60000"/>
              </a:srgbClr>
            </a:solidFill>
            <a:prstDash val="solid"/>
          </a:ln>
        </p:spPr>
      </p:sp>
      <p:sp>
        <p:nvSpPr>
          <p:cNvPr id="10" name="wf0__6"/>
          <p:cNvSpPr txBox="1"/>
          <p:nvPr/>
        </p:nvSpPr>
        <p:spPr>
          <a:xfrm>
            <a:off x="640080" y="3090672"/>
            <a:ext cx="1536192" cy="384048"/>
          </a:xfrm>
          <a:prstGeom prst="rect">
            <a:avLst/>
          </a:prstGeom>
          <a:noFill/>
          <a:ln/>
        </p:spPr>
        <p:txBody>
          <a:bodyPr wrap="square" lIns="0" tIns="0" rIns="0" bIns="0" rtlCol="0" anchor="ctr"/>
          <a:lstStyle/>
          <a:p>
            <a:pPr algn="ctr" indent="0" marL="0">
              <a:buNone/>
            </a:pPr>
            <a:r>
              <a:rPr lang="en-US" sz="1400" b="1" dirty="0">
                <a:solidFill>
                  <a:srgbClr val="F1F5FB"/>
                </a:solidFill>
                <a:latin typeface="Arial" pitchFamily="34" charset="0"/>
                <a:ea typeface="Arial" pitchFamily="34" charset="-122"/>
                <a:cs typeface="Arial" pitchFamily="34" charset="-120"/>
              </a:rPr>
              <a:t>Alert queue</a:t>
            </a:r>
            <a:endParaRPr lang="en-US" sz="1400" dirty="0"/>
          </a:p>
        </p:txBody>
      </p:sp>
      <p:sp>
        <p:nvSpPr>
          <p:cNvPr id="11" name="wf0__7"/>
          <p:cNvSpPr txBox="1"/>
          <p:nvPr/>
        </p:nvSpPr>
        <p:spPr>
          <a:xfrm>
            <a:off x="676656" y="3493008"/>
            <a:ext cx="1463040" cy="914400"/>
          </a:xfrm>
          <a:prstGeom prst="rect">
            <a:avLst/>
          </a:prstGeom>
          <a:noFill/>
          <a:ln/>
        </p:spPr>
        <p:txBody>
          <a:bodyPr wrap="square" lIns="0" tIns="0" rIns="0" bIns="0" rtlCol="0" anchor="t"/>
          <a:lstStyle/>
          <a:p>
            <a:pPr algn="ctr" indent="0" marL="0">
              <a:buNone/>
            </a:pPr>
            <a:r>
              <a:rPr lang="en-US" sz="1150" dirty="0">
                <a:solidFill>
                  <a:srgbClr val="9AABC4"/>
                </a:solidFill>
                <a:latin typeface="Calibri" pitchFamily="34" charset="0"/>
                <a:ea typeface="Calibri" pitchFamily="34" charset="-122"/>
                <a:cs typeface="Calibri" pitchFamily="34" charset="-120"/>
              </a:rPr>
              <a:t>Sign in as AML analyst; accounts ranked by risk tier</a:t>
            </a:r>
            <a:endParaRPr lang="en-US" sz="1150" dirty="0"/>
          </a:p>
        </p:txBody>
      </p:sp>
      <p:sp>
        <p:nvSpPr>
          <p:cNvPr id="12" name="wfA0__1"/>
          <p:cNvSpPr/>
          <p:nvPr/>
        </p:nvSpPr>
        <p:spPr>
          <a:xfrm>
            <a:off x="2276856" y="2743200"/>
            <a:ext cx="137160" cy="914"/>
          </a:xfrm>
          <a:prstGeom prst="line">
            <a:avLst/>
          </a:prstGeom>
          <a:noFill/>
          <a:ln w="19050">
            <a:solidFill>
              <a:srgbClr val="38BDF8"/>
            </a:solidFill>
            <a:prstDash val="solid"/>
            <a:tailEnd type="triangle"/>
          </a:ln>
        </p:spPr>
      </p:sp>
      <p:sp>
        <p:nvSpPr>
          <p:cNvPr id="13" name="wf1__1"/>
          <p:cNvSpPr/>
          <p:nvPr/>
        </p:nvSpPr>
        <p:spPr>
          <a:xfrm>
            <a:off x="2423160" y="1737360"/>
            <a:ext cx="1719072" cy="2743200"/>
          </a:xfrm>
          <a:prstGeom prst="roundRect">
            <a:avLst>
              <a:gd name="adj" fmla="val 638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4" name="wf1__2"/>
          <p:cNvSpPr txBox="1"/>
          <p:nvPr/>
        </p:nvSpPr>
        <p:spPr>
          <a:xfrm>
            <a:off x="2587752" y="1847088"/>
            <a:ext cx="548640" cy="274320"/>
          </a:xfrm>
          <a:prstGeom prst="rect">
            <a:avLst/>
          </a:prstGeom>
          <a:noFill/>
          <a:ln/>
        </p:spPr>
        <p:txBody>
          <a:bodyPr wrap="square" lIns="0" tIns="0" rIns="0" bIns="0" rtlCol="0" anchor="ctr"/>
          <a:lstStyle/>
          <a:p>
            <a:pPr indent="0" marL="0">
              <a:buNone/>
            </a:pPr>
            <a:r>
              <a:rPr lang="en-US" sz="1200" b="1" dirty="0">
                <a:solidFill>
                  <a:srgbClr val="5F7090"/>
                </a:solidFill>
                <a:latin typeface="Arial" pitchFamily="34" charset="0"/>
                <a:ea typeface="Arial" pitchFamily="34" charset="-122"/>
                <a:cs typeface="Arial" pitchFamily="34" charset="-120"/>
              </a:rPr>
              <a:t>02</a:t>
            </a:r>
            <a:endParaRPr lang="en-US" sz="1200" dirty="0"/>
          </a:p>
        </p:txBody>
      </p:sp>
      <p:sp>
        <p:nvSpPr>
          <p:cNvPr id="15" name="wf1__3"/>
          <p:cNvSpPr/>
          <p:nvPr/>
        </p:nvSpPr>
        <p:spPr>
          <a:xfrm>
            <a:off x="3246120" y="1865376"/>
            <a:ext cx="731520" cy="237744"/>
          </a:xfrm>
          <a:prstGeom prst="roundRect">
            <a:avLst>
              <a:gd name="adj" fmla="val 50000"/>
            </a:avLst>
          </a:prstGeom>
          <a:solidFill>
            <a:srgbClr val="34D399">
              <a:alpha val="18000"/>
            </a:srgbClr>
          </a:solidFill>
          <a:ln w="9525">
            <a:solidFill>
              <a:srgbClr val="34D399"/>
            </a:solidFill>
            <a:prstDash val="solid"/>
          </a:ln>
        </p:spPr>
      </p:sp>
      <p:sp>
        <p:nvSpPr>
          <p:cNvPr id="16" name="wf1__4"/>
          <p:cNvSpPr txBox="1"/>
          <p:nvPr/>
        </p:nvSpPr>
        <p:spPr>
          <a:xfrm>
            <a:off x="3246120" y="1865376"/>
            <a:ext cx="731520" cy="237744"/>
          </a:xfrm>
          <a:prstGeom prst="rect">
            <a:avLst/>
          </a:prstGeom>
          <a:noFill/>
          <a:ln/>
        </p:spPr>
        <p:txBody>
          <a:bodyPr wrap="square" lIns="0" tIns="0" rIns="0" bIns="0" rtlCol="0" anchor="ctr"/>
          <a:lstStyle/>
          <a:p>
            <a:pPr algn="ctr" indent="0" marL="0">
              <a:buNone/>
            </a:pPr>
            <a:r>
              <a:rPr lang="en-US" sz="800" b="1" dirty="0">
                <a:solidFill>
                  <a:srgbClr val="34D399"/>
                </a:solidFill>
                <a:latin typeface="Calibri" pitchFamily="34" charset="0"/>
                <a:ea typeface="Calibri" pitchFamily="34" charset="-122"/>
                <a:cs typeface="Calibri" pitchFamily="34" charset="-120"/>
              </a:rPr>
              <a:t>BUILT</a:t>
            </a:r>
            <a:endParaRPr lang="en-US" sz="800" dirty="0"/>
          </a:p>
        </p:txBody>
      </p:sp>
      <p:sp>
        <p:nvSpPr>
          <p:cNvPr id="17" name="wf1__5"/>
          <p:cNvSpPr/>
          <p:nvPr/>
        </p:nvSpPr>
        <p:spPr>
          <a:xfrm>
            <a:off x="2916936" y="2240280"/>
            <a:ext cx="731520" cy="731520"/>
          </a:xfrm>
          <a:prstGeom prst="ellipse">
            <a:avLst/>
          </a:prstGeom>
          <a:solidFill>
            <a:srgbClr val="38BDF8">
              <a:alpha val="18000"/>
            </a:srgbClr>
          </a:solidFill>
          <a:ln w="12700">
            <a:solidFill>
              <a:srgbClr val="38BDF8">
                <a:alpha val="60000"/>
              </a:srgbClr>
            </a:solidFill>
            <a:prstDash val="solid"/>
          </a:ln>
        </p:spPr>
      </p:sp>
      <p:sp>
        <p:nvSpPr>
          <p:cNvPr id="18" name="wf1__6"/>
          <p:cNvSpPr txBox="1"/>
          <p:nvPr/>
        </p:nvSpPr>
        <p:spPr>
          <a:xfrm>
            <a:off x="2514600" y="3090672"/>
            <a:ext cx="1536192" cy="384048"/>
          </a:xfrm>
          <a:prstGeom prst="rect">
            <a:avLst/>
          </a:prstGeom>
          <a:noFill/>
          <a:ln/>
        </p:spPr>
        <p:txBody>
          <a:bodyPr wrap="square" lIns="0" tIns="0" rIns="0" bIns="0" rtlCol="0" anchor="ctr"/>
          <a:lstStyle/>
          <a:p>
            <a:pPr algn="ctr" indent="0" marL="0">
              <a:buNone/>
            </a:pPr>
            <a:r>
              <a:rPr lang="en-US" sz="1400" b="1" dirty="0">
                <a:solidFill>
                  <a:srgbClr val="F1F5FB"/>
                </a:solidFill>
                <a:latin typeface="Arial" pitchFamily="34" charset="0"/>
                <a:ea typeface="Arial" pitchFamily="34" charset="-122"/>
                <a:cs typeface="Arial" pitchFamily="34" charset="-120"/>
              </a:rPr>
              <a:t>Follow the Money</a:t>
            </a:r>
            <a:endParaRPr lang="en-US" sz="1400" dirty="0"/>
          </a:p>
        </p:txBody>
      </p:sp>
      <p:sp>
        <p:nvSpPr>
          <p:cNvPr id="19" name="wf1__7"/>
          <p:cNvSpPr txBox="1"/>
          <p:nvPr/>
        </p:nvSpPr>
        <p:spPr>
          <a:xfrm>
            <a:off x="2551176" y="3493008"/>
            <a:ext cx="1463040" cy="914400"/>
          </a:xfrm>
          <a:prstGeom prst="rect">
            <a:avLst/>
          </a:prstGeom>
          <a:noFill/>
          <a:ln/>
        </p:spPr>
        <p:txBody>
          <a:bodyPr wrap="square" lIns="0" tIns="0" rIns="0" bIns="0" rtlCol="0" anchor="t"/>
          <a:lstStyle/>
          <a:p>
            <a:pPr algn="ctr" indent="0" marL="0">
              <a:buNone/>
            </a:pPr>
            <a:r>
              <a:rPr lang="en-US" sz="1150" dirty="0">
                <a:solidFill>
                  <a:srgbClr val="9AABC4"/>
                </a:solidFill>
                <a:latin typeface="Calibri" pitchFamily="34" charset="0"/>
                <a:ea typeface="Calibri" pitchFamily="34" charset="-122"/>
                <a:cs typeface="Calibri" pitchFamily="34" charset="-120"/>
              </a:rPr>
              <a:t>Expand 1 or 2 hops of the money network</a:t>
            </a:r>
            <a:endParaRPr lang="en-US" sz="1150" dirty="0"/>
          </a:p>
        </p:txBody>
      </p:sp>
      <p:sp>
        <p:nvSpPr>
          <p:cNvPr id="20" name="wfA1__1"/>
          <p:cNvSpPr/>
          <p:nvPr/>
        </p:nvSpPr>
        <p:spPr>
          <a:xfrm>
            <a:off x="4151376" y="2743200"/>
            <a:ext cx="137160" cy="914"/>
          </a:xfrm>
          <a:prstGeom prst="line">
            <a:avLst/>
          </a:prstGeom>
          <a:noFill/>
          <a:ln w="19050">
            <a:solidFill>
              <a:srgbClr val="38BDF8"/>
            </a:solidFill>
            <a:prstDash val="solid"/>
            <a:tailEnd type="triangle"/>
          </a:ln>
        </p:spPr>
      </p:sp>
      <p:sp>
        <p:nvSpPr>
          <p:cNvPr id="21" name="wf2__1"/>
          <p:cNvSpPr/>
          <p:nvPr/>
        </p:nvSpPr>
        <p:spPr>
          <a:xfrm>
            <a:off x="4297680" y="1737360"/>
            <a:ext cx="1719072" cy="2743200"/>
          </a:xfrm>
          <a:prstGeom prst="roundRect">
            <a:avLst>
              <a:gd name="adj" fmla="val 638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2" name="wf2__2"/>
          <p:cNvSpPr txBox="1"/>
          <p:nvPr/>
        </p:nvSpPr>
        <p:spPr>
          <a:xfrm>
            <a:off x="4462272" y="1847088"/>
            <a:ext cx="548640" cy="274320"/>
          </a:xfrm>
          <a:prstGeom prst="rect">
            <a:avLst/>
          </a:prstGeom>
          <a:noFill/>
          <a:ln/>
        </p:spPr>
        <p:txBody>
          <a:bodyPr wrap="square" lIns="0" tIns="0" rIns="0" bIns="0" rtlCol="0" anchor="ctr"/>
          <a:lstStyle/>
          <a:p>
            <a:pPr indent="0" marL="0">
              <a:buNone/>
            </a:pPr>
            <a:r>
              <a:rPr lang="en-US" sz="1200" b="1" dirty="0">
                <a:solidFill>
                  <a:srgbClr val="5F7090"/>
                </a:solidFill>
                <a:latin typeface="Arial" pitchFamily="34" charset="0"/>
                <a:ea typeface="Arial" pitchFamily="34" charset="-122"/>
                <a:cs typeface="Arial" pitchFamily="34" charset="-120"/>
              </a:rPr>
              <a:t>03</a:t>
            </a:r>
            <a:endParaRPr lang="en-US" sz="1200" dirty="0"/>
          </a:p>
        </p:txBody>
      </p:sp>
      <p:sp>
        <p:nvSpPr>
          <p:cNvPr id="23" name="wf2__3"/>
          <p:cNvSpPr/>
          <p:nvPr/>
        </p:nvSpPr>
        <p:spPr>
          <a:xfrm>
            <a:off x="5120640" y="1865376"/>
            <a:ext cx="731520" cy="237744"/>
          </a:xfrm>
          <a:prstGeom prst="roundRect">
            <a:avLst>
              <a:gd name="adj" fmla="val 50000"/>
            </a:avLst>
          </a:prstGeom>
          <a:solidFill>
            <a:srgbClr val="34D399">
              <a:alpha val="18000"/>
            </a:srgbClr>
          </a:solidFill>
          <a:ln w="9525">
            <a:solidFill>
              <a:srgbClr val="34D399"/>
            </a:solidFill>
            <a:prstDash val="solid"/>
          </a:ln>
        </p:spPr>
      </p:sp>
      <p:sp>
        <p:nvSpPr>
          <p:cNvPr id="24" name="wf2__4"/>
          <p:cNvSpPr txBox="1"/>
          <p:nvPr/>
        </p:nvSpPr>
        <p:spPr>
          <a:xfrm>
            <a:off x="5120640" y="1865376"/>
            <a:ext cx="731520" cy="237744"/>
          </a:xfrm>
          <a:prstGeom prst="rect">
            <a:avLst/>
          </a:prstGeom>
          <a:noFill/>
          <a:ln/>
        </p:spPr>
        <p:txBody>
          <a:bodyPr wrap="square" lIns="0" tIns="0" rIns="0" bIns="0" rtlCol="0" anchor="ctr"/>
          <a:lstStyle/>
          <a:p>
            <a:pPr algn="ctr" indent="0" marL="0">
              <a:buNone/>
            </a:pPr>
            <a:r>
              <a:rPr lang="en-US" sz="800" b="1" dirty="0">
                <a:solidFill>
                  <a:srgbClr val="34D399"/>
                </a:solidFill>
                <a:latin typeface="Calibri" pitchFamily="34" charset="0"/>
                <a:ea typeface="Calibri" pitchFamily="34" charset="-122"/>
                <a:cs typeface="Calibri" pitchFamily="34" charset="-120"/>
              </a:rPr>
              <a:t>BUILT</a:t>
            </a:r>
            <a:endParaRPr lang="en-US" sz="800" dirty="0"/>
          </a:p>
        </p:txBody>
      </p:sp>
      <p:sp>
        <p:nvSpPr>
          <p:cNvPr id="25" name="wf2__5"/>
          <p:cNvSpPr/>
          <p:nvPr/>
        </p:nvSpPr>
        <p:spPr>
          <a:xfrm>
            <a:off x="4791456" y="2240280"/>
            <a:ext cx="731520" cy="731520"/>
          </a:xfrm>
          <a:prstGeom prst="ellipse">
            <a:avLst/>
          </a:prstGeom>
          <a:solidFill>
            <a:srgbClr val="38BDF8">
              <a:alpha val="18000"/>
            </a:srgbClr>
          </a:solidFill>
          <a:ln w="12700">
            <a:solidFill>
              <a:srgbClr val="38BDF8">
                <a:alpha val="60000"/>
              </a:srgbClr>
            </a:solidFill>
            <a:prstDash val="solid"/>
          </a:ln>
        </p:spPr>
      </p:sp>
      <p:sp>
        <p:nvSpPr>
          <p:cNvPr id="26" name="wf2__6"/>
          <p:cNvSpPr txBox="1"/>
          <p:nvPr/>
        </p:nvSpPr>
        <p:spPr>
          <a:xfrm>
            <a:off x="4389120" y="3090672"/>
            <a:ext cx="1536192" cy="384048"/>
          </a:xfrm>
          <a:prstGeom prst="rect">
            <a:avLst/>
          </a:prstGeom>
          <a:noFill/>
          <a:ln/>
        </p:spPr>
        <p:txBody>
          <a:bodyPr wrap="square" lIns="0" tIns="0" rIns="0" bIns="0" rtlCol="0" anchor="ctr"/>
          <a:lstStyle/>
          <a:p>
            <a:pPr algn="ctr" indent="0" marL="0">
              <a:buNone/>
            </a:pPr>
            <a:r>
              <a:rPr lang="en-US" sz="1400" b="1" dirty="0">
                <a:solidFill>
                  <a:srgbClr val="F1F5FB"/>
                </a:solidFill>
                <a:latin typeface="Arial" pitchFamily="34" charset="0"/>
                <a:ea typeface="Arial" pitchFamily="34" charset="-122"/>
                <a:cs typeface="Arial" pitchFamily="34" charset="-120"/>
              </a:rPr>
              <a:t>AI Investigator</a:t>
            </a:r>
            <a:endParaRPr lang="en-US" sz="1400" dirty="0"/>
          </a:p>
        </p:txBody>
      </p:sp>
      <p:sp>
        <p:nvSpPr>
          <p:cNvPr id="27" name="wf2__7"/>
          <p:cNvSpPr txBox="1"/>
          <p:nvPr/>
        </p:nvSpPr>
        <p:spPr>
          <a:xfrm>
            <a:off x="4425696" y="3493008"/>
            <a:ext cx="1463040" cy="914400"/>
          </a:xfrm>
          <a:prstGeom prst="rect">
            <a:avLst/>
          </a:prstGeom>
          <a:noFill/>
          <a:ln/>
        </p:spPr>
        <p:txBody>
          <a:bodyPr wrap="square" lIns="0" tIns="0" rIns="0" bIns="0" rtlCol="0" anchor="t"/>
          <a:lstStyle/>
          <a:p>
            <a:pPr algn="ctr" indent="0" marL="0">
              <a:buNone/>
            </a:pPr>
            <a:r>
              <a:rPr lang="en-US" sz="1150" dirty="0">
                <a:solidFill>
                  <a:srgbClr val="9AABC4"/>
                </a:solidFill>
                <a:latin typeface="Calibri" pitchFamily="34" charset="0"/>
                <a:ea typeface="Calibri" pitchFamily="34" charset="-122"/>
                <a:cs typeface="Calibri" pitchFamily="34" charset="-120"/>
              </a:rPr>
              <a:t>Typology, evidence and next steps</a:t>
            </a:r>
            <a:endParaRPr lang="en-US" sz="1150" dirty="0"/>
          </a:p>
        </p:txBody>
      </p:sp>
      <p:sp>
        <p:nvSpPr>
          <p:cNvPr id="28" name="wfA2__1"/>
          <p:cNvSpPr/>
          <p:nvPr/>
        </p:nvSpPr>
        <p:spPr>
          <a:xfrm>
            <a:off x="6025896" y="2743200"/>
            <a:ext cx="137160" cy="914"/>
          </a:xfrm>
          <a:prstGeom prst="line">
            <a:avLst/>
          </a:prstGeom>
          <a:noFill/>
          <a:ln w="19050">
            <a:solidFill>
              <a:srgbClr val="38BDF8"/>
            </a:solidFill>
            <a:prstDash val="solid"/>
            <a:tailEnd type="triangle"/>
          </a:ln>
        </p:spPr>
      </p:sp>
      <p:sp>
        <p:nvSpPr>
          <p:cNvPr id="29" name="wf3__1"/>
          <p:cNvSpPr/>
          <p:nvPr/>
        </p:nvSpPr>
        <p:spPr>
          <a:xfrm>
            <a:off x="6172200" y="1737360"/>
            <a:ext cx="1719072" cy="2743200"/>
          </a:xfrm>
          <a:prstGeom prst="roundRect">
            <a:avLst>
              <a:gd name="adj" fmla="val 638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30" name="wf3__2"/>
          <p:cNvSpPr txBox="1"/>
          <p:nvPr/>
        </p:nvSpPr>
        <p:spPr>
          <a:xfrm>
            <a:off x="6336792" y="1847088"/>
            <a:ext cx="548640" cy="274320"/>
          </a:xfrm>
          <a:prstGeom prst="rect">
            <a:avLst/>
          </a:prstGeom>
          <a:noFill/>
          <a:ln/>
        </p:spPr>
        <p:txBody>
          <a:bodyPr wrap="square" lIns="0" tIns="0" rIns="0" bIns="0" rtlCol="0" anchor="ctr"/>
          <a:lstStyle/>
          <a:p>
            <a:pPr indent="0" marL="0">
              <a:buNone/>
            </a:pPr>
            <a:r>
              <a:rPr lang="en-US" sz="1200" b="1" dirty="0">
                <a:solidFill>
                  <a:srgbClr val="5F7090"/>
                </a:solidFill>
                <a:latin typeface="Arial" pitchFamily="34" charset="0"/>
                <a:ea typeface="Arial" pitchFamily="34" charset="-122"/>
                <a:cs typeface="Arial" pitchFamily="34" charset="-120"/>
              </a:rPr>
              <a:t>04</a:t>
            </a:r>
            <a:endParaRPr lang="en-US" sz="1200" dirty="0"/>
          </a:p>
        </p:txBody>
      </p:sp>
      <p:sp>
        <p:nvSpPr>
          <p:cNvPr id="31" name="wf3__3"/>
          <p:cNvSpPr/>
          <p:nvPr/>
        </p:nvSpPr>
        <p:spPr>
          <a:xfrm>
            <a:off x="6995160" y="1865376"/>
            <a:ext cx="731520" cy="237744"/>
          </a:xfrm>
          <a:prstGeom prst="roundRect">
            <a:avLst>
              <a:gd name="adj" fmla="val 50000"/>
            </a:avLst>
          </a:prstGeom>
          <a:solidFill>
            <a:srgbClr val="34D399">
              <a:alpha val="18000"/>
            </a:srgbClr>
          </a:solidFill>
          <a:ln w="9525">
            <a:solidFill>
              <a:srgbClr val="34D399"/>
            </a:solidFill>
            <a:prstDash val="solid"/>
          </a:ln>
        </p:spPr>
      </p:sp>
      <p:sp>
        <p:nvSpPr>
          <p:cNvPr id="32" name="wf3__4"/>
          <p:cNvSpPr txBox="1"/>
          <p:nvPr/>
        </p:nvSpPr>
        <p:spPr>
          <a:xfrm>
            <a:off x="6995160" y="1865376"/>
            <a:ext cx="731520" cy="237744"/>
          </a:xfrm>
          <a:prstGeom prst="rect">
            <a:avLst/>
          </a:prstGeom>
          <a:noFill/>
          <a:ln/>
        </p:spPr>
        <p:txBody>
          <a:bodyPr wrap="square" lIns="0" tIns="0" rIns="0" bIns="0" rtlCol="0" anchor="ctr"/>
          <a:lstStyle/>
          <a:p>
            <a:pPr algn="ctr" indent="0" marL="0">
              <a:buNone/>
            </a:pPr>
            <a:r>
              <a:rPr lang="en-US" sz="800" b="1" dirty="0">
                <a:solidFill>
                  <a:srgbClr val="34D399"/>
                </a:solidFill>
                <a:latin typeface="Calibri" pitchFamily="34" charset="0"/>
                <a:ea typeface="Calibri" pitchFamily="34" charset="-122"/>
                <a:cs typeface="Calibri" pitchFamily="34" charset="-120"/>
              </a:rPr>
              <a:t>BUILT</a:t>
            </a:r>
            <a:endParaRPr lang="en-US" sz="800" dirty="0"/>
          </a:p>
        </p:txBody>
      </p:sp>
      <p:sp>
        <p:nvSpPr>
          <p:cNvPr id="33" name="wf3__5"/>
          <p:cNvSpPr/>
          <p:nvPr/>
        </p:nvSpPr>
        <p:spPr>
          <a:xfrm>
            <a:off x="6665976" y="2240280"/>
            <a:ext cx="731520" cy="731520"/>
          </a:xfrm>
          <a:prstGeom prst="ellipse">
            <a:avLst/>
          </a:prstGeom>
          <a:solidFill>
            <a:srgbClr val="38BDF8">
              <a:alpha val="18000"/>
            </a:srgbClr>
          </a:solidFill>
          <a:ln w="12700">
            <a:solidFill>
              <a:srgbClr val="38BDF8">
                <a:alpha val="60000"/>
              </a:srgbClr>
            </a:solidFill>
            <a:prstDash val="solid"/>
          </a:ln>
        </p:spPr>
      </p:sp>
      <p:sp>
        <p:nvSpPr>
          <p:cNvPr id="34" name="wf3__6"/>
          <p:cNvSpPr txBox="1"/>
          <p:nvPr/>
        </p:nvSpPr>
        <p:spPr>
          <a:xfrm>
            <a:off x="6263640" y="3090672"/>
            <a:ext cx="1536192" cy="384048"/>
          </a:xfrm>
          <a:prstGeom prst="rect">
            <a:avLst/>
          </a:prstGeom>
          <a:noFill/>
          <a:ln/>
        </p:spPr>
        <p:txBody>
          <a:bodyPr wrap="square" lIns="0" tIns="0" rIns="0" bIns="0" rtlCol="0" anchor="ctr"/>
          <a:lstStyle/>
          <a:p>
            <a:pPr algn="ctr" indent="0" marL="0">
              <a:buNone/>
            </a:pPr>
            <a:r>
              <a:rPr lang="en-US" sz="1400" b="1" dirty="0">
                <a:solidFill>
                  <a:srgbClr val="F1F5FB"/>
                </a:solidFill>
                <a:latin typeface="Arial" pitchFamily="34" charset="0"/>
                <a:ea typeface="Arial" pitchFamily="34" charset="-122"/>
                <a:cs typeface="Arial" pitchFamily="34" charset="-120"/>
              </a:rPr>
              <a:t>Open a case</a:t>
            </a:r>
            <a:endParaRPr lang="en-US" sz="1400" dirty="0"/>
          </a:p>
        </p:txBody>
      </p:sp>
      <p:sp>
        <p:nvSpPr>
          <p:cNvPr id="35" name="wf3__7"/>
          <p:cNvSpPr txBox="1"/>
          <p:nvPr/>
        </p:nvSpPr>
        <p:spPr>
          <a:xfrm>
            <a:off x="6300216" y="3493008"/>
            <a:ext cx="1463040" cy="914400"/>
          </a:xfrm>
          <a:prstGeom prst="rect">
            <a:avLst/>
          </a:prstGeom>
          <a:noFill/>
          <a:ln/>
        </p:spPr>
        <p:txBody>
          <a:bodyPr wrap="square" lIns="0" tIns="0" rIns="0" bIns="0" rtlCol="0" anchor="t"/>
          <a:lstStyle/>
          <a:p>
            <a:pPr algn="ctr" indent="0" marL="0">
              <a:buNone/>
            </a:pPr>
            <a:r>
              <a:rPr lang="en-US" sz="1150" dirty="0">
                <a:solidFill>
                  <a:srgbClr val="9AABC4"/>
                </a:solidFill>
                <a:latin typeface="Calibri" pitchFamily="34" charset="0"/>
                <a:ea typeface="Calibri" pitchFamily="34" charset="-122"/>
                <a:cs typeface="Calibri" pitchFamily="34" charset="-120"/>
              </a:rPr>
              <a:t>Notes, status and escalation to the compliance officer</a:t>
            </a:r>
            <a:endParaRPr lang="en-US" sz="1150" dirty="0"/>
          </a:p>
        </p:txBody>
      </p:sp>
      <p:sp>
        <p:nvSpPr>
          <p:cNvPr id="36" name="wfA3__1"/>
          <p:cNvSpPr/>
          <p:nvPr/>
        </p:nvSpPr>
        <p:spPr>
          <a:xfrm>
            <a:off x="7900416" y="2743200"/>
            <a:ext cx="137160" cy="914"/>
          </a:xfrm>
          <a:prstGeom prst="line">
            <a:avLst/>
          </a:prstGeom>
          <a:noFill/>
          <a:ln w="19050">
            <a:solidFill>
              <a:srgbClr val="38BDF8"/>
            </a:solidFill>
            <a:prstDash val="solid"/>
            <a:tailEnd type="triangle"/>
          </a:ln>
        </p:spPr>
      </p:sp>
      <p:sp>
        <p:nvSpPr>
          <p:cNvPr id="37" name="wf4__1"/>
          <p:cNvSpPr/>
          <p:nvPr/>
        </p:nvSpPr>
        <p:spPr>
          <a:xfrm>
            <a:off x="8046720" y="1737360"/>
            <a:ext cx="1719072" cy="2743200"/>
          </a:xfrm>
          <a:prstGeom prst="roundRect">
            <a:avLst>
              <a:gd name="adj" fmla="val 638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38" name="wf4__2"/>
          <p:cNvSpPr txBox="1"/>
          <p:nvPr/>
        </p:nvSpPr>
        <p:spPr>
          <a:xfrm>
            <a:off x="8211312" y="1847088"/>
            <a:ext cx="548640" cy="274320"/>
          </a:xfrm>
          <a:prstGeom prst="rect">
            <a:avLst/>
          </a:prstGeom>
          <a:noFill/>
          <a:ln/>
        </p:spPr>
        <p:txBody>
          <a:bodyPr wrap="square" lIns="0" tIns="0" rIns="0" bIns="0" rtlCol="0" anchor="ctr"/>
          <a:lstStyle/>
          <a:p>
            <a:pPr indent="0" marL="0">
              <a:buNone/>
            </a:pPr>
            <a:r>
              <a:rPr lang="en-US" sz="1200" b="1" dirty="0">
                <a:solidFill>
                  <a:srgbClr val="5F7090"/>
                </a:solidFill>
                <a:latin typeface="Arial" pitchFamily="34" charset="0"/>
                <a:ea typeface="Arial" pitchFamily="34" charset="-122"/>
                <a:cs typeface="Arial" pitchFamily="34" charset="-120"/>
              </a:rPr>
              <a:t>05</a:t>
            </a:r>
            <a:endParaRPr lang="en-US" sz="1200" dirty="0"/>
          </a:p>
        </p:txBody>
      </p:sp>
      <p:sp>
        <p:nvSpPr>
          <p:cNvPr id="39" name="wf4__3"/>
          <p:cNvSpPr/>
          <p:nvPr/>
        </p:nvSpPr>
        <p:spPr>
          <a:xfrm>
            <a:off x="8869680" y="1865376"/>
            <a:ext cx="731520" cy="237744"/>
          </a:xfrm>
          <a:prstGeom prst="roundRect">
            <a:avLst>
              <a:gd name="adj" fmla="val 50000"/>
            </a:avLst>
          </a:prstGeom>
          <a:solidFill>
            <a:srgbClr val="34D399">
              <a:alpha val="18000"/>
            </a:srgbClr>
          </a:solidFill>
          <a:ln w="9525">
            <a:solidFill>
              <a:srgbClr val="34D399"/>
            </a:solidFill>
            <a:prstDash val="solid"/>
          </a:ln>
        </p:spPr>
      </p:sp>
      <p:sp>
        <p:nvSpPr>
          <p:cNvPr id="40" name="wf4__4"/>
          <p:cNvSpPr txBox="1"/>
          <p:nvPr/>
        </p:nvSpPr>
        <p:spPr>
          <a:xfrm>
            <a:off x="8869680" y="1865376"/>
            <a:ext cx="731520" cy="237744"/>
          </a:xfrm>
          <a:prstGeom prst="rect">
            <a:avLst/>
          </a:prstGeom>
          <a:noFill/>
          <a:ln/>
        </p:spPr>
        <p:txBody>
          <a:bodyPr wrap="square" lIns="0" tIns="0" rIns="0" bIns="0" rtlCol="0" anchor="ctr"/>
          <a:lstStyle/>
          <a:p>
            <a:pPr algn="ctr" indent="0" marL="0">
              <a:buNone/>
            </a:pPr>
            <a:r>
              <a:rPr lang="en-US" sz="800" b="1" dirty="0">
                <a:solidFill>
                  <a:srgbClr val="34D399"/>
                </a:solidFill>
                <a:latin typeface="Calibri" pitchFamily="34" charset="0"/>
                <a:ea typeface="Calibri" pitchFamily="34" charset="-122"/>
                <a:cs typeface="Calibri" pitchFamily="34" charset="-120"/>
              </a:rPr>
              <a:t>BUILT</a:t>
            </a:r>
            <a:endParaRPr lang="en-US" sz="800" dirty="0"/>
          </a:p>
        </p:txBody>
      </p:sp>
      <p:sp>
        <p:nvSpPr>
          <p:cNvPr id="41" name="wf4__5"/>
          <p:cNvSpPr/>
          <p:nvPr/>
        </p:nvSpPr>
        <p:spPr>
          <a:xfrm>
            <a:off x="8540496" y="2240280"/>
            <a:ext cx="731520" cy="731520"/>
          </a:xfrm>
          <a:prstGeom prst="ellipse">
            <a:avLst/>
          </a:prstGeom>
          <a:solidFill>
            <a:srgbClr val="38BDF8">
              <a:alpha val="18000"/>
            </a:srgbClr>
          </a:solidFill>
          <a:ln w="12700">
            <a:solidFill>
              <a:srgbClr val="38BDF8">
                <a:alpha val="60000"/>
              </a:srgbClr>
            </a:solidFill>
            <a:prstDash val="solid"/>
          </a:ln>
        </p:spPr>
      </p:sp>
      <p:sp>
        <p:nvSpPr>
          <p:cNvPr id="42" name="wf4__6"/>
          <p:cNvSpPr txBox="1"/>
          <p:nvPr/>
        </p:nvSpPr>
        <p:spPr>
          <a:xfrm>
            <a:off x="8138160" y="3090672"/>
            <a:ext cx="1536192" cy="384048"/>
          </a:xfrm>
          <a:prstGeom prst="rect">
            <a:avLst/>
          </a:prstGeom>
          <a:noFill/>
          <a:ln/>
        </p:spPr>
        <p:txBody>
          <a:bodyPr wrap="square" lIns="0" tIns="0" rIns="0" bIns="0" rtlCol="0" anchor="ctr"/>
          <a:lstStyle/>
          <a:p>
            <a:pPr algn="ctr" indent="0" marL="0">
              <a:buNone/>
            </a:pPr>
            <a:r>
              <a:rPr lang="en-US" sz="1400" b="1" dirty="0">
                <a:solidFill>
                  <a:srgbClr val="F1F5FB"/>
                </a:solidFill>
                <a:latin typeface="Arial" pitchFamily="34" charset="0"/>
                <a:ea typeface="Arial" pitchFamily="34" charset="-122"/>
                <a:cs typeface="Arial" pitchFamily="34" charset="-120"/>
              </a:rPr>
              <a:t>STR / SAR draft</a:t>
            </a:r>
            <a:endParaRPr lang="en-US" sz="1400" dirty="0"/>
          </a:p>
        </p:txBody>
      </p:sp>
      <p:sp>
        <p:nvSpPr>
          <p:cNvPr id="43" name="wf4__7"/>
          <p:cNvSpPr txBox="1"/>
          <p:nvPr/>
        </p:nvSpPr>
        <p:spPr>
          <a:xfrm>
            <a:off x="8174736" y="3493008"/>
            <a:ext cx="1463040" cy="914400"/>
          </a:xfrm>
          <a:prstGeom prst="rect">
            <a:avLst/>
          </a:prstGeom>
          <a:noFill/>
          <a:ln/>
        </p:spPr>
        <p:txBody>
          <a:bodyPr wrap="square" lIns="0" tIns="0" rIns="0" bIns="0" rtlCol="0" anchor="t"/>
          <a:lstStyle/>
          <a:p>
            <a:pPr algn="ctr" indent="0" marL="0">
              <a:buNone/>
            </a:pPr>
            <a:r>
              <a:rPr lang="en-US" sz="1150" dirty="0">
                <a:solidFill>
                  <a:srgbClr val="9AABC4"/>
                </a:solidFill>
                <a:latin typeface="Calibri" pitchFamily="34" charset="0"/>
                <a:ea typeface="Calibri" pitchFamily="34" charset="-122"/>
                <a:cs typeface="Calibri" pitchFamily="34" charset="-120"/>
              </a:rPr>
              <a:t>Exportable report built from the case evidence</a:t>
            </a:r>
            <a:endParaRPr lang="en-US" sz="1150" dirty="0"/>
          </a:p>
        </p:txBody>
      </p:sp>
      <p:sp>
        <p:nvSpPr>
          <p:cNvPr id="44" name="wfA4__1"/>
          <p:cNvSpPr/>
          <p:nvPr/>
        </p:nvSpPr>
        <p:spPr>
          <a:xfrm>
            <a:off x="9774936" y="2743200"/>
            <a:ext cx="137160" cy="914"/>
          </a:xfrm>
          <a:prstGeom prst="line">
            <a:avLst/>
          </a:prstGeom>
          <a:noFill/>
          <a:ln w="19050">
            <a:solidFill>
              <a:srgbClr val="38BDF8"/>
            </a:solidFill>
            <a:prstDash val="solid"/>
            <a:tailEnd type="triangle"/>
          </a:ln>
        </p:spPr>
      </p:sp>
      <p:sp>
        <p:nvSpPr>
          <p:cNvPr id="45" name="wf5__1"/>
          <p:cNvSpPr/>
          <p:nvPr/>
        </p:nvSpPr>
        <p:spPr>
          <a:xfrm>
            <a:off x="9921240" y="1737360"/>
            <a:ext cx="1719072" cy="2743200"/>
          </a:xfrm>
          <a:prstGeom prst="roundRect">
            <a:avLst>
              <a:gd name="adj" fmla="val 6383"/>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46" name="wf5__2"/>
          <p:cNvSpPr txBox="1"/>
          <p:nvPr/>
        </p:nvSpPr>
        <p:spPr>
          <a:xfrm>
            <a:off x="10085832" y="1847088"/>
            <a:ext cx="548640" cy="274320"/>
          </a:xfrm>
          <a:prstGeom prst="rect">
            <a:avLst/>
          </a:prstGeom>
          <a:noFill/>
          <a:ln/>
        </p:spPr>
        <p:txBody>
          <a:bodyPr wrap="square" lIns="0" tIns="0" rIns="0" bIns="0" rtlCol="0" anchor="ctr"/>
          <a:lstStyle/>
          <a:p>
            <a:pPr indent="0" marL="0">
              <a:buNone/>
            </a:pPr>
            <a:r>
              <a:rPr lang="en-US" sz="1200" b="1" dirty="0">
                <a:solidFill>
                  <a:srgbClr val="5F7090"/>
                </a:solidFill>
                <a:latin typeface="Arial" pitchFamily="34" charset="0"/>
                <a:ea typeface="Arial" pitchFamily="34" charset="-122"/>
                <a:cs typeface="Arial" pitchFamily="34" charset="-120"/>
              </a:rPr>
              <a:t>06</a:t>
            </a:r>
            <a:endParaRPr lang="en-US" sz="1200" dirty="0"/>
          </a:p>
        </p:txBody>
      </p:sp>
      <p:sp>
        <p:nvSpPr>
          <p:cNvPr id="47" name="wf5__3"/>
          <p:cNvSpPr/>
          <p:nvPr/>
        </p:nvSpPr>
        <p:spPr>
          <a:xfrm>
            <a:off x="10744200" y="1865376"/>
            <a:ext cx="731520" cy="237744"/>
          </a:xfrm>
          <a:prstGeom prst="roundRect">
            <a:avLst>
              <a:gd name="adj" fmla="val 50000"/>
            </a:avLst>
          </a:prstGeom>
          <a:solidFill>
            <a:srgbClr val="34D399">
              <a:alpha val="18000"/>
            </a:srgbClr>
          </a:solidFill>
          <a:ln w="9525">
            <a:solidFill>
              <a:srgbClr val="34D399"/>
            </a:solidFill>
            <a:prstDash val="solid"/>
          </a:ln>
        </p:spPr>
      </p:sp>
      <p:sp>
        <p:nvSpPr>
          <p:cNvPr id="48" name="wf5__4"/>
          <p:cNvSpPr txBox="1"/>
          <p:nvPr/>
        </p:nvSpPr>
        <p:spPr>
          <a:xfrm>
            <a:off x="10744200" y="1865376"/>
            <a:ext cx="731520" cy="237744"/>
          </a:xfrm>
          <a:prstGeom prst="rect">
            <a:avLst/>
          </a:prstGeom>
          <a:noFill/>
          <a:ln/>
        </p:spPr>
        <p:txBody>
          <a:bodyPr wrap="square" lIns="0" tIns="0" rIns="0" bIns="0" rtlCol="0" anchor="ctr"/>
          <a:lstStyle/>
          <a:p>
            <a:pPr algn="ctr" indent="0" marL="0">
              <a:buNone/>
            </a:pPr>
            <a:r>
              <a:rPr lang="en-US" sz="800" b="1" dirty="0">
                <a:solidFill>
                  <a:srgbClr val="34D399"/>
                </a:solidFill>
                <a:latin typeface="Calibri" pitchFamily="34" charset="0"/>
                <a:ea typeface="Calibri" pitchFamily="34" charset="-122"/>
                <a:cs typeface="Calibri" pitchFamily="34" charset="-120"/>
              </a:rPr>
              <a:t>BUILT</a:t>
            </a:r>
            <a:endParaRPr lang="en-US" sz="800" dirty="0"/>
          </a:p>
        </p:txBody>
      </p:sp>
      <p:sp>
        <p:nvSpPr>
          <p:cNvPr id="49" name="wf5__5"/>
          <p:cNvSpPr/>
          <p:nvPr/>
        </p:nvSpPr>
        <p:spPr>
          <a:xfrm>
            <a:off x="10415016" y="2240280"/>
            <a:ext cx="731520" cy="731520"/>
          </a:xfrm>
          <a:prstGeom prst="ellipse">
            <a:avLst/>
          </a:prstGeom>
          <a:solidFill>
            <a:srgbClr val="38BDF8">
              <a:alpha val="18000"/>
            </a:srgbClr>
          </a:solidFill>
          <a:ln w="12700">
            <a:solidFill>
              <a:srgbClr val="38BDF8">
                <a:alpha val="60000"/>
              </a:srgbClr>
            </a:solidFill>
            <a:prstDash val="solid"/>
          </a:ln>
        </p:spPr>
      </p:sp>
      <p:sp>
        <p:nvSpPr>
          <p:cNvPr id="50" name="wf5__6"/>
          <p:cNvSpPr txBox="1"/>
          <p:nvPr/>
        </p:nvSpPr>
        <p:spPr>
          <a:xfrm>
            <a:off x="10012680" y="3090672"/>
            <a:ext cx="1536192" cy="384048"/>
          </a:xfrm>
          <a:prstGeom prst="rect">
            <a:avLst/>
          </a:prstGeom>
          <a:noFill/>
          <a:ln/>
        </p:spPr>
        <p:txBody>
          <a:bodyPr wrap="square" lIns="0" tIns="0" rIns="0" bIns="0" rtlCol="0" anchor="ctr"/>
          <a:lstStyle/>
          <a:p>
            <a:pPr algn="ctr" indent="0" marL="0">
              <a:buNone/>
            </a:pPr>
            <a:r>
              <a:rPr lang="en-US" sz="1400" b="1" dirty="0">
                <a:solidFill>
                  <a:srgbClr val="F1F5FB"/>
                </a:solidFill>
                <a:latin typeface="Arial" pitchFamily="34" charset="0"/>
                <a:ea typeface="Arial" pitchFamily="34" charset="-122"/>
                <a:cs typeface="Arial" pitchFamily="34" charset="-120"/>
              </a:rPr>
              <a:t>Audit trail</a:t>
            </a:r>
            <a:endParaRPr lang="en-US" sz="1400" dirty="0"/>
          </a:p>
        </p:txBody>
      </p:sp>
      <p:sp>
        <p:nvSpPr>
          <p:cNvPr id="51" name="wf5__7"/>
          <p:cNvSpPr txBox="1"/>
          <p:nvPr/>
        </p:nvSpPr>
        <p:spPr>
          <a:xfrm>
            <a:off x="10049256" y="3493008"/>
            <a:ext cx="1463040" cy="914400"/>
          </a:xfrm>
          <a:prstGeom prst="rect">
            <a:avLst/>
          </a:prstGeom>
          <a:noFill/>
          <a:ln/>
        </p:spPr>
        <p:txBody>
          <a:bodyPr wrap="square" lIns="0" tIns="0" rIns="0" bIns="0" rtlCol="0" anchor="t"/>
          <a:lstStyle/>
          <a:p>
            <a:pPr algn="ctr" indent="0" marL="0">
              <a:buNone/>
            </a:pPr>
            <a:r>
              <a:rPr lang="en-US" sz="1150" dirty="0">
                <a:solidFill>
                  <a:srgbClr val="9AABC4"/>
                </a:solidFill>
                <a:latin typeface="Calibri" pitchFamily="34" charset="0"/>
                <a:ea typeface="Calibri" pitchFamily="34" charset="-122"/>
                <a:cs typeface="Calibri" pitchFamily="34" charset="-120"/>
              </a:rPr>
              <a:t>Hash-chained log of case actions and PII reveals</a:t>
            </a:r>
            <a:endParaRPr lang="en-US" sz="1150" dirty="0"/>
          </a:p>
        </p:txBody>
      </p:sp>
      <p:pic>
        <p:nvPicPr>
          <p:cNvPr id="52" name="wf0__8" descr="preencoded.png">    </p:cNvPr>
          <p:cNvPicPr>
            <a:picLocks noChangeAspect="1"/>
          </p:cNvPicPr>
          <p:nvPr/>
        </p:nvPicPr>
        <p:blipFill>
          <a:blip r:embed="rId2"/>
          <a:stretch>
            <a:fillRect/>
          </a:stretch>
        </p:blipFill>
        <p:spPr>
          <a:xfrm>
            <a:off x="1225296" y="2423160"/>
            <a:ext cx="365760" cy="365760"/>
          </a:xfrm>
          <a:prstGeom prst="rect">
            <a:avLst/>
          </a:prstGeom>
        </p:spPr>
      </p:pic>
      <p:pic>
        <p:nvPicPr>
          <p:cNvPr id="53" name="wf1__8" descr="preencoded.png">    </p:cNvPr>
          <p:cNvPicPr>
            <a:picLocks noChangeAspect="1"/>
          </p:cNvPicPr>
          <p:nvPr/>
        </p:nvPicPr>
        <p:blipFill>
          <a:blip r:embed="rId3"/>
          <a:stretch>
            <a:fillRect/>
          </a:stretch>
        </p:blipFill>
        <p:spPr>
          <a:xfrm>
            <a:off x="3099816" y="2423160"/>
            <a:ext cx="365760" cy="365760"/>
          </a:xfrm>
          <a:prstGeom prst="rect">
            <a:avLst/>
          </a:prstGeom>
        </p:spPr>
      </p:pic>
      <p:pic>
        <p:nvPicPr>
          <p:cNvPr id="54" name="wf2__8" descr="preencoded.png">    </p:cNvPr>
          <p:cNvPicPr>
            <a:picLocks noChangeAspect="1"/>
          </p:cNvPicPr>
          <p:nvPr/>
        </p:nvPicPr>
        <p:blipFill>
          <a:blip r:embed="rId4"/>
          <a:stretch>
            <a:fillRect/>
          </a:stretch>
        </p:blipFill>
        <p:spPr>
          <a:xfrm>
            <a:off x="4974336" y="2423160"/>
            <a:ext cx="365760" cy="365760"/>
          </a:xfrm>
          <a:prstGeom prst="rect">
            <a:avLst/>
          </a:prstGeom>
        </p:spPr>
      </p:pic>
      <p:pic>
        <p:nvPicPr>
          <p:cNvPr id="55" name="wf3__8" descr="preencoded.png">    </p:cNvPr>
          <p:cNvPicPr>
            <a:picLocks noChangeAspect="1"/>
          </p:cNvPicPr>
          <p:nvPr/>
        </p:nvPicPr>
        <p:blipFill>
          <a:blip r:embed="rId5"/>
          <a:stretch>
            <a:fillRect/>
          </a:stretch>
        </p:blipFill>
        <p:spPr>
          <a:xfrm>
            <a:off x="6848856" y="2423160"/>
            <a:ext cx="365760" cy="365760"/>
          </a:xfrm>
          <a:prstGeom prst="rect">
            <a:avLst/>
          </a:prstGeom>
        </p:spPr>
      </p:pic>
      <p:pic>
        <p:nvPicPr>
          <p:cNvPr id="56" name="wf4__8" descr="preencoded.png">    </p:cNvPr>
          <p:cNvPicPr>
            <a:picLocks noChangeAspect="1"/>
          </p:cNvPicPr>
          <p:nvPr/>
        </p:nvPicPr>
        <p:blipFill>
          <a:blip r:embed="rId6"/>
          <a:stretch>
            <a:fillRect/>
          </a:stretch>
        </p:blipFill>
        <p:spPr>
          <a:xfrm>
            <a:off x="8723376" y="2423160"/>
            <a:ext cx="365760" cy="365760"/>
          </a:xfrm>
          <a:prstGeom prst="rect">
            <a:avLst/>
          </a:prstGeom>
        </p:spPr>
      </p:pic>
      <p:pic>
        <p:nvPicPr>
          <p:cNvPr id="57" name="wf5__8" descr="preencoded.png">    </p:cNvPr>
          <p:cNvPicPr>
            <a:picLocks noChangeAspect="1"/>
          </p:cNvPicPr>
          <p:nvPr/>
        </p:nvPicPr>
        <p:blipFill>
          <a:blip r:embed="rId7"/>
          <a:stretch>
            <a:fillRect/>
          </a:stretch>
        </p:blipFill>
        <p:spPr>
          <a:xfrm>
            <a:off x="10597896" y="2423160"/>
            <a:ext cx="365760" cy="365760"/>
          </a:xfrm>
          <a:prstGeom prst="rect">
            <a:avLst/>
          </a:prstGeom>
        </p:spPr>
      </p:pic>
      <p:sp>
        <p:nvSpPr>
          <p:cNvPr id="58" name="wfd__1"/>
          <p:cNvSpPr/>
          <p:nvPr/>
        </p:nvSpPr>
        <p:spPr>
          <a:xfrm>
            <a:off x="548640" y="4709160"/>
            <a:ext cx="7680960" cy="1280160"/>
          </a:xfrm>
          <a:prstGeom prst="roundRect">
            <a:avLst>
              <a:gd name="adj" fmla="val 8571"/>
            </a:avLst>
          </a:prstGeom>
          <a:solidFill>
            <a:srgbClr val="38BDF8">
              <a:alpha val="10000"/>
            </a:srgbClr>
          </a:solidFill>
          <a:ln w="12700">
            <a:solidFill>
              <a:srgbClr val="38BDF8"/>
            </a:solidFill>
            <a:prstDash val="solid"/>
          </a:ln>
        </p:spPr>
      </p:sp>
      <p:sp>
        <p:nvSpPr>
          <p:cNvPr id="59" name="wfd__2"/>
          <p:cNvSpPr txBox="1"/>
          <p:nvPr/>
        </p:nvSpPr>
        <p:spPr>
          <a:xfrm>
            <a:off x="777240" y="4800600"/>
            <a:ext cx="7315200" cy="1097280"/>
          </a:xfrm>
          <a:prstGeom prst="rect">
            <a:avLst/>
          </a:prstGeom>
          <a:noFill/>
          <a:ln/>
        </p:spPr>
        <p:txBody>
          <a:bodyPr wrap="square" lIns="0" tIns="0" rIns="0" bIns="0" rtlCol="0" anchor="t"/>
          <a:lstStyle/>
          <a:p>
            <a:pPr indent="0" marL="0">
              <a:buNone/>
            </a:pPr>
            <a:r>
              <a:rPr lang="en-US" sz="1000" b="1" spc="200" kern="0" dirty="0">
                <a:solidFill>
                  <a:srgbClr val="38BDF8"/>
                </a:solidFill>
                <a:latin typeface="Arial" pitchFamily="34" charset="0"/>
                <a:ea typeface="Arial" pitchFamily="34" charset="-122"/>
                <a:cs typeface="Arial" pitchFamily="34" charset="-120"/>
              </a:rPr>
              <a:t>90-SECOND LIVE DEMO</a:t>
            </a:r>
            <a:endParaRPr lang="en-US" sz="1000" dirty="0"/>
          </a:p>
          <a:p>
            <a:pPr indent="0" marL="0">
              <a:buNone/>
            </a:pPr>
            <a:r>
              <a:rPr lang="en-US" sz="1300" dirty="0">
                <a:solidFill>
                  <a:srgbClr val="F1F5FB"/>
                </a:solidFill>
                <a:latin typeface="Calibri" pitchFamily="34" charset="0"/>
                <a:ea typeface="Calibri" pitchFamily="34" charset="-122"/>
                <a:cs typeface="Calibri" pitchFamily="34" charset="-120"/>
              </a:rPr>
              <a:t>Sign in as an AML analyst, open the top CRITICAL alert, follow the money two hops, read the AI Investigator, open a case and add a note, escalate it, export the STR/SAR draft, then show the audit log and the Model Evaluation tab.</a:t>
            </a:r>
            <a:endParaRPr lang="en-US" sz="1000" dirty="0"/>
          </a:p>
        </p:txBody>
      </p:sp>
      <p:sp>
        <p:nvSpPr>
          <p:cNvPr id="60" name="wfl__1">
            <a:hlinkClick r:id="rId8" tooltip="Open the live dashboard"/>
          </p:cNvPr>
          <p:cNvSpPr/>
          <p:nvPr/>
        </p:nvSpPr>
        <p:spPr>
          <a:xfrm>
            <a:off x="8503920" y="4709160"/>
            <a:ext cx="3136392" cy="548640"/>
          </a:xfrm>
          <a:prstGeom prst="roundRect">
            <a:avLst>
              <a:gd name="adj" fmla="val 50000"/>
            </a:avLst>
          </a:prstGeom>
          <a:solidFill>
            <a:srgbClr val="38BDF8"/>
          </a:solidFill>
          <a:ln w="12700">
            <a:solidFill>
              <a:srgbClr val="38BDF8"/>
            </a:solidFill>
            <a:prstDash val="solid"/>
          </a:ln>
        </p:spPr>
      </p:sp>
      <p:sp>
        <p:nvSpPr>
          <p:cNvPr id="61" name="wfl__2"/>
          <p:cNvSpPr txBox="1"/>
          <p:nvPr/>
        </p:nvSpPr>
        <p:spPr>
          <a:xfrm>
            <a:off x="8503920" y="4709160"/>
            <a:ext cx="3136392" cy="548640"/>
          </a:xfrm>
          <a:prstGeom prst="rect">
            <a:avLst/>
          </a:prstGeom>
          <a:noFill/>
          <a:ln/>
        </p:spPr>
        <p:txBody>
          <a:bodyPr wrap="square" lIns="0" tIns="0" rIns="0" bIns="0" rtlCol="0" anchor="ctr"/>
          <a:lstStyle/>
          <a:p>
            <a:pPr algn="ctr" indent="0" marL="0">
              <a:buNone/>
            </a:pPr>
            <a:r>
              <a:rPr lang="en-US" sz="1400" b="1" u="sng" dirty="0">
                <a:solidFill>
                  <a:srgbClr val="070B16"/>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Open the live demo</a:t>
            </a:r>
            <a:endParaRPr lang="en-US" sz="1400" dirty="0"/>
          </a:p>
        </p:txBody>
      </p:sp>
      <p:sp>
        <p:nvSpPr>
          <p:cNvPr id="62" name="wfl__3"/>
          <p:cNvSpPr txBox="1"/>
          <p:nvPr/>
        </p:nvSpPr>
        <p:spPr>
          <a:xfrm>
            <a:off x="8503920" y="5349240"/>
            <a:ext cx="3136392" cy="640080"/>
          </a:xfrm>
          <a:prstGeom prst="rect">
            <a:avLst/>
          </a:prstGeom>
          <a:noFill/>
          <a:ln/>
        </p:spPr>
        <p:txBody>
          <a:bodyPr wrap="square" lIns="0" tIns="0" rIns="0" bIns="0" rtlCol="0" anchor="t"/>
          <a:lstStyle/>
          <a:p>
            <a:pPr algn="ctr" indent="0" marL="0">
              <a:buNone/>
            </a:pPr>
            <a:r>
              <a:rPr lang="en-US" sz="1100" dirty="0">
                <a:solidFill>
                  <a:srgbClr val="9AABC4"/>
                </a:solidFill>
                <a:latin typeface="Calibri" pitchFamily="34" charset="0"/>
                <a:ea typeface="Calibri" pitchFamily="34" charset="-122"/>
                <a:cs typeface="Calibri" pitchFamily="34" charset="-120"/>
              </a:rPr>
              <a:t>Runs on our laptop today. The public server gets this version once the PR is merged.</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anim calcmode="lin" valueType="num">
                                      <p:cBhvr additive="base">
                                        <p:cTn id="13" dur="450" fill="hold"/>
                                        <p:tgtEl>
                                          <p:spTgt spid="6"/>
                                        </p:tgtEl>
                                        <p:attrNameLst>
                                          <p:attrName>ppt_x</p:attrName>
                                        </p:attrNameLst>
                                      </p:cBhvr>
                                      <p:tavLst>
                                        <p:tav tm="0">
                                          <p:val>
                                            <p:strVal val="#ppt_x"/>
                                          </p:val>
                                        </p:tav>
                                        <p:tav tm="100000">
                                          <p:val>
                                            <p:strVal val="#ppt_x"/>
                                          </p:val>
                                        </p:tav>
                                      </p:tavLst>
                                    </p:anim>
                                    <p:anim calcmode="lin" valueType="num">
                                      <p:cBhvr additive="base">
                                        <p:cTn id="14" dur="45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anim calcmode="lin" valueType="num">
                                      <p:cBhvr additive="base">
                                        <p:cTn id="18" dur="450" fill="hold"/>
                                        <p:tgtEl>
                                          <p:spTgt spid="7"/>
                                        </p:tgtEl>
                                        <p:attrNameLst>
                                          <p:attrName>ppt_x</p:attrName>
                                        </p:attrNameLst>
                                      </p:cBhvr>
                                      <p:tavLst>
                                        <p:tav tm="0">
                                          <p:val>
                                            <p:strVal val="#ppt_x"/>
                                          </p:val>
                                        </p:tav>
                                        <p:tav tm="100000">
                                          <p:val>
                                            <p:strVal val="#ppt_x"/>
                                          </p:val>
                                        </p:tav>
                                      </p:tavLst>
                                    </p:anim>
                                    <p:anim calcmode="lin" valueType="num">
                                      <p:cBhvr additive="base">
                                        <p:cTn id="19" dur="45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anim calcmode="lin" valueType="num">
                                      <p:cBhvr additive="base">
                                        <p:cTn id="23" dur="450" fill="hold"/>
                                        <p:tgtEl>
                                          <p:spTgt spid="8"/>
                                        </p:tgtEl>
                                        <p:attrNameLst>
                                          <p:attrName>ppt_x</p:attrName>
                                        </p:attrNameLst>
                                      </p:cBhvr>
                                      <p:tavLst>
                                        <p:tav tm="0">
                                          <p:val>
                                            <p:strVal val="#ppt_x"/>
                                          </p:val>
                                        </p:tav>
                                        <p:tav tm="100000">
                                          <p:val>
                                            <p:strVal val="#ppt_x"/>
                                          </p:val>
                                        </p:tav>
                                      </p:tavLst>
                                    </p:anim>
                                    <p:anim calcmode="lin" valueType="num">
                                      <p:cBhvr additive="base">
                                        <p:cTn id="24" dur="45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ppt_x</p:attrName>
                                        </p:attrNameLst>
                                      </p:cBhvr>
                                      <p:tavLst>
                                        <p:tav tm="0">
                                          <p:val>
                                            <p:strVal val="#ppt_x"/>
                                          </p:val>
                                        </p:tav>
                                        <p:tav tm="100000">
                                          <p:val>
                                            <p:strVal val="#ppt_x"/>
                                          </p:val>
                                        </p:tav>
                                      </p:tavLst>
                                    </p:anim>
                                    <p:anim calcmode="lin" valueType="num">
                                      <p:cBhvr additive="base">
                                        <p:cTn id="29" dur="45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2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anim calcmode="lin" valueType="num">
                                      <p:cBhvr additive="base">
                                        <p:cTn id="33" dur="450" fill="hold"/>
                                        <p:tgtEl>
                                          <p:spTgt spid="10"/>
                                        </p:tgtEl>
                                        <p:attrNameLst>
                                          <p:attrName>ppt_x</p:attrName>
                                        </p:attrNameLst>
                                      </p:cBhvr>
                                      <p:tavLst>
                                        <p:tav tm="0">
                                          <p:val>
                                            <p:strVal val="#ppt_x"/>
                                          </p:val>
                                        </p:tav>
                                        <p:tav tm="100000">
                                          <p:val>
                                            <p:strVal val="#ppt_x"/>
                                          </p:val>
                                        </p:tav>
                                      </p:tavLst>
                                    </p:anim>
                                    <p:anim calcmode="lin" valueType="num">
                                      <p:cBhvr additive="base">
                                        <p:cTn id="34" dur="45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2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50"/>
                                        <p:tgtEl>
                                          <p:spTgt spid="11"/>
                                        </p:tgtEl>
                                      </p:cBhvr>
                                    </p:animEffect>
                                    <p:anim calcmode="lin" valueType="num">
                                      <p:cBhvr additive="base">
                                        <p:cTn id="38" dur="450" fill="hold"/>
                                        <p:tgtEl>
                                          <p:spTgt spid="11"/>
                                        </p:tgtEl>
                                        <p:attrNameLst>
                                          <p:attrName>ppt_x</p:attrName>
                                        </p:attrNameLst>
                                      </p:cBhvr>
                                      <p:tavLst>
                                        <p:tav tm="0">
                                          <p:val>
                                            <p:strVal val="#ppt_x"/>
                                          </p:val>
                                        </p:tav>
                                        <p:tav tm="100000">
                                          <p:val>
                                            <p:strVal val="#ppt_x"/>
                                          </p:val>
                                        </p:tav>
                                      </p:tavLst>
                                    </p:anim>
                                    <p:anim calcmode="lin" valueType="num">
                                      <p:cBhvr additive="base">
                                        <p:cTn id="39" dur="45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200"/>
                                  </p:stCondLst>
                                  <p:childTnLst>
                                    <p:set>
                                      <p:cBhvr>
                                        <p:cTn id="41" dur="1" fill="hold">
                                          <p:stCondLst>
                                            <p:cond delay="0"/>
                                          </p:stCondLst>
                                        </p:cTn>
                                        <p:tgtEl>
                                          <p:spTgt spid="52"/>
                                        </p:tgtEl>
                                        <p:attrNameLst>
                                          <p:attrName>style.visibility</p:attrName>
                                        </p:attrNameLst>
                                      </p:cBhvr>
                                      <p:to>
                                        <p:strVal val="visible"/>
                                      </p:to>
                                    </p:set>
                                    <p:animEffect transition="in" filter="fade">
                                      <p:cBhvr>
                                        <p:cTn id="42" dur="450"/>
                                        <p:tgtEl>
                                          <p:spTgt spid="52"/>
                                        </p:tgtEl>
                                      </p:cBhvr>
                                    </p:animEffect>
                                    <p:anim calcmode="lin" valueType="num">
                                      <p:cBhvr additive="base">
                                        <p:cTn id="43" dur="450" fill="hold"/>
                                        <p:tgtEl>
                                          <p:spTgt spid="52"/>
                                        </p:tgtEl>
                                        <p:attrNameLst>
                                          <p:attrName>ppt_x</p:attrName>
                                        </p:attrNameLst>
                                      </p:cBhvr>
                                      <p:tavLst>
                                        <p:tav tm="0">
                                          <p:val>
                                            <p:strVal val="#ppt_x"/>
                                          </p:val>
                                        </p:tav>
                                        <p:tav tm="100000">
                                          <p:val>
                                            <p:strVal val="#ppt_x"/>
                                          </p:val>
                                        </p:tav>
                                      </p:tavLst>
                                    </p:anim>
                                    <p:anim calcmode="lin" valueType="num">
                                      <p:cBhvr additive="base">
                                        <p:cTn id="44" dur="450" fill="hold"/>
                                        <p:tgtEl>
                                          <p:spTgt spid="52"/>
                                        </p:tgtEl>
                                        <p:attrNameLst>
                                          <p:attrName>ppt_y</p:attrName>
                                        </p:attrNameLst>
                                      </p:cBhvr>
                                      <p:tavLst>
                                        <p:tav tm="0">
                                          <p:val>
                                            <p:strVal val="#ppt_y+.1"/>
                                          </p:val>
                                        </p:tav>
                                        <p:tav tm="100000">
                                          <p:val>
                                            <p:strVal val="#ppt_y"/>
                                          </p:val>
                                        </p:tav>
                                      </p:tavLst>
                                    </p:anim>
                                  </p:childTnLst>
                                </p:cTn>
                              </p:par>
                              <p:par>
                                <p:cTn id="45" presetID="22" presetClass="entr" presetSubtype="8" fill="hold" nodeType="withEffect">
                                  <p:stCondLst>
                                    <p:cond delay="45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200"/>
                                        <p:tgtEl>
                                          <p:spTgt spid="12"/>
                                        </p:tgtEl>
                                      </p:cBhvr>
                                    </p:animEffect>
                                  </p:childTnLst>
                                </p:cTn>
                              </p:par>
                              <p:par>
                                <p:cTn id="48" presetID="42" presetClass="entr" presetSubtype="0" fill="hold" nodeType="withEffect">
                                  <p:stCondLst>
                                    <p:cond delay="50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450"/>
                                        <p:tgtEl>
                                          <p:spTgt spid="13"/>
                                        </p:tgtEl>
                                      </p:cBhvr>
                                    </p:animEffec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50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50"/>
                                        <p:tgtEl>
                                          <p:spTgt spid="14"/>
                                        </p:tgtEl>
                                      </p:cBhvr>
                                    </p:animEffect>
                                    <p:anim calcmode="lin" valueType="num">
                                      <p:cBhvr additive="base">
                                        <p:cTn id="56" dur="450" fill="hold"/>
                                        <p:tgtEl>
                                          <p:spTgt spid="14"/>
                                        </p:tgtEl>
                                        <p:attrNameLst>
                                          <p:attrName>ppt_x</p:attrName>
                                        </p:attrNameLst>
                                      </p:cBhvr>
                                      <p:tavLst>
                                        <p:tav tm="0">
                                          <p:val>
                                            <p:strVal val="#ppt_x"/>
                                          </p:val>
                                        </p:tav>
                                        <p:tav tm="100000">
                                          <p:val>
                                            <p:strVal val="#ppt_x"/>
                                          </p:val>
                                        </p:tav>
                                      </p:tavLst>
                                    </p:anim>
                                    <p:anim calcmode="lin" valueType="num">
                                      <p:cBhvr additive="base">
                                        <p:cTn id="57" dur="45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5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450"/>
                                        <p:tgtEl>
                                          <p:spTgt spid="15"/>
                                        </p:tgtEl>
                                      </p:cBhvr>
                                    </p:animEffect>
                                    <p:anim calcmode="lin" valueType="num">
                                      <p:cBhvr additive="base">
                                        <p:cTn id="61" dur="450" fill="hold"/>
                                        <p:tgtEl>
                                          <p:spTgt spid="15"/>
                                        </p:tgtEl>
                                        <p:attrNameLst>
                                          <p:attrName>ppt_x</p:attrName>
                                        </p:attrNameLst>
                                      </p:cBhvr>
                                      <p:tavLst>
                                        <p:tav tm="0">
                                          <p:val>
                                            <p:strVal val="#ppt_x"/>
                                          </p:val>
                                        </p:tav>
                                        <p:tav tm="100000">
                                          <p:val>
                                            <p:strVal val="#ppt_x"/>
                                          </p:val>
                                        </p:tav>
                                      </p:tavLst>
                                    </p:anim>
                                    <p:anim calcmode="lin" valueType="num">
                                      <p:cBhvr additive="base">
                                        <p:cTn id="62" dur="450" fill="hold"/>
                                        <p:tgtEl>
                                          <p:spTgt spid="15"/>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50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450"/>
                                        <p:tgtEl>
                                          <p:spTgt spid="16"/>
                                        </p:tgtEl>
                                      </p:cBhvr>
                                    </p:animEffect>
                                    <p:anim calcmode="lin" valueType="num">
                                      <p:cBhvr additive="base">
                                        <p:cTn id="66" dur="450" fill="hold"/>
                                        <p:tgtEl>
                                          <p:spTgt spid="16"/>
                                        </p:tgtEl>
                                        <p:attrNameLst>
                                          <p:attrName>ppt_x</p:attrName>
                                        </p:attrNameLst>
                                      </p:cBhvr>
                                      <p:tavLst>
                                        <p:tav tm="0">
                                          <p:val>
                                            <p:strVal val="#ppt_x"/>
                                          </p:val>
                                        </p:tav>
                                        <p:tav tm="100000">
                                          <p:val>
                                            <p:strVal val="#ppt_x"/>
                                          </p:val>
                                        </p:tav>
                                      </p:tavLst>
                                    </p:anim>
                                    <p:anim calcmode="lin" valueType="num">
                                      <p:cBhvr additive="base">
                                        <p:cTn id="67" dur="45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50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450"/>
                                        <p:tgtEl>
                                          <p:spTgt spid="17"/>
                                        </p:tgtEl>
                                      </p:cBhvr>
                                    </p:animEffect>
                                    <p:anim calcmode="lin" valueType="num">
                                      <p:cBhvr additive="base">
                                        <p:cTn id="71" dur="450" fill="hold"/>
                                        <p:tgtEl>
                                          <p:spTgt spid="17"/>
                                        </p:tgtEl>
                                        <p:attrNameLst>
                                          <p:attrName>ppt_x</p:attrName>
                                        </p:attrNameLst>
                                      </p:cBhvr>
                                      <p:tavLst>
                                        <p:tav tm="0">
                                          <p:val>
                                            <p:strVal val="#ppt_x"/>
                                          </p:val>
                                        </p:tav>
                                        <p:tav tm="100000">
                                          <p:val>
                                            <p:strVal val="#ppt_x"/>
                                          </p:val>
                                        </p:tav>
                                      </p:tavLst>
                                    </p:anim>
                                    <p:anim calcmode="lin" valueType="num">
                                      <p:cBhvr additive="base">
                                        <p:cTn id="72" dur="45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50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450"/>
                                        <p:tgtEl>
                                          <p:spTgt spid="18"/>
                                        </p:tgtEl>
                                      </p:cBhvr>
                                    </p:animEffect>
                                    <p:anim calcmode="lin" valueType="num">
                                      <p:cBhvr additive="base">
                                        <p:cTn id="76" dur="450" fill="hold"/>
                                        <p:tgtEl>
                                          <p:spTgt spid="18"/>
                                        </p:tgtEl>
                                        <p:attrNameLst>
                                          <p:attrName>ppt_x</p:attrName>
                                        </p:attrNameLst>
                                      </p:cBhvr>
                                      <p:tavLst>
                                        <p:tav tm="0">
                                          <p:val>
                                            <p:strVal val="#ppt_x"/>
                                          </p:val>
                                        </p:tav>
                                        <p:tav tm="100000">
                                          <p:val>
                                            <p:strVal val="#ppt_x"/>
                                          </p:val>
                                        </p:tav>
                                      </p:tavLst>
                                    </p:anim>
                                    <p:anim calcmode="lin" valueType="num">
                                      <p:cBhvr additive="base">
                                        <p:cTn id="77" dur="45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50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450"/>
                                        <p:tgtEl>
                                          <p:spTgt spid="19"/>
                                        </p:tgtEl>
                                      </p:cBhvr>
                                    </p:animEffect>
                                    <p:anim calcmode="lin" valueType="num">
                                      <p:cBhvr additive="base">
                                        <p:cTn id="81" dur="450" fill="hold"/>
                                        <p:tgtEl>
                                          <p:spTgt spid="19"/>
                                        </p:tgtEl>
                                        <p:attrNameLst>
                                          <p:attrName>ppt_x</p:attrName>
                                        </p:attrNameLst>
                                      </p:cBhvr>
                                      <p:tavLst>
                                        <p:tav tm="0">
                                          <p:val>
                                            <p:strVal val="#ppt_x"/>
                                          </p:val>
                                        </p:tav>
                                        <p:tav tm="100000">
                                          <p:val>
                                            <p:strVal val="#ppt_x"/>
                                          </p:val>
                                        </p:tav>
                                      </p:tavLst>
                                    </p:anim>
                                    <p:anim calcmode="lin" valueType="num">
                                      <p:cBhvr additive="base">
                                        <p:cTn id="82" dur="45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500"/>
                                  </p:stCondLst>
                                  <p:childTnLst>
                                    <p:set>
                                      <p:cBhvr>
                                        <p:cTn id="84" dur="1" fill="hold">
                                          <p:stCondLst>
                                            <p:cond delay="0"/>
                                          </p:stCondLst>
                                        </p:cTn>
                                        <p:tgtEl>
                                          <p:spTgt spid="53"/>
                                        </p:tgtEl>
                                        <p:attrNameLst>
                                          <p:attrName>style.visibility</p:attrName>
                                        </p:attrNameLst>
                                      </p:cBhvr>
                                      <p:to>
                                        <p:strVal val="visible"/>
                                      </p:to>
                                    </p:set>
                                    <p:animEffect transition="in" filter="fade">
                                      <p:cBhvr>
                                        <p:cTn id="85" dur="450"/>
                                        <p:tgtEl>
                                          <p:spTgt spid="53"/>
                                        </p:tgtEl>
                                      </p:cBhvr>
                                    </p:animEffect>
                                    <p:anim calcmode="lin" valueType="num">
                                      <p:cBhvr additive="base">
                                        <p:cTn id="86" dur="450" fill="hold"/>
                                        <p:tgtEl>
                                          <p:spTgt spid="53"/>
                                        </p:tgtEl>
                                        <p:attrNameLst>
                                          <p:attrName>ppt_x</p:attrName>
                                        </p:attrNameLst>
                                      </p:cBhvr>
                                      <p:tavLst>
                                        <p:tav tm="0">
                                          <p:val>
                                            <p:strVal val="#ppt_x"/>
                                          </p:val>
                                        </p:tav>
                                        <p:tav tm="100000">
                                          <p:val>
                                            <p:strVal val="#ppt_x"/>
                                          </p:val>
                                        </p:tav>
                                      </p:tavLst>
                                    </p:anim>
                                    <p:anim calcmode="lin" valueType="num">
                                      <p:cBhvr additive="base">
                                        <p:cTn id="87" dur="450" fill="hold"/>
                                        <p:tgtEl>
                                          <p:spTgt spid="53"/>
                                        </p:tgtEl>
                                        <p:attrNameLst>
                                          <p:attrName>ppt_y</p:attrName>
                                        </p:attrNameLst>
                                      </p:cBhvr>
                                      <p:tavLst>
                                        <p:tav tm="0">
                                          <p:val>
                                            <p:strVal val="#ppt_y+.1"/>
                                          </p:val>
                                        </p:tav>
                                        <p:tav tm="100000">
                                          <p:val>
                                            <p:strVal val="#ppt_y"/>
                                          </p:val>
                                        </p:tav>
                                      </p:tavLst>
                                    </p:anim>
                                  </p:childTnLst>
                                </p:cTn>
                              </p:par>
                              <p:par>
                                <p:cTn id="88" presetID="22" presetClass="entr" presetSubtype="8" fill="hold" nodeType="withEffect">
                                  <p:stCondLst>
                                    <p:cond delay="750"/>
                                  </p:stCondLst>
                                  <p:childTnLst>
                                    <p:set>
                                      <p:cBhvr>
                                        <p:cTn id="89" dur="1" fill="hold">
                                          <p:stCondLst>
                                            <p:cond delay="0"/>
                                          </p:stCondLst>
                                        </p:cTn>
                                        <p:tgtEl>
                                          <p:spTgt spid="20"/>
                                        </p:tgtEl>
                                        <p:attrNameLst>
                                          <p:attrName>style.visibility</p:attrName>
                                        </p:attrNameLst>
                                      </p:cBhvr>
                                      <p:to>
                                        <p:strVal val="visible"/>
                                      </p:to>
                                    </p:set>
                                    <p:animEffect transition="in" filter="wipe(left)">
                                      <p:cBhvr>
                                        <p:cTn id="90" dur="200"/>
                                        <p:tgtEl>
                                          <p:spTgt spid="20"/>
                                        </p:tgtEl>
                                      </p:cBhvr>
                                    </p:animEffect>
                                  </p:childTnLst>
                                </p:cTn>
                              </p:par>
                              <p:par>
                                <p:cTn id="91" presetID="42" presetClass="entr" presetSubtype="0" fill="hold" nodeType="withEffect">
                                  <p:stCondLst>
                                    <p:cond delay="80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450"/>
                                        <p:tgtEl>
                                          <p:spTgt spid="21"/>
                                        </p:tgtEl>
                                      </p:cBhvr>
                                    </p:animEffect>
                                    <p:anim calcmode="lin" valueType="num">
                                      <p:cBhvr additive="base">
                                        <p:cTn id="94" dur="450" fill="hold"/>
                                        <p:tgtEl>
                                          <p:spTgt spid="21"/>
                                        </p:tgtEl>
                                        <p:attrNameLst>
                                          <p:attrName>ppt_x</p:attrName>
                                        </p:attrNameLst>
                                      </p:cBhvr>
                                      <p:tavLst>
                                        <p:tav tm="0">
                                          <p:val>
                                            <p:strVal val="#ppt_x"/>
                                          </p:val>
                                        </p:tav>
                                        <p:tav tm="100000">
                                          <p:val>
                                            <p:strVal val="#ppt_x"/>
                                          </p:val>
                                        </p:tav>
                                      </p:tavLst>
                                    </p:anim>
                                    <p:anim calcmode="lin" valueType="num">
                                      <p:cBhvr additive="base">
                                        <p:cTn id="95" dur="450" fill="hold"/>
                                        <p:tgtEl>
                                          <p:spTgt spid="21"/>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80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450"/>
                                        <p:tgtEl>
                                          <p:spTgt spid="22"/>
                                        </p:tgtEl>
                                      </p:cBhvr>
                                    </p:animEffect>
                                    <p:anim calcmode="lin" valueType="num">
                                      <p:cBhvr additive="base">
                                        <p:cTn id="99" dur="450" fill="hold"/>
                                        <p:tgtEl>
                                          <p:spTgt spid="22"/>
                                        </p:tgtEl>
                                        <p:attrNameLst>
                                          <p:attrName>ppt_x</p:attrName>
                                        </p:attrNameLst>
                                      </p:cBhvr>
                                      <p:tavLst>
                                        <p:tav tm="0">
                                          <p:val>
                                            <p:strVal val="#ppt_x"/>
                                          </p:val>
                                        </p:tav>
                                        <p:tav tm="100000">
                                          <p:val>
                                            <p:strVal val="#ppt_x"/>
                                          </p:val>
                                        </p:tav>
                                      </p:tavLst>
                                    </p:anim>
                                    <p:anim calcmode="lin" valueType="num">
                                      <p:cBhvr additive="base">
                                        <p:cTn id="100" dur="450" fill="hold"/>
                                        <p:tgtEl>
                                          <p:spTgt spid="22"/>
                                        </p:tgtEl>
                                        <p:attrNameLst>
                                          <p:attrName>ppt_y</p:attrName>
                                        </p:attrNameLst>
                                      </p:cBhvr>
                                      <p:tavLst>
                                        <p:tav tm="0">
                                          <p:val>
                                            <p:strVal val="#ppt_y+.1"/>
                                          </p:val>
                                        </p:tav>
                                        <p:tav tm="100000">
                                          <p:val>
                                            <p:strVal val="#ppt_y"/>
                                          </p:val>
                                        </p:tav>
                                      </p:tavLst>
                                    </p:anim>
                                  </p:childTnLst>
                                </p:cTn>
                              </p:par>
                              <p:par>
                                <p:cTn id="101" presetID="42" presetClass="entr" presetSubtype="0" fill="hold" nodeType="withEffect">
                                  <p:stCondLst>
                                    <p:cond delay="80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450"/>
                                        <p:tgtEl>
                                          <p:spTgt spid="23"/>
                                        </p:tgtEl>
                                      </p:cBhvr>
                                    </p:animEffect>
                                    <p:anim calcmode="lin" valueType="num">
                                      <p:cBhvr additive="base">
                                        <p:cTn id="104" dur="450" fill="hold"/>
                                        <p:tgtEl>
                                          <p:spTgt spid="23"/>
                                        </p:tgtEl>
                                        <p:attrNameLst>
                                          <p:attrName>ppt_x</p:attrName>
                                        </p:attrNameLst>
                                      </p:cBhvr>
                                      <p:tavLst>
                                        <p:tav tm="0">
                                          <p:val>
                                            <p:strVal val="#ppt_x"/>
                                          </p:val>
                                        </p:tav>
                                        <p:tav tm="100000">
                                          <p:val>
                                            <p:strVal val="#ppt_x"/>
                                          </p:val>
                                        </p:tav>
                                      </p:tavLst>
                                    </p:anim>
                                    <p:anim calcmode="lin" valueType="num">
                                      <p:cBhvr additive="base">
                                        <p:cTn id="105" dur="450" fill="hold"/>
                                        <p:tgtEl>
                                          <p:spTgt spid="23"/>
                                        </p:tgtEl>
                                        <p:attrNameLst>
                                          <p:attrName>ppt_y</p:attrName>
                                        </p:attrNameLst>
                                      </p:cBhvr>
                                      <p:tavLst>
                                        <p:tav tm="0">
                                          <p:val>
                                            <p:strVal val="#ppt_y+.1"/>
                                          </p:val>
                                        </p:tav>
                                        <p:tav tm="100000">
                                          <p:val>
                                            <p:strVal val="#ppt_y"/>
                                          </p:val>
                                        </p:tav>
                                      </p:tavLst>
                                    </p:anim>
                                  </p:childTnLst>
                                </p:cTn>
                              </p:par>
                              <p:par>
                                <p:cTn id="106" presetID="42" presetClass="entr" presetSubtype="0" fill="hold" nodeType="withEffect">
                                  <p:stCondLst>
                                    <p:cond delay="80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450"/>
                                        <p:tgtEl>
                                          <p:spTgt spid="24"/>
                                        </p:tgtEl>
                                      </p:cBhvr>
                                    </p:animEffect>
                                    <p:anim calcmode="lin" valueType="num">
                                      <p:cBhvr additive="base">
                                        <p:cTn id="109" dur="450" fill="hold"/>
                                        <p:tgtEl>
                                          <p:spTgt spid="24"/>
                                        </p:tgtEl>
                                        <p:attrNameLst>
                                          <p:attrName>ppt_x</p:attrName>
                                        </p:attrNameLst>
                                      </p:cBhvr>
                                      <p:tavLst>
                                        <p:tav tm="0">
                                          <p:val>
                                            <p:strVal val="#ppt_x"/>
                                          </p:val>
                                        </p:tav>
                                        <p:tav tm="100000">
                                          <p:val>
                                            <p:strVal val="#ppt_x"/>
                                          </p:val>
                                        </p:tav>
                                      </p:tavLst>
                                    </p:anim>
                                    <p:anim calcmode="lin" valueType="num">
                                      <p:cBhvr additive="base">
                                        <p:cTn id="110" dur="450" fill="hold"/>
                                        <p:tgtEl>
                                          <p:spTgt spid="24"/>
                                        </p:tgtEl>
                                        <p:attrNameLst>
                                          <p:attrName>ppt_y</p:attrName>
                                        </p:attrNameLst>
                                      </p:cBhvr>
                                      <p:tavLst>
                                        <p:tav tm="0">
                                          <p:val>
                                            <p:strVal val="#ppt_y+.1"/>
                                          </p:val>
                                        </p:tav>
                                        <p:tav tm="100000">
                                          <p:val>
                                            <p:strVal val="#ppt_y"/>
                                          </p:val>
                                        </p:tav>
                                      </p:tavLst>
                                    </p:anim>
                                  </p:childTnLst>
                                </p:cTn>
                              </p:par>
                              <p:par>
                                <p:cTn id="111" presetID="42" presetClass="entr" presetSubtype="0" fill="hold" nodeType="withEffect">
                                  <p:stCondLst>
                                    <p:cond delay="800"/>
                                  </p:stCondLst>
                                  <p:childTnLst>
                                    <p:set>
                                      <p:cBhvr>
                                        <p:cTn id="112" dur="1" fill="hold">
                                          <p:stCondLst>
                                            <p:cond delay="0"/>
                                          </p:stCondLst>
                                        </p:cTn>
                                        <p:tgtEl>
                                          <p:spTgt spid="25"/>
                                        </p:tgtEl>
                                        <p:attrNameLst>
                                          <p:attrName>style.visibility</p:attrName>
                                        </p:attrNameLst>
                                      </p:cBhvr>
                                      <p:to>
                                        <p:strVal val="visible"/>
                                      </p:to>
                                    </p:set>
                                    <p:animEffect transition="in" filter="fade">
                                      <p:cBhvr>
                                        <p:cTn id="113" dur="450"/>
                                        <p:tgtEl>
                                          <p:spTgt spid="25"/>
                                        </p:tgtEl>
                                      </p:cBhvr>
                                    </p:animEffect>
                                    <p:anim calcmode="lin" valueType="num">
                                      <p:cBhvr additive="base">
                                        <p:cTn id="114" dur="450" fill="hold"/>
                                        <p:tgtEl>
                                          <p:spTgt spid="25"/>
                                        </p:tgtEl>
                                        <p:attrNameLst>
                                          <p:attrName>ppt_x</p:attrName>
                                        </p:attrNameLst>
                                      </p:cBhvr>
                                      <p:tavLst>
                                        <p:tav tm="0">
                                          <p:val>
                                            <p:strVal val="#ppt_x"/>
                                          </p:val>
                                        </p:tav>
                                        <p:tav tm="100000">
                                          <p:val>
                                            <p:strVal val="#ppt_x"/>
                                          </p:val>
                                        </p:tav>
                                      </p:tavLst>
                                    </p:anim>
                                    <p:anim calcmode="lin" valueType="num">
                                      <p:cBhvr additive="base">
                                        <p:cTn id="115" dur="450" fill="hold"/>
                                        <p:tgtEl>
                                          <p:spTgt spid="25"/>
                                        </p:tgtEl>
                                        <p:attrNameLst>
                                          <p:attrName>ppt_y</p:attrName>
                                        </p:attrNameLst>
                                      </p:cBhvr>
                                      <p:tavLst>
                                        <p:tav tm="0">
                                          <p:val>
                                            <p:strVal val="#ppt_y+.1"/>
                                          </p:val>
                                        </p:tav>
                                        <p:tav tm="100000">
                                          <p:val>
                                            <p:strVal val="#ppt_y"/>
                                          </p:val>
                                        </p:tav>
                                      </p:tavLst>
                                    </p:anim>
                                  </p:childTnLst>
                                </p:cTn>
                              </p:par>
                              <p:par>
                                <p:cTn id="116" presetID="42" presetClass="entr" presetSubtype="0" fill="hold" nodeType="withEffect">
                                  <p:stCondLst>
                                    <p:cond delay="800"/>
                                  </p:stCondLst>
                                  <p:childTnLst>
                                    <p:set>
                                      <p:cBhvr>
                                        <p:cTn id="117" dur="1" fill="hold">
                                          <p:stCondLst>
                                            <p:cond delay="0"/>
                                          </p:stCondLst>
                                        </p:cTn>
                                        <p:tgtEl>
                                          <p:spTgt spid="26"/>
                                        </p:tgtEl>
                                        <p:attrNameLst>
                                          <p:attrName>style.visibility</p:attrName>
                                        </p:attrNameLst>
                                      </p:cBhvr>
                                      <p:to>
                                        <p:strVal val="visible"/>
                                      </p:to>
                                    </p:set>
                                    <p:animEffect transition="in" filter="fade">
                                      <p:cBhvr>
                                        <p:cTn id="118" dur="450"/>
                                        <p:tgtEl>
                                          <p:spTgt spid="26"/>
                                        </p:tgtEl>
                                      </p:cBhvr>
                                    </p:animEffect>
                                    <p:anim calcmode="lin" valueType="num">
                                      <p:cBhvr additive="base">
                                        <p:cTn id="119" dur="450" fill="hold"/>
                                        <p:tgtEl>
                                          <p:spTgt spid="26"/>
                                        </p:tgtEl>
                                        <p:attrNameLst>
                                          <p:attrName>ppt_x</p:attrName>
                                        </p:attrNameLst>
                                      </p:cBhvr>
                                      <p:tavLst>
                                        <p:tav tm="0">
                                          <p:val>
                                            <p:strVal val="#ppt_x"/>
                                          </p:val>
                                        </p:tav>
                                        <p:tav tm="100000">
                                          <p:val>
                                            <p:strVal val="#ppt_x"/>
                                          </p:val>
                                        </p:tav>
                                      </p:tavLst>
                                    </p:anim>
                                    <p:anim calcmode="lin" valueType="num">
                                      <p:cBhvr additive="base">
                                        <p:cTn id="120" dur="450" fill="hold"/>
                                        <p:tgtEl>
                                          <p:spTgt spid="26"/>
                                        </p:tgtEl>
                                        <p:attrNameLst>
                                          <p:attrName>ppt_y</p:attrName>
                                        </p:attrNameLst>
                                      </p:cBhvr>
                                      <p:tavLst>
                                        <p:tav tm="0">
                                          <p:val>
                                            <p:strVal val="#ppt_y+.1"/>
                                          </p:val>
                                        </p:tav>
                                        <p:tav tm="100000">
                                          <p:val>
                                            <p:strVal val="#ppt_y"/>
                                          </p:val>
                                        </p:tav>
                                      </p:tavLst>
                                    </p:anim>
                                  </p:childTnLst>
                                </p:cTn>
                              </p:par>
                              <p:par>
                                <p:cTn id="121" presetID="42" presetClass="entr" presetSubtype="0" fill="hold" nodeType="withEffect">
                                  <p:stCondLst>
                                    <p:cond delay="800"/>
                                  </p:stCondLst>
                                  <p:childTnLst>
                                    <p:set>
                                      <p:cBhvr>
                                        <p:cTn id="122" dur="1" fill="hold">
                                          <p:stCondLst>
                                            <p:cond delay="0"/>
                                          </p:stCondLst>
                                        </p:cTn>
                                        <p:tgtEl>
                                          <p:spTgt spid="27"/>
                                        </p:tgtEl>
                                        <p:attrNameLst>
                                          <p:attrName>style.visibility</p:attrName>
                                        </p:attrNameLst>
                                      </p:cBhvr>
                                      <p:to>
                                        <p:strVal val="visible"/>
                                      </p:to>
                                    </p:set>
                                    <p:animEffect transition="in" filter="fade">
                                      <p:cBhvr>
                                        <p:cTn id="123" dur="450"/>
                                        <p:tgtEl>
                                          <p:spTgt spid="27"/>
                                        </p:tgtEl>
                                      </p:cBhvr>
                                    </p:animEffect>
                                    <p:anim calcmode="lin" valueType="num">
                                      <p:cBhvr additive="base">
                                        <p:cTn id="124" dur="450" fill="hold"/>
                                        <p:tgtEl>
                                          <p:spTgt spid="27"/>
                                        </p:tgtEl>
                                        <p:attrNameLst>
                                          <p:attrName>ppt_x</p:attrName>
                                        </p:attrNameLst>
                                      </p:cBhvr>
                                      <p:tavLst>
                                        <p:tav tm="0">
                                          <p:val>
                                            <p:strVal val="#ppt_x"/>
                                          </p:val>
                                        </p:tav>
                                        <p:tav tm="100000">
                                          <p:val>
                                            <p:strVal val="#ppt_x"/>
                                          </p:val>
                                        </p:tav>
                                      </p:tavLst>
                                    </p:anim>
                                    <p:anim calcmode="lin" valueType="num">
                                      <p:cBhvr additive="base">
                                        <p:cTn id="125" dur="450" fill="hold"/>
                                        <p:tgtEl>
                                          <p:spTgt spid="27"/>
                                        </p:tgtEl>
                                        <p:attrNameLst>
                                          <p:attrName>ppt_y</p:attrName>
                                        </p:attrNameLst>
                                      </p:cBhvr>
                                      <p:tavLst>
                                        <p:tav tm="0">
                                          <p:val>
                                            <p:strVal val="#ppt_y+.1"/>
                                          </p:val>
                                        </p:tav>
                                        <p:tav tm="100000">
                                          <p:val>
                                            <p:strVal val="#ppt_y"/>
                                          </p:val>
                                        </p:tav>
                                      </p:tavLst>
                                    </p:anim>
                                  </p:childTnLst>
                                </p:cTn>
                              </p:par>
                              <p:par>
                                <p:cTn id="126" presetID="42" presetClass="entr" presetSubtype="0" fill="hold" nodeType="withEffect">
                                  <p:stCondLst>
                                    <p:cond delay="800"/>
                                  </p:stCondLst>
                                  <p:childTnLst>
                                    <p:set>
                                      <p:cBhvr>
                                        <p:cTn id="127" dur="1" fill="hold">
                                          <p:stCondLst>
                                            <p:cond delay="0"/>
                                          </p:stCondLst>
                                        </p:cTn>
                                        <p:tgtEl>
                                          <p:spTgt spid="54"/>
                                        </p:tgtEl>
                                        <p:attrNameLst>
                                          <p:attrName>style.visibility</p:attrName>
                                        </p:attrNameLst>
                                      </p:cBhvr>
                                      <p:to>
                                        <p:strVal val="visible"/>
                                      </p:to>
                                    </p:set>
                                    <p:animEffect transition="in" filter="fade">
                                      <p:cBhvr>
                                        <p:cTn id="128" dur="450"/>
                                        <p:tgtEl>
                                          <p:spTgt spid="54"/>
                                        </p:tgtEl>
                                      </p:cBhvr>
                                    </p:animEffect>
                                    <p:anim calcmode="lin" valueType="num">
                                      <p:cBhvr additive="base">
                                        <p:cTn id="129" dur="450" fill="hold"/>
                                        <p:tgtEl>
                                          <p:spTgt spid="54"/>
                                        </p:tgtEl>
                                        <p:attrNameLst>
                                          <p:attrName>ppt_x</p:attrName>
                                        </p:attrNameLst>
                                      </p:cBhvr>
                                      <p:tavLst>
                                        <p:tav tm="0">
                                          <p:val>
                                            <p:strVal val="#ppt_x"/>
                                          </p:val>
                                        </p:tav>
                                        <p:tav tm="100000">
                                          <p:val>
                                            <p:strVal val="#ppt_x"/>
                                          </p:val>
                                        </p:tav>
                                      </p:tavLst>
                                    </p:anim>
                                    <p:anim calcmode="lin" valueType="num">
                                      <p:cBhvr additive="base">
                                        <p:cTn id="130" dur="450" fill="hold"/>
                                        <p:tgtEl>
                                          <p:spTgt spid="54"/>
                                        </p:tgtEl>
                                        <p:attrNameLst>
                                          <p:attrName>ppt_y</p:attrName>
                                        </p:attrNameLst>
                                      </p:cBhvr>
                                      <p:tavLst>
                                        <p:tav tm="0">
                                          <p:val>
                                            <p:strVal val="#ppt_y+.1"/>
                                          </p:val>
                                        </p:tav>
                                        <p:tav tm="100000">
                                          <p:val>
                                            <p:strVal val="#ppt_y"/>
                                          </p:val>
                                        </p:tav>
                                      </p:tavLst>
                                    </p:anim>
                                  </p:childTnLst>
                                </p:cTn>
                              </p:par>
                              <p:par>
                                <p:cTn id="131" presetID="22" presetClass="entr" presetSubtype="8" fill="hold" nodeType="withEffect">
                                  <p:stCondLst>
                                    <p:cond delay="1050"/>
                                  </p:stCondLst>
                                  <p:childTnLst>
                                    <p:set>
                                      <p:cBhvr>
                                        <p:cTn id="132" dur="1" fill="hold">
                                          <p:stCondLst>
                                            <p:cond delay="0"/>
                                          </p:stCondLst>
                                        </p:cTn>
                                        <p:tgtEl>
                                          <p:spTgt spid="28"/>
                                        </p:tgtEl>
                                        <p:attrNameLst>
                                          <p:attrName>style.visibility</p:attrName>
                                        </p:attrNameLst>
                                      </p:cBhvr>
                                      <p:to>
                                        <p:strVal val="visible"/>
                                      </p:to>
                                    </p:set>
                                    <p:animEffect transition="in" filter="wipe(left)">
                                      <p:cBhvr>
                                        <p:cTn id="133" dur="200"/>
                                        <p:tgtEl>
                                          <p:spTgt spid="28"/>
                                        </p:tgtEl>
                                      </p:cBhvr>
                                    </p:animEffect>
                                  </p:childTnLst>
                                </p:cTn>
                              </p:par>
                              <p:par>
                                <p:cTn id="134" presetID="42" presetClass="entr" presetSubtype="0" fill="hold" nodeType="withEffect">
                                  <p:stCondLst>
                                    <p:cond delay="1100"/>
                                  </p:stCondLst>
                                  <p:childTnLst>
                                    <p:set>
                                      <p:cBhvr>
                                        <p:cTn id="135" dur="1" fill="hold">
                                          <p:stCondLst>
                                            <p:cond delay="0"/>
                                          </p:stCondLst>
                                        </p:cTn>
                                        <p:tgtEl>
                                          <p:spTgt spid="29"/>
                                        </p:tgtEl>
                                        <p:attrNameLst>
                                          <p:attrName>style.visibility</p:attrName>
                                        </p:attrNameLst>
                                      </p:cBhvr>
                                      <p:to>
                                        <p:strVal val="visible"/>
                                      </p:to>
                                    </p:set>
                                    <p:animEffect transition="in" filter="fade">
                                      <p:cBhvr>
                                        <p:cTn id="136" dur="450"/>
                                        <p:tgtEl>
                                          <p:spTgt spid="29"/>
                                        </p:tgtEl>
                                      </p:cBhvr>
                                    </p:animEffect>
                                    <p:anim calcmode="lin" valueType="num">
                                      <p:cBhvr additive="base">
                                        <p:cTn id="137" dur="450" fill="hold"/>
                                        <p:tgtEl>
                                          <p:spTgt spid="29"/>
                                        </p:tgtEl>
                                        <p:attrNameLst>
                                          <p:attrName>ppt_x</p:attrName>
                                        </p:attrNameLst>
                                      </p:cBhvr>
                                      <p:tavLst>
                                        <p:tav tm="0">
                                          <p:val>
                                            <p:strVal val="#ppt_x"/>
                                          </p:val>
                                        </p:tav>
                                        <p:tav tm="100000">
                                          <p:val>
                                            <p:strVal val="#ppt_x"/>
                                          </p:val>
                                        </p:tav>
                                      </p:tavLst>
                                    </p:anim>
                                    <p:anim calcmode="lin" valueType="num">
                                      <p:cBhvr additive="base">
                                        <p:cTn id="138" dur="450" fill="hold"/>
                                        <p:tgtEl>
                                          <p:spTgt spid="29"/>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1100"/>
                                  </p:stCondLst>
                                  <p:childTnLst>
                                    <p:set>
                                      <p:cBhvr>
                                        <p:cTn id="140" dur="1" fill="hold">
                                          <p:stCondLst>
                                            <p:cond delay="0"/>
                                          </p:stCondLst>
                                        </p:cTn>
                                        <p:tgtEl>
                                          <p:spTgt spid="30"/>
                                        </p:tgtEl>
                                        <p:attrNameLst>
                                          <p:attrName>style.visibility</p:attrName>
                                        </p:attrNameLst>
                                      </p:cBhvr>
                                      <p:to>
                                        <p:strVal val="visible"/>
                                      </p:to>
                                    </p:set>
                                    <p:animEffect transition="in" filter="fade">
                                      <p:cBhvr>
                                        <p:cTn id="141" dur="450"/>
                                        <p:tgtEl>
                                          <p:spTgt spid="30"/>
                                        </p:tgtEl>
                                      </p:cBhvr>
                                    </p:animEffect>
                                    <p:anim calcmode="lin" valueType="num">
                                      <p:cBhvr additive="base">
                                        <p:cTn id="142" dur="450" fill="hold"/>
                                        <p:tgtEl>
                                          <p:spTgt spid="30"/>
                                        </p:tgtEl>
                                        <p:attrNameLst>
                                          <p:attrName>ppt_x</p:attrName>
                                        </p:attrNameLst>
                                      </p:cBhvr>
                                      <p:tavLst>
                                        <p:tav tm="0">
                                          <p:val>
                                            <p:strVal val="#ppt_x"/>
                                          </p:val>
                                        </p:tav>
                                        <p:tav tm="100000">
                                          <p:val>
                                            <p:strVal val="#ppt_x"/>
                                          </p:val>
                                        </p:tav>
                                      </p:tavLst>
                                    </p:anim>
                                    <p:anim calcmode="lin" valueType="num">
                                      <p:cBhvr additive="base">
                                        <p:cTn id="143" dur="450" fill="hold"/>
                                        <p:tgtEl>
                                          <p:spTgt spid="30"/>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1100"/>
                                  </p:stCondLst>
                                  <p:childTnLst>
                                    <p:set>
                                      <p:cBhvr>
                                        <p:cTn id="145" dur="1" fill="hold">
                                          <p:stCondLst>
                                            <p:cond delay="0"/>
                                          </p:stCondLst>
                                        </p:cTn>
                                        <p:tgtEl>
                                          <p:spTgt spid="31"/>
                                        </p:tgtEl>
                                        <p:attrNameLst>
                                          <p:attrName>style.visibility</p:attrName>
                                        </p:attrNameLst>
                                      </p:cBhvr>
                                      <p:to>
                                        <p:strVal val="visible"/>
                                      </p:to>
                                    </p:set>
                                    <p:animEffect transition="in" filter="fade">
                                      <p:cBhvr>
                                        <p:cTn id="146" dur="450"/>
                                        <p:tgtEl>
                                          <p:spTgt spid="31"/>
                                        </p:tgtEl>
                                      </p:cBhvr>
                                    </p:animEffect>
                                    <p:anim calcmode="lin" valueType="num">
                                      <p:cBhvr additive="base">
                                        <p:cTn id="147" dur="450" fill="hold"/>
                                        <p:tgtEl>
                                          <p:spTgt spid="31"/>
                                        </p:tgtEl>
                                        <p:attrNameLst>
                                          <p:attrName>ppt_x</p:attrName>
                                        </p:attrNameLst>
                                      </p:cBhvr>
                                      <p:tavLst>
                                        <p:tav tm="0">
                                          <p:val>
                                            <p:strVal val="#ppt_x"/>
                                          </p:val>
                                        </p:tav>
                                        <p:tav tm="100000">
                                          <p:val>
                                            <p:strVal val="#ppt_x"/>
                                          </p:val>
                                        </p:tav>
                                      </p:tavLst>
                                    </p:anim>
                                    <p:anim calcmode="lin" valueType="num">
                                      <p:cBhvr additive="base">
                                        <p:cTn id="148" dur="450" fill="hold"/>
                                        <p:tgtEl>
                                          <p:spTgt spid="31"/>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1100"/>
                                  </p:stCondLst>
                                  <p:childTnLst>
                                    <p:set>
                                      <p:cBhvr>
                                        <p:cTn id="150" dur="1" fill="hold">
                                          <p:stCondLst>
                                            <p:cond delay="0"/>
                                          </p:stCondLst>
                                        </p:cTn>
                                        <p:tgtEl>
                                          <p:spTgt spid="32"/>
                                        </p:tgtEl>
                                        <p:attrNameLst>
                                          <p:attrName>style.visibility</p:attrName>
                                        </p:attrNameLst>
                                      </p:cBhvr>
                                      <p:to>
                                        <p:strVal val="visible"/>
                                      </p:to>
                                    </p:set>
                                    <p:animEffect transition="in" filter="fade">
                                      <p:cBhvr>
                                        <p:cTn id="151" dur="450"/>
                                        <p:tgtEl>
                                          <p:spTgt spid="32"/>
                                        </p:tgtEl>
                                      </p:cBhvr>
                                    </p:animEffect>
                                    <p:anim calcmode="lin" valueType="num">
                                      <p:cBhvr additive="base">
                                        <p:cTn id="152" dur="450" fill="hold"/>
                                        <p:tgtEl>
                                          <p:spTgt spid="32"/>
                                        </p:tgtEl>
                                        <p:attrNameLst>
                                          <p:attrName>ppt_x</p:attrName>
                                        </p:attrNameLst>
                                      </p:cBhvr>
                                      <p:tavLst>
                                        <p:tav tm="0">
                                          <p:val>
                                            <p:strVal val="#ppt_x"/>
                                          </p:val>
                                        </p:tav>
                                        <p:tav tm="100000">
                                          <p:val>
                                            <p:strVal val="#ppt_x"/>
                                          </p:val>
                                        </p:tav>
                                      </p:tavLst>
                                    </p:anim>
                                    <p:anim calcmode="lin" valueType="num">
                                      <p:cBhvr additive="base">
                                        <p:cTn id="153" dur="450" fill="hold"/>
                                        <p:tgtEl>
                                          <p:spTgt spid="32"/>
                                        </p:tgtEl>
                                        <p:attrNameLst>
                                          <p:attrName>ppt_y</p:attrName>
                                        </p:attrNameLst>
                                      </p:cBhvr>
                                      <p:tavLst>
                                        <p:tav tm="0">
                                          <p:val>
                                            <p:strVal val="#ppt_y+.1"/>
                                          </p:val>
                                        </p:tav>
                                        <p:tav tm="100000">
                                          <p:val>
                                            <p:strVal val="#ppt_y"/>
                                          </p:val>
                                        </p:tav>
                                      </p:tavLst>
                                    </p:anim>
                                  </p:childTnLst>
                                </p:cTn>
                              </p:par>
                              <p:par>
                                <p:cTn id="154" presetID="42" presetClass="entr" presetSubtype="0" fill="hold" nodeType="withEffect">
                                  <p:stCondLst>
                                    <p:cond delay="1100"/>
                                  </p:stCondLst>
                                  <p:childTnLst>
                                    <p:set>
                                      <p:cBhvr>
                                        <p:cTn id="155" dur="1" fill="hold">
                                          <p:stCondLst>
                                            <p:cond delay="0"/>
                                          </p:stCondLst>
                                        </p:cTn>
                                        <p:tgtEl>
                                          <p:spTgt spid="33"/>
                                        </p:tgtEl>
                                        <p:attrNameLst>
                                          <p:attrName>style.visibility</p:attrName>
                                        </p:attrNameLst>
                                      </p:cBhvr>
                                      <p:to>
                                        <p:strVal val="visible"/>
                                      </p:to>
                                    </p:set>
                                    <p:animEffect transition="in" filter="fade">
                                      <p:cBhvr>
                                        <p:cTn id="156" dur="450"/>
                                        <p:tgtEl>
                                          <p:spTgt spid="33"/>
                                        </p:tgtEl>
                                      </p:cBhvr>
                                    </p:animEffect>
                                    <p:anim calcmode="lin" valueType="num">
                                      <p:cBhvr additive="base">
                                        <p:cTn id="157" dur="450" fill="hold"/>
                                        <p:tgtEl>
                                          <p:spTgt spid="33"/>
                                        </p:tgtEl>
                                        <p:attrNameLst>
                                          <p:attrName>ppt_x</p:attrName>
                                        </p:attrNameLst>
                                      </p:cBhvr>
                                      <p:tavLst>
                                        <p:tav tm="0">
                                          <p:val>
                                            <p:strVal val="#ppt_x"/>
                                          </p:val>
                                        </p:tav>
                                        <p:tav tm="100000">
                                          <p:val>
                                            <p:strVal val="#ppt_x"/>
                                          </p:val>
                                        </p:tav>
                                      </p:tavLst>
                                    </p:anim>
                                    <p:anim calcmode="lin" valueType="num">
                                      <p:cBhvr additive="base">
                                        <p:cTn id="158" dur="450" fill="hold"/>
                                        <p:tgtEl>
                                          <p:spTgt spid="33"/>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1100"/>
                                  </p:stCondLst>
                                  <p:childTnLst>
                                    <p:set>
                                      <p:cBhvr>
                                        <p:cTn id="160" dur="1" fill="hold">
                                          <p:stCondLst>
                                            <p:cond delay="0"/>
                                          </p:stCondLst>
                                        </p:cTn>
                                        <p:tgtEl>
                                          <p:spTgt spid="34"/>
                                        </p:tgtEl>
                                        <p:attrNameLst>
                                          <p:attrName>style.visibility</p:attrName>
                                        </p:attrNameLst>
                                      </p:cBhvr>
                                      <p:to>
                                        <p:strVal val="visible"/>
                                      </p:to>
                                    </p:set>
                                    <p:animEffect transition="in" filter="fade">
                                      <p:cBhvr>
                                        <p:cTn id="161" dur="450"/>
                                        <p:tgtEl>
                                          <p:spTgt spid="34"/>
                                        </p:tgtEl>
                                      </p:cBhvr>
                                    </p:animEffect>
                                    <p:anim calcmode="lin" valueType="num">
                                      <p:cBhvr additive="base">
                                        <p:cTn id="162" dur="450" fill="hold"/>
                                        <p:tgtEl>
                                          <p:spTgt spid="34"/>
                                        </p:tgtEl>
                                        <p:attrNameLst>
                                          <p:attrName>ppt_x</p:attrName>
                                        </p:attrNameLst>
                                      </p:cBhvr>
                                      <p:tavLst>
                                        <p:tav tm="0">
                                          <p:val>
                                            <p:strVal val="#ppt_x"/>
                                          </p:val>
                                        </p:tav>
                                        <p:tav tm="100000">
                                          <p:val>
                                            <p:strVal val="#ppt_x"/>
                                          </p:val>
                                        </p:tav>
                                      </p:tavLst>
                                    </p:anim>
                                    <p:anim calcmode="lin" valueType="num">
                                      <p:cBhvr additive="base">
                                        <p:cTn id="163" dur="450" fill="hold"/>
                                        <p:tgtEl>
                                          <p:spTgt spid="34"/>
                                        </p:tgtEl>
                                        <p:attrNameLst>
                                          <p:attrName>ppt_y</p:attrName>
                                        </p:attrNameLst>
                                      </p:cBhvr>
                                      <p:tavLst>
                                        <p:tav tm="0">
                                          <p:val>
                                            <p:strVal val="#ppt_y+.1"/>
                                          </p:val>
                                        </p:tav>
                                        <p:tav tm="100000">
                                          <p:val>
                                            <p:strVal val="#ppt_y"/>
                                          </p:val>
                                        </p:tav>
                                      </p:tavLst>
                                    </p:anim>
                                  </p:childTnLst>
                                </p:cTn>
                              </p:par>
                              <p:par>
                                <p:cTn id="164" presetID="42" presetClass="entr" presetSubtype="0" fill="hold" nodeType="withEffect">
                                  <p:stCondLst>
                                    <p:cond delay="1100"/>
                                  </p:stCondLst>
                                  <p:childTnLst>
                                    <p:set>
                                      <p:cBhvr>
                                        <p:cTn id="165" dur="1" fill="hold">
                                          <p:stCondLst>
                                            <p:cond delay="0"/>
                                          </p:stCondLst>
                                        </p:cTn>
                                        <p:tgtEl>
                                          <p:spTgt spid="35"/>
                                        </p:tgtEl>
                                        <p:attrNameLst>
                                          <p:attrName>style.visibility</p:attrName>
                                        </p:attrNameLst>
                                      </p:cBhvr>
                                      <p:to>
                                        <p:strVal val="visible"/>
                                      </p:to>
                                    </p:set>
                                    <p:animEffect transition="in" filter="fade">
                                      <p:cBhvr>
                                        <p:cTn id="166" dur="450"/>
                                        <p:tgtEl>
                                          <p:spTgt spid="35"/>
                                        </p:tgtEl>
                                      </p:cBhvr>
                                    </p:animEffect>
                                    <p:anim calcmode="lin" valueType="num">
                                      <p:cBhvr additive="base">
                                        <p:cTn id="167" dur="450" fill="hold"/>
                                        <p:tgtEl>
                                          <p:spTgt spid="35"/>
                                        </p:tgtEl>
                                        <p:attrNameLst>
                                          <p:attrName>ppt_x</p:attrName>
                                        </p:attrNameLst>
                                      </p:cBhvr>
                                      <p:tavLst>
                                        <p:tav tm="0">
                                          <p:val>
                                            <p:strVal val="#ppt_x"/>
                                          </p:val>
                                        </p:tav>
                                        <p:tav tm="100000">
                                          <p:val>
                                            <p:strVal val="#ppt_x"/>
                                          </p:val>
                                        </p:tav>
                                      </p:tavLst>
                                    </p:anim>
                                    <p:anim calcmode="lin" valueType="num">
                                      <p:cBhvr additive="base">
                                        <p:cTn id="168" dur="450" fill="hold"/>
                                        <p:tgtEl>
                                          <p:spTgt spid="35"/>
                                        </p:tgtEl>
                                        <p:attrNameLst>
                                          <p:attrName>ppt_y</p:attrName>
                                        </p:attrNameLst>
                                      </p:cBhvr>
                                      <p:tavLst>
                                        <p:tav tm="0">
                                          <p:val>
                                            <p:strVal val="#ppt_y+.1"/>
                                          </p:val>
                                        </p:tav>
                                        <p:tav tm="100000">
                                          <p:val>
                                            <p:strVal val="#ppt_y"/>
                                          </p:val>
                                        </p:tav>
                                      </p:tavLst>
                                    </p:anim>
                                  </p:childTnLst>
                                </p:cTn>
                              </p:par>
                              <p:par>
                                <p:cTn id="169" presetID="42" presetClass="entr" presetSubtype="0" fill="hold" nodeType="withEffect">
                                  <p:stCondLst>
                                    <p:cond delay="1100"/>
                                  </p:stCondLst>
                                  <p:childTnLst>
                                    <p:set>
                                      <p:cBhvr>
                                        <p:cTn id="170" dur="1" fill="hold">
                                          <p:stCondLst>
                                            <p:cond delay="0"/>
                                          </p:stCondLst>
                                        </p:cTn>
                                        <p:tgtEl>
                                          <p:spTgt spid="55"/>
                                        </p:tgtEl>
                                        <p:attrNameLst>
                                          <p:attrName>style.visibility</p:attrName>
                                        </p:attrNameLst>
                                      </p:cBhvr>
                                      <p:to>
                                        <p:strVal val="visible"/>
                                      </p:to>
                                    </p:set>
                                    <p:animEffect transition="in" filter="fade">
                                      <p:cBhvr>
                                        <p:cTn id="171" dur="450"/>
                                        <p:tgtEl>
                                          <p:spTgt spid="55"/>
                                        </p:tgtEl>
                                      </p:cBhvr>
                                    </p:animEffect>
                                    <p:anim calcmode="lin" valueType="num">
                                      <p:cBhvr additive="base">
                                        <p:cTn id="172" dur="450" fill="hold"/>
                                        <p:tgtEl>
                                          <p:spTgt spid="55"/>
                                        </p:tgtEl>
                                        <p:attrNameLst>
                                          <p:attrName>ppt_x</p:attrName>
                                        </p:attrNameLst>
                                      </p:cBhvr>
                                      <p:tavLst>
                                        <p:tav tm="0">
                                          <p:val>
                                            <p:strVal val="#ppt_x"/>
                                          </p:val>
                                        </p:tav>
                                        <p:tav tm="100000">
                                          <p:val>
                                            <p:strVal val="#ppt_x"/>
                                          </p:val>
                                        </p:tav>
                                      </p:tavLst>
                                    </p:anim>
                                    <p:anim calcmode="lin" valueType="num">
                                      <p:cBhvr additive="base">
                                        <p:cTn id="173" dur="450" fill="hold"/>
                                        <p:tgtEl>
                                          <p:spTgt spid="55"/>
                                        </p:tgtEl>
                                        <p:attrNameLst>
                                          <p:attrName>ppt_y</p:attrName>
                                        </p:attrNameLst>
                                      </p:cBhvr>
                                      <p:tavLst>
                                        <p:tav tm="0">
                                          <p:val>
                                            <p:strVal val="#ppt_y+.1"/>
                                          </p:val>
                                        </p:tav>
                                        <p:tav tm="100000">
                                          <p:val>
                                            <p:strVal val="#ppt_y"/>
                                          </p:val>
                                        </p:tav>
                                      </p:tavLst>
                                    </p:anim>
                                  </p:childTnLst>
                                </p:cTn>
                              </p:par>
                              <p:par>
                                <p:cTn id="174" presetID="22" presetClass="entr" presetSubtype="8" fill="hold" nodeType="withEffect">
                                  <p:stCondLst>
                                    <p:cond delay="1350"/>
                                  </p:stCondLst>
                                  <p:childTnLst>
                                    <p:set>
                                      <p:cBhvr>
                                        <p:cTn id="175" dur="1" fill="hold">
                                          <p:stCondLst>
                                            <p:cond delay="0"/>
                                          </p:stCondLst>
                                        </p:cTn>
                                        <p:tgtEl>
                                          <p:spTgt spid="36"/>
                                        </p:tgtEl>
                                        <p:attrNameLst>
                                          <p:attrName>style.visibility</p:attrName>
                                        </p:attrNameLst>
                                      </p:cBhvr>
                                      <p:to>
                                        <p:strVal val="visible"/>
                                      </p:to>
                                    </p:set>
                                    <p:animEffect transition="in" filter="wipe(left)">
                                      <p:cBhvr>
                                        <p:cTn id="176" dur="200"/>
                                        <p:tgtEl>
                                          <p:spTgt spid="36"/>
                                        </p:tgtEl>
                                      </p:cBhvr>
                                    </p:animEffect>
                                  </p:childTnLst>
                                </p:cTn>
                              </p:par>
                              <p:par>
                                <p:cTn id="177" presetID="42" presetClass="entr" presetSubtype="0" fill="hold" nodeType="withEffect">
                                  <p:stCondLst>
                                    <p:cond delay="1400"/>
                                  </p:stCondLst>
                                  <p:childTnLst>
                                    <p:set>
                                      <p:cBhvr>
                                        <p:cTn id="178" dur="1" fill="hold">
                                          <p:stCondLst>
                                            <p:cond delay="0"/>
                                          </p:stCondLst>
                                        </p:cTn>
                                        <p:tgtEl>
                                          <p:spTgt spid="37"/>
                                        </p:tgtEl>
                                        <p:attrNameLst>
                                          <p:attrName>style.visibility</p:attrName>
                                        </p:attrNameLst>
                                      </p:cBhvr>
                                      <p:to>
                                        <p:strVal val="visible"/>
                                      </p:to>
                                    </p:set>
                                    <p:animEffect transition="in" filter="fade">
                                      <p:cBhvr>
                                        <p:cTn id="179" dur="450"/>
                                        <p:tgtEl>
                                          <p:spTgt spid="37"/>
                                        </p:tgtEl>
                                      </p:cBhvr>
                                    </p:animEffect>
                                    <p:anim calcmode="lin" valueType="num">
                                      <p:cBhvr additive="base">
                                        <p:cTn id="180" dur="450" fill="hold"/>
                                        <p:tgtEl>
                                          <p:spTgt spid="37"/>
                                        </p:tgtEl>
                                        <p:attrNameLst>
                                          <p:attrName>ppt_x</p:attrName>
                                        </p:attrNameLst>
                                      </p:cBhvr>
                                      <p:tavLst>
                                        <p:tav tm="0">
                                          <p:val>
                                            <p:strVal val="#ppt_x"/>
                                          </p:val>
                                        </p:tav>
                                        <p:tav tm="100000">
                                          <p:val>
                                            <p:strVal val="#ppt_x"/>
                                          </p:val>
                                        </p:tav>
                                      </p:tavLst>
                                    </p:anim>
                                    <p:anim calcmode="lin" valueType="num">
                                      <p:cBhvr additive="base">
                                        <p:cTn id="181" dur="450" fill="hold"/>
                                        <p:tgtEl>
                                          <p:spTgt spid="37"/>
                                        </p:tgtEl>
                                        <p:attrNameLst>
                                          <p:attrName>ppt_y</p:attrName>
                                        </p:attrNameLst>
                                      </p:cBhvr>
                                      <p:tavLst>
                                        <p:tav tm="0">
                                          <p:val>
                                            <p:strVal val="#ppt_y+.1"/>
                                          </p:val>
                                        </p:tav>
                                        <p:tav tm="100000">
                                          <p:val>
                                            <p:strVal val="#ppt_y"/>
                                          </p:val>
                                        </p:tav>
                                      </p:tavLst>
                                    </p:anim>
                                  </p:childTnLst>
                                </p:cTn>
                              </p:par>
                              <p:par>
                                <p:cTn id="182" presetID="42" presetClass="entr" presetSubtype="0" fill="hold" nodeType="withEffect">
                                  <p:stCondLst>
                                    <p:cond delay="1400"/>
                                  </p:stCondLst>
                                  <p:childTnLst>
                                    <p:set>
                                      <p:cBhvr>
                                        <p:cTn id="183" dur="1" fill="hold">
                                          <p:stCondLst>
                                            <p:cond delay="0"/>
                                          </p:stCondLst>
                                        </p:cTn>
                                        <p:tgtEl>
                                          <p:spTgt spid="38"/>
                                        </p:tgtEl>
                                        <p:attrNameLst>
                                          <p:attrName>style.visibility</p:attrName>
                                        </p:attrNameLst>
                                      </p:cBhvr>
                                      <p:to>
                                        <p:strVal val="visible"/>
                                      </p:to>
                                    </p:set>
                                    <p:animEffect transition="in" filter="fade">
                                      <p:cBhvr>
                                        <p:cTn id="184" dur="450"/>
                                        <p:tgtEl>
                                          <p:spTgt spid="38"/>
                                        </p:tgtEl>
                                      </p:cBhvr>
                                    </p:animEffect>
                                    <p:anim calcmode="lin" valueType="num">
                                      <p:cBhvr additive="base">
                                        <p:cTn id="185" dur="450" fill="hold"/>
                                        <p:tgtEl>
                                          <p:spTgt spid="38"/>
                                        </p:tgtEl>
                                        <p:attrNameLst>
                                          <p:attrName>ppt_x</p:attrName>
                                        </p:attrNameLst>
                                      </p:cBhvr>
                                      <p:tavLst>
                                        <p:tav tm="0">
                                          <p:val>
                                            <p:strVal val="#ppt_x"/>
                                          </p:val>
                                        </p:tav>
                                        <p:tav tm="100000">
                                          <p:val>
                                            <p:strVal val="#ppt_x"/>
                                          </p:val>
                                        </p:tav>
                                      </p:tavLst>
                                    </p:anim>
                                    <p:anim calcmode="lin" valueType="num">
                                      <p:cBhvr additive="base">
                                        <p:cTn id="186" dur="450" fill="hold"/>
                                        <p:tgtEl>
                                          <p:spTgt spid="38"/>
                                        </p:tgtEl>
                                        <p:attrNameLst>
                                          <p:attrName>ppt_y</p:attrName>
                                        </p:attrNameLst>
                                      </p:cBhvr>
                                      <p:tavLst>
                                        <p:tav tm="0">
                                          <p:val>
                                            <p:strVal val="#ppt_y+.1"/>
                                          </p:val>
                                        </p:tav>
                                        <p:tav tm="100000">
                                          <p:val>
                                            <p:strVal val="#ppt_y"/>
                                          </p:val>
                                        </p:tav>
                                      </p:tavLst>
                                    </p:anim>
                                  </p:childTnLst>
                                </p:cTn>
                              </p:par>
                              <p:par>
                                <p:cTn id="187" presetID="42" presetClass="entr" presetSubtype="0" fill="hold" nodeType="withEffect">
                                  <p:stCondLst>
                                    <p:cond delay="1400"/>
                                  </p:stCondLst>
                                  <p:childTnLst>
                                    <p:set>
                                      <p:cBhvr>
                                        <p:cTn id="188" dur="1" fill="hold">
                                          <p:stCondLst>
                                            <p:cond delay="0"/>
                                          </p:stCondLst>
                                        </p:cTn>
                                        <p:tgtEl>
                                          <p:spTgt spid="39"/>
                                        </p:tgtEl>
                                        <p:attrNameLst>
                                          <p:attrName>style.visibility</p:attrName>
                                        </p:attrNameLst>
                                      </p:cBhvr>
                                      <p:to>
                                        <p:strVal val="visible"/>
                                      </p:to>
                                    </p:set>
                                    <p:animEffect transition="in" filter="fade">
                                      <p:cBhvr>
                                        <p:cTn id="189" dur="450"/>
                                        <p:tgtEl>
                                          <p:spTgt spid="39"/>
                                        </p:tgtEl>
                                      </p:cBhvr>
                                    </p:animEffect>
                                    <p:anim calcmode="lin" valueType="num">
                                      <p:cBhvr additive="base">
                                        <p:cTn id="190" dur="450" fill="hold"/>
                                        <p:tgtEl>
                                          <p:spTgt spid="39"/>
                                        </p:tgtEl>
                                        <p:attrNameLst>
                                          <p:attrName>ppt_x</p:attrName>
                                        </p:attrNameLst>
                                      </p:cBhvr>
                                      <p:tavLst>
                                        <p:tav tm="0">
                                          <p:val>
                                            <p:strVal val="#ppt_x"/>
                                          </p:val>
                                        </p:tav>
                                        <p:tav tm="100000">
                                          <p:val>
                                            <p:strVal val="#ppt_x"/>
                                          </p:val>
                                        </p:tav>
                                      </p:tavLst>
                                    </p:anim>
                                    <p:anim calcmode="lin" valueType="num">
                                      <p:cBhvr additive="base">
                                        <p:cTn id="191" dur="450" fill="hold"/>
                                        <p:tgtEl>
                                          <p:spTgt spid="39"/>
                                        </p:tgtEl>
                                        <p:attrNameLst>
                                          <p:attrName>ppt_y</p:attrName>
                                        </p:attrNameLst>
                                      </p:cBhvr>
                                      <p:tavLst>
                                        <p:tav tm="0">
                                          <p:val>
                                            <p:strVal val="#ppt_y+.1"/>
                                          </p:val>
                                        </p:tav>
                                        <p:tav tm="100000">
                                          <p:val>
                                            <p:strVal val="#ppt_y"/>
                                          </p:val>
                                        </p:tav>
                                      </p:tavLst>
                                    </p:anim>
                                  </p:childTnLst>
                                </p:cTn>
                              </p:par>
                              <p:par>
                                <p:cTn id="192" presetID="42" presetClass="entr" presetSubtype="0" fill="hold" nodeType="withEffect">
                                  <p:stCondLst>
                                    <p:cond delay="1400"/>
                                  </p:stCondLst>
                                  <p:childTnLst>
                                    <p:set>
                                      <p:cBhvr>
                                        <p:cTn id="193" dur="1" fill="hold">
                                          <p:stCondLst>
                                            <p:cond delay="0"/>
                                          </p:stCondLst>
                                        </p:cTn>
                                        <p:tgtEl>
                                          <p:spTgt spid="40"/>
                                        </p:tgtEl>
                                        <p:attrNameLst>
                                          <p:attrName>style.visibility</p:attrName>
                                        </p:attrNameLst>
                                      </p:cBhvr>
                                      <p:to>
                                        <p:strVal val="visible"/>
                                      </p:to>
                                    </p:set>
                                    <p:animEffect transition="in" filter="fade">
                                      <p:cBhvr>
                                        <p:cTn id="194" dur="450"/>
                                        <p:tgtEl>
                                          <p:spTgt spid="40"/>
                                        </p:tgtEl>
                                      </p:cBhvr>
                                    </p:animEffect>
                                    <p:anim calcmode="lin" valueType="num">
                                      <p:cBhvr additive="base">
                                        <p:cTn id="195" dur="450" fill="hold"/>
                                        <p:tgtEl>
                                          <p:spTgt spid="40"/>
                                        </p:tgtEl>
                                        <p:attrNameLst>
                                          <p:attrName>ppt_x</p:attrName>
                                        </p:attrNameLst>
                                      </p:cBhvr>
                                      <p:tavLst>
                                        <p:tav tm="0">
                                          <p:val>
                                            <p:strVal val="#ppt_x"/>
                                          </p:val>
                                        </p:tav>
                                        <p:tav tm="100000">
                                          <p:val>
                                            <p:strVal val="#ppt_x"/>
                                          </p:val>
                                        </p:tav>
                                      </p:tavLst>
                                    </p:anim>
                                    <p:anim calcmode="lin" valueType="num">
                                      <p:cBhvr additive="base">
                                        <p:cTn id="196" dur="450" fill="hold"/>
                                        <p:tgtEl>
                                          <p:spTgt spid="40"/>
                                        </p:tgtEl>
                                        <p:attrNameLst>
                                          <p:attrName>ppt_y</p:attrName>
                                        </p:attrNameLst>
                                      </p:cBhvr>
                                      <p:tavLst>
                                        <p:tav tm="0">
                                          <p:val>
                                            <p:strVal val="#ppt_y+.1"/>
                                          </p:val>
                                        </p:tav>
                                        <p:tav tm="100000">
                                          <p:val>
                                            <p:strVal val="#ppt_y"/>
                                          </p:val>
                                        </p:tav>
                                      </p:tavLst>
                                    </p:anim>
                                  </p:childTnLst>
                                </p:cTn>
                              </p:par>
                              <p:par>
                                <p:cTn id="197" presetID="42" presetClass="entr" presetSubtype="0" fill="hold" nodeType="withEffect">
                                  <p:stCondLst>
                                    <p:cond delay="1400"/>
                                  </p:stCondLst>
                                  <p:childTnLst>
                                    <p:set>
                                      <p:cBhvr>
                                        <p:cTn id="198" dur="1" fill="hold">
                                          <p:stCondLst>
                                            <p:cond delay="0"/>
                                          </p:stCondLst>
                                        </p:cTn>
                                        <p:tgtEl>
                                          <p:spTgt spid="41"/>
                                        </p:tgtEl>
                                        <p:attrNameLst>
                                          <p:attrName>style.visibility</p:attrName>
                                        </p:attrNameLst>
                                      </p:cBhvr>
                                      <p:to>
                                        <p:strVal val="visible"/>
                                      </p:to>
                                    </p:set>
                                    <p:animEffect transition="in" filter="fade">
                                      <p:cBhvr>
                                        <p:cTn id="199" dur="450"/>
                                        <p:tgtEl>
                                          <p:spTgt spid="41"/>
                                        </p:tgtEl>
                                      </p:cBhvr>
                                    </p:animEffect>
                                    <p:anim calcmode="lin" valueType="num">
                                      <p:cBhvr additive="base">
                                        <p:cTn id="200" dur="450" fill="hold"/>
                                        <p:tgtEl>
                                          <p:spTgt spid="41"/>
                                        </p:tgtEl>
                                        <p:attrNameLst>
                                          <p:attrName>ppt_x</p:attrName>
                                        </p:attrNameLst>
                                      </p:cBhvr>
                                      <p:tavLst>
                                        <p:tav tm="0">
                                          <p:val>
                                            <p:strVal val="#ppt_x"/>
                                          </p:val>
                                        </p:tav>
                                        <p:tav tm="100000">
                                          <p:val>
                                            <p:strVal val="#ppt_x"/>
                                          </p:val>
                                        </p:tav>
                                      </p:tavLst>
                                    </p:anim>
                                    <p:anim calcmode="lin" valueType="num">
                                      <p:cBhvr additive="base">
                                        <p:cTn id="201" dur="450" fill="hold"/>
                                        <p:tgtEl>
                                          <p:spTgt spid="41"/>
                                        </p:tgtEl>
                                        <p:attrNameLst>
                                          <p:attrName>ppt_y</p:attrName>
                                        </p:attrNameLst>
                                      </p:cBhvr>
                                      <p:tavLst>
                                        <p:tav tm="0">
                                          <p:val>
                                            <p:strVal val="#ppt_y+.1"/>
                                          </p:val>
                                        </p:tav>
                                        <p:tav tm="100000">
                                          <p:val>
                                            <p:strVal val="#ppt_y"/>
                                          </p:val>
                                        </p:tav>
                                      </p:tavLst>
                                    </p:anim>
                                  </p:childTnLst>
                                </p:cTn>
                              </p:par>
                              <p:par>
                                <p:cTn id="202" presetID="42" presetClass="entr" presetSubtype="0" fill="hold" nodeType="withEffect">
                                  <p:stCondLst>
                                    <p:cond delay="1400"/>
                                  </p:stCondLst>
                                  <p:childTnLst>
                                    <p:set>
                                      <p:cBhvr>
                                        <p:cTn id="203" dur="1" fill="hold">
                                          <p:stCondLst>
                                            <p:cond delay="0"/>
                                          </p:stCondLst>
                                        </p:cTn>
                                        <p:tgtEl>
                                          <p:spTgt spid="42"/>
                                        </p:tgtEl>
                                        <p:attrNameLst>
                                          <p:attrName>style.visibility</p:attrName>
                                        </p:attrNameLst>
                                      </p:cBhvr>
                                      <p:to>
                                        <p:strVal val="visible"/>
                                      </p:to>
                                    </p:set>
                                    <p:animEffect transition="in" filter="fade">
                                      <p:cBhvr>
                                        <p:cTn id="204" dur="450"/>
                                        <p:tgtEl>
                                          <p:spTgt spid="42"/>
                                        </p:tgtEl>
                                      </p:cBhvr>
                                    </p:animEffect>
                                    <p:anim calcmode="lin" valueType="num">
                                      <p:cBhvr additive="base">
                                        <p:cTn id="205" dur="450" fill="hold"/>
                                        <p:tgtEl>
                                          <p:spTgt spid="42"/>
                                        </p:tgtEl>
                                        <p:attrNameLst>
                                          <p:attrName>ppt_x</p:attrName>
                                        </p:attrNameLst>
                                      </p:cBhvr>
                                      <p:tavLst>
                                        <p:tav tm="0">
                                          <p:val>
                                            <p:strVal val="#ppt_x"/>
                                          </p:val>
                                        </p:tav>
                                        <p:tav tm="100000">
                                          <p:val>
                                            <p:strVal val="#ppt_x"/>
                                          </p:val>
                                        </p:tav>
                                      </p:tavLst>
                                    </p:anim>
                                    <p:anim calcmode="lin" valueType="num">
                                      <p:cBhvr additive="base">
                                        <p:cTn id="206" dur="450" fill="hold"/>
                                        <p:tgtEl>
                                          <p:spTgt spid="42"/>
                                        </p:tgtEl>
                                        <p:attrNameLst>
                                          <p:attrName>ppt_y</p:attrName>
                                        </p:attrNameLst>
                                      </p:cBhvr>
                                      <p:tavLst>
                                        <p:tav tm="0">
                                          <p:val>
                                            <p:strVal val="#ppt_y+.1"/>
                                          </p:val>
                                        </p:tav>
                                        <p:tav tm="100000">
                                          <p:val>
                                            <p:strVal val="#ppt_y"/>
                                          </p:val>
                                        </p:tav>
                                      </p:tavLst>
                                    </p:anim>
                                  </p:childTnLst>
                                </p:cTn>
                              </p:par>
                              <p:par>
                                <p:cTn id="207" presetID="42" presetClass="entr" presetSubtype="0" fill="hold" nodeType="withEffect">
                                  <p:stCondLst>
                                    <p:cond delay="1400"/>
                                  </p:stCondLst>
                                  <p:childTnLst>
                                    <p:set>
                                      <p:cBhvr>
                                        <p:cTn id="208" dur="1" fill="hold">
                                          <p:stCondLst>
                                            <p:cond delay="0"/>
                                          </p:stCondLst>
                                        </p:cTn>
                                        <p:tgtEl>
                                          <p:spTgt spid="43"/>
                                        </p:tgtEl>
                                        <p:attrNameLst>
                                          <p:attrName>style.visibility</p:attrName>
                                        </p:attrNameLst>
                                      </p:cBhvr>
                                      <p:to>
                                        <p:strVal val="visible"/>
                                      </p:to>
                                    </p:set>
                                    <p:animEffect transition="in" filter="fade">
                                      <p:cBhvr>
                                        <p:cTn id="209" dur="450"/>
                                        <p:tgtEl>
                                          <p:spTgt spid="43"/>
                                        </p:tgtEl>
                                      </p:cBhvr>
                                    </p:animEffect>
                                    <p:anim calcmode="lin" valueType="num">
                                      <p:cBhvr additive="base">
                                        <p:cTn id="210" dur="450" fill="hold"/>
                                        <p:tgtEl>
                                          <p:spTgt spid="43"/>
                                        </p:tgtEl>
                                        <p:attrNameLst>
                                          <p:attrName>ppt_x</p:attrName>
                                        </p:attrNameLst>
                                      </p:cBhvr>
                                      <p:tavLst>
                                        <p:tav tm="0">
                                          <p:val>
                                            <p:strVal val="#ppt_x"/>
                                          </p:val>
                                        </p:tav>
                                        <p:tav tm="100000">
                                          <p:val>
                                            <p:strVal val="#ppt_x"/>
                                          </p:val>
                                        </p:tav>
                                      </p:tavLst>
                                    </p:anim>
                                    <p:anim calcmode="lin" valueType="num">
                                      <p:cBhvr additive="base">
                                        <p:cTn id="211" dur="450" fill="hold"/>
                                        <p:tgtEl>
                                          <p:spTgt spid="43"/>
                                        </p:tgtEl>
                                        <p:attrNameLst>
                                          <p:attrName>ppt_y</p:attrName>
                                        </p:attrNameLst>
                                      </p:cBhvr>
                                      <p:tavLst>
                                        <p:tav tm="0">
                                          <p:val>
                                            <p:strVal val="#ppt_y+.1"/>
                                          </p:val>
                                        </p:tav>
                                        <p:tav tm="100000">
                                          <p:val>
                                            <p:strVal val="#ppt_y"/>
                                          </p:val>
                                        </p:tav>
                                      </p:tavLst>
                                    </p:anim>
                                  </p:childTnLst>
                                </p:cTn>
                              </p:par>
                              <p:par>
                                <p:cTn id="212" presetID="42" presetClass="entr" presetSubtype="0" fill="hold" nodeType="withEffect">
                                  <p:stCondLst>
                                    <p:cond delay="1400"/>
                                  </p:stCondLst>
                                  <p:childTnLst>
                                    <p:set>
                                      <p:cBhvr>
                                        <p:cTn id="213" dur="1" fill="hold">
                                          <p:stCondLst>
                                            <p:cond delay="0"/>
                                          </p:stCondLst>
                                        </p:cTn>
                                        <p:tgtEl>
                                          <p:spTgt spid="56"/>
                                        </p:tgtEl>
                                        <p:attrNameLst>
                                          <p:attrName>style.visibility</p:attrName>
                                        </p:attrNameLst>
                                      </p:cBhvr>
                                      <p:to>
                                        <p:strVal val="visible"/>
                                      </p:to>
                                    </p:set>
                                    <p:animEffect transition="in" filter="fade">
                                      <p:cBhvr>
                                        <p:cTn id="214" dur="450"/>
                                        <p:tgtEl>
                                          <p:spTgt spid="56"/>
                                        </p:tgtEl>
                                      </p:cBhvr>
                                    </p:animEffect>
                                    <p:anim calcmode="lin" valueType="num">
                                      <p:cBhvr additive="base">
                                        <p:cTn id="215" dur="450" fill="hold"/>
                                        <p:tgtEl>
                                          <p:spTgt spid="56"/>
                                        </p:tgtEl>
                                        <p:attrNameLst>
                                          <p:attrName>ppt_x</p:attrName>
                                        </p:attrNameLst>
                                      </p:cBhvr>
                                      <p:tavLst>
                                        <p:tav tm="0">
                                          <p:val>
                                            <p:strVal val="#ppt_x"/>
                                          </p:val>
                                        </p:tav>
                                        <p:tav tm="100000">
                                          <p:val>
                                            <p:strVal val="#ppt_x"/>
                                          </p:val>
                                        </p:tav>
                                      </p:tavLst>
                                    </p:anim>
                                    <p:anim calcmode="lin" valueType="num">
                                      <p:cBhvr additive="base">
                                        <p:cTn id="216" dur="450" fill="hold"/>
                                        <p:tgtEl>
                                          <p:spTgt spid="56"/>
                                        </p:tgtEl>
                                        <p:attrNameLst>
                                          <p:attrName>ppt_y</p:attrName>
                                        </p:attrNameLst>
                                      </p:cBhvr>
                                      <p:tavLst>
                                        <p:tav tm="0">
                                          <p:val>
                                            <p:strVal val="#ppt_y+.1"/>
                                          </p:val>
                                        </p:tav>
                                        <p:tav tm="100000">
                                          <p:val>
                                            <p:strVal val="#ppt_y"/>
                                          </p:val>
                                        </p:tav>
                                      </p:tavLst>
                                    </p:anim>
                                  </p:childTnLst>
                                </p:cTn>
                              </p:par>
                              <p:par>
                                <p:cTn id="217" presetID="22" presetClass="entr" presetSubtype="8" fill="hold" nodeType="withEffect">
                                  <p:stCondLst>
                                    <p:cond delay="1650"/>
                                  </p:stCondLst>
                                  <p:childTnLst>
                                    <p:set>
                                      <p:cBhvr>
                                        <p:cTn id="218" dur="1" fill="hold">
                                          <p:stCondLst>
                                            <p:cond delay="0"/>
                                          </p:stCondLst>
                                        </p:cTn>
                                        <p:tgtEl>
                                          <p:spTgt spid="44"/>
                                        </p:tgtEl>
                                        <p:attrNameLst>
                                          <p:attrName>style.visibility</p:attrName>
                                        </p:attrNameLst>
                                      </p:cBhvr>
                                      <p:to>
                                        <p:strVal val="visible"/>
                                      </p:to>
                                    </p:set>
                                    <p:animEffect transition="in" filter="wipe(left)">
                                      <p:cBhvr>
                                        <p:cTn id="219" dur="200"/>
                                        <p:tgtEl>
                                          <p:spTgt spid="44"/>
                                        </p:tgtEl>
                                      </p:cBhvr>
                                    </p:animEffect>
                                  </p:childTnLst>
                                </p:cTn>
                              </p:par>
                              <p:par>
                                <p:cTn id="220" presetID="42" presetClass="entr" presetSubtype="0" fill="hold" nodeType="withEffect">
                                  <p:stCondLst>
                                    <p:cond delay="1700"/>
                                  </p:stCondLst>
                                  <p:childTnLst>
                                    <p:set>
                                      <p:cBhvr>
                                        <p:cTn id="221" dur="1" fill="hold">
                                          <p:stCondLst>
                                            <p:cond delay="0"/>
                                          </p:stCondLst>
                                        </p:cTn>
                                        <p:tgtEl>
                                          <p:spTgt spid="45"/>
                                        </p:tgtEl>
                                        <p:attrNameLst>
                                          <p:attrName>style.visibility</p:attrName>
                                        </p:attrNameLst>
                                      </p:cBhvr>
                                      <p:to>
                                        <p:strVal val="visible"/>
                                      </p:to>
                                    </p:set>
                                    <p:animEffect transition="in" filter="fade">
                                      <p:cBhvr>
                                        <p:cTn id="222" dur="450"/>
                                        <p:tgtEl>
                                          <p:spTgt spid="45"/>
                                        </p:tgtEl>
                                      </p:cBhvr>
                                    </p:animEffect>
                                    <p:anim calcmode="lin" valueType="num">
                                      <p:cBhvr additive="base">
                                        <p:cTn id="223" dur="450" fill="hold"/>
                                        <p:tgtEl>
                                          <p:spTgt spid="45"/>
                                        </p:tgtEl>
                                        <p:attrNameLst>
                                          <p:attrName>ppt_x</p:attrName>
                                        </p:attrNameLst>
                                      </p:cBhvr>
                                      <p:tavLst>
                                        <p:tav tm="0">
                                          <p:val>
                                            <p:strVal val="#ppt_x"/>
                                          </p:val>
                                        </p:tav>
                                        <p:tav tm="100000">
                                          <p:val>
                                            <p:strVal val="#ppt_x"/>
                                          </p:val>
                                        </p:tav>
                                      </p:tavLst>
                                    </p:anim>
                                    <p:anim calcmode="lin" valueType="num">
                                      <p:cBhvr additive="base">
                                        <p:cTn id="224" dur="450" fill="hold"/>
                                        <p:tgtEl>
                                          <p:spTgt spid="45"/>
                                        </p:tgtEl>
                                        <p:attrNameLst>
                                          <p:attrName>ppt_y</p:attrName>
                                        </p:attrNameLst>
                                      </p:cBhvr>
                                      <p:tavLst>
                                        <p:tav tm="0">
                                          <p:val>
                                            <p:strVal val="#ppt_y+.1"/>
                                          </p:val>
                                        </p:tav>
                                        <p:tav tm="100000">
                                          <p:val>
                                            <p:strVal val="#ppt_y"/>
                                          </p:val>
                                        </p:tav>
                                      </p:tavLst>
                                    </p:anim>
                                  </p:childTnLst>
                                </p:cTn>
                              </p:par>
                              <p:par>
                                <p:cTn id="225" presetID="42" presetClass="entr" presetSubtype="0" fill="hold" nodeType="withEffect">
                                  <p:stCondLst>
                                    <p:cond delay="1700"/>
                                  </p:stCondLst>
                                  <p:childTnLst>
                                    <p:set>
                                      <p:cBhvr>
                                        <p:cTn id="226" dur="1" fill="hold">
                                          <p:stCondLst>
                                            <p:cond delay="0"/>
                                          </p:stCondLst>
                                        </p:cTn>
                                        <p:tgtEl>
                                          <p:spTgt spid="46"/>
                                        </p:tgtEl>
                                        <p:attrNameLst>
                                          <p:attrName>style.visibility</p:attrName>
                                        </p:attrNameLst>
                                      </p:cBhvr>
                                      <p:to>
                                        <p:strVal val="visible"/>
                                      </p:to>
                                    </p:set>
                                    <p:animEffect transition="in" filter="fade">
                                      <p:cBhvr>
                                        <p:cTn id="227" dur="450"/>
                                        <p:tgtEl>
                                          <p:spTgt spid="46"/>
                                        </p:tgtEl>
                                      </p:cBhvr>
                                    </p:animEffect>
                                    <p:anim calcmode="lin" valueType="num">
                                      <p:cBhvr additive="base">
                                        <p:cTn id="228" dur="450" fill="hold"/>
                                        <p:tgtEl>
                                          <p:spTgt spid="46"/>
                                        </p:tgtEl>
                                        <p:attrNameLst>
                                          <p:attrName>ppt_x</p:attrName>
                                        </p:attrNameLst>
                                      </p:cBhvr>
                                      <p:tavLst>
                                        <p:tav tm="0">
                                          <p:val>
                                            <p:strVal val="#ppt_x"/>
                                          </p:val>
                                        </p:tav>
                                        <p:tav tm="100000">
                                          <p:val>
                                            <p:strVal val="#ppt_x"/>
                                          </p:val>
                                        </p:tav>
                                      </p:tavLst>
                                    </p:anim>
                                    <p:anim calcmode="lin" valueType="num">
                                      <p:cBhvr additive="base">
                                        <p:cTn id="229" dur="450" fill="hold"/>
                                        <p:tgtEl>
                                          <p:spTgt spid="46"/>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1700"/>
                                  </p:stCondLst>
                                  <p:childTnLst>
                                    <p:set>
                                      <p:cBhvr>
                                        <p:cTn id="231" dur="1" fill="hold">
                                          <p:stCondLst>
                                            <p:cond delay="0"/>
                                          </p:stCondLst>
                                        </p:cTn>
                                        <p:tgtEl>
                                          <p:spTgt spid="47"/>
                                        </p:tgtEl>
                                        <p:attrNameLst>
                                          <p:attrName>style.visibility</p:attrName>
                                        </p:attrNameLst>
                                      </p:cBhvr>
                                      <p:to>
                                        <p:strVal val="visible"/>
                                      </p:to>
                                    </p:set>
                                    <p:animEffect transition="in" filter="fade">
                                      <p:cBhvr>
                                        <p:cTn id="232" dur="450"/>
                                        <p:tgtEl>
                                          <p:spTgt spid="47"/>
                                        </p:tgtEl>
                                      </p:cBhvr>
                                    </p:animEffect>
                                    <p:anim calcmode="lin" valueType="num">
                                      <p:cBhvr additive="base">
                                        <p:cTn id="233" dur="450" fill="hold"/>
                                        <p:tgtEl>
                                          <p:spTgt spid="47"/>
                                        </p:tgtEl>
                                        <p:attrNameLst>
                                          <p:attrName>ppt_x</p:attrName>
                                        </p:attrNameLst>
                                      </p:cBhvr>
                                      <p:tavLst>
                                        <p:tav tm="0">
                                          <p:val>
                                            <p:strVal val="#ppt_x"/>
                                          </p:val>
                                        </p:tav>
                                        <p:tav tm="100000">
                                          <p:val>
                                            <p:strVal val="#ppt_x"/>
                                          </p:val>
                                        </p:tav>
                                      </p:tavLst>
                                    </p:anim>
                                    <p:anim calcmode="lin" valueType="num">
                                      <p:cBhvr additive="base">
                                        <p:cTn id="234" dur="450" fill="hold"/>
                                        <p:tgtEl>
                                          <p:spTgt spid="47"/>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1700"/>
                                  </p:stCondLst>
                                  <p:childTnLst>
                                    <p:set>
                                      <p:cBhvr>
                                        <p:cTn id="236" dur="1" fill="hold">
                                          <p:stCondLst>
                                            <p:cond delay="0"/>
                                          </p:stCondLst>
                                        </p:cTn>
                                        <p:tgtEl>
                                          <p:spTgt spid="48"/>
                                        </p:tgtEl>
                                        <p:attrNameLst>
                                          <p:attrName>style.visibility</p:attrName>
                                        </p:attrNameLst>
                                      </p:cBhvr>
                                      <p:to>
                                        <p:strVal val="visible"/>
                                      </p:to>
                                    </p:set>
                                    <p:animEffect transition="in" filter="fade">
                                      <p:cBhvr>
                                        <p:cTn id="237" dur="450"/>
                                        <p:tgtEl>
                                          <p:spTgt spid="48"/>
                                        </p:tgtEl>
                                      </p:cBhvr>
                                    </p:animEffect>
                                    <p:anim calcmode="lin" valueType="num">
                                      <p:cBhvr additive="base">
                                        <p:cTn id="238" dur="450" fill="hold"/>
                                        <p:tgtEl>
                                          <p:spTgt spid="48"/>
                                        </p:tgtEl>
                                        <p:attrNameLst>
                                          <p:attrName>ppt_x</p:attrName>
                                        </p:attrNameLst>
                                      </p:cBhvr>
                                      <p:tavLst>
                                        <p:tav tm="0">
                                          <p:val>
                                            <p:strVal val="#ppt_x"/>
                                          </p:val>
                                        </p:tav>
                                        <p:tav tm="100000">
                                          <p:val>
                                            <p:strVal val="#ppt_x"/>
                                          </p:val>
                                        </p:tav>
                                      </p:tavLst>
                                    </p:anim>
                                    <p:anim calcmode="lin" valueType="num">
                                      <p:cBhvr additive="base">
                                        <p:cTn id="239" dur="450" fill="hold"/>
                                        <p:tgtEl>
                                          <p:spTgt spid="48"/>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1700"/>
                                  </p:stCondLst>
                                  <p:childTnLst>
                                    <p:set>
                                      <p:cBhvr>
                                        <p:cTn id="241" dur="1" fill="hold">
                                          <p:stCondLst>
                                            <p:cond delay="0"/>
                                          </p:stCondLst>
                                        </p:cTn>
                                        <p:tgtEl>
                                          <p:spTgt spid="49"/>
                                        </p:tgtEl>
                                        <p:attrNameLst>
                                          <p:attrName>style.visibility</p:attrName>
                                        </p:attrNameLst>
                                      </p:cBhvr>
                                      <p:to>
                                        <p:strVal val="visible"/>
                                      </p:to>
                                    </p:set>
                                    <p:animEffect transition="in" filter="fade">
                                      <p:cBhvr>
                                        <p:cTn id="242" dur="450"/>
                                        <p:tgtEl>
                                          <p:spTgt spid="49"/>
                                        </p:tgtEl>
                                      </p:cBhvr>
                                    </p:animEffect>
                                    <p:anim calcmode="lin" valueType="num">
                                      <p:cBhvr additive="base">
                                        <p:cTn id="243" dur="450" fill="hold"/>
                                        <p:tgtEl>
                                          <p:spTgt spid="49"/>
                                        </p:tgtEl>
                                        <p:attrNameLst>
                                          <p:attrName>ppt_x</p:attrName>
                                        </p:attrNameLst>
                                      </p:cBhvr>
                                      <p:tavLst>
                                        <p:tav tm="0">
                                          <p:val>
                                            <p:strVal val="#ppt_x"/>
                                          </p:val>
                                        </p:tav>
                                        <p:tav tm="100000">
                                          <p:val>
                                            <p:strVal val="#ppt_x"/>
                                          </p:val>
                                        </p:tav>
                                      </p:tavLst>
                                    </p:anim>
                                    <p:anim calcmode="lin" valueType="num">
                                      <p:cBhvr additive="base">
                                        <p:cTn id="244" dur="450" fill="hold"/>
                                        <p:tgtEl>
                                          <p:spTgt spid="49"/>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1700"/>
                                  </p:stCondLst>
                                  <p:childTnLst>
                                    <p:set>
                                      <p:cBhvr>
                                        <p:cTn id="246" dur="1" fill="hold">
                                          <p:stCondLst>
                                            <p:cond delay="0"/>
                                          </p:stCondLst>
                                        </p:cTn>
                                        <p:tgtEl>
                                          <p:spTgt spid="50"/>
                                        </p:tgtEl>
                                        <p:attrNameLst>
                                          <p:attrName>style.visibility</p:attrName>
                                        </p:attrNameLst>
                                      </p:cBhvr>
                                      <p:to>
                                        <p:strVal val="visible"/>
                                      </p:to>
                                    </p:set>
                                    <p:animEffect transition="in" filter="fade">
                                      <p:cBhvr>
                                        <p:cTn id="247" dur="450"/>
                                        <p:tgtEl>
                                          <p:spTgt spid="50"/>
                                        </p:tgtEl>
                                      </p:cBhvr>
                                    </p:animEffect>
                                    <p:anim calcmode="lin" valueType="num">
                                      <p:cBhvr additive="base">
                                        <p:cTn id="248" dur="450" fill="hold"/>
                                        <p:tgtEl>
                                          <p:spTgt spid="50"/>
                                        </p:tgtEl>
                                        <p:attrNameLst>
                                          <p:attrName>ppt_x</p:attrName>
                                        </p:attrNameLst>
                                      </p:cBhvr>
                                      <p:tavLst>
                                        <p:tav tm="0">
                                          <p:val>
                                            <p:strVal val="#ppt_x"/>
                                          </p:val>
                                        </p:tav>
                                        <p:tav tm="100000">
                                          <p:val>
                                            <p:strVal val="#ppt_x"/>
                                          </p:val>
                                        </p:tav>
                                      </p:tavLst>
                                    </p:anim>
                                    <p:anim calcmode="lin" valueType="num">
                                      <p:cBhvr additive="base">
                                        <p:cTn id="249" dur="450" fill="hold"/>
                                        <p:tgtEl>
                                          <p:spTgt spid="50"/>
                                        </p:tgtEl>
                                        <p:attrNameLst>
                                          <p:attrName>ppt_y</p:attrName>
                                        </p:attrNameLst>
                                      </p:cBhvr>
                                      <p:tavLst>
                                        <p:tav tm="0">
                                          <p:val>
                                            <p:strVal val="#ppt_y+.1"/>
                                          </p:val>
                                        </p:tav>
                                        <p:tav tm="100000">
                                          <p:val>
                                            <p:strVal val="#ppt_y"/>
                                          </p:val>
                                        </p:tav>
                                      </p:tavLst>
                                    </p:anim>
                                  </p:childTnLst>
                                </p:cTn>
                              </p:par>
                              <p:par>
                                <p:cTn id="250" presetID="42" presetClass="entr" presetSubtype="0" fill="hold" nodeType="withEffect">
                                  <p:stCondLst>
                                    <p:cond delay="1700"/>
                                  </p:stCondLst>
                                  <p:childTnLst>
                                    <p:set>
                                      <p:cBhvr>
                                        <p:cTn id="251" dur="1" fill="hold">
                                          <p:stCondLst>
                                            <p:cond delay="0"/>
                                          </p:stCondLst>
                                        </p:cTn>
                                        <p:tgtEl>
                                          <p:spTgt spid="51"/>
                                        </p:tgtEl>
                                        <p:attrNameLst>
                                          <p:attrName>style.visibility</p:attrName>
                                        </p:attrNameLst>
                                      </p:cBhvr>
                                      <p:to>
                                        <p:strVal val="visible"/>
                                      </p:to>
                                    </p:set>
                                    <p:animEffect transition="in" filter="fade">
                                      <p:cBhvr>
                                        <p:cTn id="252" dur="450"/>
                                        <p:tgtEl>
                                          <p:spTgt spid="51"/>
                                        </p:tgtEl>
                                      </p:cBhvr>
                                    </p:animEffect>
                                    <p:anim calcmode="lin" valueType="num">
                                      <p:cBhvr additive="base">
                                        <p:cTn id="253" dur="450" fill="hold"/>
                                        <p:tgtEl>
                                          <p:spTgt spid="51"/>
                                        </p:tgtEl>
                                        <p:attrNameLst>
                                          <p:attrName>ppt_x</p:attrName>
                                        </p:attrNameLst>
                                      </p:cBhvr>
                                      <p:tavLst>
                                        <p:tav tm="0">
                                          <p:val>
                                            <p:strVal val="#ppt_x"/>
                                          </p:val>
                                        </p:tav>
                                        <p:tav tm="100000">
                                          <p:val>
                                            <p:strVal val="#ppt_x"/>
                                          </p:val>
                                        </p:tav>
                                      </p:tavLst>
                                    </p:anim>
                                    <p:anim calcmode="lin" valueType="num">
                                      <p:cBhvr additive="base">
                                        <p:cTn id="254" dur="450" fill="hold"/>
                                        <p:tgtEl>
                                          <p:spTgt spid="51"/>
                                        </p:tgtEl>
                                        <p:attrNameLst>
                                          <p:attrName>ppt_y</p:attrName>
                                        </p:attrNameLst>
                                      </p:cBhvr>
                                      <p:tavLst>
                                        <p:tav tm="0">
                                          <p:val>
                                            <p:strVal val="#ppt_y+.1"/>
                                          </p:val>
                                        </p:tav>
                                        <p:tav tm="100000">
                                          <p:val>
                                            <p:strVal val="#ppt_y"/>
                                          </p:val>
                                        </p:tav>
                                      </p:tavLst>
                                    </p:anim>
                                  </p:childTnLst>
                                </p:cTn>
                              </p:par>
                              <p:par>
                                <p:cTn id="255" presetID="42" presetClass="entr" presetSubtype="0" fill="hold" nodeType="withEffect">
                                  <p:stCondLst>
                                    <p:cond delay="1700"/>
                                  </p:stCondLst>
                                  <p:childTnLst>
                                    <p:set>
                                      <p:cBhvr>
                                        <p:cTn id="256" dur="1" fill="hold">
                                          <p:stCondLst>
                                            <p:cond delay="0"/>
                                          </p:stCondLst>
                                        </p:cTn>
                                        <p:tgtEl>
                                          <p:spTgt spid="57"/>
                                        </p:tgtEl>
                                        <p:attrNameLst>
                                          <p:attrName>style.visibility</p:attrName>
                                        </p:attrNameLst>
                                      </p:cBhvr>
                                      <p:to>
                                        <p:strVal val="visible"/>
                                      </p:to>
                                    </p:set>
                                    <p:animEffect transition="in" filter="fade">
                                      <p:cBhvr>
                                        <p:cTn id="257" dur="450"/>
                                        <p:tgtEl>
                                          <p:spTgt spid="57"/>
                                        </p:tgtEl>
                                      </p:cBhvr>
                                    </p:animEffect>
                                    <p:anim calcmode="lin" valueType="num">
                                      <p:cBhvr additive="base">
                                        <p:cTn id="258" dur="450" fill="hold"/>
                                        <p:tgtEl>
                                          <p:spTgt spid="57"/>
                                        </p:tgtEl>
                                        <p:attrNameLst>
                                          <p:attrName>ppt_x</p:attrName>
                                        </p:attrNameLst>
                                      </p:cBhvr>
                                      <p:tavLst>
                                        <p:tav tm="0">
                                          <p:val>
                                            <p:strVal val="#ppt_x"/>
                                          </p:val>
                                        </p:tav>
                                        <p:tav tm="100000">
                                          <p:val>
                                            <p:strVal val="#ppt_x"/>
                                          </p:val>
                                        </p:tav>
                                      </p:tavLst>
                                    </p:anim>
                                    <p:anim calcmode="lin" valueType="num">
                                      <p:cBhvr additive="base">
                                        <p:cTn id="259" dur="450" fill="hold"/>
                                        <p:tgtEl>
                                          <p:spTgt spid="57"/>
                                        </p:tgtEl>
                                        <p:attrNameLst>
                                          <p:attrName>ppt_y</p:attrName>
                                        </p:attrNameLst>
                                      </p:cBhvr>
                                      <p:tavLst>
                                        <p:tav tm="0">
                                          <p:val>
                                            <p:strVal val="#ppt_y+.1"/>
                                          </p:val>
                                        </p:tav>
                                        <p:tav tm="100000">
                                          <p:val>
                                            <p:strVal val="#ppt_y"/>
                                          </p:val>
                                        </p:tav>
                                      </p:tavLst>
                                    </p:anim>
                                  </p:childTnLst>
                                </p:cTn>
                              </p:par>
                              <p:par>
                                <p:cTn id="260" presetID="10" presetClass="entr" presetSubtype="0" fill="hold" nodeType="withEffect">
                                  <p:stCondLst>
                                    <p:cond delay="2300"/>
                                  </p:stCondLst>
                                  <p:childTnLst>
                                    <p:set>
                                      <p:cBhvr>
                                        <p:cTn id="261" dur="1" fill="hold">
                                          <p:stCondLst>
                                            <p:cond delay="0"/>
                                          </p:stCondLst>
                                        </p:cTn>
                                        <p:tgtEl>
                                          <p:spTgt spid="58"/>
                                        </p:tgtEl>
                                        <p:attrNameLst>
                                          <p:attrName>style.visibility</p:attrName>
                                        </p:attrNameLst>
                                      </p:cBhvr>
                                      <p:to>
                                        <p:strVal val="visible"/>
                                      </p:to>
                                    </p:set>
                                    <p:animEffect transition="in" filter="fade">
                                      <p:cBhvr>
                                        <p:cTn id="262" dur="500"/>
                                        <p:tgtEl>
                                          <p:spTgt spid="58"/>
                                        </p:tgtEl>
                                      </p:cBhvr>
                                    </p:animEffect>
                                  </p:childTnLst>
                                </p:cTn>
                              </p:par>
                              <p:par>
                                <p:cTn id="263" presetID="10" presetClass="entr" presetSubtype="0" fill="hold" nodeType="withEffect">
                                  <p:stCondLst>
                                    <p:cond delay="2300"/>
                                  </p:stCondLst>
                                  <p:childTnLst>
                                    <p:set>
                                      <p:cBhvr>
                                        <p:cTn id="264" dur="1" fill="hold">
                                          <p:stCondLst>
                                            <p:cond delay="0"/>
                                          </p:stCondLst>
                                        </p:cTn>
                                        <p:tgtEl>
                                          <p:spTgt spid="59"/>
                                        </p:tgtEl>
                                        <p:attrNameLst>
                                          <p:attrName>style.visibility</p:attrName>
                                        </p:attrNameLst>
                                      </p:cBhvr>
                                      <p:to>
                                        <p:strVal val="visible"/>
                                      </p:to>
                                    </p:set>
                                    <p:animEffect transition="in" filter="fade">
                                      <p:cBhvr>
                                        <p:cTn id="265" dur="500"/>
                                        <p:tgtEl>
                                          <p:spTgt spid="59"/>
                                        </p:tgtEl>
                                      </p:cBhvr>
                                    </p:animEffect>
                                  </p:childTnLst>
                                </p:cTn>
                              </p:par>
                              <p:par>
                                <p:cTn id="266" presetID="53" presetClass="entr" presetSubtype="16" fill="hold" nodeType="withEffect">
                                  <p:stCondLst>
                                    <p:cond delay="2600"/>
                                  </p:stCondLst>
                                  <p:childTnLst>
                                    <p:set>
                                      <p:cBhvr>
                                        <p:cTn id="267" dur="1" fill="hold">
                                          <p:stCondLst>
                                            <p:cond delay="0"/>
                                          </p:stCondLst>
                                        </p:cTn>
                                        <p:tgtEl>
                                          <p:spTgt spid="60"/>
                                        </p:tgtEl>
                                        <p:attrNameLst>
                                          <p:attrName>style.visibility</p:attrName>
                                        </p:attrNameLst>
                                      </p:cBhvr>
                                      <p:to>
                                        <p:strVal val="visible"/>
                                      </p:to>
                                    </p:set>
                                    <p:anim calcmode="lin" valueType="num">
                                      <p:cBhvr additive="base">
                                        <p:cTn id="268" dur="500" fill="hold"/>
                                        <p:tgtEl>
                                          <p:spTgt spid="60"/>
                                        </p:tgtEl>
                                        <p:attrNameLst>
                                          <p:attrName>ppt_w</p:attrName>
                                        </p:attrNameLst>
                                      </p:cBhvr>
                                      <p:tavLst>
                                        <p:tav tm="0">
                                          <p:val>
                                            <p:strVal val="0"/>
                                          </p:val>
                                        </p:tav>
                                        <p:tav tm="100000">
                                          <p:val>
                                            <p:strVal val="#ppt_w"/>
                                          </p:val>
                                        </p:tav>
                                      </p:tavLst>
                                    </p:anim>
                                    <p:anim calcmode="lin" valueType="num">
                                      <p:cBhvr additive="base">
                                        <p:cTn id="269" dur="500" fill="hold"/>
                                        <p:tgtEl>
                                          <p:spTgt spid="60"/>
                                        </p:tgtEl>
                                        <p:attrNameLst>
                                          <p:attrName>ppt_h</p:attrName>
                                        </p:attrNameLst>
                                      </p:cBhvr>
                                      <p:tavLst>
                                        <p:tav tm="0">
                                          <p:val>
                                            <p:strVal val="0"/>
                                          </p:val>
                                        </p:tav>
                                        <p:tav tm="100000">
                                          <p:val>
                                            <p:strVal val="#ppt_h"/>
                                          </p:val>
                                        </p:tav>
                                      </p:tavLst>
                                    </p:anim>
                                    <p:animEffect transition="in" filter="fade">
                                      <p:cBhvr>
                                        <p:cTn id="270" dur="500"/>
                                        <p:tgtEl>
                                          <p:spTgt spid="60"/>
                                        </p:tgtEl>
                                      </p:cBhvr>
                                    </p:animEffect>
                                  </p:childTnLst>
                                </p:cTn>
                              </p:par>
                              <p:par>
                                <p:cTn id="271" presetID="53" presetClass="entr" presetSubtype="16" fill="hold" nodeType="withEffect">
                                  <p:stCondLst>
                                    <p:cond delay="2600"/>
                                  </p:stCondLst>
                                  <p:childTnLst>
                                    <p:set>
                                      <p:cBhvr>
                                        <p:cTn id="272" dur="1" fill="hold">
                                          <p:stCondLst>
                                            <p:cond delay="0"/>
                                          </p:stCondLst>
                                        </p:cTn>
                                        <p:tgtEl>
                                          <p:spTgt spid="61"/>
                                        </p:tgtEl>
                                        <p:attrNameLst>
                                          <p:attrName>style.visibility</p:attrName>
                                        </p:attrNameLst>
                                      </p:cBhvr>
                                      <p:to>
                                        <p:strVal val="visible"/>
                                      </p:to>
                                    </p:set>
                                    <p:anim calcmode="lin" valueType="num">
                                      <p:cBhvr additive="base">
                                        <p:cTn id="273" dur="500" fill="hold"/>
                                        <p:tgtEl>
                                          <p:spTgt spid="61"/>
                                        </p:tgtEl>
                                        <p:attrNameLst>
                                          <p:attrName>ppt_w</p:attrName>
                                        </p:attrNameLst>
                                      </p:cBhvr>
                                      <p:tavLst>
                                        <p:tav tm="0">
                                          <p:val>
                                            <p:strVal val="0"/>
                                          </p:val>
                                        </p:tav>
                                        <p:tav tm="100000">
                                          <p:val>
                                            <p:strVal val="#ppt_w"/>
                                          </p:val>
                                        </p:tav>
                                      </p:tavLst>
                                    </p:anim>
                                    <p:anim calcmode="lin" valueType="num">
                                      <p:cBhvr additive="base">
                                        <p:cTn id="274" dur="500" fill="hold"/>
                                        <p:tgtEl>
                                          <p:spTgt spid="61"/>
                                        </p:tgtEl>
                                        <p:attrNameLst>
                                          <p:attrName>ppt_h</p:attrName>
                                        </p:attrNameLst>
                                      </p:cBhvr>
                                      <p:tavLst>
                                        <p:tav tm="0">
                                          <p:val>
                                            <p:strVal val="0"/>
                                          </p:val>
                                        </p:tav>
                                        <p:tav tm="100000">
                                          <p:val>
                                            <p:strVal val="#ppt_h"/>
                                          </p:val>
                                        </p:tav>
                                      </p:tavLst>
                                    </p:anim>
                                    <p:animEffect transition="in" filter="fade">
                                      <p:cBhvr>
                                        <p:cTn id="275" dur="500"/>
                                        <p:tgtEl>
                                          <p:spTgt spid="61"/>
                                        </p:tgtEl>
                                      </p:cBhvr>
                                    </p:animEffect>
                                  </p:childTnLst>
                                </p:cTn>
                              </p:par>
                              <p:par>
                                <p:cTn id="276" presetID="53" presetClass="entr" presetSubtype="16" fill="hold" nodeType="withEffect">
                                  <p:stCondLst>
                                    <p:cond delay="2600"/>
                                  </p:stCondLst>
                                  <p:childTnLst>
                                    <p:set>
                                      <p:cBhvr>
                                        <p:cTn id="277" dur="1" fill="hold">
                                          <p:stCondLst>
                                            <p:cond delay="0"/>
                                          </p:stCondLst>
                                        </p:cTn>
                                        <p:tgtEl>
                                          <p:spTgt spid="62"/>
                                        </p:tgtEl>
                                        <p:attrNameLst>
                                          <p:attrName>style.visibility</p:attrName>
                                        </p:attrNameLst>
                                      </p:cBhvr>
                                      <p:to>
                                        <p:strVal val="visible"/>
                                      </p:to>
                                    </p:set>
                                    <p:anim calcmode="lin" valueType="num">
                                      <p:cBhvr additive="base">
                                        <p:cTn id="278" dur="500" fill="hold"/>
                                        <p:tgtEl>
                                          <p:spTgt spid="62"/>
                                        </p:tgtEl>
                                        <p:attrNameLst>
                                          <p:attrName>ppt_w</p:attrName>
                                        </p:attrNameLst>
                                      </p:cBhvr>
                                      <p:tavLst>
                                        <p:tav tm="0">
                                          <p:val>
                                            <p:strVal val="0"/>
                                          </p:val>
                                        </p:tav>
                                        <p:tav tm="100000">
                                          <p:val>
                                            <p:strVal val="#ppt_w"/>
                                          </p:val>
                                        </p:tav>
                                      </p:tavLst>
                                    </p:anim>
                                    <p:anim calcmode="lin" valueType="num">
                                      <p:cBhvr additive="base">
                                        <p:cTn id="279" dur="500" fill="hold"/>
                                        <p:tgtEl>
                                          <p:spTgt spid="62"/>
                                        </p:tgtEl>
                                        <p:attrNameLst>
                                          <p:attrName>ppt_h</p:attrName>
                                        </p:attrNameLst>
                                      </p:cBhvr>
                                      <p:tavLst>
                                        <p:tav tm="0">
                                          <p:val>
                                            <p:strVal val="0"/>
                                          </p:val>
                                        </p:tav>
                                        <p:tav tm="100000">
                                          <p:val>
                                            <p:strVal val="#ppt_h"/>
                                          </p:val>
                                        </p:tav>
                                      </p:tavLst>
                                    </p:anim>
                                    <p:animEffect transition="in" filter="fade">
                                      <p:cBhvr>
                                        <p:cTn id="28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11  ·  IN THE PRODUCT TODAY</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Cases, STR drafts and a tamper-evident audit log</a:t>
            </a:r>
            <a:endParaRPr lang="en-US" sz="3400" dirty="0"/>
          </a:p>
        </p:txBody>
      </p:sp>
      <p:sp>
        <p:nvSpPr>
          <p:cNvPr id="5" name="sh0__1"/>
          <p:cNvSpPr/>
          <p:nvPr/>
        </p:nvSpPr>
        <p:spPr>
          <a:xfrm>
            <a:off x="548640" y="1600200"/>
            <a:ext cx="5440680" cy="1874520"/>
          </a:xfrm>
          <a:prstGeom prst="roundRect">
            <a:avLst>
              <a:gd name="adj" fmla="val 2927"/>
            </a:avLst>
          </a:prstGeom>
          <a:solidFill>
            <a:srgbClr val="0E1729"/>
          </a:solidFill>
          <a:ln w="9525">
            <a:solidFill>
              <a:srgbClr val="38BDF8">
                <a:alpha val="45000"/>
              </a:srgbClr>
            </a:solidFill>
            <a:prstDash val="solid"/>
          </a:ln>
        </p:spPr>
      </p:sp>
      <p:pic>
        <p:nvPicPr>
          <p:cNvPr id="6" name="sh0__2" descr="/tmp/claude-0/-home-claude/f925570b-377a-5c3c-9531-1679f3895fd9/scratchpad/deck/img/p2_case.png">    </p:cNvPr>
          <p:cNvPicPr>
            <a:picLocks noChangeAspect="1"/>
          </p:cNvPicPr>
          <p:nvPr/>
        </p:nvPicPr>
        <p:blipFill>
          <a:blip r:embed="rId2"/>
          <a:stretch>
            <a:fillRect/>
          </a:stretch>
        </p:blipFill>
        <p:spPr>
          <a:xfrm>
            <a:off x="576072" y="1627632"/>
            <a:ext cx="5385816" cy="1819656"/>
          </a:xfrm>
          <a:prstGeom prst="rect">
            <a:avLst/>
          </a:prstGeom>
        </p:spPr>
      </p:pic>
      <p:sp>
        <p:nvSpPr>
          <p:cNvPr id="7" name="sh0__3"/>
          <p:cNvSpPr txBox="1"/>
          <p:nvPr/>
        </p:nvSpPr>
        <p:spPr>
          <a:xfrm>
            <a:off x="548640" y="3502152"/>
            <a:ext cx="5440680" cy="274320"/>
          </a:xfrm>
          <a:prstGeom prst="rect">
            <a:avLst/>
          </a:prstGeom>
          <a:noFill/>
          <a:ln/>
        </p:spPr>
        <p:txBody>
          <a:bodyPr wrap="square" lIns="0" tIns="0" rIns="0" bIns="0" rtlCol="0" anchor="ctr"/>
          <a:lstStyle/>
          <a:p>
            <a:pPr indent="0" marL="0">
              <a:buNone/>
            </a:pPr>
            <a:r>
              <a:rPr lang="en-US" sz="1200" b="1" dirty="0">
                <a:solidFill>
                  <a:srgbClr val="F1F5FB"/>
                </a:solidFill>
                <a:latin typeface="Arial" pitchFamily="34" charset="0"/>
                <a:ea typeface="Arial" pitchFamily="34" charset="-122"/>
                <a:cs typeface="Arial" pitchFamily="34" charset="-120"/>
              </a:rPr>
              <a:t>Case management   </a:t>
            </a:r>
            <a:pPr indent="0" marL="0">
              <a:buNone/>
            </a:pPr>
            <a:r>
              <a:rPr lang="en-US" sz="1200" dirty="0">
                <a:solidFill>
                  <a:srgbClr val="9AABC4"/>
                </a:solidFill>
                <a:latin typeface="Calibri" pitchFamily="34" charset="0"/>
                <a:ea typeface="Calibri" pitchFamily="34" charset="-122"/>
                <a:cs typeface="Calibri" pitchFamily="34" charset="-120"/>
              </a:rPr>
              <a:t>Open, note, escalate to the compliance officer</a:t>
            </a:r>
            <a:endParaRPr lang="en-US" sz="1200" dirty="0"/>
          </a:p>
        </p:txBody>
      </p:sp>
      <p:sp>
        <p:nvSpPr>
          <p:cNvPr id="8" name="sh1__1"/>
          <p:cNvSpPr/>
          <p:nvPr/>
        </p:nvSpPr>
        <p:spPr>
          <a:xfrm>
            <a:off x="6199632" y="1600200"/>
            <a:ext cx="5440680" cy="1874520"/>
          </a:xfrm>
          <a:prstGeom prst="roundRect">
            <a:avLst>
              <a:gd name="adj" fmla="val 2927"/>
            </a:avLst>
          </a:prstGeom>
          <a:solidFill>
            <a:srgbClr val="0E1729"/>
          </a:solidFill>
          <a:ln w="9525">
            <a:solidFill>
              <a:srgbClr val="38BDF8">
                <a:alpha val="45000"/>
              </a:srgbClr>
            </a:solidFill>
            <a:prstDash val="solid"/>
          </a:ln>
        </p:spPr>
      </p:sp>
      <p:pic>
        <p:nvPicPr>
          <p:cNvPr id="9" name="sh1__2" descr="/tmp/claude-0/-home-claude/f925570b-377a-5c3c-9531-1679f3895fd9/scratchpad/deck/img/p2_str.png">    </p:cNvPr>
          <p:cNvPicPr>
            <a:picLocks noChangeAspect="1"/>
          </p:cNvPicPr>
          <p:nvPr/>
        </p:nvPicPr>
        <p:blipFill>
          <a:blip r:embed="rId3"/>
          <a:stretch>
            <a:fillRect/>
          </a:stretch>
        </p:blipFill>
        <p:spPr>
          <a:xfrm>
            <a:off x="6227064" y="1627632"/>
            <a:ext cx="5385816" cy="1819656"/>
          </a:xfrm>
          <a:prstGeom prst="rect">
            <a:avLst/>
          </a:prstGeom>
        </p:spPr>
      </p:pic>
      <p:sp>
        <p:nvSpPr>
          <p:cNvPr id="10" name="sh1__3"/>
          <p:cNvSpPr txBox="1"/>
          <p:nvPr/>
        </p:nvSpPr>
        <p:spPr>
          <a:xfrm>
            <a:off x="6199632" y="3502152"/>
            <a:ext cx="5440680" cy="274320"/>
          </a:xfrm>
          <a:prstGeom prst="rect">
            <a:avLst/>
          </a:prstGeom>
          <a:noFill/>
          <a:ln/>
        </p:spPr>
        <p:txBody>
          <a:bodyPr wrap="square" lIns="0" tIns="0" rIns="0" bIns="0" rtlCol="0" anchor="ctr"/>
          <a:lstStyle/>
          <a:p>
            <a:pPr indent="0" marL="0">
              <a:buNone/>
            </a:pPr>
            <a:r>
              <a:rPr lang="en-US" sz="1200" b="1" dirty="0">
                <a:solidFill>
                  <a:srgbClr val="F1F5FB"/>
                </a:solidFill>
                <a:latin typeface="Arial" pitchFamily="34" charset="0"/>
                <a:ea typeface="Arial" pitchFamily="34" charset="-122"/>
                <a:cs typeface="Arial" pitchFamily="34" charset="-120"/>
              </a:rPr>
              <a:t>STR / SAR draft   </a:t>
            </a:r>
            <a:pPr indent="0" marL="0">
              <a:buNone/>
            </a:pPr>
            <a:r>
              <a:rPr lang="en-US" sz="1200" dirty="0">
                <a:solidFill>
                  <a:srgbClr val="9AABC4"/>
                </a:solidFill>
                <a:latin typeface="Calibri" pitchFamily="34" charset="0"/>
                <a:ea typeface="Calibri" pitchFamily="34" charset="-122"/>
                <a:cs typeface="Calibri" pitchFamily="34" charset="-120"/>
              </a:rPr>
              <a:t>Exported from the case, personal data masked</a:t>
            </a:r>
            <a:endParaRPr lang="en-US" sz="1200" dirty="0"/>
          </a:p>
        </p:txBody>
      </p:sp>
      <p:sp>
        <p:nvSpPr>
          <p:cNvPr id="11" name="sh2__1"/>
          <p:cNvSpPr/>
          <p:nvPr/>
        </p:nvSpPr>
        <p:spPr>
          <a:xfrm>
            <a:off x="548640" y="3867912"/>
            <a:ext cx="5440680" cy="1874520"/>
          </a:xfrm>
          <a:prstGeom prst="roundRect">
            <a:avLst>
              <a:gd name="adj" fmla="val 2927"/>
            </a:avLst>
          </a:prstGeom>
          <a:solidFill>
            <a:srgbClr val="0E1729"/>
          </a:solidFill>
          <a:ln w="9525">
            <a:solidFill>
              <a:srgbClr val="38BDF8">
                <a:alpha val="45000"/>
              </a:srgbClr>
            </a:solidFill>
            <a:prstDash val="solid"/>
          </a:ln>
        </p:spPr>
      </p:sp>
      <p:pic>
        <p:nvPicPr>
          <p:cNvPr id="12" name="sh2__2" descr="/tmp/claude-0/-home-claude/f925570b-377a-5c3c-9531-1679f3895fd9/scratchpad/deck/img/p2_eval.png">    </p:cNvPr>
          <p:cNvPicPr>
            <a:picLocks noChangeAspect="1"/>
          </p:cNvPicPr>
          <p:nvPr/>
        </p:nvPicPr>
        <p:blipFill>
          <a:blip r:embed="rId4"/>
          <a:stretch>
            <a:fillRect/>
          </a:stretch>
        </p:blipFill>
        <p:spPr>
          <a:xfrm>
            <a:off x="576072" y="3895344"/>
            <a:ext cx="5385816" cy="1819656"/>
          </a:xfrm>
          <a:prstGeom prst="rect">
            <a:avLst/>
          </a:prstGeom>
        </p:spPr>
      </p:pic>
      <p:sp>
        <p:nvSpPr>
          <p:cNvPr id="13" name="sh2__3"/>
          <p:cNvSpPr txBox="1"/>
          <p:nvPr/>
        </p:nvSpPr>
        <p:spPr>
          <a:xfrm>
            <a:off x="548640" y="5769864"/>
            <a:ext cx="5440680" cy="274320"/>
          </a:xfrm>
          <a:prstGeom prst="rect">
            <a:avLst/>
          </a:prstGeom>
          <a:noFill/>
          <a:ln/>
        </p:spPr>
        <p:txBody>
          <a:bodyPr wrap="square" lIns="0" tIns="0" rIns="0" bIns="0" rtlCol="0" anchor="ctr"/>
          <a:lstStyle/>
          <a:p>
            <a:pPr indent="0" marL="0">
              <a:buNone/>
            </a:pPr>
            <a:r>
              <a:rPr lang="en-US" sz="1200" b="1" dirty="0">
                <a:solidFill>
                  <a:srgbClr val="F1F5FB"/>
                </a:solidFill>
                <a:latin typeface="Arial" pitchFamily="34" charset="0"/>
                <a:ea typeface="Arial" pitchFamily="34" charset="-122"/>
                <a:cs typeface="Arial" pitchFamily="34" charset="-120"/>
              </a:rPr>
              <a:t>Model Evaluation tab   </a:t>
            </a:r>
            <a:pPr indent="0" marL="0">
              <a:buNone/>
            </a:pPr>
            <a:r>
              <a:rPr lang="en-US" sz="1200" dirty="0">
                <a:solidFill>
                  <a:srgbClr val="9AABC4"/>
                </a:solidFill>
                <a:latin typeface="Calibri" pitchFamily="34" charset="0"/>
                <a:ea typeface="Calibri" pitchFamily="34" charset="-122"/>
                <a:cs typeface="Calibri" pitchFamily="34" charset="-120"/>
              </a:rPr>
              <a:t>The benchmark numbers, live in the dashboard</a:t>
            </a:r>
            <a:endParaRPr lang="en-US" sz="1200" dirty="0"/>
          </a:p>
        </p:txBody>
      </p:sp>
      <p:sp>
        <p:nvSpPr>
          <p:cNvPr id="14" name="sh3__1"/>
          <p:cNvSpPr/>
          <p:nvPr/>
        </p:nvSpPr>
        <p:spPr>
          <a:xfrm>
            <a:off x="6199632" y="3867912"/>
            <a:ext cx="5440680" cy="1874520"/>
          </a:xfrm>
          <a:prstGeom prst="roundRect">
            <a:avLst>
              <a:gd name="adj" fmla="val 2927"/>
            </a:avLst>
          </a:prstGeom>
          <a:solidFill>
            <a:srgbClr val="0E1729"/>
          </a:solidFill>
          <a:ln w="9525">
            <a:solidFill>
              <a:srgbClr val="38BDF8">
                <a:alpha val="45000"/>
              </a:srgbClr>
            </a:solidFill>
            <a:prstDash val="solid"/>
          </a:ln>
        </p:spPr>
      </p:sp>
      <p:pic>
        <p:nvPicPr>
          <p:cNvPr id="15" name="sh3__2" descr="/tmp/claude-0/-home-claude/f925570b-377a-5c3c-9531-1679f3895fd9/scratchpad/deck/img/p2_audit.png">    </p:cNvPr>
          <p:cNvPicPr>
            <a:picLocks noChangeAspect="1"/>
          </p:cNvPicPr>
          <p:nvPr/>
        </p:nvPicPr>
        <p:blipFill>
          <a:blip r:embed="rId5"/>
          <a:stretch>
            <a:fillRect/>
          </a:stretch>
        </p:blipFill>
        <p:spPr>
          <a:xfrm>
            <a:off x="6227064" y="3895344"/>
            <a:ext cx="5385816" cy="1819656"/>
          </a:xfrm>
          <a:prstGeom prst="rect">
            <a:avLst/>
          </a:prstGeom>
        </p:spPr>
      </p:pic>
      <p:sp>
        <p:nvSpPr>
          <p:cNvPr id="16" name="sh3__3"/>
          <p:cNvSpPr txBox="1"/>
          <p:nvPr/>
        </p:nvSpPr>
        <p:spPr>
          <a:xfrm>
            <a:off x="6199632" y="5769864"/>
            <a:ext cx="5440680" cy="274320"/>
          </a:xfrm>
          <a:prstGeom prst="rect">
            <a:avLst/>
          </a:prstGeom>
          <a:noFill/>
          <a:ln/>
        </p:spPr>
        <p:txBody>
          <a:bodyPr wrap="square" lIns="0" tIns="0" rIns="0" bIns="0" rtlCol="0" anchor="ctr"/>
          <a:lstStyle/>
          <a:p>
            <a:pPr indent="0" marL="0">
              <a:buNone/>
            </a:pPr>
            <a:r>
              <a:rPr lang="en-US" sz="1200" b="1" dirty="0">
                <a:solidFill>
                  <a:srgbClr val="F1F5FB"/>
                </a:solidFill>
                <a:latin typeface="Arial" pitchFamily="34" charset="0"/>
                <a:ea typeface="Arial" pitchFamily="34" charset="-122"/>
                <a:cs typeface="Arial" pitchFamily="34" charset="-120"/>
              </a:rPr>
              <a:t>Audit log   </a:t>
            </a:r>
            <a:pPr indent="0" marL="0">
              <a:buNone/>
            </a:pPr>
            <a:r>
              <a:rPr lang="en-US" sz="1200" dirty="0">
                <a:solidFill>
                  <a:srgbClr val="9AABC4"/>
                </a:solidFill>
                <a:latin typeface="Calibri" pitchFamily="34" charset="0"/>
                <a:ea typeface="Calibri" pitchFamily="34" charset="-122"/>
                <a:cs typeface="Calibri" pitchFamily="34" charset="-120"/>
              </a:rPr>
              <a:t>SHA-256 hash chain; one click verifies it</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2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ppt_w</p:attrName>
                                        </p:attrNameLst>
                                      </p:cBhvr>
                                      <p:tavLst>
                                        <p:tav tm="0">
                                          <p:val>
                                            <p:strVal val="0"/>
                                          </p:val>
                                        </p:tav>
                                        <p:tav tm="100000">
                                          <p:val>
                                            <p:strVal val="#ppt_w"/>
                                          </p:val>
                                        </p:tav>
                                      </p:tavLst>
                                    </p:anim>
                                    <p:anim calcmode="lin" valueType="num">
                                      <p:cBhvr additive="base">
                                        <p:cTn id="8" dur="500" fill="hold"/>
                                        <p:tgtEl>
                                          <p:spTgt spid="5"/>
                                        </p:tgtEl>
                                        <p:attrNameLst>
                                          <p:attrName>ppt_h</p:attrName>
                                        </p:attrNameLst>
                                      </p:cBhvr>
                                      <p:tavLst>
                                        <p:tav tm="0">
                                          <p:val>
                                            <p:str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2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ppt_w</p:attrName>
                                        </p:attrNameLst>
                                      </p:cBhvr>
                                      <p:tavLst>
                                        <p:tav tm="0">
                                          <p:val>
                                            <p:strVal val="0"/>
                                          </p:val>
                                        </p:tav>
                                        <p:tav tm="100000">
                                          <p:val>
                                            <p:strVal val="#ppt_w"/>
                                          </p:val>
                                        </p:tav>
                                      </p:tavLst>
                                    </p:anim>
                                    <p:anim calcmode="lin" valueType="num">
                                      <p:cBhvr additive="base">
                                        <p:cTn id="13" dur="500" fill="hold"/>
                                        <p:tgtEl>
                                          <p:spTgt spid="6"/>
                                        </p:tgtEl>
                                        <p:attrNameLst>
                                          <p:attrName>ppt_h</p:attrName>
                                        </p:attrNameLst>
                                      </p:cBhvr>
                                      <p:tavLst>
                                        <p:tav tm="0">
                                          <p:val>
                                            <p:strVal val="0"/>
                                          </p:val>
                                        </p:tav>
                                        <p:tav tm="100000">
                                          <p:val>
                                            <p:strVal val="#ppt_h"/>
                                          </p:val>
                                        </p:tav>
                                      </p:tavLst>
                                    </p:anim>
                                    <p:animEffect transition="in" filter="fade">
                                      <p:cBhvr>
                                        <p:cTn id="14" dur="500"/>
                                        <p:tgtEl>
                                          <p:spTgt spid="6"/>
                                        </p:tgtEl>
                                      </p:cBhvr>
                                    </p:animEffect>
                                  </p:childTnLst>
                                </p:cTn>
                              </p:par>
                              <p:par>
                                <p:cTn id="15" presetID="53" presetClass="entr" presetSubtype="16" fill="hold" nodeType="withEffect">
                                  <p:stCondLst>
                                    <p:cond delay="20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ppt_w</p:attrName>
                                        </p:attrNameLst>
                                      </p:cBhvr>
                                      <p:tavLst>
                                        <p:tav tm="0">
                                          <p:val>
                                            <p:strVal val="0"/>
                                          </p:val>
                                        </p:tav>
                                        <p:tav tm="100000">
                                          <p:val>
                                            <p:strVal val="#ppt_w"/>
                                          </p:val>
                                        </p:tav>
                                      </p:tavLst>
                                    </p:anim>
                                    <p:anim calcmode="lin" valueType="num">
                                      <p:cBhvr additive="base">
                                        <p:cTn id="18" dur="500" fill="hold"/>
                                        <p:tgtEl>
                                          <p:spTgt spid="7"/>
                                        </p:tgtEl>
                                        <p:attrNameLst>
                                          <p:attrName>ppt_h</p:attrName>
                                        </p:attrNameLst>
                                      </p:cBhvr>
                                      <p:tavLst>
                                        <p:tav tm="0">
                                          <p:val>
                                            <p:strVal val="0"/>
                                          </p:val>
                                        </p:tav>
                                        <p:tav tm="100000">
                                          <p:val>
                                            <p:strVal val="#ppt_h"/>
                                          </p:val>
                                        </p:tav>
                                      </p:tavLst>
                                    </p:anim>
                                    <p:animEffect transition="in" filter="fade">
                                      <p:cBhvr>
                                        <p:cTn id="19" dur="500"/>
                                        <p:tgtEl>
                                          <p:spTgt spid="7"/>
                                        </p:tgtEl>
                                      </p:cBhvr>
                                    </p:animEffect>
                                  </p:childTnLst>
                                </p:cTn>
                              </p:par>
                              <p:par>
                                <p:cTn id="20" presetID="53" presetClass="entr" presetSubtype="16" fill="hold" nodeType="withEffect">
                                  <p:stCondLst>
                                    <p:cond delay="50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ppt_w</p:attrName>
                                        </p:attrNameLst>
                                      </p:cBhvr>
                                      <p:tavLst>
                                        <p:tav tm="0">
                                          <p:val>
                                            <p:strVal val="0"/>
                                          </p:val>
                                        </p:tav>
                                        <p:tav tm="100000">
                                          <p:val>
                                            <p:strVal val="#ppt_w"/>
                                          </p:val>
                                        </p:tav>
                                      </p:tavLst>
                                    </p:anim>
                                    <p:anim calcmode="lin" valueType="num">
                                      <p:cBhvr additive="base">
                                        <p:cTn id="23" dur="500" fill="hold"/>
                                        <p:tgtEl>
                                          <p:spTgt spid="8"/>
                                        </p:tgtEl>
                                        <p:attrNameLst>
                                          <p:attrName>ppt_h</p:attrName>
                                        </p:attrNameLst>
                                      </p:cBhvr>
                                      <p:tavLst>
                                        <p:tav tm="0">
                                          <p:val>
                                            <p:strVal val="0"/>
                                          </p:val>
                                        </p:tav>
                                        <p:tav tm="100000">
                                          <p:val>
                                            <p:strVal val="#ppt_h"/>
                                          </p:val>
                                        </p:tav>
                                      </p:tavLst>
                                    </p:anim>
                                    <p:animEffect transition="in" filter="fade">
                                      <p:cBhvr>
                                        <p:cTn id="24" dur="500"/>
                                        <p:tgtEl>
                                          <p:spTgt spid="8"/>
                                        </p:tgtEl>
                                      </p:cBhvr>
                                    </p:animEffect>
                                  </p:childTnLst>
                                </p:cTn>
                              </p:par>
                              <p:par>
                                <p:cTn id="25" presetID="53" presetClass="entr" presetSubtype="16" fill="hold" nodeType="withEffect">
                                  <p:stCondLst>
                                    <p:cond delay="50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ppt_w</p:attrName>
                                        </p:attrNameLst>
                                      </p:cBhvr>
                                      <p:tavLst>
                                        <p:tav tm="0">
                                          <p:val>
                                            <p:strVal val="0"/>
                                          </p:val>
                                        </p:tav>
                                        <p:tav tm="100000">
                                          <p:val>
                                            <p:strVal val="#ppt_w"/>
                                          </p:val>
                                        </p:tav>
                                      </p:tavLst>
                                    </p:anim>
                                    <p:anim calcmode="lin" valueType="num">
                                      <p:cBhvr additive="base">
                                        <p:cTn id="28" dur="500" fill="hold"/>
                                        <p:tgtEl>
                                          <p:spTgt spid="9"/>
                                        </p:tgtEl>
                                        <p:attrNameLst>
                                          <p:attrName>ppt_h</p:attrName>
                                        </p:attrNameLst>
                                      </p:cBhvr>
                                      <p:tavLst>
                                        <p:tav tm="0">
                                          <p:val>
                                            <p:strVal val="0"/>
                                          </p:val>
                                        </p:tav>
                                        <p:tav tm="100000">
                                          <p:val>
                                            <p:strVal val="#ppt_h"/>
                                          </p:val>
                                        </p:tav>
                                      </p:tavLst>
                                    </p:anim>
                                    <p:animEffect transition="in" filter="fade">
                                      <p:cBhvr>
                                        <p:cTn id="29" dur="500"/>
                                        <p:tgtEl>
                                          <p:spTgt spid="9"/>
                                        </p:tgtEl>
                                      </p:cBhvr>
                                    </p:animEffect>
                                  </p:childTnLst>
                                </p:cTn>
                              </p:par>
                              <p:par>
                                <p:cTn id="30" presetID="53" presetClass="entr" presetSubtype="16" fill="hold" nodeType="withEffect">
                                  <p:stCondLst>
                                    <p:cond delay="50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ppt_w</p:attrName>
                                        </p:attrNameLst>
                                      </p:cBhvr>
                                      <p:tavLst>
                                        <p:tav tm="0">
                                          <p:val>
                                            <p:strVal val="0"/>
                                          </p:val>
                                        </p:tav>
                                        <p:tav tm="100000">
                                          <p:val>
                                            <p:strVal val="#ppt_w"/>
                                          </p:val>
                                        </p:tav>
                                      </p:tavLst>
                                    </p:anim>
                                    <p:anim calcmode="lin" valueType="num">
                                      <p:cBhvr additive="base">
                                        <p:cTn id="33" dur="500" fill="hold"/>
                                        <p:tgtEl>
                                          <p:spTgt spid="10"/>
                                        </p:tgtEl>
                                        <p:attrNameLst>
                                          <p:attrName>ppt_h</p:attrName>
                                        </p:attrNameLst>
                                      </p:cBhvr>
                                      <p:tavLst>
                                        <p:tav tm="0">
                                          <p:val>
                                            <p:strVal val="0"/>
                                          </p:val>
                                        </p:tav>
                                        <p:tav tm="100000">
                                          <p:val>
                                            <p:strVal val="#ppt_h"/>
                                          </p:val>
                                        </p:tav>
                                      </p:tavLst>
                                    </p:anim>
                                    <p:animEffect transition="in" filter="fade">
                                      <p:cBhvr>
                                        <p:cTn id="34" dur="500"/>
                                        <p:tgtEl>
                                          <p:spTgt spid="10"/>
                                        </p:tgtEl>
                                      </p:cBhvr>
                                    </p:animEffect>
                                  </p:childTnLst>
                                </p:cTn>
                              </p:par>
                              <p:par>
                                <p:cTn id="35" presetID="53" presetClass="entr" presetSubtype="16" fill="hold" nodeType="withEffect">
                                  <p:stCondLst>
                                    <p:cond delay="80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ppt_w</p:attrName>
                                        </p:attrNameLst>
                                      </p:cBhvr>
                                      <p:tavLst>
                                        <p:tav tm="0">
                                          <p:val>
                                            <p:strVal val="0"/>
                                          </p:val>
                                        </p:tav>
                                        <p:tav tm="100000">
                                          <p:val>
                                            <p:strVal val="#ppt_w"/>
                                          </p:val>
                                        </p:tav>
                                      </p:tavLst>
                                    </p:anim>
                                    <p:anim calcmode="lin" valueType="num">
                                      <p:cBhvr additive="base">
                                        <p:cTn id="38" dur="500" fill="hold"/>
                                        <p:tgtEl>
                                          <p:spTgt spid="11"/>
                                        </p:tgtEl>
                                        <p:attrNameLst>
                                          <p:attrName>ppt_h</p:attrName>
                                        </p:attrNameLst>
                                      </p:cBhvr>
                                      <p:tavLst>
                                        <p:tav tm="0">
                                          <p:val>
                                            <p:strVal val="0"/>
                                          </p:val>
                                        </p:tav>
                                        <p:tav tm="100000">
                                          <p:val>
                                            <p:strVal val="#ppt_h"/>
                                          </p:val>
                                        </p:tav>
                                      </p:tavLst>
                                    </p:anim>
                                    <p:animEffect transition="in" filter="fade">
                                      <p:cBhvr>
                                        <p:cTn id="39" dur="500"/>
                                        <p:tgtEl>
                                          <p:spTgt spid="11"/>
                                        </p:tgtEl>
                                      </p:cBhvr>
                                    </p:animEffect>
                                  </p:childTnLst>
                                </p:cTn>
                              </p:par>
                              <p:par>
                                <p:cTn id="40" presetID="53" presetClass="entr" presetSubtype="16" fill="hold" nodeType="withEffect">
                                  <p:stCondLst>
                                    <p:cond delay="80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ppt_w</p:attrName>
                                        </p:attrNameLst>
                                      </p:cBhvr>
                                      <p:tavLst>
                                        <p:tav tm="0">
                                          <p:val>
                                            <p:strVal val="0"/>
                                          </p:val>
                                        </p:tav>
                                        <p:tav tm="100000">
                                          <p:val>
                                            <p:strVal val="#ppt_w"/>
                                          </p:val>
                                        </p:tav>
                                      </p:tavLst>
                                    </p:anim>
                                    <p:anim calcmode="lin" valueType="num">
                                      <p:cBhvr additive="base">
                                        <p:cTn id="43" dur="500" fill="hold"/>
                                        <p:tgtEl>
                                          <p:spTgt spid="12"/>
                                        </p:tgtEl>
                                        <p:attrNameLst>
                                          <p:attrName>ppt_h</p:attrName>
                                        </p:attrNameLst>
                                      </p:cBhvr>
                                      <p:tavLst>
                                        <p:tav tm="0">
                                          <p:val>
                                            <p:strVal val="0"/>
                                          </p:val>
                                        </p:tav>
                                        <p:tav tm="100000">
                                          <p:val>
                                            <p:strVal val="#ppt_h"/>
                                          </p:val>
                                        </p:tav>
                                      </p:tavLst>
                                    </p:anim>
                                    <p:animEffect transition="in" filter="fade">
                                      <p:cBhvr>
                                        <p:cTn id="44" dur="500"/>
                                        <p:tgtEl>
                                          <p:spTgt spid="12"/>
                                        </p:tgtEl>
                                      </p:cBhvr>
                                    </p:animEffect>
                                  </p:childTnLst>
                                </p:cTn>
                              </p:par>
                              <p:par>
                                <p:cTn id="45" presetID="53" presetClass="entr" presetSubtype="16" fill="hold" nodeType="withEffect">
                                  <p:stCondLst>
                                    <p:cond delay="80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ppt_w</p:attrName>
                                        </p:attrNameLst>
                                      </p:cBhvr>
                                      <p:tavLst>
                                        <p:tav tm="0">
                                          <p:val>
                                            <p:strVal val="0"/>
                                          </p:val>
                                        </p:tav>
                                        <p:tav tm="100000">
                                          <p:val>
                                            <p:strVal val="#ppt_w"/>
                                          </p:val>
                                        </p:tav>
                                      </p:tavLst>
                                    </p:anim>
                                    <p:anim calcmode="lin" valueType="num">
                                      <p:cBhvr additive="base">
                                        <p:cTn id="48" dur="500" fill="hold"/>
                                        <p:tgtEl>
                                          <p:spTgt spid="13"/>
                                        </p:tgtEl>
                                        <p:attrNameLst>
                                          <p:attrName>ppt_h</p:attrName>
                                        </p:attrNameLst>
                                      </p:cBhvr>
                                      <p:tavLst>
                                        <p:tav tm="0">
                                          <p:val>
                                            <p:strVal val="0"/>
                                          </p:val>
                                        </p:tav>
                                        <p:tav tm="100000">
                                          <p:val>
                                            <p:strVal val="#ppt_h"/>
                                          </p:val>
                                        </p:tav>
                                      </p:tavLst>
                                    </p:anim>
                                    <p:animEffect transition="in" filter="fade">
                                      <p:cBhvr>
                                        <p:cTn id="49" dur="500"/>
                                        <p:tgtEl>
                                          <p:spTgt spid="13"/>
                                        </p:tgtEl>
                                      </p:cBhvr>
                                    </p:animEffect>
                                  </p:childTnLst>
                                </p:cTn>
                              </p:par>
                              <p:par>
                                <p:cTn id="50" presetID="53" presetClass="entr" presetSubtype="16" fill="hold" nodeType="withEffect">
                                  <p:stCondLst>
                                    <p:cond delay="110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ppt_w</p:attrName>
                                        </p:attrNameLst>
                                      </p:cBhvr>
                                      <p:tavLst>
                                        <p:tav tm="0">
                                          <p:val>
                                            <p:strVal val="0"/>
                                          </p:val>
                                        </p:tav>
                                        <p:tav tm="100000">
                                          <p:val>
                                            <p:strVal val="#ppt_w"/>
                                          </p:val>
                                        </p:tav>
                                      </p:tavLst>
                                    </p:anim>
                                    <p:anim calcmode="lin" valueType="num">
                                      <p:cBhvr additive="base">
                                        <p:cTn id="53" dur="500" fill="hold"/>
                                        <p:tgtEl>
                                          <p:spTgt spid="14"/>
                                        </p:tgtEl>
                                        <p:attrNameLst>
                                          <p:attrName>ppt_h</p:attrName>
                                        </p:attrNameLst>
                                      </p:cBhvr>
                                      <p:tavLst>
                                        <p:tav tm="0">
                                          <p:val>
                                            <p:strVal val="0"/>
                                          </p:val>
                                        </p:tav>
                                        <p:tav tm="100000">
                                          <p:val>
                                            <p:strVal val="#ppt_h"/>
                                          </p:val>
                                        </p:tav>
                                      </p:tavLst>
                                    </p:anim>
                                    <p:animEffect transition="in" filter="fade">
                                      <p:cBhvr>
                                        <p:cTn id="54" dur="500"/>
                                        <p:tgtEl>
                                          <p:spTgt spid="14"/>
                                        </p:tgtEl>
                                      </p:cBhvr>
                                    </p:animEffect>
                                  </p:childTnLst>
                                </p:cTn>
                              </p:par>
                              <p:par>
                                <p:cTn id="55" presetID="53" presetClass="entr" presetSubtype="16" fill="hold" nodeType="withEffect">
                                  <p:stCondLst>
                                    <p:cond delay="110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ppt_w</p:attrName>
                                        </p:attrNameLst>
                                      </p:cBhvr>
                                      <p:tavLst>
                                        <p:tav tm="0">
                                          <p:val>
                                            <p:strVal val="0"/>
                                          </p:val>
                                        </p:tav>
                                        <p:tav tm="100000">
                                          <p:val>
                                            <p:strVal val="#ppt_w"/>
                                          </p:val>
                                        </p:tav>
                                      </p:tavLst>
                                    </p:anim>
                                    <p:anim calcmode="lin" valueType="num">
                                      <p:cBhvr additive="base">
                                        <p:cTn id="58" dur="500" fill="hold"/>
                                        <p:tgtEl>
                                          <p:spTgt spid="15"/>
                                        </p:tgtEl>
                                        <p:attrNameLst>
                                          <p:attrName>ppt_h</p:attrName>
                                        </p:attrNameLst>
                                      </p:cBhvr>
                                      <p:tavLst>
                                        <p:tav tm="0">
                                          <p:val>
                                            <p:strVal val="0"/>
                                          </p:val>
                                        </p:tav>
                                        <p:tav tm="100000">
                                          <p:val>
                                            <p:strVal val="#ppt_h"/>
                                          </p:val>
                                        </p:tav>
                                      </p:tavLst>
                                    </p:anim>
                                    <p:animEffect transition="in" filter="fade">
                                      <p:cBhvr>
                                        <p:cTn id="59" dur="500"/>
                                        <p:tgtEl>
                                          <p:spTgt spid="15"/>
                                        </p:tgtEl>
                                      </p:cBhvr>
                                    </p:animEffect>
                                  </p:childTnLst>
                                </p:cTn>
                              </p:par>
                              <p:par>
                                <p:cTn id="60" presetID="53" presetClass="entr" presetSubtype="16" fill="hold" nodeType="withEffect">
                                  <p:stCondLst>
                                    <p:cond delay="110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00" fill="hold"/>
                                        <p:tgtEl>
                                          <p:spTgt spid="16"/>
                                        </p:tgtEl>
                                        <p:attrNameLst>
                                          <p:attrName>ppt_w</p:attrName>
                                        </p:attrNameLst>
                                      </p:cBhvr>
                                      <p:tavLst>
                                        <p:tav tm="0">
                                          <p:val>
                                            <p:strVal val="0"/>
                                          </p:val>
                                        </p:tav>
                                        <p:tav tm="100000">
                                          <p:val>
                                            <p:strVal val="#ppt_w"/>
                                          </p:val>
                                        </p:tav>
                                      </p:tavLst>
                                    </p:anim>
                                    <p:anim calcmode="lin" valueType="num">
                                      <p:cBhvr additive="base">
                                        <p:cTn id="63" dur="500" fill="hold"/>
                                        <p:tgtEl>
                                          <p:spTgt spid="16"/>
                                        </p:tgtEl>
                                        <p:attrNameLst>
                                          <p:attrName>ppt_h</p:attrName>
                                        </p:attrNameLst>
                                      </p:cBhvr>
                                      <p:tavLst>
                                        <p:tav tm="0">
                                          <p:val>
                                            <p:strVal val="0"/>
                                          </p:val>
                                        </p:tav>
                                        <p:tav tm="100000">
                                          <p:val>
                                            <p:strVal val="#ppt_h"/>
                                          </p:val>
                                        </p:tav>
                                      </p:tavLst>
                                    </p:anim>
                                    <p:animEffect transition="in" filter="fade">
                                      <p:cBhvr>
                                        <p:cTn id="6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12  ·  DEMO DATASET</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Every planted scenario, scored by the live product</a:t>
            </a:r>
            <a:endParaRPr lang="en-US" sz="3400" dirty="0"/>
          </a:p>
        </p:txBody>
      </p:sp>
      <p:sp>
        <p:nvSpPr>
          <p:cNvPr id="5" name="stat0__1"/>
          <p:cNvSpPr/>
          <p:nvPr/>
        </p:nvSpPr>
        <p:spPr>
          <a:xfrm>
            <a:off x="548640" y="1691640"/>
            <a:ext cx="2606040" cy="1417320"/>
          </a:xfrm>
          <a:prstGeom prst="roundRect">
            <a:avLst>
              <a:gd name="adj" fmla="val 7742"/>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stat0__2"/>
          <p:cNvSpPr txBox="1"/>
          <p:nvPr/>
        </p:nvSpPr>
        <p:spPr>
          <a:xfrm>
            <a:off x="777240" y="1810512"/>
            <a:ext cx="2194560" cy="731520"/>
          </a:xfrm>
          <a:prstGeom prst="rect">
            <a:avLst/>
          </a:prstGeom>
          <a:noFill/>
          <a:ln/>
        </p:spPr>
        <p:txBody>
          <a:bodyPr wrap="square" lIns="0" tIns="0" rIns="0" bIns="0" rtlCol="0" anchor="ctr"/>
          <a:lstStyle/>
          <a:p>
            <a:pPr indent="0" marL="0">
              <a:buNone/>
            </a:pPr>
            <a:r>
              <a:rPr lang="en-US" sz="4000" b="1" dirty="0">
                <a:solidFill>
                  <a:srgbClr val="38BDF8"/>
                </a:solidFill>
                <a:latin typeface="Arial" pitchFamily="34" charset="0"/>
                <a:ea typeface="Arial" pitchFamily="34" charset="-122"/>
                <a:cs typeface="Arial" pitchFamily="34" charset="-120"/>
              </a:rPr>
              <a:t>239</a:t>
            </a:r>
            <a:endParaRPr lang="en-US" sz="4000" dirty="0"/>
          </a:p>
        </p:txBody>
      </p:sp>
      <p:sp>
        <p:nvSpPr>
          <p:cNvPr id="7" name="stat0__3"/>
          <p:cNvSpPr txBox="1"/>
          <p:nvPr/>
        </p:nvSpPr>
        <p:spPr>
          <a:xfrm>
            <a:off x="777240" y="2560320"/>
            <a:ext cx="2240280" cy="3657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transactions analysed</a:t>
            </a:r>
            <a:endParaRPr lang="en-US" sz="1400" dirty="0"/>
          </a:p>
        </p:txBody>
      </p:sp>
      <p:sp>
        <p:nvSpPr>
          <p:cNvPr id="8" name="stat1__1"/>
          <p:cNvSpPr/>
          <p:nvPr/>
        </p:nvSpPr>
        <p:spPr>
          <a:xfrm>
            <a:off x="3376879" y="1691640"/>
            <a:ext cx="2606040" cy="1417320"/>
          </a:xfrm>
          <a:prstGeom prst="roundRect">
            <a:avLst>
              <a:gd name="adj" fmla="val 7742"/>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9" name="stat1__2"/>
          <p:cNvSpPr txBox="1"/>
          <p:nvPr/>
        </p:nvSpPr>
        <p:spPr>
          <a:xfrm>
            <a:off x="3605479" y="1810512"/>
            <a:ext cx="2194560" cy="731520"/>
          </a:xfrm>
          <a:prstGeom prst="rect">
            <a:avLst/>
          </a:prstGeom>
          <a:noFill/>
          <a:ln/>
        </p:spPr>
        <p:txBody>
          <a:bodyPr wrap="square" lIns="0" tIns="0" rIns="0" bIns="0" rtlCol="0" anchor="ctr"/>
          <a:lstStyle/>
          <a:p>
            <a:pPr indent="0" marL="0">
              <a:buNone/>
            </a:pPr>
            <a:r>
              <a:rPr lang="en-US" sz="4000" b="1" dirty="0">
                <a:solidFill>
                  <a:srgbClr val="38BDF8"/>
                </a:solidFill>
                <a:latin typeface="Arial" pitchFamily="34" charset="0"/>
                <a:ea typeface="Arial" pitchFamily="34" charset="-122"/>
                <a:cs typeface="Arial" pitchFamily="34" charset="-120"/>
              </a:rPr>
              <a:t>89</a:t>
            </a:r>
            <a:endParaRPr lang="en-US" sz="4000" dirty="0"/>
          </a:p>
        </p:txBody>
      </p:sp>
      <p:sp>
        <p:nvSpPr>
          <p:cNvPr id="10" name="stat1__3"/>
          <p:cNvSpPr txBox="1"/>
          <p:nvPr/>
        </p:nvSpPr>
        <p:spPr>
          <a:xfrm>
            <a:off x="3605479" y="2560320"/>
            <a:ext cx="2240280" cy="3657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accounts mapped as a graph</a:t>
            </a:r>
            <a:endParaRPr lang="en-US" sz="1400" dirty="0"/>
          </a:p>
        </p:txBody>
      </p:sp>
      <p:sp>
        <p:nvSpPr>
          <p:cNvPr id="11" name="stat2__1"/>
          <p:cNvSpPr/>
          <p:nvPr/>
        </p:nvSpPr>
        <p:spPr>
          <a:xfrm>
            <a:off x="6205118" y="1691640"/>
            <a:ext cx="2606040" cy="1417320"/>
          </a:xfrm>
          <a:prstGeom prst="roundRect">
            <a:avLst>
              <a:gd name="adj" fmla="val 7742"/>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2" name="stat2__2"/>
          <p:cNvSpPr txBox="1"/>
          <p:nvPr/>
        </p:nvSpPr>
        <p:spPr>
          <a:xfrm>
            <a:off x="6433718" y="1810512"/>
            <a:ext cx="2194560" cy="731520"/>
          </a:xfrm>
          <a:prstGeom prst="rect">
            <a:avLst/>
          </a:prstGeom>
          <a:noFill/>
          <a:ln/>
        </p:spPr>
        <p:txBody>
          <a:bodyPr wrap="square" lIns="0" tIns="0" rIns="0" bIns="0" rtlCol="0" anchor="ctr"/>
          <a:lstStyle/>
          <a:p>
            <a:pPr indent="0" marL="0">
              <a:buNone/>
            </a:pPr>
            <a:r>
              <a:rPr lang="en-US" sz="4000" b="1" dirty="0">
                <a:solidFill>
                  <a:srgbClr val="38BDF8"/>
                </a:solidFill>
                <a:latin typeface="Arial" pitchFamily="34" charset="0"/>
                <a:ea typeface="Arial" pitchFamily="34" charset="-122"/>
                <a:cs typeface="Arial" pitchFamily="34" charset="-120"/>
              </a:rPr>
              <a:t>11 / 11</a:t>
            </a:r>
            <a:endParaRPr lang="en-US" sz="4000" dirty="0"/>
          </a:p>
        </p:txBody>
      </p:sp>
      <p:sp>
        <p:nvSpPr>
          <p:cNvPr id="13" name="stat2__3"/>
          <p:cNvSpPr txBox="1"/>
          <p:nvPr/>
        </p:nvSpPr>
        <p:spPr>
          <a:xfrm>
            <a:off x="6433718" y="2560320"/>
            <a:ext cx="2240280" cy="3657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patterns detected</a:t>
            </a:r>
            <a:endParaRPr lang="en-US" sz="1400" dirty="0"/>
          </a:p>
        </p:txBody>
      </p:sp>
      <p:sp>
        <p:nvSpPr>
          <p:cNvPr id="14" name="stat3__1"/>
          <p:cNvSpPr/>
          <p:nvPr/>
        </p:nvSpPr>
        <p:spPr>
          <a:xfrm>
            <a:off x="9033358" y="1691640"/>
            <a:ext cx="2606040" cy="1417320"/>
          </a:xfrm>
          <a:prstGeom prst="roundRect">
            <a:avLst>
              <a:gd name="adj" fmla="val 7742"/>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5" name="stat3__2"/>
          <p:cNvSpPr txBox="1"/>
          <p:nvPr/>
        </p:nvSpPr>
        <p:spPr>
          <a:xfrm>
            <a:off x="9261958" y="1810512"/>
            <a:ext cx="2194560" cy="731520"/>
          </a:xfrm>
          <a:prstGeom prst="rect">
            <a:avLst/>
          </a:prstGeom>
          <a:noFill/>
          <a:ln/>
        </p:spPr>
        <p:txBody>
          <a:bodyPr wrap="square" lIns="0" tIns="0" rIns="0" bIns="0" rtlCol="0" anchor="ctr"/>
          <a:lstStyle/>
          <a:p>
            <a:pPr indent="0" marL="0">
              <a:buNone/>
            </a:pPr>
            <a:r>
              <a:rPr lang="en-US" sz="4000" b="1" dirty="0">
                <a:solidFill>
                  <a:srgbClr val="34D399"/>
                </a:solidFill>
                <a:latin typeface="Arial" pitchFamily="34" charset="0"/>
                <a:ea typeface="Arial" pitchFamily="34" charset="-122"/>
                <a:cs typeface="Arial" pitchFamily="34" charset="-120"/>
              </a:rPr>
              <a:t>71 + 10</a:t>
            </a:r>
            <a:endParaRPr lang="en-US" sz="4000" dirty="0"/>
          </a:p>
        </p:txBody>
      </p:sp>
      <p:sp>
        <p:nvSpPr>
          <p:cNvPr id="16" name="stat3__3"/>
          <p:cNvSpPr txBox="1"/>
          <p:nvPr/>
        </p:nvSpPr>
        <p:spPr>
          <a:xfrm>
            <a:off x="9261958" y="2560320"/>
            <a:ext cx="2240280" cy="36576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automated tests passing</a:t>
            </a:r>
            <a:endParaRPr lang="en-US" sz="1400" dirty="0"/>
          </a:p>
        </p:txBody>
      </p:sp>
      <p:sp>
        <p:nvSpPr>
          <p:cNvPr id="17" name="chartc__1"/>
          <p:cNvSpPr/>
          <p:nvPr/>
        </p:nvSpPr>
        <p:spPr>
          <a:xfrm>
            <a:off x="548640" y="3383280"/>
            <a:ext cx="6720840" cy="2651760"/>
          </a:xfrm>
          <a:prstGeom prst="roundRect">
            <a:avLst>
              <a:gd name="adj" fmla="val 4138"/>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8" name="chartc__2"/>
          <p:cNvSpPr txBox="1"/>
          <p:nvPr/>
        </p:nvSpPr>
        <p:spPr>
          <a:xfrm>
            <a:off x="777240" y="3493008"/>
            <a:ext cx="6217920" cy="320040"/>
          </a:xfrm>
          <a:prstGeom prst="rect">
            <a:avLst/>
          </a:prstGeom>
          <a:noFill/>
          <a:ln/>
        </p:spPr>
        <p:txBody>
          <a:bodyPr wrap="square" lIns="0" tIns="0" rIns="0" bIns="0" rtlCol="0" anchor="ctr"/>
          <a:lstStyle/>
          <a:p>
            <a:pPr indent="0" marL="0">
              <a:buNone/>
            </a:pPr>
            <a:r>
              <a:rPr lang="en-US" sz="1300" b="1" dirty="0">
                <a:solidFill>
                  <a:srgbClr val="F1F5FB"/>
                </a:solidFill>
                <a:latin typeface="Arial" pitchFamily="34" charset="0"/>
                <a:ea typeface="Arial" pitchFamily="34" charset="-122"/>
                <a:cs typeface="Arial" pitchFamily="34" charset="-120"/>
              </a:rPr>
              <a:t>Accounts flagged per pattern (demo dataset)</a:t>
            </a:r>
            <a:endParaRPr lang="en-US" sz="1300" dirty="0"/>
          </a:p>
        </p:txBody>
      </p:sp>
      <p:graphicFrame>
        <p:nvGraphicFramePr>
          <p:cNvPr id="19" name="chart__1" descr=""/>
          <p:cNvGraphicFramePr/>
          <p:nvPr/>
        </p:nvGraphicFramePr>
        <p:xfrm>
          <a:off x="685800" y="3840480"/>
          <a:ext cx="6446520" cy="2103120"/>
        </p:xfrm>
        <a:graphic xmlns:a="http://schemas.openxmlformats.org/drawingml/2006/main">
          <a:graphicData uri="http://schemas.openxmlformats.org/drawingml/2006/chart">
            <c:chart xmlns:c="http://schemas.openxmlformats.org/drawingml/2006/chart" r:id="rId2"/>
          </a:graphicData>
        </a:graphic>
      </p:graphicFrame>
      <p:sp>
        <p:nvSpPr>
          <p:cNvPr id="20" name="scen__1"/>
          <p:cNvSpPr/>
          <p:nvPr/>
        </p:nvSpPr>
        <p:spPr>
          <a:xfrm>
            <a:off x="7498080" y="3383280"/>
            <a:ext cx="4142232" cy="2651760"/>
          </a:xfrm>
          <a:prstGeom prst="roundRect">
            <a:avLst>
              <a:gd name="adj" fmla="val 4138"/>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1" name="scen__2"/>
          <p:cNvSpPr txBox="1"/>
          <p:nvPr/>
        </p:nvSpPr>
        <p:spPr>
          <a:xfrm>
            <a:off x="7726680" y="3493008"/>
            <a:ext cx="3749040" cy="320040"/>
          </a:xfrm>
          <a:prstGeom prst="rect">
            <a:avLst/>
          </a:prstGeom>
          <a:noFill/>
          <a:ln/>
        </p:spPr>
        <p:txBody>
          <a:bodyPr wrap="square" lIns="0" tIns="0" rIns="0" bIns="0" rtlCol="0" anchor="ctr"/>
          <a:lstStyle/>
          <a:p>
            <a:pPr indent="0" marL="0">
              <a:buNone/>
            </a:pPr>
            <a:r>
              <a:rPr lang="en-US" sz="1300" b="1" dirty="0">
                <a:solidFill>
                  <a:srgbClr val="F1F5FB"/>
                </a:solidFill>
                <a:latin typeface="Arial" pitchFamily="34" charset="0"/>
                <a:ea typeface="Arial" pitchFamily="34" charset="-122"/>
                <a:cs typeface="Arial" pitchFamily="34" charset="-120"/>
              </a:rPr>
              <a:t>11 benchmark scenarios</a:t>
            </a:r>
            <a:endParaRPr lang="en-US" sz="1300" dirty="0"/>
          </a:p>
        </p:txBody>
      </p:sp>
      <p:sp>
        <p:nvSpPr>
          <p:cNvPr id="22" name="chip__1"/>
          <p:cNvSpPr/>
          <p:nvPr/>
        </p:nvSpPr>
        <p:spPr>
          <a:xfrm>
            <a:off x="7726680" y="3913632"/>
            <a:ext cx="722376" cy="292608"/>
          </a:xfrm>
          <a:prstGeom prst="roundRect">
            <a:avLst>
              <a:gd name="adj" fmla="val 50000"/>
            </a:avLst>
          </a:prstGeom>
          <a:solidFill>
            <a:srgbClr val="34D399">
              <a:alpha val="18000"/>
            </a:srgbClr>
          </a:solidFill>
          <a:ln w="9525">
            <a:solidFill>
              <a:srgbClr val="34D399"/>
            </a:solidFill>
            <a:prstDash val="solid"/>
          </a:ln>
        </p:spPr>
      </p:sp>
      <p:sp>
        <p:nvSpPr>
          <p:cNvPr id="23" name="chip__2"/>
          <p:cNvSpPr txBox="1"/>
          <p:nvPr/>
        </p:nvSpPr>
        <p:spPr>
          <a:xfrm>
            <a:off x="7726680" y="3913632"/>
            <a:ext cx="722376" cy="292608"/>
          </a:xfrm>
          <a:prstGeom prst="rect">
            <a:avLst/>
          </a:prstGeom>
          <a:noFill/>
          <a:ln/>
        </p:spPr>
        <p:txBody>
          <a:bodyPr wrap="square" lIns="0" tIns="0" rIns="0" bIns="0" rtlCol="0" anchor="ctr"/>
          <a:lstStyle/>
          <a:p>
            <a:pPr algn="ctr" indent="0" marL="0">
              <a:buNone/>
            </a:pPr>
            <a:r>
              <a:rPr lang="en-US" sz="1100" b="1" dirty="0">
                <a:solidFill>
                  <a:srgbClr val="34D399"/>
                </a:solidFill>
                <a:latin typeface="Calibri" pitchFamily="34" charset="0"/>
                <a:ea typeface="Calibri" pitchFamily="34" charset="-122"/>
                <a:cs typeface="Calibri" pitchFamily="34" charset="-120"/>
              </a:rPr>
              <a:t>Normal</a:t>
            </a:r>
            <a:endParaRPr lang="en-US" sz="1100" dirty="0"/>
          </a:p>
        </p:txBody>
      </p:sp>
      <p:sp>
        <p:nvSpPr>
          <p:cNvPr id="24" name="chip__3"/>
          <p:cNvSpPr/>
          <p:nvPr/>
        </p:nvSpPr>
        <p:spPr>
          <a:xfrm>
            <a:off x="8558784" y="3913632"/>
            <a:ext cx="722376" cy="292608"/>
          </a:xfrm>
          <a:prstGeom prst="roundRect">
            <a:avLst>
              <a:gd name="adj" fmla="val 50000"/>
            </a:avLst>
          </a:prstGeom>
          <a:solidFill>
            <a:srgbClr val="F5A524">
              <a:alpha val="18000"/>
            </a:srgbClr>
          </a:solidFill>
          <a:ln w="9525">
            <a:solidFill>
              <a:srgbClr val="F5A524"/>
            </a:solidFill>
            <a:prstDash val="solid"/>
          </a:ln>
        </p:spPr>
      </p:sp>
      <p:sp>
        <p:nvSpPr>
          <p:cNvPr id="25" name="chip__4"/>
          <p:cNvSpPr txBox="1"/>
          <p:nvPr/>
        </p:nvSpPr>
        <p:spPr>
          <a:xfrm>
            <a:off x="8558784" y="3913632"/>
            <a:ext cx="722376" cy="292608"/>
          </a:xfrm>
          <a:prstGeom prst="rect">
            <a:avLst/>
          </a:prstGeom>
          <a:noFill/>
          <a:ln/>
        </p:spPr>
        <p:txBody>
          <a:bodyPr wrap="square" lIns="0" tIns="0" rIns="0" bIns="0" rtlCol="0" anchor="ctr"/>
          <a:lstStyle/>
          <a:p>
            <a:pPr algn="ctr" indent="0" marL="0">
              <a:buNone/>
            </a:pPr>
            <a:r>
              <a:rPr lang="en-US" sz="1100" b="1" dirty="0">
                <a:solidFill>
                  <a:srgbClr val="F5A524"/>
                </a:solidFill>
                <a:latin typeface="Calibri" pitchFamily="34" charset="0"/>
                <a:ea typeface="Calibri" pitchFamily="34" charset="-122"/>
                <a:cs typeface="Calibri" pitchFamily="34" charset="-120"/>
              </a:rPr>
              <a:t>Fan-In</a:t>
            </a:r>
            <a:endParaRPr lang="en-US" sz="1100" dirty="0"/>
          </a:p>
        </p:txBody>
      </p:sp>
      <p:sp>
        <p:nvSpPr>
          <p:cNvPr id="26" name="chip__5"/>
          <p:cNvSpPr/>
          <p:nvPr/>
        </p:nvSpPr>
        <p:spPr>
          <a:xfrm>
            <a:off x="9390888" y="3913632"/>
            <a:ext cx="800100" cy="292608"/>
          </a:xfrm>
          <a:prstGeom prst="roundRect">
            <a:avLst>
              <a:gd name="adj" fmla="val 50000"/>
            </a:avLst>
          </a:prstGeom>
          <a:solidFill>
            <a:srgbClr val="F5A524">
              <a:alpha val="18000"/>
            </a:srgbClr>
          </a:solidFill>
          <a:ln w="9525">
            <a:solidFill>
              <a:srgbClr val="F5A524"/>
            </a:solidFill>
            <a:prstDash val="solid"/>
          </a:ln>
        </p:spPr>
      </p:sp>
      <p:sp>
        <p:nvSpPr>
          <p:cNvPr id="27" name="chip__6"/>
          <p:cNvSpPr txBox="1"/>
          <p:nvPr/>
        </p:nvSpPr>
        <p:spPr>
          <a:xfrm>
            <a:off x="9390888" y="3913632"/>
            <a:ext cx="800100" cy="292608"/>
          </a:xfrm>
          <a:prstGeom prst="rect">
            <a:avLst/>
          </a:prstGeom>
          <a:noFill/>
          <a:ln/>
        </p:spPr>
        <p:txBody>
          <a:bodyPr wrap="square" lIns="0" tIns="0" rIns="0" bIns="0" rtlCol="0" anchor="ctr"/>
          <a:lstStyle/>
          <a:p>
            <a:pPr algn="ctr" indent="0" marL="0">
              <a:buNone/>
            </a:pPr>
            <a:r>
              <a:rPr lang="en-US" sz="1100" b="1" dirty="0">
                <a:solidFill>
                  <a:srgbClr val="F5A524"/>
                </a:solidFill>
                <a:latin typeface="Calibri" pitchFamily="34" charset="0"/>
                <a:ea typeface="Calibri" pitchFamily="34" charset="-122"/>
                <a:cs typeface="Calibri" pitchFamily="34" charset="-120"/>
              </a:rPr>
              <a:t>Fan-Out</a:t>
            </a:r>
            <a:endParaRPr lang="en-US" sz="1100" dirty="0"/>
          </a:p>
        </p:txBody>
      </p:sp>
      <p:sp>
        <p:nvSpPr>
          <p:cNvPr id="28" name="chip__7"/>
          <p:cNvSpPr/>
          <p:nvPr/>
        </p:nvSpPr>
        <p:spPr>
          <a:xfrm>
            <a:off x="10300716" y="3913632"/>
            <a:ext cx="644652" cy="292608"/>
          </a:xfrm>
          <a:prstGeom prst="roundRect">
            <a:avLst>
              <a:gd name="adj" fmla="val 50000"/>
            </a:avLst>
          </a:prstGeom>
          <a:solidFill>
            <a:srgbClr val="F5A524">
              <a:alpha val="18000"/>
            </a:srgbClr>
          </a:solidFill>
          <a:ln w="9525">
            <a:solidFill>
              <a:srgbClr val="F5A524"/>
            </a:solidFill>
            <a:prstDash val="solid"/>
          </a:ln>
        </p:spPr>
      </p:sp>
      <p:sp>
        <p:nvSpPr>
          <p:cNvPr id="29" name="chip__8"/>
          <p:cNvSpPr txBox="1"/>
          <p:nvPr/>
        </p:nvSpPr>
        <p:spPr>
          <a:xfrm>
            <a:off x="10300716" y="3913632"/>
            <a:ext cx="644652" cy="292608"/>
          </a:xfrm>
          <a:prstGeom prst="rect">
            <a:avLst/>
          </a:prstGeom>
          <a:noFill/>
          <a:ln/>
        </p:spPr>
        <p:txBody>
          <a:bodyPr wrap="square" lIns="0" tIns="0" rIns="0" bIns="0" rtlCol="0" anchor="ctr"/>
          <a:lstStyle/>
          <a:p>
            <a:pPr algn="ctr" indent="0" marL="0">
              <a:buNone/>
            </a:pPr>
            <a:r>
              <a:rPr lang="en-US" sz="1100" b="1" dirty="0">
                <a:solidFill>
                  <a:srgbClr val="F5A524"/>
                </a:solidFill>
                <a:latin typeface="Calibri" pitchFamily="34" charset="0"/>
                <a:ea typeface="Calibri" pitchFamily="34" charset="-122"/>
                <a:cs typeface="Calibri" pitchFamily="34" charset="-120"/>
              </a:rPr>
              <a:t>Rapid</a:t>
            </a:r>
            <a:endParaRPr lang="en-US" sz="1100" dirty="0"/>
          </a:p>
        </p:txBody>
      </p:sp>
      <p:sp>
        <p:nvSpPr>
          <p:cNvPr id="30" name="chip__9"/>
          <p:cNvSpPr/>
          <p:nvPr/>
        </p:nvSpPr>
        <p:spPr>
          <a:xfrm>
            <a:off x="7726680" y="4297680"/>
            <a:ext cx="644652" cy="292608"/>
          </a:xfrm>
          <a:prstGeom prst="roundRect">
            <a:avLst>
              <a:gd name="adj" fmla="val 50000"/>
            </a:avLst>
          </a:prstGeom>
          <a:solidFill>
            <a:srgbClr val="F5A524">
              <a:alpha val="18000"/>
            </a:srgbClr>
          </a:solidFill>
          <a:ln w="9525">
            <a:solidFill>
              <a:srgbClr val="F5A524"/>
            </a:solidFill>
            <a:prstDash val="solid"/>
          </a:ln>
        </p:spPr>
      </p:sp>
      <p:sp>
        <p:nvSpPr>
          <p:cNvPr id="31" name="chip__10"/>
          <p:cNvSpPr txBox="1"/>
          <p:nvPr/>
        </p:nvSpPr>
        <p:spPr>
          <a:xfrm>
            <a:off x="7726680" y="4297680"/>
            <a:ext cx="644652" cy="292608"/>
          </a:xfrm>
          <a:prstGeom prst="rect">
            <a:avLst/>
          </a:prstGeom>
          <a:noFill/>
          <a:ln/>
        </p:spPr>
        <p:txBody>
          <a:bodyPr wrap="square" lIns="0" tIns="0" rIns="0" bIns="0" rtlCol="0" anchor="ctr"/>
          <a:lstStyle/>
          <a:p>
            <a:pPr algn="ctr" indent="0" marL="0">
              <a:buNone/>
            </a:pPr>
            <a:r>
              <a:rPr lang="en-US" sz="1100" b="1" dirty="0">
                <a:solidFill>
                  <a:srgbClr val="F5A524"/>
                </a:solidFill>
                <a:latin typeface="Calibri" pitchFamily="34" charset="0"/>
                <a:ea typeface="Calibri" pitchFamily="34" charset="-122"/>
                <a:cs typeface="Calibri" pitchFamily="34" charset="-120"/>
              </a:rPr>
              <a:t>Chain</a:t>
            </a:r>
            <a:endParaRPr lang="en-US" sz="1100" dirty="0"/>
          </a:p>
        </p:txBody>
      </p:sp>
      <p:sp>
        <p:nvSpPr>
          <p:cNvPr id="32" name="chip__11"/>
          <p:cNvSpPr/>
          <p:nvPr/>
        </p:nvSpPr>
        <p:spPr>
          <a:xfrm>
            <a:off x="8481060" y="4297680"/>
            <a:ext cx="877824" cy="292608"/>
          </a:xfrm>
          <a:prstGeom prst="roundRect">
            <a:avLst>
              <a:gd name="adj" fmla="val 50000"/>
            </a:avLst>
          </a:prstGeom>
          <a:solidFill>
            <a:srgbClr val="F5A524">
              <a:alpha val="18000"/>
            </a:srgbClr>
          </a:solidFill>
          <a:ln w="9525">
            <a:solidFill>
              <a:srgbClr val="F5A524"/>
            </a:solidFill>
            <a:prstDash val="solid"/>
          </a:ln>
        </p:spPr>
      </p:sp>
      <p:sp>
        <p:nvSpPr>
          <p:cNvPr id="33" name="chip__12"/>
          <p:cNvSpPr txBox="1"/>
          <p:nvPr/>
        </p:nvSpPr>
        <p:spPr>
          <a:xfrm>
            <a:off x="8481060" y="4297680"/>
            <a:ext cx="877824" cy="292608"/>
          </a:xfrm>
          <a:prstGeom prst="rect">
            <a:avLst/>
          </a:prstGeom>
          <a:noFill/>
          <a:ln/>
        </p:spPr>
        <p:txBody>
          <a:bodyPr wrap="square" lIns="0" tIns="0" rIns="0" bIns="0" rtlCol="0" anchor="ctr"/>
          <a:lstStyle/>
          <a:p>
            <a:pPr algn="ctr" indent="0" marL="0">
              <a:buNone/>
            </a:pPr>
            <a:r>
              <a:rPr lang="en-US" sz="1100" b="1" dirty="0">
                <a:solidFill>
                  <a:srgbClr val="F5A524"/>
                </a:solidFill>
                <a:latin typeface="Calibri" pitchFamily="34" charset="0"/>
                <a:ea typeface="Calibri" pitchFamily="34" charset="-122"/>
                <a:cs typeface="Calibri" pitchFamily="34" charset="-120"/>
              </a:rPr>
              <a:t>Circular</a:t>
            </a:r>
            <a:endParaRPr lang="en-US" sz="1100" dirty="0"/>
          </a:p>
        </p:txBody>
      </p:sp>
      <p:sp>
        <p:nvSpPr>
          <p:cNvPr id="34" name="chip__13"/>
          <p:cNvSpPr/>
          <p:nvPr/>
        </p:nvSpPr>
        <p:spPr>
          <a:xfrm>
            <a:off x="9468612" y="4297680"/>
            <a:ext cx="1110996" cy="292608"/>
          </a:xfrm>
          <a:prstGeom prst="roundRect">
            <a:avLst>
              <a:gd name="adj" fmla="val 50000"/>
            </a:avLst>
          </a:prstGeom>
          <a:solidFill>
            <a:srgbClr val="F5A524">
              <a:alpha val="18000"/>
            </a:srgbClr>
          </a:solidFill>
          <a:ln w="9525">
            <a:solidFill>
              <a:srgbClr val="F5A524"/>
            </a:solidFill>
            <a:prstDash val="solid"/>
          </a:ln>
        </p:spPr>
      </p:sp>
      <p:sp>
        <p:nvSpPr>
          <p:cNvPr id="35" name="chip__14"/>
          <p:cNvSpPr txBox="1"/>
          <p:nvPr/>
        </p:nvSpPr>
        <p:spPr>
          <a:xfrm>
            <a:off x="9468612" y="4297680"/>
            <a:ext cx="1110996" cy="292608"/>
          </a:xfrm>
          <a:prstGeom prst="rect">
            <a:avLst/>
          </a:prstGeom>
          <a:noFill/>
          <a:ln/>
        </p:spPr>
        <p:txBody>
          <a:bodyPr wrap="square" lIns="0" tIns="0" rIns="0" bIns="0" rtlCol="0" anchor="ctr"/>
          <a:lstStyle/>
          <a:p>
            <a:pPr algn="ctr" indent="0" marL="0">
              <a:buNone/>
            </a:pPr>
            <a:r>
              <a:rPr lang="en-US" sz="1100" b="1" dirty="0">
                <a:solidFill>
                  <a:srgbClr val="F5A524"/>
                </a:solidFill>
                <a:latin typeface="Calibri" pitchFamily="34" charset="0"/>
                <a:ea typeface="Calibri" pitchFamily="34" charset="-122"/>
                <a:cs typeface="Calibri" pitchFamily="34" charset="-120"/>
              </a:rPr>
              <a:t>Coordinated</a:t>
            </a:r>
            <a:endParaRPr lang="en-US" sz="1100" dirty="0"/>
          </a:p>
        </p:txBody>
      </p:sp>
      <p:sp>
        <p:nvSpPr>
          <p:cNvPr id="36" name="chip__15"/>
          <p:cNvSpPr/>
          <p:nvPr/>
        </p:nvSpPr>
        <p:spPr>
          <a:xfrm>
            <a:off x="7726680" y="4681728"/>
            <a:ext cx="1110996" cy="292608"/>
          </a:xfrm>
          <a:prstGeom prst="roundRect">
            <a:avLst>
              <a:gd name="adj" fmla="val 50000"/>
            </a:avLst>
          </a:prstGeom>
          <a:solidFill>
            <a:srgbClr val="F5A524">
              <a:alpha val="18000"/>
            </a:srgbClr>
          </a:solidFill>
          <a:ln w="9525">
            <a:solidFill>
              <a:srgbClr val="F5A524"/>
            </a:solidFill>
            <a:prstDash val="solid"/>
          </a:ln>
        </p:spPr>
      </p:sp>
      <p:sp>
        <p:nvSpPr>
          <p:cNvPr id="37" name="chip__16"/>
          <p:cNvSpPr txBox="1"/>
          <p:nvPr/>
        </p:nvSpPr>
        <p:spPr>
          <a:xfrm>
            <a:off x="7726680" y="4681728"/>
            <a:ext cx="1110996" cy="292608"/>
          </a:xfrm>
          <a:prstGeom prst="rect">
            <a:avLst/>
          </a:prstGeom>
          <a:noFill/>
          <a:ln/>
        </p:spPr>
        <p:txBody>
          <a:bodyPr wrap="square" lIns="0" tIns="0" rIns="0" bIns="0" rtlCol="0" anchor="ctr"/>
          <a:lstStyle/>
          <a:p>
            <a:pPr algn="ctr" indent="0" marL="0">
              <a:buNone/>
            </a:pPr>
            <a:r>
              <a:rPr lang="en-US" sz="1100" b="1" dirty="0">
                <a:solidFill>
                  <a:srgbClr val="F5A524"/>
                </a:solidFill>
                <a:latin typeface="Calibri" pitchFamily="34" charset="0"/>
                <a:ea typeface="Calibri" pitchFamily="34" charset="-122"/>
                <a:cs typeface="Calibri" pitchFamily="34" charset="-120"/>
              </a:rPr>
              <a:t>Structuring</a:t>
            </a:r>
            <a:endParaRPr lang="en-US" sz="1100" dirty="0"/>
          </a:p>
        </p:txBody>
      </p:sp>
      <p:sp>
        <p:nvSpPr>
          <p:cNvPr id="38" name="chip__17"/>
          <p:cNvSpPr/>
          <p:nvPr/>
        </p:nvSpPr>
        <p:spPr>
          <a:xfrm>
            <a:off x="8947404" y="4681728"/>
            <a:ext cx="955548" cy="292608"/>
          </a:xfrm>
          <a:prstGeom prst="roundRect">
            <a:avLst>
              <a:gd name="adj" fmla="val 50000"/>
            </a:avLst>
          </a:prstGeom>
          <a:solidFill>
            <a:srgbClr val="FF4D5E">
              <a:alpha val="18000"/>
            </a:srgbClr>
          </a:solidFill>
          <a:ln w="9525">
            <a:solidFill>
              <a:srgbClr val="FF4D5E"/>
            </a:solidFill>
            <a:prstDash val="solid"/>
          </a:ln>
        </p:spPr>
      </p:sp>
      <p:sp>
        <p:nvSpPr>
          <p:cNvPr id="39" name="chip__18"/>
          <p:cNvSpPr txBox="1"/>
          <p:nvPr/>
        </p:nvSpPr>
        <p:spPr>
          <a:xfrm>
            <a:off x="8947404" y="4681728"/>
            <a:ext cx="955548" cy="292608"/>
          </a:xfrm>
          <a:prstGeom prst="rect">
            <a:avLst/>
          </a:prstGeom>
          <a:noFill/>
          <a:ln/>
        </p:spPr>
        <p:txBody>
          <a:bodyPr wrap="square" lIns="0" tIns="0" rIns="0" bIns="0" rtlCol="0" anchor="ctr"/>
          <a:lstStyle/>
          <a:p>
            <a:pPr algn="ctr" indent="0" marL="0">
              <a:buNone/>
            </a:pPr>
            <a:r>
              <a:rPr lang="en-US" sz="1100" b="1" dirty="0">
                <a:solidFill>
                  <a:srgbClr val="FF4D5E"/>
                </a:solidFill>
                <a:latin typeface="Calibri" pitchFamily="34" charset="0"/>
                <a:ea typeface="Calibri" pitchFamily="34" charset="-122"/>
                <a:cs typeface="Calibri" pitchFamily="34" charset="-120"/>
              </a:rPr>
              <a:t>Mule ring</a:t>
            </a:r>
            <a:endParaRPr lang="en-US" sz="1100" dirty="0"/>
          </a:p>
        </p:txBody>
      </p:sp>
      <p:sp>
        <p:nvSpPr>
          <p:cNvPr id="40" name="chip__19"/>
          <p:cNvSpPr/>
          <p:nvPr/>
        </p:nvSpPr>
        <p:spPr>
          <a:xfrm>
            <a:off x="10012680" y="4681728"/>
            <a:ext cx="644652" cy="292608"/>
          </a:xfrm>
          <a:prstGeom prst="roundRect">
            <a:avLst>
              <a:gd name="adj" fmla="val 50000"/>
            </a:avLst>
          </a:prstGeom>
          <a:solidFill>
            <a:srgbClr val="FF4D5E">
              <a:alpha val="18000"/>
            </a:srgbClr>
          </a:solidFill>
          <a:ln w="9525">
            <a:solidFill>
              <a:srgbClr val="FF4D5E"/>
            </a:solidFill>
            <a:prstDash val="solid"/>
          </a:ln>
        </p:spPr>
      </p:sp>
      <p:sp>
        <p:nvSpPr>
          <p:cNvPr id="41" name="chip__20"/>
          <p:cNvSpPr txBox="1"/>
          <p:nvPr/>
        </p:nvSpPr>
        <p:spPr>
          <a:xfrm>
            <a:off x="10012680" y="4681728"/>
            <a:ext cx="644652" cy="292608"/>
          </a:xfrm>
          <a:prstGeom prst="rect">
            <a:avLst/>
          </a:prstGeom>
          <a:noFill/>
          <a:ln/>
        </p:spPr>
        <p:txBody>
          <a:bodyPr wrap="square" lIns="0" tIns="0" rIns="0" bIns="0" rtlCol="0" anchor="ctr"/>
          <a:lstStyle/>
          <a:p>
            <a:pPr algn="ctr" indent="0" marL="0">
              <a:buNone/>
            </a:pPr>
            <a:r>
              <a:rPr lang="en-US" sz="1100" b="1" dirty="0">
                <a:solidFill>
                  <a:srgbClr val="FF4D5E"/>
                </a:solidFill>
                <a:latin typeface="Calibri" pitchFamily="34" charset="0"/>
                <a:ea typeface="Calibri" pitchFamily="34" charset="-122"/>
                <a:cs typeface="Calibri" pitchFamily="34" charset="-120"/>
              </a:rPr>
              <a:t>Hundi</a:t>
            </a:r>
            <a:endParaRPr lang="en-US" sz="1100" dirty="0"/>
          </a:p>
        </p:txBody>
      </p:sp>
      <p:sp>
        <p:nvSpPr>
          <p:cNvPr id="42" name="chip__21"/>
          <p:cNvSpPr/>
          <p:nvPr/>
        </p:nvSpPr>
        <p:spPr>
          <a:xfrm>
            <a:off x="7726680" y="5065776"/>
            <a:ext cx="877824" cy="292608"/>
          </a:xfrm>
          <a:prstGeom prst="roundRect">
            <a:avLst>
              <a:gd name="adj" fmla="val 50000"/>
            </a:avLst>
          </a:prstGeom>
          <a:solidFill>
            <a:srgbClr val="FF4D5E">
              <a:alpha val="18000"/>
            </a:srgbClr>
          </a:solidFill>
          <a:ln w="9525">
            <a:solidFill>
              <a:srgbClr val="FF4D5E"/>
            </a:solidFill>
            <a:prstDash val="solid"/>
          </a:ln>
        </p:spPr>
      </p:sp>
      <p:sp>
        <p:nvSpPr>
          <p:cNvPr id="43" name="chip__22"/>
          <p:cNvSpPr txBox="1"/>
          <p:nvPr/>
        </p:nvSpPr>
        <p:spPr>
          <a:xfrm>
            <a:off x="7726680" y="5065776"/>
            <a:ext cx="877824" cy="292608"/>
          </a:xfrm>
          <a:prstGeom prst="rect">
            <a:avLst/>
          </a:prstGeom>
          <a:noFill/>
          <a:ln/>
        </p:spPr>
        <p:txBody>
          <a:bodyPr wrap="square" lIns="0" tIns="0" rIns="0" bIns="0" rtlCol="0" anchor="ctr"/>
          <a:lstStyle/>
          <a:p>
            <a:pPr algn="ctr" indent="0" marL="0">
              <a:buNone/>
            </a:pPr>
            <a:r>
              <a:rPr lang="en-US" sz="1100" b="1" dirty="0">
                <a:solidFill>
                  <a:srgbClr val="FF4D5E"/>
                </a:solidFill>
                <a:latin typeface="Calibri" pitchFamily="34" charset="0"/>
                <a:ea typeface="Calibri" pitchFamily="34" charset="-122"/>
                <a:cs typeface="Calibri" pitchFamily="34" charset="-120"/>
              </a:rPr>
              <a:t>Takeover</a:t>
            </a:r>
            <a:endParaRPr lang="en-US" sz="1100" dirty="0"/>
          </a:p>
        </p:txBody>
      </p:sp>
      <p:sp>
        <p:nvSpPr>
          <p:cNvPr id="44" name="scen2__1"/>
          <p:cNvSpPr txBox="1"/>
          <p:nvPr/>
        </p:nvSpPr>
        <p:spPr>
          <a:xfrm>
            <a:off x="7726680" y="5376672"/>
            <a:ext cx="3749040" cy="621792"/>
          </a:xfrm>
          <a:prstGeom prst="rect">
            <a:avLst/>
          </a:prstGeom>
          <a:noFill/>
          <a:ln/>
        </p:spPr>
        <p:txBody>
          <a:bodyPr wrap="square" lIns="0" tIns="0" rIns="0" bIns="0" rtlCol="0" anchor="t"/>
          <a:lstStyle/>
          <a:p>
            <a:pPr indent="0" marL="0">
              <a:spcAft>
                <a:spcPts val="400"/>
              </a:spcAft>
              <a:buNone/>
            </a:pPr>
            <a:r>
              <a:rPr lang="en-US" sz="1050" dirty="0">
                <a:solidFill>
                  <a:srgbClr val="9AABC4"/>
                </a:solidFill>
                <a:latin typeface="Calibri" pitchFamily="34" charset="0"/>
                <a:ea typeface="Calibri" pitchFamily="34" charset="-122"/>
                <a:cs typeface="Calibri" pitchFamily="34" charset="-120"/>
              </a:rPr>
              <a:t>9 of the 10 planted fraud targets score MEDIUM or above; the rapid pass-through scores 28.3 (LOW) but is still flagged by its pattern. No normal account is flagged by any pattern.</a:t>
            </a:r>
            <a:endParaRPr lang="en-US" sz="1050" dirty="0"/>
          </a:p>
          <a:p>
            <a:pPr indent="0" marL="0">
              <a:spcAft>
                <a:spcPts val="400"/>
              </a:spcAft>
              <a:buNone/>
            </a:pPr>
            <a:r>
              <a:rPr lang="en-US" sz="1050" dirty="0">
                <a:solidFill>
                  <a:srgbClr val="38BDF8"/>
                </a:solidFill>
                <a:latin typeface="Calibri" pitchFamily="34" charset="0"/>
                <a:ea typeface="Calibri" pitchFamily="34" charset="-122"/>
                <a:cs typeface="Calibri" pitchFamily="34" charset="-120"/>
              </a:rPr>
              <a:t>Fixed random seeds: same input, same score.</a:t>
            </a:r>
            <a:endParaRPr lang="en-US" sz="10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anim calcmode="lin" valueType="num">
                                      <p:cBhvr additive="base">
                                        <p:cTn id="13" dur="450" fill="hold"/>
                                        <p:tgtEl>
                                          <p:spTgt spid="6"/>
                                        </p:tgtEl>
                                        <p:attrNameLst>
                                          <p:attrName>ppt_x</p:attrName>
                                        </p:attrNameLst>
                                      </p:cBhvr>
                                      <p:tavLst>
                                        <p:tav tm="0">
                                          <p:val>
                                            <p:strVal val="#ppt_x"/>
                                          </p:val>
                                        </p:tav>
                                        <p:tav tm="100000">
                                          <p:val>
                                            <p:strVal val="#ppt_x"/>
                                          </p:val>
                                        </p:tav>
                                      </p:tavLst>
                                    </p:anim>
                                    <p:anim calcmode="lin" valueType="num">
                                      <p:cBhvr additive="base">
                                        <p:cTn id="14" dur="45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anim calcmode="lin" valueType="num">
                                      <p:cBhvr additive="base">
                                        <p:cTn id="18" dur="450" fill="hold"/>
                                        <p:tgtEl>
                                          <p:spTgt spid="7"/>
                                        </p:tgtEl>
                                        <p:attrNameLst>
                                          <p:attrName>ppt_x</p:attrName>
                                        </p:attrNameLst>
                                      </p:cBhvr>
                                      <p:tavLst>
                                        <p:tav tm="0">
                                          <p:val>
                                            <p:strVal val="#ppt_x"/>
                                          </p:val>
                                        </p:tav>
                                        <p:tav tm="100000">
                                          <p:val>
                                            <p:strVal val="#ppt_x"/>
                                          </p:val>
                                        </p:tav>
                                      </p:tavLst>
                                    </p:anim>
                                    <p:anim calcmode="lin" valueType="num">
                                      <p:cBhvr additive="base">
                                        <p:cTn id="19" dur="45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4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anim calcmode="lin" valueType="num">
                                      <p:cBhvr additive="base">
                                        <p:cTn id="23" dur="450" fill="hold"/>
                                        <p:tgtEl>
                                          <p:spTgt spid="8"/>
                                        </p:tgtEl>
                                        <p:attrNameLst>
                                          <p:attrName>ppt_x</p:attrName>
                                        </p:attrNameLst>
                                      </p:cBhvr>
                                      <p:tavLst>
                                        <p:tav tm="0">
                                          <p:val>
                                            <p:strVal val="#ppt_x"/>
                                          </p:val>
                                        </p:tav>
                                        <p:tav tm="100000">
                                          <p:val>
                                            <p:strVal val="#ppt_x"/>
                                          </p:val>
                                        </p:tav>
                                      </p:tavLst>
                                    </p:anim>
                                    <p:anim calcmode="lin" valueType="num">
                                      <p:cBhvr additive="base">
                                        <p:cTn id="24" dur="45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4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ppt_x</p:attrName>
                                        </p:attrNameLst>
                                      </p:cBhvr>
                                      <p:tavLst>
                                        <p:tav tm="0">
                                          <p:val>
                                            <p:strVal val="#ppt_x"/>
                                          </p:val>
                                        </p:tav>
                                        <p:tav tm="100000">
                                          <p:val>
                                            <p:strVal val="#ppt_x"/>
                                          </p:val>
                                        </p:tav>
                                      </p:tavLst>
                                    </p:anim>
                                    <p:anim calcmode="lin" valueType="num">
                                      <p:cBhvr additive="base">
                                        <p:cTn id="29" dur="45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4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anim calcmode="lin" valueType="num">
                                      <p:cBhvr additive="base">
                                        <p:cTn id="33" dur="450" fill="hold"/>
                                        <p:tgtEl>
                                          <p:spTgt spid="10"/>
                                        </p:tgtEl>
                                        <p:attrNameLst>
                                          <p:attrName>ppt_x</p:attrName>
                                        </p:attrNameLst>
                                      </p:cBhvr>
                                      <p:tavLst>
                                        <p:tav tm="0">
                                          <p:val>
                                            <p:strVal val="#ppt_x"/>
                                          </p:val>
                                        </p:tav>
                                        <p:tav tm="100000">
                                          <p:val>
                                            <p:strVal val="#ppt_x"/>
                                          </p:val>
                                        </p:tav>
                                      </p:tavLst>
                                    </p:anim>
                                    <p:anim calcmode="lin" valueType="num">
                                      <p:cBhvr additive="base">
                                        <p:cTn id="34" dur="45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7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50"/>
                                        <p:tgtEl>
                                          <p:spTgt spid="11"/>
                                        </p:tgtEl>
                                      </p:cBhvr>
                                    </p:animEffect>
                                    <p:anim calcmode="lin" valueType="num">
                                      <p:cBhvr additive="base">
                                        <p:cTn id="38" dur="450" fill="hold"/>
                                        <p:tgtEl>
                                          <p:spTgt spid="11"/>
                                        </p:tgtEl>
                                        <p:attrNameLst>
                                          <p:attrName>ppt_x</p:attrName>
                                        </p:attrNameLst>
                                      </p:cBhvr>
                                      <p:tavLst>
                                        <p:tav tm="0">
                                          <p:val>
                                            <p:strVal val="#ppt_x"/>
                                          </p:val>
                                        </p:tav>
                                        <p:tav tm="100000">
                                          <p:val>
                                            <p:strVal val="#ppt_x"/>
                                          </p:val>
                                        </p:tav>
                                      </p:tavLst>
                                    </p:anim>
                                    <p:anim calcmode="lin" valueType="num">
                                      <p:cBhvr additive="base">
                                        <p:cTn id="39" dur="45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70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50"/>
                                        <p:tgtEl>
                                          <p:spTgt spid="12"/>
                                        </p:tgtEl>
                                      </p:cBhvr>
                                    </p:animEffect>
                                    <p:anim calcmode="lin" valueType="num">
                                      <p:cBhvr additive="base">
                                        <p:cTn id="43" dur="450" fill="hold"/>
                                        <p:tgtEl>
                                          <p:spTgt spid="12"/>
                                        </p:tgtEl>
                                        <p:attrNameLst>
                                          <p:attrName>ppt_x</p:attrName>
                                        </p:attrNameLst>
                                      </p:cBhvr>
                                      <p:tavLst>
                                        <p:tav tm="0">
                                          <p:val>
                                            <p:strVal val="#ppt_x"/>
                                          </p:val>
                                        </p:tav>
                                        <p:tav tm="100000">
                                          <p:val>
                                            <p:strVal val="#ppt_x"/>
                                          </p:val>
                                        </p:tav>
                                      </p:tavLst>
                                    </p:anim>
                                    <p:anim calcmode="lin" valueType="num">
                                      <p:cBhvr additive="base">
                                        <p:cTn id="44" dur="45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70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50"/>
                                        <p:tgtEl>
                                          <p:spTgt spid="13"/>
                                        </p:tgtEl>
                                      </p:cBhvr>
                                    </p:animEffect>
                                    <p:anim calcmode="lin" valueType="num">
                                      <p:cBhvr additive="base">
                                        <p:cTn id="48" dur="450" fill="hold"/>
                                        <p:tgtEl>
                                          <p:spTgt spid="13"/>
                                        </p:tgtEl>
                                        <p:attrNameLst>
                                          <p:attrName>ppt_x</p:attrName>
                                        </p:attrNameLst>
                                      </p:cBhvr>
                                      <p:tavLst>
                                        <p:tav tm="0">
                                          <p:val>
                                            <p:strVal val="#ppt_x"/>
                                          </p:val>
                                        </p:tav>
                                        <p:tav tm="100000">
                                          <p:val>
                                            <p:strVal val="#ppt_x"/>
                                          </p:val>
                                        </p:tav>
                                      </p:tavLst>
                                    </p:anim>
                                    <p:anim calcmode="lin" valueType="num">
                                      <p:cBhvr additive="base">
                                        <p:cTn id="49" dur="45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95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anim calcmode="lin" valueType="num">
                                      <p:cBhvr additive="base">
                                        <p:cTn id="53" dur="450" fill="hold"/>
                                        <p:tgtEl>
                                          <p:spTgt spid="14"/>
                                        </p:tgtEl>
                                        <p:attrNameLst>
                                          <p:attrName>ppt_x</p:attrName>
                                        </p:attrNameLst>
                                      </p:cBhvr>
                                      <p:tavLst>
                                        <p:tav tm="0">
                                          <p:val>
                                            <p:strVal val="#ppt_x"/>
                                          </p:val>
                                        </p:tav>
                                        <p:tav tm="100000">
                                          <p:val>
                                            <p:strVal val="#ppt_x"/>
                                          </p:val>
                                        </p:tav>
                                      </p:tavLst>
                                    </p:anim>
                                    <p:anim calcmode="lin" valueType="num">
                                      <p:cBhvr additive="base">
                                        <p:cTn id="54" dur="45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95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50"/>
                                        <p:tgtEl>
                                          <p:spTgt spid="15"/>
                                        </p:tgtEl>
                                      </p:cBhvr>
                                    </p:animEffect>
                                    <p:anim calcmode="lin" valueType="num">
                                      <p:cBhvr additive="base">
                                        <p:cTn id="58" dur="450" fill="hold"/>
                                        <p:tgtEl>
                                          <p:spTgt spid="15"/>
                                        </p:tgtEl>
                                        <p:attrNameLst>
                                          <p:attrName>ppt_x</p:attrName>
                                        </p:attrNameLst>
                                      </p:cBhvr>
                                      <p:tavLst>
                                        <p:tav tm="0">
                                          <p:val>
                                            <p:strVal val="#ppt_x"/>
                                          </p:val>
                                        </p:tav>
                                        <p:tav tm="100000">
                                          <p:val>
                                            <p:strVal val="#ppt_x"/>
                                          </p:val>
                                        </p:tav>
                                      </p:tavLst>
                                    </p:anim>
                                    <p:anim calcmode="lin" valueType="num">
                                      <p:cBhvr additive="base">
                                        <p:cTn id="59" dur="45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95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50"/>
                                        <p:tgtEl>
                                          <p:spTgt spid="16"/>
                                        </p:tgtEl>
                                      </p:cBhvr>
                                    </p:animEffect>
                                    <p:anim calcmode="lin" valueType="num">
                                      <p:cBhvr additive="base">
                                        <p:cTn id="63" dur="450" fill="hold"/>
                                        <p:tgtEl>
                                          <p:spTgt spid="16"/>
                                        </p:tgtEl>
                                        <p:attrNameLst>
                                          <p:attrName>ppt_x</p:attrName>
                                        </p:attrNameLst>
                                      </p:cBhvr>
                                      <p:tavLst>
                                        <p:tav tm="0">
                                          <p:val>
                                            <p:strVal val="#ppt_x"/>
                                          </p:val>
                                        </p:tav>
                                        <p:tav tm="100000">
                                          <p:val>
                                            <p:strVal val="#ppt_x"/>
                                          </p:val>
                                        </p:tav>
                                      </p:tavLst>
                                    </p:anim>
                                    <p:anim calcmode="lin" valueType="num">
                                      <p:cBhvr additive="base">
                                        <p:cTn id="64" dur="450" fill="hold"/>
                                        <p:tgtEl>
                                          <p:spTgt spid="16"/>
                                        </p:tgtEl>
                                        <p:attrNameLst>
                                          <p:attrName>ppt_y</p:attrName>
                                        </p:attrNameLst>
                                      </p:cBhvr>
                                      <p:tavLst>
                                        <p:tav tm="0">
                                          <p:val>
                                            <p:strVal val="#ppt_y+.1"/>
                                          </p:val>
                                        </p:tav>
                                        <p:tav tm="100000">
                                          <p:val>
                                            <p:strVal val="#ppt_y"/>
                                          </p:val>
                                        </p:tav>
                                      </p:tavLst>
                                    </p:anim>
                                  </p:childTnLst>
                                </p:cTn>
                              </p:par>
                              <p:par>
                                <p:cTn id="65" presetID="10" presetClass="entr" presetSubtype="0" fill="hold" nodeType="withEffect">
                                  <p:stCondLst>
                                    <p:cond delay="13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00"/>
                                        <p:tgtEl>
                                          <p:spTgt spid="17"/>
                                        </p:tgtEl>
                                      </p:cBhvr>
                                    </p:animEffect>
                                  </p:childTnLst>
                                </p:cTn>
                              </p:par>
                              <p:par>
                                <p:cTn id="68" presetID="10" presetClass="entr" presetSubtype="0" fill="hold" nodeType="withEffect">
                                  <p:stCondLst>
                                    <p:cond delay="130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400"/>
                                        <p:tgtEl>
                                          <p:spTgt spid="18"/>
                                        </p:tgtEl>
                                      </p:cBhvr>
                                    </p:animEffect>
                                  </p:childTnLst>
                                </p:cTn>
                              </p:par>
                              <p:par>
                                <p:cTn id="71" presetID="22" presetClass="entr" presetSubtype="8" fill="hold" nodeType="withEffect">
                                  <p:stCondLst>
                                    <p:cond delay="1500"/>
                                  </p:stCondLst>
                                  <p:childTnLst>
                                    <p:set>
                                      <p:cBhvr>
                                        <p:cTn id="72" dur="1" fill="hold">
                                          <p:stCondLst>
                                            <p:cond delay="0"/>
                                          </p:stCondLst>
                                        </p:cTn>
                                        <p:tgtEl>
                                          <p:spTgt spid="19"/>
                                        </p:tgtEl>
                                        <p:attrNameLst>
                                          <p:attrName>style.visibility</p:attrName>
                                        </p:attrNameLst>
                                      </p:cBhvr>
                                      <p:to>
                                        <p:strVal val="visible"/>
                                      </p:to>
                                    </p:set>
                                    <p:animEffect transition="in" filter="wipe(left)">
                                      <p:cBhvr>
                                        <p:cTn id="73" dur="900"/>
                                        <p:tgtEl>
                                          <p:spTgt spid="19"/>
                                        </p:tgtEl>
                                      </p:cBhvr>
                                    </p:animEffect>
                                  </p:childTnLst>
                                </p:cTn>
                              </p:par>
                              <p:par>
                                <p:cTn id="74" presetID="10" presetClass="entr" presetSubtype="0" fill="hold" nodeType="withEffect">
                                  <p:stCondLst>
                                    <p:cond delay="220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400"/>
                                        <p:tgtEl>
                                          <p:spTgt spid="20"/>
                                        </p:tgtEl>
                                      </p:cBhvr>
                                    </p:animEffect>
                                  </p:childTnLst>
                                </p:cTn>
                              </p:par>
                              <p:par>
                                <p:cTn id="77" presetID="10" presetClass="entr" presetSubtype="0" fill="hold" nodeType="withEffect">
                                  <p:stCondLst>
                                    <p:cond delay="220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400"/>
                                        <p:tgtEl>
                                          <p:spTgt spid="21"/>
                                        </p:tgtEl>
                                      </p:cBhvr>
                                    </p:animEffect>
                                  </p:childTnLst>
                                </p:cTn>
                              </p:par>
                              <p:par>
                                <p:cTn id="80" presetID="53" presetClass="entr" presetSubtype="16" fill="hold" nodeType="withEffect">
                                  <p:stCondLst>
                                    <p:cond delay="2400"/>
                                  </p:stCondLst>
                                  <p:childTnLst>
                                    <p:set>
                                      <p:cBhvr>
                                        <p:cTn id="81" dur="1" fill="hold">
                                          <p:stCondLst>
                                            <p:cond delay="0"/>
                                          </p:stCondLst>
                                        </p:cTn>
                                        <p:tgtEl>
                                          <p:spTgt spid="22"/>
                                        </p:tgtEl>
                                        <p:attrNameLst>
                                          <p:attrName>style.visibility</p:attrName>
                                        </p:attrNameLst>
                                      </p:cBhvr>
                                      <p:to>
                                        <p:strVal val="visible"/>
                                      </p:to>
                                    </p:set>
                                    <p:anim calcmode="lin" valueType="num">
                                      <p:cBhvr additive="base">
                                        <p:cTn id="82" dur="500" fill="hold"/>
                                        <p:tgtEl>
                                          <p:spTgt spid="22"/>
                                        </p:tgtEl>
                                        <p:attrNameLst>
                                          <p:attrName>ppt_w</p:attrName>
                                        </p:attrNameLst>
                                      </p:cBhvr>
                                      <p:tavLst>
                                        <p:tav tm="0">
                                          <p:val>
                                            <p:strVal val="0"/>
                                          </p:val>
                                        </p:tav>
                                        <p:tav tm="100000">
                                          <p:val>
                                            <p:strVal val="#ppt_w"/>
                                          </p:val>
                                        </p:tav>
                                      </p:tavLst>
                                    </p:anim>
                                    <p:anim calcmode="lin" valueType="num">
                                      <p:cBhvr additive="base">
                                        <p:cTn id="83" dur="500" fill="hold"/>
                                        <p:tgtEl>
                                          <p:spTgt spid="22"/>
                                        </p:tgtEl>
                                        <p:attrNameLst>
                                          <p:attrName>ppt_h</p:attrName>
                                        </p:attrNameLst>
                                      </p:cBhvr>
                                      <p:tavLst>
                                        <p:tav tm="0">
                                          <p:val>
                                            <p:strVal val="0"/>
                                          </p:val>
                                        </p:tav>
                                        <p:tav tm="100000">
                                          <p:val>
                                            <p:strVal val="#ppt_h"/>
                                          </p:val>
                                        </p:tav>
                                      </p:tavLst>
                                    </p:anim>
                                    <p:animEffect transition="in" filter="fade">
                                      <p:cBhvr>
                                        <p:cTn id="84" dur="500"/>
                                        <p:tgtEl>
                                          <p:spTgt spid="22"/>
                                        </p:tgtEl>
                                      </p:cBhvr>
                                    </p:animEffect>
                                  </p:childTnLst>
                                </p:cTn>
                              </p:par>
                              <p:par>
                                <p:cTn id="85" presetID="53" presetClass="entr" presetSubtype="16" fill="hold" nodeType="withEffect">
                                  <p:stCondLst>
                                    <p:cond delay="240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00" fill="hold"/>
                                        <p:tgtEl>
                                          <p:spTgt spid="23"/>
                                        </p:tgtEl>
                                        <p:attrNameLst>
                                          <p:attrName>ppt_w</p:attrName>
                                        </p:attrNameLst>
                                      </p:cBhvr>
                                      <p:tavLst>
                                        <p:tav tm="0">
                                          <p:val>
                                            <p:strVal val="0"/>
                                          </p:val>
                                        </p:tav>
                                        <p:tav tm="100000">
                                          <p:val>
                                            <p:strVal val="#ppt_w"/>
                                          </p:val>
                                        </p:tav>
                                      </p:tavLst>
                                    </p:anim>
                                    <p:anim calcmode="lin" valueType="num">
                                      <p:cBhvr additive="base">
                                        <p:cTn id="88" dur="500" fill="hold"/>
                                        <p:tgtEl>
                                          <p:spTgt spid="23"/>
                                        </p:tgtEl>
                                        <p:attrNameLst>
                                          <p:attrName>ppt_h</p:attrName>
                                        </p:attrNameLst>
                                      </p:cBhvr>
                                      <p:tavLst>
                                        <p:tav tm="0">
                                          <p:val>
                                            <p:strVal val="0"/>
                                          </p:val>
                                        </p:tav>
                                        <p:tav tm="100000">
                                          <p:val>
                                            <p:strVal val="#ppt_h"/>
                                          </p:val>
                                        </p:tav>
                                      </p:tavLst>
                                    </p:anim>
                                    <p:animEffect transition="in" filter="fade">
                                      <p:cBhvr>
                                        <p:cTn id="89" dur="500"/>
                                        <p:tgtEl>
                                          <p:spTgt spid="23"/>
                                        </p:tgtEl>
                                      </p:cBhvr>
                                    </p:animEffect>
                                  </p:childTnLst>
                                </p:cTn>
                              </p:par>
                              <p:par>
                                <p:cTn id="90" presetID="53" presetClass="entr" presetSubtype="16" fill="hold" nodeType="withEffect">
                                  <p:stCondLst>
                                    <p:cond delay="2400"/>
                                  </p:stCondLst>
                                  <p:childTnLst>
                                    <p:set>
                                      <p:cBhvr>
                                        <p:cTn id="91" dur="1" fill="hold">
                                          <p:stCondLst>
                                            <p:cond delay="0"/>
                                          </p:stCondLst>
                                        </p:cTn>
                                        <p:tgtEl>
                                          <p:spTgt spid="24"/>
                                        </p:tgtEl>
                                        <p:attrNameLst>
                                          <p:attrName>style.visibility</p:attrName>
                                        </p:attrNameLst>
                                      </p:cBhvr>
                                      <p:to>
                                        <p:strVal val="visible"/>
                                      </p:to>
                                    </p:set>
                                    <p:anim calcmode="lin" valueType="num">
                                      <p:cBhvr additive="base">
                                        <p:cTn id="92" dur="500" fill="hold"/>
                                        <p:tgtEl>
                                          <p:spTgt spid="24"/>
                                        </p:tgtEl>
                                        <p:attrNameLst>
                                          <p:attrName>ppt_w</p:attrName>
                                        </p:attrNameLst>
                                      </p:cBhvr>
                                      <p:tavLst>
                                        <p:tav tm="0">
                                          <p:val>
                                            <p:strVal val="0"/>
                                          </p:val>
                                        </p:tav>
                                        <p:tav tm="100000">
                                          <p:val>
                                            <p:strVal val="#ppt_w"/>
                                          </p:val>
                                        </p:tav>
                                      </p:tavLst>
                                    </p:anim>
                                    <p:anim calcmode="lin" valueType="num">
                                      <p:cBhvr additive="base">
                                        <p:cTn id="93" dur="500" fill="hold"/>
                                        <p:tgtEl>
                                          <p:spTgt spid="24"/>
                                        </p:tgtEl>
                                        <p:attrNameLst>
                                          <p:attrName>ppt_h</p:attrName>
                                        </p:attrNameLst>
                                      </p:cBhvr>
                                      <p:tavLst>
                                        <p:tav tm="0">
                                          <p:val>
                                            <p:strVal val="0"/>
                                          </p:val>
                                        </p:tav>
                                        <p:tav tm="100000">
                                          <p:val>
                                            <p:strVal val="#ppt_h"/>
                                          </p:val>
                                        </p:tav>
                                      </p:tavLst>
                                    </p:anim>
                                    <p:animEffect transition="in" filter="fade">
                                      <p:cBhvr>
                                        <p:cTn id="94" dur="500"/>
                                        <p:tgtEl>
                                          <p:spTgt spid="24"/>
                                        </p:tgtEl>
                                      </p:cBhvr>
                                    </p:animEffect>
                                  </p:childTnLst>
                                </p:cTn>
                              </p:par>
                              <p:par>
                                <p:cTn id="95" presetID="53" presetClass="entr" presetSubtype="16" fill="hold" nodeType="withEffect">
                                  <p:stCondLst>
                                    <p:cond delay="2400"/>
                                  </p:stCondLst>
                                  <p:childTnLst>
                                    <p:set>
                                      <p:cBhvr>
                                        <p:cTn id="96" dur="1" fill="hold">
                                          <p:stCondLst>
                                            <p:cond delay="0"/>
                                          </p:stCondLst>
                                        </p:cTn>
                                        <p:tgtEl>
                                          <p:spTgt spid="25"/>
                                        </p:tgtEl>
                                        <p:attrNameLst>
                                          <p:attrName>style.visibility</p:attrName>
                                        </p:attrNameLst>
                                      </p:cBhvr>
                                      <p:to>
                                        <p:strVal val="visible"/>
                                      </p:to>
                                    </p:set>
                                    <p:anim calcmode="lin" valueType="num">
                                      <p:cBhvr additive="base">
                                        <p:cTn id="97" dur="500" fill="hold"/>
                                        <p:tgtEl>
                                          <p:spTgt spid="25"/>
                                        </p:tgtEl>
                                        <p:attrNameLst>
                                          <p:attrName>ppt_w</p:attrName>
                                        </p:attrNameLst>
                                      </p:cBhvr>
                                      <p:tavLst>
                                        <p:tav tm="0">
                                          <p:val>
                                            <p:strVal val="0"/>
                                          </p:val>
                                        </p:tav>
                                        <p:tav tm="100000">
                                          <p:val>
                                            <p:strVal val="#ppt_w"/>
                                          </p:val>
                                        </p:tav>
                                      </p:tavLst>
                                    </p:anim>
                                    <p:anim calcmode="lin" valueType="num">
                                      <p:cBhvr additive="base">
                                        <p:cTn id="98" dur="500" fill="hold"/>
                                        <p:tgtEl>
                                          <p:spTgt spid="25"/>
                                        </p:tgtEl>
                                        <p:attrNameLst>
                                          <p:attrName>ppt_h</p:attrName>
                                        </p:attrNameLst>
                                      </p:cBhvr>
                                      <p:tavLst>
                                        <p:tav tm="0">
                                          <p:val>
                                            <p:strVal val="0"/>
                                          </p:val>
                                        </p:tav>
                                        <p:tav tm="100000">
                                          <p:val>
                                            <p:strVal val="#ppt_h"/>
                                          </p:val>
                                        </p:tav>
                                      </p:tavLst>
                                    </p:anim>
                                    <p:animEffect transition="in" filter="fade">
                                      <p:cBhvr>
                                        <p:cTn id="99" dur="500"/>
                                        <p:tgtEl>
                                          <p:spTgt spid="25"/>
                                        </p:tgtEl>
                                      </p:cBhvr>
                                    </p:animEffect>
                                  </p:childTnLst>
                                </p:cTn>
                              </p:par>
                              <p:par>
                                <p:cTn id="100" presetID="53" presetClass="entr" presetSubtype="16" fill="hold" nodeType="withEffect">
                                  <p:stCondLst>
                                    <p:cond delay="2400"/>
                                  </p:stCondLst>
                                  <p:childTnLst>
                                    <p:set>
                                      <p:cBhvr>
                                        <p:cTn id="101" dur="1" fill="hold">
                                          <p:stCondLst>
                                            <p:cond delay="0"/>
                                          </p:stCondLst>
                                        </p:cTn>
                                        <p:tgtEl>
                                          <p:spTgt spid="26"/>
                                        </p:tgtEl>
                                        <p:attrNameLst>
                                          <p:attrName>style.visibility</p:attrName>
                                        </p:attrNameLst>
                                      </p:cBhvr>
                                      <p:to>
                                        <p:strVal val="visible"/>
                                      </p:to>
                                    </p:set>
                                    <p:anim calcmode="lin" valueType="num">
                                      <p:cBhvr additive="base">
                                        <p:cTn id="102" dur="500" fill="hold"/>
                                        <p:tgtEl>
                                          <p:spTgt spid="26"/>
                                        </p:tgtEl>
                                        <p:attrNameLst>
                                          <p:attrName>ppt_w</p:attrName>
                                        </p:attrNameLst>
                                      </p:cBhvr>
                                      <p:tavLst>
                                        <p:tav tm="0">
                                          <p:val>
                                            <p:strVal val="0"/>
                                          </p:val>
                                        </p:tav>
                                        <p:tav tm="100000">
                                          <p:val>
                                            <p:strVal val="#ppt_w"/>
                                          </p:val>
                                        </p:tav>
                                      </p:tavLst>
                                    </p:anim>
                                    <p:anim calcmode="lin" valueType="num">
                                      <p:cBhvr additive="base">
                                        <p:cTn id="103" dur="500" fill="hold"/>
                                        <p:tgtEl>
                                          <p:spTgt spid="26"/>
                                        </p:tgtEl>
                                        <p:attrNameLst>
                                          <p:attrName>ppt_h</p:attrName>
                                        </p:attrNameLst>
                                      </p:cBhvr>
                                      <p:tavLst>
                                        <p:tav tm="0">
                                          <p:val>
                                            <p:strVal val="0"/>
                                          </p:val>
                                        </p:tav>
                                        <p:tav tm="100000">
                                          <p:val>
                                            <p:strVal val="#ppt_h"/>
                                          </p:val>
                                        </p:tav>
                                      </p:tavLst>
                                    </p:anim>
                                    <p:animEffect transition="in" filter="fade">
                                      <p:cBhvr>
                                        <p:cTn id="104" dur="500"/>
                                        <p:tgtEl>
                                          <p:spTgt spid="26"/>
                                        </p:tgtEl>
                                      </p:cBhvr>
                                    </p:animEffect>
                                  </p:childTnLst>
                                </p:cTn>
                              </p:par>
                              <p:par>
                                <p:cTn id="105" presetID="53" presetClass="entr" presetSubtype="16" fill="hold" nodeType="withEffect">
                                  <p:stCondLst>
                                    <p:cond delay="2400"/>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500" fill="hold"/>
                                        <p:tgtEl>
                                          <p:spTgt spid="27"/>
                                        </p:tgtEl>
                                        <p:attrNameLst>
                                          <p:attrName>ppt_w</p:attrName>
                                        </p:attrNameLst>
                                      </p:cBhvr>
                                      <p:tavLst>
                                        <p:tav tm="0">
                                          <p:val>
                                            <p:strVal val="0"/>
                                          </p:val>
                                        </p:tav>
                                        <p:tav tm="100000">
                                          <p:val>
                                            <p:strVal val="#ppt_w"/>
                                          </p:val>
                                        </p:tav>
                                      </p:tavLst>
                                    </p:anim>
                                    <p:anim calcmode="lin" valueType="num">
                                      <p:cBhvr additive="base">
                                        <p:cTn id="108" dur="500" fill="hold"/>
                                        <p:tgtEl>
                                          <p:spTgt spid="27"/>
                                        </p:tgtEl>
                                        <p:attrNameLst>
                                          <p:attrName>ppt_h</p:attrName>
                                        </p:attrNameLst>
                                      </p:cBhvr>
                                      <p:tavLst>
                                        <p:tav tm="0">
                                          <p:val>
                                            <p:strVal val="0"/>
                                          </p:val>
                                        </p:tav>
                                        <p:tav tm="100000">
                                          <p:val>
                                            <p:strVal val="#ppt_h"/>
                                          </p:val>
                                        </p:tav>
                                      </p:tavLst>
                                    </p:anim>
                                    <p:animEffect transition="in" filter="fade">
                                      <p:cBhvr>
                                        <p:cTn id="109" dur="500"/>
                                        <p:tgtEl>
                                          <p:spTgt spid="27"/>
                                        </p:tgtEl>
                                      </p:cBhvr>
                                    </p:animEffect>
                                  </p:childTnLst>
                                </p:cTn>
                              </p:par>
                              <p:par>
                                <p:cTn id="110" presetID="53" presetClass="entr" presetSubtype="16" fill="hold" nodeType="withEffect">
                                  <p:stCondLst>
                                    <p:cond delay="2400"/>
                                  </p:stCondLst>
                                  <p:childTnLst>
                                    <p:set>
                                      <p:cBhvr>
                                        <p:cTn id="111" dur="1" fill="hold">
                                          <p:stCondLst>
                                            <p:cond delay="0"/>
                                          </p:stCondLst>
                                        </p:cTn>
                                        <p:tgtEl>
                                          <p:spTgt spid="28"/>
                                        </p:tgtEl>
                                        <p:attrNameLst>
                                          <p:attrName>style.visibility</p:attrName>
                                        </p:attrNameLst>
                                      </p:cBhvr>
                                      <p:to>
                                        <p:strVal val="visible"/>
                                      </p:to>
                                    </p:set>
                                    <p:anim calcmode="lin" valueType="num">
                                      <p:cBhvr additive="base">
                                        <p:cTn id="112" dur="500" fill="hold"/>
                                        <p:tgtEl>
                                          <p:spTgt spid="28"/>
                                        </p:tgtEl>
                                        <p:attrNameLst>
                                          <p:attrName>ppt_w</p:attrName>
                                        </p:attrNameLst>
                                      </p:cBhvr>
                                      <p:tavLst>
                                        <p:tav tm="0">
                                          <p:val>
                                            <p:strVal val="0"/>
                                          </p:val>
                                        </p:tav>
                                        <p:tav tm="100000">
                                          <p:val>
                                            <p:strVal val="#ppt_w"/>
                                          </p:val>
                                        </p:tav>
                                      </p:tavLst>
                                    </p:anim>
                                    <p:anim calcmode="lin" valueType="num">
                                      <p:cBhvr additive="base">
                                        <p:cTn id="113" dur="500" fill="hold"/>
                                        <p:tgtEl>
                                          <p:spTgt spid="28"/>
                                        </p:tgtEl>
                                        <p:attrNameLst>
                                          <p:attrName>ppt_h</p:attrName>
                                        </p:attrNameLst>
                                      </p:cBhvr>
                                      <p:tavLst>
                                        <p:tav tm="0">
                                          <p:val>
                                            <p:strVal val="0"/>
                                          </p:val>
                                        </p:tav>
                                        <p:tav tm="100000">
                                          <p:val>
                                            <p:strVal val="#ppt_h"/>
                                          </p:val>
                                        </p:tav>
                                      </p:tavLst>
                                    </p:anim>
                                    <p:animEffect transition="in" filter="fade">
                                      <p:cBhvr>
                                        <p:cTn id="114" dur="500"/>
                                        <p:tgtEl>
                                          <p:spTgt spid="28"/>
                                        </p:tgtEl>
                                      </p:cBhvr>
                                    </p:animEffect>
                                  </p:childTnLst>
                                </p:cTn>
                              </p:par>
                              <p:par>
                                <p:cTn id="115" presetID="53" presetClass="entr" presetSubtype="16" fill="hold" nodeType="withEffect">
                                  <p:stCondLst>
                                    <p:cond delay="2400"/>
                                  </p:stCondLst>
                                  <p:childTnLst>
                                    <p:set>
                                      <p:cBhvr>
                                        <p:cTn id="116" dur="1" fill="hold">
                                          <p:stCondLst>
                                            <p:cond delay="0"/>
                                          </p:stCondLst>
                                        </p:cTn>
                                        <p:tgtEl>
                                          <p:spTgt spid="29"/>
                                        </p:tgtEl>
                                        <p:attrNameLst>
                                          <p:attrName>style.visibility</p:attrName>
                                        </p:attrNameLst>
                                      </p:cBhvr>
                                      <p:to>
                                        <p:strVal val="visible"/>
                                      </p:to>
                                    </p:set>
                                    <p:anim calcmode="lin" valueType="num">
                                      <p:cBhvr additive="base">
                                        <p:cTn id="117" dur="500" fill="hold"/>
                                        <p:tgtEl>
                                          <p:spTgt spid="29"/>
                                        </p:tgtEl>
                                        <p:attrNameLst>
                                          <p:attrName>ppt_w</p:attrName>
                                        </p:attrNameLst>
                                      </p:cBhvr>
                                      <p:tavLst>
                                        <p:tav tm="0">
                                          <p:val>
                                            <p:strVal val="0"/>
                                          </p:val>
                                        </p:tav>
                                        <p:tav tm="100000">
                                          <p:val>
                                            <p:strVal val="#ppt_w"/>
                                          </p:val>
                                        </p:tav>
                                      </p:tavLst>
                                    </p:anim>
                                    <p:anim calcmode="lin" valueType="num">
                                      <p:cBhvr additive="base">
                                        <p:cTn id="118" dur="500" fill="hold"/>
                                        <p:tgtEl>
                                          <p:spTgt spid="29"/>
                                        </p:tgtEl>
                                        <p:attrNameLst>
                                          <p:attrName>ppt_h</p:attrName>
                                        </p:attrNameLst>
                                      </p:cBhvr>
                                      <p:tavLst>
                                        <p:tav tm="0">
                                          <p:val>
                                            <p:strVal val="0"/>
                                          </p:val>
                                        </p:tav>
                                        <p:tav tm="100000">
                                          <p:val>
                                            <p:strVal val="#ppt_h"/>
                                          </p:val>
                                        </p:tav>
                                      </p:tavLst>
                                    </p:anim>
                                    <p:animEffect transition="in" filter="fade">
                                      <p:cBhvr>
                                        <p:cTn id="119" dur="500"/>
                                        <p:tgtEl>
                                          <p:spTgt spid="29"/>
                                        </p:tgtEl>
                                      </p:cBhvr>
                                    </p:animEffect>
                                  </p:childTnLst>
                                </p:cTn>
                              </p:par>
                              <p:par>
                                <p:cTn id="120" presetID="53" presetClass="entr" presetSubtype="16" fill="hold" nodeType="withEffect">
                                  <p:stCondLst>
                                    <p:cond delay="2400"/>
                                  </p:stCondLst>
                                  <p:childTnLst>
                                    <p:set>
                                      <p:cBhvr>
                                        <p:cTn id="121" dur="1" fill="hold">
                                          <p:stCondLst>
                                            <p:cond delay="0"/>
                                          </p:stCondLst>
                                        </p:cTn>
                                        <p:tgtEl>
                                          <p:spTgt spid="30"/>
                                        </p:tgtEl>
                                        <p:attrNameLst>
                                          <p:attrName>style.visibility</p:attrName>
                                        </p:attrNameLst>
                                      </p:cBhvr>
                                      <p:to>
                                        <p:strVal val="visible"/>
                                      </p:to>
                                    </p:set>
                                    <p:anim calcmode="lin" valueType="num">
                                      <p:cBhvr additive="base">
                                        <p:cTn id="122" dur="500" fill="hold"/>
                                        <p:tgtEl>
                                          <p:spTgt spid="30"/>
                                        </p:tgtEl>
                                        <p:attrNameLst>
                                          <p:attrName>ppt_w</p:attrName>
                                        </p:attrNameLst>
                                      </p:cBhvr>
                                      <p:tavLst>
                                        <p:tav tm="0">
                                          <p:val>
                                            <p:strVal val="0"/>
                                          </p:val>
                                        </p:tav>
                                        <p:tav tm="100000">
                                          <p:val>
                                            <p:strVal val="#ppt_w"/>
                                          </p:val>
                                        </p:tav>
                                      </p:tavLst>
                                    </p:anim>
                                    <p:anim calcmode="lin" valueType="num">
                                      <p:cBhvr additive="base">
                                        <p:cTn id="123" dur="500" fill="hold"/>
                                        <p:tgtEl>
                                          <p:spTgt spid="30"/>
                                        </p:tgtEl>
                                        <p:attrNameLst>
                                          <p:attrName>ppt_h</p:attrName>
                                        </p:attrNameLst>
                                      </p:cBhvr>
                                      <p:tavLst>
                                        <p:tav tm="0">
                                          <p:val>
                                            <p:strVal val="0"/>
                                          </p:val>
                                        </p:tav>
                                        <p:tav tm="100000">
                                          <p:val>
                                            <p:strVal val="#ppt_h"/>
                                          </p:val>
                                        </p:tav>
                                      </p:tavLst>
                                    </p:anim>
                                    <p:animEffect transition="in" filter="fade">
                                      <p:cBhvr>
                                        <p:cTn id="124" dur="500"/>
                                        <p:tgtEl>
                                          <p:spTgt spid="30"/>
                                        </p:tgtEl>
                                      </p:cBhvr>
                                    </p:animEffect>
                                  </p:childTnLst>
                                </p:cTn>
                              </p:par>
                              <p:par>
                                <p:cTn id="125" presetID="53" presetClass="entr" presetSubtype="16" fill="hold" nodeType="withEffect">
                                  <p:stCondLst>
                                    <p:cond delay="2400"/>
                                  </p:stCondLst>
                                  <p:childTnLst>
                                    <p:set>
                                      <p:cBhvr>
                                        <p:cTn id="126" dur="1" fill="hold">
                                          <p:stCondLst>
                                            <p:cond delay="0"/>
                                          </p:stCondLst>
                                        </p:cTn>
                                        <p:tgtEl>
                                          <p:spTgt spid="31"/>
                                        </p:tgtEl>
                                        <p:attrNameLst>
                                          <p:attrName>style.visibility</p:attrName>
                                        </p:attrNameLst>
                                      </p:cBhvr>
                                      <p:to>
                                        <p:strVal val="visible"/>
                                      </p:to>
                                    </p:set>
                                    <p:anim calcmode="lin" valueType="num">
                                      <p:cBhvr additive="base">
                                        <p:cTn id="127" dur="500" fill="hold"/>
                                        <p:tgtEl>
                                          <p:spTgt spid="31"/>
                                        </p:tgtEl>
                                        <p:attrNameLst>
                                          <p:attrName>ppt_w</p:attrName>
                                        </p:attrNameLst>
                                      </p:cBhvr>
                                      <p:tavLst>
                                        <p:tav tm="0">
                                          <p:val>
                                            <p:strVal val="0"/>
                                          </p:val>
                                        </p:tav>
                                        <p:tav tm="100000">
                                          <p:val>
                                            <p:strVal val="#ppt_w"/>
                                          </p:val>
                                        </p:tav>
                                      </p:tavLst>
                                    </p:anim>
                                    <p:anim calcmode="lin" valueType="num">
                                      <p:cBhvr additive="base">
                                        <p:cTn id="128" dur="500" fill="hold"/>
                                        <p:tgtEl>
                                          <p:spTgt spid="31"/>
                                        </p:tgtEl>
                                        <p:attrNameLst>
                                          <p:attrName>ppt_h</p:attrName>
                                        </p:attrNameLst>
                                      </p:cBhvr>
                                      <p:tavLst>
                                        <p:tav tm="0">
                                          <p:val>
                                            <p:strVal val="0"/>
                                          </p:val>
                                        </p:tav>
                                        <p:tav tm="100000">
                                          <p:val>
                                            <p:strVal val="#ppt_h"/>
                                          </p:val>
                                        </p:tav>
                                      </p:tavLst>
                                    </p:anim>
                                    <p:animEffect transition="in" filter="fade">
                                      <p:cBhvr>
                                        <p:cTn id="129" dur="500"/>
                                        <p:tgtEl>
                                          <p:spTgt spid="31"/>
                                        </p:tgtEl>
                                      </p:cBhvr>
                                    </p:animEffect>
                                  </p:childTnLst>
                                </p:cTn>
                              </p:par>
                              <p:par>
                                <p:cTn id="130" presetID="53" presetClass="entr" presetSubtype="16" fill="hold" nodeType="withEffect">
                                  <p:stCondLst>
                                    <p:cond delay="2400"/>
                                  </p:stCondLst>
                                  <p:childTnLst>
                                    <p:set>
                                      <p:cBhvr>
                                        <p:cTn id="131" dur="1" fill="hold">
                                          <p:stCondLst>
                                            <p:cond delay="0"/>
                                          </p:stCondLst>
                                        </p:cTn>
                                        <p:tgtEl>
                                          <p:spTgt spid="32"/>
                                        </p:tgtEl>
                                        <p:attrNameLst>
                                          <p:attrName>style.visibility</p:attrName>
                                        </p:attrNameLst>
                                      </p:cBhvr>
                                      <p:to>
                                        <p:strVal val="visible"/>
                                      </p:to>
                                    </p:set>
                                    <p:anim calcmode="lin" valueType="num">
                                      <p:cBhvr additive="base">
                                        <p:cTn id="132" dur="500" fill="hold"/>
                                        <p:tgtEl>
                                          <p:spTgt spid="32"/>
                                        </p:tgtEl>
                                        <p:attrNameLst>
                                          <p:attrName>ppt_w</p:attrName>
                                        </p:attrNameLst>
                                      </p:cBhvr>
                                      <p:tavLst>
                                        <p:tav tm="0">
                                          <p:val>
                                            <p:strVal val="0"/>
                                          </p:val>
                                        </p:tav>
                                        <p:tav tm="100000">
                                          <p:val>
                                            <p:strVal val="#ppt_w"/>
                                          </p:val>
                                        </p:tav>
                                      </p:tavLst>
                                    </p:anim>
                                    <p:anim calcmode="lin" valueType="num">
                                      <p:cBhvr additive="base">
                                        <p:cTn id="133" dur="500" fill="hold"/>
                                        <p:tgtEl>
                                          <p:spTgt spid="32"/>
                                        </p:tgtEl>
                                        <p:attrNameLst>
                                          <p:attrName>ppt_h</p:attrName>
                                        </p:attrNameLst>
                                      </p:cBhvr>
                                      <p:tavLst>
                                        <p:tav tm="0">
                                          <p:val>
                                            <p:strVal val="0"/>
                                          </p:val>
                                        </p:tav>
                                        <p:tav tm="100000">
                                          <p:val>
                                            <p:strVal val="#ppt_h"/>
                                          </p:val>
                                        </p:tav>
                                      </p:tavLst>
                                    </p:anim>
                                    <p:animEffect transition="in" filter="fade">
                                      <p:cBhvr>
                                        <p:cTn id="134" dur="500"/>
                                        <p:tgtEl>
                                          <p:spTgt spid="32"/>
                                        </p:tgtEl>
                                      </p:cBhvr>
                                    </p:animEffect>
                                  </p:childTnLst>
                                </p:cTn>
                              </p:par>
                              <p:par>
                                <p:cTn id="135" presetID="53" presetClass="entr" presetSubtype="16" fill="hold" nodeType="withEffect">
                                  <p:stCondLst>
                                    <p:cond delay="2400"/>
                                  </p:stCondLst>
                                  <p:childTnLst>
                                    <p:set>
                                      <p:cBhvr>
                                        <p:cTn id="136" dur="1" fill="hold">
                                          <p:stCondLst>
                                            <p:cond delay="0"/>
                                          </p:stCondLst>
                                        </p:cTn>
                                        <p:tgtEl>
                                          <p:spTgt spid="33"/>
                                        </p:tgtEl>
                                        <p:attrNameLst>
                                          <p:attrName>style.visibility</p:attrName>
                                        </p:attrNameLst>
                                      </p:cBhvr>
                                      <p:to>
                                        <p:strVal val="visible"/>
                                      </p:to>
                                    </p:set>
                                    <p:anim calcmode="lin" valueType="num">
                                      <p:cBhvr additive="base">
                                        <p:cTn id="137" dur="500" fill="hold"/>
                                        <p:tgtEl>
                                          <p:spTgt spid="33"/>
                                        </p:tgtEl>
                                        <p:attrNameLst>
                                          <p:attrName>ppt_w</p:attrName>
                                        </p:attrNameLst>
                                      </p:cBhvr>
                                      <p:tavLst>
                                        <p:tav tm="0">
                                          <p:val>
                                            <p:strVal val="0"/>
                                          </p:val>
                                        </p:tav>
                                        <p:tav tm="100000">
                                          <p:val>
                                            <p:strVal val="#ppt_w"/>
                                          </p:val>
                                        </p:tav>
                                      </p:tavLst>
                                    </p:anim>
                                    <p:anim calcmode="lin" valueType="num">
                                      <p:cBhvr additive="base">
                                        <p:cTn id="138" dur="500" fill="hold"/>
                                        <p:tgtEl>
                                          <p:spTgt spid="33"/>
                                        </p:tgtEl>
                                        <p:attrNameLst>
                                          <p:attrName>ppt_h</p:attrName>
                                        </p:attrNameLst>
                                      </p:cBhvr>
                                      <p:tavLst>
                                        <p:tav tm="0">
                                          <p:val>
                                            <p:strVal val="0"/>
                                          </p:val>
                                        </p:tav>
                                        <p:tav tm="100000">
                                          <p:val>
                                            <p:strVal val="#ppt_h"/>
                                          </p:val>
                                        </p:tav>
                                      </p:tavLst>
                                    </p:anim>
                                    <p:animEffect transition="in" filter="fade">
                                      <p:cBhvr>
                                        <p:cTn id="139" dur="500"/>
                                        <p:tgtEl>
                                          <p:spTgt spid="33"/>
                                        </p:tgtEl>
                                      </p:cBhvr>
                                    </p:animEffect>
                                  </p:childTnLst>
                                </p:cTn>
                              </p:par>
                              <p:par>
                                <p:cTn id="140" presetID="53" presetClass="entr" presetSubtype="16" fill="hold" nodeType="withEffect">
                                  <p:stCondLst>
                                    <p:cond delay="2400"/>
                                  </p:stCondLst>
                                  <p:childTnLst>
                                    <p:set>
                                      <p:cBhvr>
                                        <p:cTn id="141" dur="1" fill="hold">
                                          <p:stCondLst>
                                            <p:cond delay="0"/>
                                          </p:stCondLst>
                                        </p:cTn>
                                        <p:tgtEl>
                                          <p:spTgt spid="34"/>
                                        </p:tgtEl>
                                        <p:attrNameLst>
                                          <p:attrName>style.visibility</p:attrName>
                                        </p:attrNameLst>
                                      </p:cBhvr>
                                      <p:to>
                                        <p:strVal val="visible"/>
                                      </p:to>
                                    </p:set>
                                    <p:anim calcmode="lin" valueType="num">
                                      <p:cBhvr additive="base">
                                        <p:cTn id="142" dur="500" fill="hold"/>
                                        <p:tgtEl>
                                          <p:spTgt spid="34"/>
                                        </p:tgtEl>
                                        <p:attrNameLst>
                                          <p:attrName>ppt_w</p:attrName>
                                        </p:attrNameLst>
                                      </p:cBhvr>
                                      <p:tavLst>
                                        <p:tav tm="0">
                                          <p:val>
                                            <p:strVal val="0"/>
                                          </p:val>
                                        </p:tav>
                                        <p:tav tm="100000">
                                          <p:val>
                                            <p:strVal val="#ppt_w"/>
                                          </p:val>
                                        </p:tav>
                                      </p:tavLst>
                                    </p:anim>
                                    <p:anim calcmode="lin" valueType="num">
                                      <p:cBhvr additive="base">
                                        <p:cTn id="143" dur="500" fill="hold"/>
                                        <p:tgtEl>
                                          <p:spTgt spid="34"/>
                                        </p:tgtEl>
                                        <p:attrNameLst>
                                          <p:attrName>ppt_h</p:attrName>
                                        </p:attrNameLst>
                                      </p:cBhvr>
                                      <p:tavLst>
                                        <p:tav tm="0">
                                          <p:val>
                                            <p:strVal val="0"/>
                                          </p:val>
                                        </p:tav>
                                        <p:tav tm="100000">
                                          <p:val>
                                            <p:strVal val="#ppt_h"/>
                                          </p:val>
                                        </p:tav>
                                      </p:tavLst>
                                    </p:anim>
                                    <p:animEffect transition="in" filter="fade">
                                      <p:cBhvr>
                                        <p:cTn id="144" dur="500"/>
                                        <p:tgtEl>
                                          <p:spTgt spid="34"/>
                                        </p:tgtEl>
                                      </p:cBhvr>
                                    </p:animEffect>
                                  </p:childTnLst>
                                </p:cTn>
                              </p:par>
                              <p:par>
                                <p:cTn id="145" presetID="53" presetClass="entr" presetSubtype="16" fill="hold" nodeType="withEffect">
                                  <p:stCondLst>
                                    <p:cond delay="2400"/>
                                  </p:stCondLst>
                                  <p:childTnLst>
                                    <p:set>
                                      <p:cBhvr>
                                        <p:cTn id="146" dur="1" fill="hold">
                                          <p:stCondLst>
                                            <p:cond delay="0"/>
                                          </p:stCondLst>
                                        </p:cTn>
                                        <p:tgtEl>
                                          <p:spTgt spid="35"/>
                                        </p:tgtEl>
                                        <p:attrNameLst>
                                          <p:attrName>style.visibility</p:attrName>
                                        </p:attrNameLst>
                                      </p:cBhvr>
                                      <p:to>
                                        <p:strVal val="visible"/>
                                      </p:to>
                                    </p:set>
                                    <p:anim calcmode="lin" valueType="num">
                                      <p:cBhvr additive="base">
                                        <p:cTn id="147" dur="500" fill="hold"/>
                                        <p:tgtEl>
                                          <p:spTgt spid="35"/>
                                        </p:tgtEl>
                                        <p:attrNameLst>
                                          <p:attrName>ppt_w</p:attrName>
                                        </p:attrNameLst>
                                      </p:cBhvr>
                                      <p:tavLst>
                                        <p:tav tm="0">
                                          <p:val>
                                            <p:strVal val="0"/>
                                          </p:val>
                                        </p:tav>
                                        <p:tav tm="100000">
                                          <p:val>
                                            <p:strVal val="#ppt_w"/>
                                          </p:val>
                                        </p:tav>
                                      </p:tavLst>
                                    </p:anim>
                                    <p:anim calcmode="lin" valueType="num">
                                      <p:cBhvr additive="base">
                                        <p:cTn id="148" dur="500" fill="hold"/>
                                        <p:tgtEl>
                                          <p:spTgt spid="35"/>
                                        </p:tgtEl>
                                        <p:attrNameLst>
                                          <p:attrName>ppt_h</p:attrName>
                                        </p:attrNameLst>
                                      </p:cBhvr>
                                      <p:tavLst>
                                        <p:tav tm="0">
                                          <p:val>
                                            <p:strVal val="0"/>
                                          </p:val>
                                        </p:tav>
                                        <p:tav tm="100000">
                                          <p:val>
                                            <p:strVal val="#ppt_h"/>
                                          </p:val>
                                        </p:tav>
                                      </p:tavLst>
                                    </p:anim>
                                    <p:animEffect transition="in" filter="fade">
                                      <p:cBhvr>
                                        <p:cTn id="149" dur="500"/>
                                        <p:tgtEl>
                                          <p:spTgt spid="35"/>
                                        </p:tgtEl>
                                      </p:cBhvr>
                                    </p:animEffect>
                                  </p:childTnLst>
                                </p:cTn>
                              </p:par>
                              <p:par>
                                <p:cTn id="150" presetID="53" presetClass="entr" presetSubtype="16" fill="hold" nodeType="withEffect">
                                  <p:stCondLst>
                                    <p:cond delay="2400"/>
                                  </p:stCondLst>
                                  <p:childTnLst>
                                    <p:set>
                                      <p:cBhvr>
                                        <p:cTn id="151" dur="1" fill="hold">
                                          <p:stCondLst>
                                            <p:cond delay="0"/>
                                          </p:stCondLst>
                                        </p:cTn>
                                        <p:tgtEl>
                                          <p:spTgt spid="36"/>
                                        </p:tgtEl>
                                        <p:attrNameLst>
                                          <p:attrName>style.visibility</p:attrName>
                                        </p:attrNameLst>
                                      </p:cBhvr>
                                      <p:to>
                                        <p:strVal val="visible"/>
                                      </p:to>
                                    </p:set>
                                    <p:anim calcmode="lin" valueType="num">
                                      <p:cBhvr additive="base">
                                        <p:cTn id="152" dur="500" fill="hold"/>
                                        <p:tgtEl>
                                          <p:spTgt spid="36"/>
                                        </p:tgtEl>
                                        <p:attrNameLst>
                                          <p:attrName>ppt_w</p:attrName>
                                        </p:attrNameLst>
                                      </p:cBhvr>
                                      <p:tavLst>
                                        <p:tav tm="0">
                                          <p:val>
                                            <p:strVal val="0"/>
                                          </p:val>
                                        </p:tav>
                                        <p:tav tm="100000">
                                          <p:val>
                                            <p:strVal val="#ppt_w"/>
                                          </p:val>
                                        </p:tav>
                                      </p:tavLst>
                                    </p:anim>
                                    <p:anim calcmode="lin" valueType="num">
                                      <p:cBhvr additive="base">
                                        <p:cTn id="153" dur="500" fill="hold"/>
                                        <p:tgtEl>
                                          <p:spTgt spid="36"/>
                                        </p:tgtEl>
                                        <p:attrNameLst>
                                          <p:attrName>ppt_h</p:attrName>
                                        </p:attrNameLst>
                                      </p:cBhvr>
                                      <p:tavLst>
                                        <p:tav tm="0">
                                          <p:val>
                                            <p:strVal val="0"/>
                                          </p:val>
                                        </p:tav>
                                        <p:tav tm="100000">
                                          <p:val>
                                            <p:strVal val="#ppt_h"/>
                                          </p:val>
                                        </p:tav>
                                      </p:tavLst>
                                    </p:anim>
                                    <p:animEffect transition="in" filter="fade">
                                      <p:cBhvr>
                                        <p:cTn id="154" dur="500"/>
                                        <p:tgtEl>
                                          <p:spTgt spid="36"/>
                                        </p:tgtEl>
                                      </p:cBhvr>
                                    </p:animEffect>
                                  </p:childTnLst>
                                </p:cTn>
                              </p:par>
                              <p:par>
                                <p:cTn id="155" presetID="53" presetClass="entr" presetSubtype="16" fill="hold" nodeType="withEffect">
                                  <p:stCondLst>
                                    <p:cond delay="2400"/>
                                  </p:stCondLst>
                                  <p:childTnLst>
                                    <p:set>
                                      <p:cBhvr>
                                        <p:cTn id="156" dur="1" fill="hold">
                                          <p:stCondLst>
                                            <p:cond delay="0"/>
                                          </p:stCondLst>
                                        </p:cTn>
                                        <p:tgtEl>
                                          <p:spTgt spid="37"/>
                                        </p:tgtEl>
                                        <p:attrNameLst>
                                          <p:attrName>style.visibility</p:attrName>
                                        </p:attrNameLst>
                                      </p:cBhvr>
                                      <p:to>
                                        <p:strVal val="visible"/>
                                      </p:to>
                                    </p:set>
                                    <p:anim calcmode="lin" valueType="num">
                                      <p:cBhvr additive="base">
                                        <p:cTn id="157" dur="500" fill="hold"/>
                                        <p:tgtEl>
                                          <p:spTgt spid="37"/>
                                        </p:tgtEl>
                                        <p:attrNameLst>
                                          <p:attrName>ppt_w</p:attrName>
                                        </p:attrNameLst>
                                      </p:cBhvr>
                                      <p:tavLst>
                                        <p:tav tm="0">
                                          <p:val>
                                            <p:strVal val="0"/>
                                          </p:val>
                                        </p:tav>
                                        <p:tav tm="100000">
                                          <p:val>
                                            <p:strVal val="#ppt_w"/>
                                          </p:val>
                                        </p:tav>
                                      </p:tavLst>
                                    </p:anim>
                                    <p:anim calcmode="lin" valueType="num">
                                      <p:cBhvr additive="base">
                                        <p:cTn id="158" dur="500" fill="hold"/>
                                        <p:tgtEl>
                                          <p:spTgt spid="37"/>
                                        </p:tgtEl>
                                        <p:attrNameLst>
                                          <p:attrName>ppt_h</p:attrName>
                                        </p:attrNameLst>
                                      </p:cBhvr>
                                      <p:tavLst>
                                        <p:tav tm="0">
                                          <p:val>
                                            <p:strVal val="0"/>
                                          </p:val>
                                        </p:tav>
                                        <p:tav tm="100000">
                                          <p:val>
                                            <p:strVal val="#ppt_h"/>
                                          </p:val>
                                        </p:tav>
                                      </p:tavLst>
                                    </p:anim>
                                    <p:animEffect transition="in" filter="fade">
                                      <p:cBhvr>
                                        <p:cTn id="159" dur="500"/>
                                        <p:tgtEl>
                                          <p:spTgt spid="37"/>
                                        </p:tgtEl>
                                      </p:cBhvr>
                                    </p:animEffect>
                                  </p:childTnLst>
                                </p:cTn>
                              </p:par>
                              <p:par>
                                <p:cTn id="160" presetID="53" presetClass="entr" presetSubtype="16" fill="hold" nodeType="withEffect">
                                  <p:stCondLst>
                                    <p:cond delay="2400"/>
                                  </p:stCondLst>
                                  <p:childTnLst>
                                    <p:set>
                                      <p:cBhvr>
                                        <p:cTn id="161" dur="1" fill="hold">
                                          <p:stCondLst>
                                            <p:cond delay="0"/>
                                          </p:stCondLst>
                                        </p:cTn>
                                        <p:tgtEl>
                                          <p:spTgt spid="38"/>
                                        </p:tgtEl>
                                        <p:attrNameLst>
                                          <p:attrName>style.visibility</p:attrName>
                                        </p:attrNameLst>
                                      </p:cBhvr>
                                      <p:to>
                                        <p:strVal val="visible"/>
                                      </p:to>
                                    </p:set>
                                    <p:anim calcmode="lin" valueType="num">
                                      <p:cBhvr additive="base">
                                        <p:cTn id="162" dur="500" fill="hold"/>
                                        <p:tgtEl>
                                          <p:spTgt spid="38"/>
                                        </p:tgtEl>
                                        <p:attrNameLst>
                                          <p:attrName>ppt_w</p:attrName>
                                        </p:attrNameLst>
                                      </p:cBhvr>
                                      <p:tavLst>
                                        <p:tav tm="0">
                                          <p:val>
                                            <p:strVal val="0"/>
                                          </p:val>
                                        </p:tav>
                                        <p:tav tm="100000">
                                          <p:val>
                                            <p:strVal val="#ppt_w"/>
                                          </p:val>
                                        </p:tav>
                                      </p:tavLst>
                                    </p:anim>
                                    <p:anim calcmode="lin" valueType="num">
                                      <p:cBhvr additive="base">
                                        <p:cTn id="163" dur="500" fill="hold"/>
                                        <p:tgtEl>
                                          <p:spTgt spid="38"/>
                                        </p:tgtEl>
                                        <p:attrNameLst>
                                          <p:attrName>ppt_h</p:attrName>
                                        </p:attrNameLst>
                                      </p:cBhvr>
                                      <p:tavLst>
                                        <p:tav tm="0">
                                          <p:val>
                                            <p:strVal val="0"/>
                                          </p:val>
                                        </p:tav>
                                        <p:tav tm="100000">
                                          <p:val>
                                            <p:strVal val="#ppt_h"/>
                                          </p:val>
                                        </p:tav>
                                      </p:tavLst>
                                    </p:anim>
                                    <p:animEffect transition="in" filter="fade">
                                      <p:cBhvr>
                                        <p:cTn id="164" dur="500"/>
                                        <p:tgtEl>
                                          <p:spTgt spid="38"/>
                                        </p:tgtEl>
                                      </p:cBhvr>
                                    </p:animEffect>
                                  </p:childTnLst>
                                </p:cTn>
                              </p:par>
                              <p:par>
                                <p:cTn id="165" presetID="53" presetClass="entr" presetSubtype="16" fill="hold" nodeType="withEffect">
                                  <p:stCondLst>
                                    <p:cond delay="2400"/>
                                  </p:stCondLst>
                                  <p:childTnLst>
                                    <p:set>
                                      <p:cBhvr>
                                        <p:cTn id="166" dur="1" fill="hold">
                                          <p:stCondLst>
                                            <p:cond delay="0"/>
                                          </p:stCondLst>
                                        </p:cTn>
                                        <p:tgtEl>
                                          <p:spTgt spid="39"/>
                                        </p:tgtEl>
                                        <p:attrNameLst>
                                          <p:attrName>style.visibility</p:attrName>
                                        </p:attrNameLst>
                                      </p:cBhvr>
                                      <p:to>
                                        <p:strVal val="visible"/>
                                      </p:to>
                                    </p:set>
                                    <p:anim calcmode="lin" valueType="num">
                                      <p:cBhvr additive="base">
                                        <p:cTn id="167" dur="500" fill="hold"/>
                                        <p:tgtEl>
                                          <p:spTgt spid="39"/>
                                        </p:tgtEl>
                                        <p:attrNameLst>
                                          <p:attrName>ppt_w</p:attrName>
                                        </p:attrNameLst>
                                      </p:cBhvr>
                                      <p:tavLst>
                                        <p:tav tm="0">
                                          <p:val>
                                            <p:strVal val="0"/>
                                          </p:val>
                                        </p:tav>
                                        <p:tav tm="100000">
                                          <p:val>
                                            <p:strVal val="#ppt_w"/>
                                          </p:val>
                                        </p:tav>
                                      </p:tavLst>
                                    </p:anim>
                                    <p:anim calcmode="lin" valueType="num">
                                      <p:cBhvr additive="base">
                                        <p:cTn id="168" dur="500" fill="hold"/>
                                        <p:tgtEl>
                                          <p:spTgt spid="39"/>
                                        </p:tgtEl>
                                        <p:attrNameLst>
                                          <p:attrName>ppt_h</p:attrName>
                                        </p:attrNameLst>
                                      </p:cBhvr>
                                      <p:tavLst>
                                        <p:tav tm="0">
                                          <p:val>
                                            <p:strVal val="0"/>
                                          </p:val>
                                        </p:tav>
                                        <p:tav tm="100000">
                                          <p:val>
                                            <p:strVal val="#ppt_h"/>
                                          </p:val>
                                        </p:tav>
                                      </p:tavLst>
                                    </p:anim>
                                    <p:animEffect transition="in" filter="fade">
                                      <p:cBhvr>
                                        <p:cTn id="169" dur="500"/>
                                        <p:tgtEl>
                                          <p:spTgt spid="39"/>
                                        </p:tgtEl>
                                      </p:cBhvr>
                                    </p:animEffect>
                                  </p:childTnLst>
                                </p:cTn>
                              </p:par>
                              <p:par>
                                <p:cTn id="170" presetID="53" presetClass="entr" presetSubtype="16" fill="hold" nodeType="withEffect">
                                  <p:stCondLst>
                                    <p:cond delay="2400"/>
                                  </p:stCondLst>
                                  <p:childTnLst>
                                    <p:set>
                                      <p:cBhvr>
                                        <p:cTn id="171" dur="1" fill="hold">
                                          <p:stCondLst>
                                            <p:cond delay="0"/>
                                          </p:stCondLst>
                                        </p:cTn>
                                        <p:tgtEl>
                                          <p:spTgt spid="40"/>
                                        </p:tgtEl>
                                        <p:attrNameLst>
                                          <p:attrName>style.visibility</p:attrName>
                                        </p:attrNameLst>
                                      </p:cBhvr>
                                      <p:to>
                                        <p:strVal val="visible"/>
                                      </p:to>
                                    </p:set>
                                    <p:anim calcmode="lin" valueType="num">
                                      <p:cBhvr additive="base">
                                        <p:cTn id="172" dur="500" fill="hold"/>
                                        <p:tgtEl>
                                          <p:spTgt spid="40"/>
                                        </p:tgtEl>
                                        <p:attrNameLst>
                                          <p:attrName>ppt_w</p:attrName>
                                        </p:attrNameLst>
                                      </p:cBhvr>
                                      <p:tavLst>
                                        <p:tav tm="0">
                                          <p:val>
                                            <p:strVal val="0"/>
                                          </p:val>
                                        </p:tav>
                                        <p:tav tm="100000">
                                          <p:val>
                                            <p:strVal val="#ppt_w"/>
                                          </p:val>
                                        </p:tav>
                                      </p:tavLst>
                                    </p:anim>
                                    <p:anim calcmode="lin" valueType="num">
                                      <p:cBhvr additive="base">
                                        <p:cTn id="173" dur="500" fill="hold"/>
                                        <p:tgtEl>
                                          <p:spTgt spid="40"/>
                                        </p:tgtEl>
                                        <p:attrNameLst>
                                          <p:attrName>ppt_h</p:attrName>
                                        </p:attrNameLst>
                                      </p:cBhvr>
                                      <p:tavLst>
                                        <p:tav tm="0">
                                          <p:val>
                                            <p:strVal val="0"/>
                                          </p:val>
                                        </p:tav>
                                        <p:tav tm="100000">
                                          <p:val>
                                            <p:strVal val="#ppt_h"/>
                                          </p:val>
                                        </p:tav>
                                      </p:tavLst>
                                    </p:anim>
                                    <p:animEffect transition="in" filter="fade">
                                      <p:cBhvr>
                                        <p:cTn id="174" dur="500"/>
                                        <p:tgtEl>
                                          <p:spTgt spid="40"/>
                                        </p:tgtEl>
                                      </p:cBhvr>
                                    </p:animEffect>
                                  </p:childTnLst>
                                </p:cTn>
                              </p:par>
                              <p:par>
                                <p:cTn id="175" presetID="53" presetClass="entr" presetSubtype="16" fill="hold" nodeType="withEffect">
                                  <p:stCondLst>
                                    <p:cond delay="2400"/>
                                  </p:stCondLst>
                                  <p:childTnLst>
                                    <p:set>
                                      <p:cBhvr>
                                        <p:cTn id="176" dur="1" fill="hold">
                                          <p:stCondLst>
                                            <p:cond delay="0"/>
                                          </p:stCondLst>
                                        </p:cTn>
                                        <p:tgtEl>
                                          <p:spTgt spid="41"/>
                                        </p:tgtEl>
                                        <p:attrNameLst>
                                          <p:attrName>style.visibility</p:attrName>
                                        </p:attrNameLst>
                                      </p:cBhvr>
                                      <p:to>
                                        <p:strVal val="visible"/>
                                      </p:to>
                                    </p:set>
                                    <p:anim calcmode="lin" valueType="num">
                                      <p:cBhvr additive="base">
                                        <p:cTn id="177" dur="500" fill="hold"/>
                                        <p:tgtEl>
                                          <p:spTgt spid="41"/>
                                        </p:tgtEl>
                                        <p:attrNameLst>
                                          <p:attrName>ppt_w</p:attrName>
                                        </p:attrNameLst>
                                      </p:cBhvr>
                                      <p:tavLst>
                                        <p:tav tm="0">
                                          <p:val>
                                            <p:strVal val="0"/>
                                          </p:val>
                                        </p:tav>
                                        <p:tav tm="100000">
                                          <p:val>
                                            <p:strVal val="#ppt_w"/>
                                          </p:val>
                                        </p:tav>
                                      </p:tavLst>
                                    </p:anim>
                                    <p:anim calcmode="lin" valueType="num">
                                      <p:cBhvr additive="base">
                                        <p:cTn id="178" dur="500" fill="hold"/>
                                        <p:tgtEl>
                                          <p:spTgt spid="41"/>
                                        </p:tgtEl>
                                        <p:attrNameLst>
                                          <p:attrName>ppt_h</p:attrName>
                                        </p:attrNameLst>
                                      </p:cBhvr>
                                      <p:tavLst>
                                        <p:tav tm="0">
                                          <p:val>
                                            <p:strVal val="0"/>
                                          </p:val>
                                        </p:tav>
                                        <p:tav tm="100000">
                                          <p:val>
                                            <p:strVal val="#ppt_h"/>
                                          </p:val>
                                        </p:tav>
                                      </p:tavLst>
                                    </p:anim>
                                    <p:animEffect transition="in" filter="fade">
                                      <p:cBhvr>
                                        <p:cTn id="179" dur="500"/>
                                        <p:tgtEl>
                                          <p:spTgt spid="41"/>
                                        </p:tgtEl>
                                      </p:cBhvr>
                                    </p:animEffect>
                                  </p:childTnLst>
                                </p:cTn>
                              </p:par>
                              <p:par>
                                <p:cTn id="180" presetID="53" presetClass="entr" presetSubtype="16" fill="hold" nodeType="withEffect">
                                  <p:stCondLst>
                                    <p:cond delay="2400"/>
                                  </p:stCondLst>
                                  <p:childTnLst>
                                    <p:set>
                                      <p:cBhvr>
                                        <p:cTn id="181" dur="1" fill="hold">
                                          <p:stCondLst>
                                            <p:cond delay="0"/>
                                          </p:stCondLst>
                                        </p:cTn>
                                        <p:tgtEl>
                                          <p:spTgt spid="42"/>
                                        </p:tgtEl>
                                        <p:attrNameLst>
                                          <p:attrName>style.visibility</p:attrName>
                                        </p:attrNameLst>
                                      </p:cBhvr>
                                      <p:to>
                                        <p:strVal val="visible"/>
                                      </p:to>
                                    </p:set>
                                    <p:anim calcmode="lin" valueType="num">
                                      <p:cBhvr additive="base">
                                        <p:cTn id="182" dur="500" fill="hold"/>
                                        <p:tgtEl>
                                          <p:spTgt spid="42"/>
                                        </p:tgtEl>
                                        <p:attrNameLst>
                                          <p:attrName>ppt_w</p:attrName>
                                        </p:attrNameLst>
                                      </p:cBhvr>
                                      <p:tavLst>
                                        <p:tav tm="0">
                                          <p:val>
                                            <p:strVal val="0"/>
                                          </p:val>
                                        </p:tav>
                                        <p:tav tm="100000">
                                          <p:val>
                                            <p:strVal val="#ppt_w"/>
                                          </p:val>
                                        </p:tav>
                                      </p:tavLst>
                                    </p:anim>
                                    <p:anim calcmode="lin" valueType="num">
                                      <p:cBhvr additive="base">
                                        <p:cTn id="183" dur="500" fill="hold"/>
                                        <p:tgtEl>
                                          <p:spTgt spid="42"/>
                                        </p:tgtEl>
                                        <p:attrNameLst>
                                          <p:attrName>ppt_h</p:attrName>
                                        </p:attrNameLst>
                                      </p:cBhvr>
                                      <p:tavLst>
                                        <p:tav tm="0">
                                          <p:val>
                                            <p:strVal val="0"/>
                                          </p:val>
                                        </p:tav>
                                        <p:tav tm="100000">
                                          <p:val>
                                            <p:strVal val="#ppt_h"/>
                                          </p:val>
                                        </p:tav>
                                      </p:tavLst>
                                    </p:anim>
                                    <p:animEffect transition="in" filter="fade">
                                      <p:cBhvr>
                                        <p:cTn id="184" dur="500"/>
                                        <p:tgtEl>
                                          <p:spTgt spid="42"/>
                                        </p:tgtEl>
                                      </p:cBhvr>
                                    </p:animEffect>
                                  </p:childTnLst>
                                </p:cTn>
                              </p:par>
                              <p:par>
                                <p:cTn id="185" presetID="53" presetClass="entr" presetSubtype="16" fill="hold" nodeType="withEffect">
                                  <p:stCondLst>
                                    <p:cond delay="2400"/>
                                  </p:stCondLst>
                                  <p:childTnLst>
                                    <p:set>
                                      <p:cBhvr>
                                        <p:cTn id="186" dur="1" fill="hold">
                                          <p:stCondLst>
                                            <p:cond delay="0"/>
                                          </p:stCondLst>
                                        </p:cTn>
                                        <p:tgtEl>
                                          <p:spTgt spid="43"/>
                                        </p:tgtEl>
                                        <p:attrNameLst>
                                          <p:attrName>style.visibility</p:attrName>
                                        </p:attrNameLst>
                                      </p:cBhvr>
                                      <p:to>
                                        <p:strVal val="visible"/>
                                      </p:to>
                                    </p:set>
                                    <p:anim calcmode="lin" valueType="num">
                                      <p:cBhvr additive="base">
                                        <p:cTn id="187" dur="500" fill="hold"/>
                                        <p:tgtEl>
                                          <p:spTgt spid="43"/>
                                        </p:tgtEl>
                                        <p:attrNameLst>
                                          <p:attrName>ppt_w</p:attrName>
                                        </p:attrNameLst>
                                      </p:cBhvr>
                                      <p:tavLst>
                                        <p:tav tm="0">
                                          <p:val>
                                            <p:strVal val="0"/>
                                          </p:val>
                                        </p:tav>
                                        <p:tav tm="100000">
                                          <p:val>
                                            <p:strVal val="#ppt_w"/>
                                          </p:val>
                                        </p:tav>
                                      </p:tavLst>
                                    </p:anim>
                                    <p:anim calcmode="lin" valueType="num">
                                      <p:cBhvr additive="base">
                                        <p:cTn id="188" dur="500" fill="hold"/>
                                        <p:tgtEl>
                                          <p:spTgt spid="43"/>
                                        </p:tgtEl>
                                        <p:attrNameLst>
                                          <p:attrName>ppt_h</p:attrName>
                                        </p:attrNameLst>
                                      </p:cBhvr>
                                      <p:tavLst>
                                        <p:tav tm="0">
                                          <p:val>
                                            <p:strVal val="0"/>
                                          </p:val>
                                        </p:tav>
                                        <p:tav tm="100000">
                                          <p:val>
                                            <p:strVal val="#ppt_h"/>
                                          </p:val>
                                        </p:tav>
                                      </p:tavLst>
                                    </p:anim>
                                    <p:animEffect transition="in" filter="fade">
                                      <p:cBhvr>
                                        <p:cTn id="189" dur="500"/>
                                        <p:tgtEl>
                                          <p:spTgt spid="43"/>
                                        </p:tgtEl>
                                      </p:cBhvr>
                                    </p:animEffect>
                                  </p:childTnLst>
                                </p:cTn>
                              </p:par>
                              <p:par>
                                <p:cTn id="190" presetID="10" presetClass="entr" presetSubtype="0" fill="hold" nodeType="withEffect">
                                  <p:stCondLst>
                                    <p:cond delay="2900"/>
                                  </p:stCondLst>
                                  <p:childTnLst>
                                    <p:set>
                                      <p:cBhvr>
                                        <p:cTn id="191" dur="1" fill="hold">
                                          <p:stCondLst>
                                            <p:cond delay="0"/>
                                          </p:stCondLst>
                                        </p:cTn>
                                        <p:tgtEl>
                                          <p:spTgt spid="44"/>
                                        </p:tgtEl>
                                        <p:attrNameLst>
                                          <p:attrName>style.visibility</p:attrName>
                                        </p:attrNameLst>
                                      </p:cBhvr>
                                      <p:to>
                                        <p:strVal val="visible"/>
                                      </p:to>
                                    </p:set>
                                    <p:animEffect transition="in" filter="fade">
                                      <p:cBhvr>
                                        <p:cTn id="19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13  ·  MODEL EVALUATION</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Measured on 423,042 held-out transactions</a:t>
            </a:r>
            <a:endParaRPr lang="en-US" sz="3400" dirty="0"/>
          </a:p>
        </p:txBody>
      </p:sp>
      <p:sp>
        <p:nvSpPr>
          <p:cNvPr id="5" name="ds0__1"/>
          <p:cNvSpPr/>
          <p:nvPr/>
        </p:nvSpPr>
        <p:spPr>
          <a:xfrm>
            <a:off x="548640" y="1627632"/>
            <a:ext cx="2606040" cy="914400"/>
          </a:xfrm>
          <a:prstGeom prst="roundRect">
            <a:avLst>
              <a:gd name="adj" fmla="val 120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ds0__2"/>
          <p:cNvSpPr txBox="1"/>
          <p:nvPr/>
        </p:nvSpPr>
        <p:spPr>
          <a:xfrm>
            <a:off x="749808" y="1664208"/>
            <a:ext cx="2286000" cy="502920"/>
          </a:xfrm>
          <a:prstGeom prst="rect">
            <a:avLst/>
          </a:prstGeom>
          <a:noFill/>
          <a:ln/>
        </p:spPr>
        <p:txBody>
          <a:bodyPr wrap="square" lIns="0" tIns="0" rIns="0" bIns="0" rtlCol="0" anchor="ctr"/>
          <a:lstStyle/>
          <a:p>
            <a:pPr indent="0" marL="0">
              <a:buNone/>
            </a:pPr>
            <a:r>
              <a:rPr lang="en-US" sz="2600" b="1" dirty="0">
                <a:solidFill>
                  <a:srgbClr val="38BDF8"/>
                </a:solidFill>
                <a:latin typeface="Arial" pitchFamily="34" charset="0"/>
                <a:ea typeface="Arial" pitchFamily="34" charset="-122"/>
                <a:cs typeface="Arial" pitchFamily="34" charset="-120"/>
              </a:rPr>
              <a:t>423,042</a:t>
            </a:r>
            <a:endParaRPr lang="en-US" sz="2600" dirty="0"/>
          </a:p>
        </p:txBody>
      </p:sp>
      <p:sp>
        <p:nvSpPr>
          <p:cNvPr id="7" name="ds0__3"/>
          <p:cNvSpPr txBox="1"/>
          <p:nvPr/>
        </p:nvSpPr>
        <p:spPr>
          <a:xfrm>
            <a:off x="749808" y="2157984"/>
            <a:ext cx="2286000" cy="292608"/>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labelled transactions</a:t>
            </a:r>
            <a:endParaRPr lang="en-US" sz="1200" dirty="0"/>
          </a:p>
        </p:txBody>
      </p:sp>
      <p:sp>
        <p:nvSpPr>
          <p:cNvPr id="8" name="ds1__1"/>
          <p:cNvSpPr/>
          <p:nvPr/>
        </p:nvSpPr>
        <p:spPr>
          <a:xfrm>
            <a:off x="3376879" y="1627632"/>
            <a:ext cx="2606040" cy="914400"/>
          </a:xfrm>
          <a:prstGeom prst="roundRect">
            <a:avLst>
              <a:gd name="adj" fmla="val 120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9" name="ds1__2"/>
          <p:cNvSpPr txBox="1"/>
          <p:nvPr/>
        </p:nvSpPr>
        <p:spPr>
          <a:xfrm>
            <a:off x="3578047" y="1664208"/>
            <a:ext cx="2286000" cy="502920"/>
          </a:xfrm>
          <a:prstGeom prst="rect">
            <a:avLst/>
          </a:prstGeom>
          <a:noFill/>
          <a:ln/>
        </p:spPr>
        <p:txBody>
          <a:bodyPr wrap="square" lIns="0" tIns="0" rIns="0" bIns="0" rtlCol="0" anchor="ctr"/>
          <a:lstStyle/>
          <a:p>
            <a:pPr indent="0" marL="0">
              <a:buNone/>
            </a:pPr>
            <a:r>
              <a:rPr lang="en-US" sz="2600" b="1" dirty="0">
                <a:solidFill>
                  <a:srgbClr val="38BDF8"/>
                </a:solidFill>
                <a:latin typeface="Arial" pitchFamily="34" charset="0"/>
                <a:ea typeface="Arial" pitchFamily="34" charset="-122"/>
                <a:cs typeface="Arial" pitchFamily="34" charset="-120"/>
              </a:rPr>
              <a:t>39,490</a:t>
            </a:r>
            <a:endParaRPr lang="en-US" sz="2600" dirty="0"/>
          </a:p>
        </p:txBody>
      </p:sp>
      <p:sp>
        <p:nvSpPr>
          <p:cNvPr id="10" name="ds1__3"/>
          <p:cNvSpPr txBox="1"/>
          <p:nvPr/>
        </p:nvSpPr>
        <p:spPr>
          <a:xfrm>
            <a:off x="3578047" y="2157984"/>
            <a:ext cx="2286000" cy="292608"/>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accounts</a:t>
            </a:r>
            <a:endParaRPr lang="en-US" sz="1200" dirty="0"/>
          </a:p>
        </p:txBody>
      </p:sp>
      <p:sp>
        <p:nvSpPr>
          <p:cNvPr id="11" name="ds2__1"/>
          <p:cNvSpPr/>
          <p:nvPr/>
        </p:nvSpPr>
        <p:spPr>
          <a:xfrm>
            <a:off x="6205118" y="1627632"/>
            <a:ext cx="2606040" cy="914400"/>
          </a:xfrm>
          <a:prstGeom prst="roundRect">
            <a:avLst>
              <a:gd name="adj" fmla="val 120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2" name="ds2__2"/>
          <p:cNvSpPr txBox="1"/>
          <p:nvPr/>
        </p:nvSpPr>
        <p:spPr>
          <a:xfrm>
            <a:off x="6406286" y="1664208"/>
            <a:ext cx="2286000" cy="502920"/>
          </a:xfrm>
          <a:prstGeom prst="rect">
            <a:avLst/>
          </a:prstGeom>
          <a:noFill/>
          <a:ln/>
        </p:spPr>
        <p:txBody>
          <a:bodyPr wrap="square" lIns="0" tIns="0" rIns="0" bIns="0" rtlCol="0" anchor="ctr"/>
          <a:lstStyle/>
          <a:p>
            <a:pPr indent="0" marL="0">
              <a:buNone/>
            </a:pPr>
            <a:r>
              <a:rPr lang="en-US" sz="2600" b="1" dirty="0">
                <a:solidFill>
                  <a:srgbClr val="38BDF8"/>
                </a:solidFill>
                <a:latin typeface="Arial" pitchFamily="34" charset="0"/>
                <a:ea typeface="Arial" pitchFamily="34" charset="-122"/>
                <a:cs typeface="Arial" pitchFamily="34" charset="-120"/>
              </a:rPr>
              <a:t>1,010</a:t>
            </a:r>
            <a:endParaRPr lang="en-US" sz="2600" dirty="0"/>
          </a:p>
        </p:txBody>
      </p:sp>
      <p:sp>
        <p:nvSpPr>
          <p:cNvPr id="13" name="ds2__3"/>
          <p:cNvSpPr txBox="1"/>
          <p:nvPr/>
        </p:nvSpPr>
        <p:spPr>
          <a:xfrm>
            <a:off x="6406286" y="2157984"/>
            <a:ext cx="2286000" cy="292608"/>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planted suspicious accounts</a:t>
            </a:r>
            <a:endParaRPr lang="en-US" sz="1200" dirty="0"/>
          </a:p>
        </p:txBody>
      </p:sp>
      <p:sp>
        <p:nvSpPr>
          <p:cNvPr id="14" name="ds3__1"/>
          <p:cNvSpPr/>
          <p:nvPr/>
        </p:nvSpPr>
        <p:spPr>
          <a:xfrm>
            <a:off x="9033358" y="1627632"/>
            <a:ext cx="2606040" cy="914400"/>
          </a:xfrm>
          <a:prstGeom prst="roundRect">
            <a:avLst>
              <a:gd name="adj" fmla="val 12000"/>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5" name="ds3__2"/>
          <p:cNvSpPr txBox="1"/>
          <p:nvPr/>
        </p:nvSpPr>
        <p:spPr>
          <a:xfrm>
            <a:off x="9234526" y="1664208"/>
            <a:ext cx="2286000" cy="502920"/>
          </a:xfrm>
          <a:prstGeom prst="rect">
            <a:avLst/>
          </a:prstGeom>
          <a:noFill/>
          <a:ln/>
        </p:spPr>
        <p:txBody>
          <a:bodyPr wrap="square" lIns="0" tIns="0" rIns="0" bIns="0" rtlCol="0" anchor="ctr"/>
          <a:lstStyle/>
          <a:p>
            <a:pPr indent="0" marL="0">
              <a:buNone/>
            </a:pPr>
            <a:r>
              <a:rPr lang="en-US" sz="1500" b="1" dirty="0">
                <a:solidFill>
                  <a:srgbClr val="38BDF8"/>
                </a:solidFill>
                <a:latin typeface="Arial" pitchFamily="34" charset="0"/>
                <a:ea typeface="Arial" pitchFamily="34" charset="-122"/>
                <a:cs typeface="Arial" pitchFamily="34" charset="-120"/>
              </a:rPr>
              <a:t>2 train · 1 tune · 3 test</a:t>
            </a:r>
            <a:endParaRPr lang="en-US" sz="1500" dirty="0"/>
          </a:p>
        </p:txBody>
      </p:sp>
      <p:sp>
        <p:nvSpPr>
          <p:cNvPr id="16" name="ds3__3"/>
          <p:cNvSpPr txBox="1"/>
          <p:nvPr/>
        </p:nvSpPr>
        <p:spPr>
          <a:xfrm>
            <a:off x="9234526" y="2157984"/>
            <a:ext cx="2286000" cy="292608"/>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evaluation split</a:t>
            </a:r>
            <a:endParaRPr lang="en-US" sz="1200" dirty="0"/>
          </a:p>
        </p:txBody>
      </p:sp>
      <p:graphicFrame>
        <p:nvGraphicFramePr>
          <p:cNvPr id="17" name="mt__1"/>
          <p:cNvGraphicFramePr>
            <a:graphicFrameLocks noGrp="1"/>
          </p:cNvGraphicFramePr>
          <p:nvPr>
            <p:extLst>
              <p:ext uri="{D42A27DB-BD31-4B8C-83A1-F6EECF244321}">
                <p14:modId xmlns:p14="http://schemas.microsoft.com/office/powerpoint/2010/main" val="1579011935"/>
              </p:ext>
            </p:extLst>
          </p:nvPr>
        </p:nvGraphicFramePr>
        <p:xfrm>
          <a:off x="548640" y="2743200"/>
          <a:ext cx="11091672" cy="914400"/>
        </p:xfrm>
        <a:graphic>
          <a:graphicData uri="http://schemas.openxmlformats.org/drawingml/2006/table">
            <a:tbl>
              <a:tblPr/>
              <a:tblGrid>
                <a:gridCol w="3776472"/>
                <a:gridCol w="1371600"/>
                <a:gridCol w="1371600"/>
                <a:gridCol w="1371600"/>
                <a:gridCol w="1371600"/>
                <a:gridCol w="1828800"/>
              </a:tblGrid>
              <a:tr h="310896">
                <a:tc>
                  <a:txBody>
                    <a:bodyPr/>
                    <a:lstStyle/>
                    <a:p>
                      <a:pPr algn="l" indent="0" marL="0">
                        <a:buNone/>
                      </a:pPr>
                      <a:r>
                        <a:rPr lang="en-US" sz="1100" b="1" dirty="0">
                          <a:solidFill>
                            <a:srgbClr val="9AABC4"/>
                          </a:solidFill>
                          <a:latin typeface="Arial" pitchFamily="34" charset="0"/>
                          <a:ea typeface="Arial" pitchFamily="34" charset="-122"/>
                          <a:cs typeface="Arial" pitchFamily="34" charset="-120"/>
                        </a:rPr>
                        <a:t>Model</a:t>
                      </a:r>
                      <a:endParaRPr lang="en-US" sz="1100" dirty="0">
                        <a:latin typeface="Arial" charset="0"/>
                        <a:ea typeface="Arial" charset="0"/>
                        <a:cs typeface="Arial"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3203A"/>
                    </a:solidFill>
                  </a:tcPr>
                </a:tc>
                <a:tc>
                  <a:txBody>
                    <a:bodyPr/>
                    <a:lstStyle/>
                    <a:p>
                      <a:pPr algn="ctr" indent="0" marL="0">
                        <a:buNone/>
                      </a:pPr>
                      <a:r>
                        <a:rPr lang="en-US" sz="1100" b="1" dirty="0">
                          <a:solidFill>
                            <a:srgbClr val="9AABC4"/>
                          </a:solidFill>
                          <a:latin typeface="Arial" pitchFamily="34" charset="0"/>
                          <a:ea typeface="Arial" pitchFamily="34" charset="-122"/>
                          <a:cs typeface="Arial" pitchFamily="34" charset="-120"/>
                        </a:rPr>
                        <a:t>Precision</a:t>
                      </a:r>
                      <a:endParaRPr lang="en-US" sz="1100" dirty="0">
                        <a:latin typeface="Arial" charset="0"/>
                        <a:ea typeface="Arial" charset="0"/>
                        <a:cs typeface="Arial"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3203A"/>
                    </a:solidFill>
                  </a:tcPr>
                </a:tc>
                <a:tc>
                  <a:txBody>
                    <a:bodyPr/>
                    <a:lstStyle/>
                    <a:p>
                      <a:pPr algn="ctr" indent="0" marL="0">
                        <a:buNone/>
                      </a:pPr>
                      <a:r>
                        <a:rPr lang="en-US" sz="1100" b="1" dirty="0">
                          <a:solidFill>
                            <a:srgbClr val="9AABC4"/>
                          </a:solidFill>
                          <a:latin typeface="Arial" pitchFamily="34" charset="0"/>
                          <a:ea typeface="Arial" pitchFamily="34" charset="-122"/>
                          <a:cs typeface="Arial" pitchFamily="34" charset="-120"/>
                        </a:rPr>
                        <a:t>Recall</a:t>
                      </a:r>
                      <a:endParaRPr lang="en-US" sz="1100" dirty="0">
                        <a:latin typeface="Arial" charset="0"/>
                        <a:ea typeface="Arial" charset="0"/>
                        <a:cs typeface="Arial"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3203A"/>
                    </a:solidFill>
                  </a:tcPr>
                </a:tc>
                <a:tc>
                  <a:txBody>
                    <a:bodyPr/>
                    <a:lstStyle/>
                    <a:p>
                      <a:pPr algn="ctr" indent="0" marL="0">
                        <a:buNone/>
                      </a:pPr>
                      <a:r>
                        <a:rPr lang="en-US" sz="1100" b="1" dirty="0">
                          <a:solidFill>
                            <a:srgbClr val="9AABC4"/>
                          </a:solidFill>
                          <a:latin typeface="Arial" pitchFamily="34" charset="0"/>
                          <a:ea typeface="Arial" pitchFamily="34" charset="-122"/>
                          <a:cs typeface="Arial" pitchFamily="34" charset="-120"/>
                        </a:rPr>
                        <a:t>F1</a:t>
                      </a:r>
                      <a:endParaRPr lang="en-US" sz="1100" dirty="0">
                        <a:latin typeface="Arial" charset="0"/>
                        <a:ea typeface="Arial" charset="0"/>
                        <a:cs typeface="Arial"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3203A"/>
                    </a:solidFill>
                  </a:tcPr>
                </a:tc>
                <a:tc>
                  <a:txBody>
                    <a:bodyPr/>
                    <a:lstStyle/>
                    <a:p>
                      <a:pPr algn="ctr" indent="0" marL="0">
                        <a:buNone/>
                      </a:pPr>
                      <a:r>
                        <a:rPr lang="en-US" sz="1100" b="1" dirty="0">
                          <a:solidFill>
                            <a:srgbClr val="9AABC4"/>
                          </a:solidFill>
                          <a:latin typeface="Arial" pitchFamily="34" charset="0"/>
                          <a:ea typeface="Arial" pitchFamily="34" charset="-122"/>
                          <a:cs typeface="Arial" pitchFamily="34" charset="-120"/>
                        </a:rPr>
                        <a:t>PR-AUC</a:t>
                      </a:r>
                      <a:endParaRPr lang="en-US" sz="1100" dirty="0">
                        <a:latin typeface="Arial" charset="0"/>
                        <a:ea typeface="Arial" charset="0"/>
                        <a:cs typeface="Arial"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3203A"/>
                    </a:solidFill>
                  </a:tcPr>
                </a:tc>
                <a:tc>
                  <a:txBody>
                    <a:bodyPr/>
                    <a:lstStyle/>
                    <a:p>
                      <a:pPr algn="ctr" indent="0" marL="0">
                        <a:buNone/>
                      </a:pPr>
                      <a:r>
                        <a:rPr lang="en-US" sz="1100" b="1" dirty="0">
                          <a:solidFill>
                            <a:srgbClr val="9AABC4"/>
                          </a:solidFill>
                          <a:latin typeface="Arial" pitchFamily="34" charset="0"/>
                          <a:ea typeface="Arial" pitchFamily="34" charset="-122"/>
                          <a:cs typeface="Arial" pitchFamily="34" charset="-120"/>
                        </a:rPr>
                        <a:t>False-positive rate</a:t>
                      </a:r>
                      <a:endParaRPr lang="en-US" sz="1100" dirty="0">
                        <a:latin typeface="Arial" charset="0"/>
                        <a:ea typeface="Arial" charset="0"/>
                        <a:cs typeface="Arial"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3203A"/>
                    </a:solidFill>
                  </a:tcPr>
                </a:tc>
              </a:tr>
              <a:tr h="310896">
                <a:tc>
                  <a:txBody>
                    <a:bodyPr/>
                    <a:lstStyle/>
                    <a:p>
                      <a:pPr algn="l" indent="0" marL="0">
                        <a:buNone/>
                      </a:pPr>
                      <a:r>
                        <a:rPr lang="en-US" sz="1200" dirty="0">
                          <a:solidFill>
                            <a:srgbClr val="F1F5FB"/>
                          </a:solidFill>
                          <a:latin typeface="Calibri" pitchFamily="34" charset="0"/>
                          <a:ea typeface="Calibri" pitchFamily="34" charset="-122"/>
                          <a:cs typeface="Calibri" pitchFamily="34" charset="-120"/>
                        </a:rPr>
                        <a:t>Rules only (conventional monitoring)</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26.5%</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32.1%</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0.29</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2.35%</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r>
              <a:tr h="310896">
                <a:tc>
                  <a:txBody>
                    <a:bodyPr/>
                    <a:lstStyle/>
                    <a:p>
                      <a:pPr algn="l" indent="0" marL="0">
                        <a:buNone/>
                      </a:pPr>
                      <a:r>
                        <a:rPr lang="en-US" sz="1200" dirty="0">
                          <a:solidFill>
                            <a:srgbClr val="F1F5FB"/>
                          </a:solidFill>
                          <a:latin typeface="Calibri" pitchFamily="34" charset="0"/>
                          <a:ea typeface="Calibri" pitchFamily="34" charset="-122"/>
                          <a:cs typeface="Calibri" pitchFamily="34" charset="-120"/>
                        </a:rPr>
                        <a:t>First prototype score (unsupervised)</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9.3%</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21.1%</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0.13</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5.40%</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r>
              <a:tr h="310896">
                <a:tc>
                  <a:txBody>
                    <a:bodyPr/>
                    <a:lstStyle/>
                    <a:p>
                      <a:pPr algn="l" indent="0" marL="0">
                        <a:buNone/>
                      </a:pPr>
                      <a:r>
                        <a:rPr lang="en-US" sz="1200" dirty="0">
                          <a:solidFill>
                            <a:srgbClr val="F1F5FB"/>
                          </a:solidFill>
                          <a:latin typeface="Calibri" pitchFamily="34" charset="0"/>
                          <a:ea typeface="Calibri" pitchFamily="34" charset="-122"/>
                          <a:cs typeface="Calibri" pitchFamily="34" charset="-120"/>
                        </a:rPr>
                        <a:t>Isolation Forest (unsupervised)</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8.2%</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9.6%</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0.09</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0.09</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2.83%</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r>
              <a:tr h="310896">
                <a:tc>
                  <a:txBody>
                    <a:bodyPr/>
                    <a:lstStyle/>
                    <a:p>
                      <a:pPr algn="l" indent="0" marL="0">
                        <a:buNone/>
                      </a:pPr>
                      <a:r>
                        <a:rPr lang="en-US" sz="1200" dirty="0">
                          <a:solidFill>
                            <a:srgbClr val="F1F5FB"/>
                          </a:solidFill>
                          <a:latin typeface="Calibri" pitchFamily="34" charset="0"/>
                          <a:ea typeface="Calibri" pitchFamily="34" charset="-122"/>
                          <a:cs typeface="Calibri" pitchFamily="34" charset="-120"/>
                        </a:rPr>
                        <a:t>Graph pattern detectors</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22.1%</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82.9%</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0.35</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0.49</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7.69%</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r>
              <a:tr h="310896">
                <a:tc>
                  <a:txBody>
                    <a:bodyPr/>
                    <a:lstStyle/>
                    <a:p>
                      <a:pPr algn="l" indent="0" marL="0">
                        <a:buNone/>
                      </a:pPr>
                      <a:r>
                        <a:rPr lang="en-US" sz="1200" dirty="0">
                          <a:solidFill>
                            <a:srgbClr val="F1F5FB"/>
                          </a:solidFill>
                          <a:latin typeface="Calibri" pitchFamily="34" charset="0"/>
                          <a:ea typeface="Calibri" pitchFamily="34" charset="-122"/>
                          <a:cs typeface="Calibri" pitchFamily="34" charset="-120"/>
                        </a:rPr>
                        <a:t>Cygnus composite (current product)</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69.8%</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88.0%</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0.78</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0.84</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r>
              <a:tr h="310896">
                <a:tc>
                  <a:txBody>
                    <a:bodyPr/>
                    <a:lstStyle/>
                    <a:p>
                      <a:pPr algn="l" indent="0" marL="0">
                        <a:buNone/>
                      </a:pPr>
                      <a:r>
                        <a:rPr lang="en-US" sz="1200" dirty="0">
                          <a:solidFill>
                            <a:srgbClr val="F1F5FB"/>
                          </a:solidFill>
                          <a:latin typeface="Calibri" pitchFamily="34" charset="0"/>
                          <a:ea typeface="Calibri" pitchFamily="34" charset="-122"/>
                          <a:cs typeface="Calibri" pitchFamily="34" charset="-120"/>
                        </a:rPr>
                        <a:t>Gradient boosting, no graph features</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80.3%</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63.4%</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0.71</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0.76</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0.41%</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r>
              <a:tr h="310896">
                <a:tc>
                  <a:txBody>
                    <a:bodyPr/>
                    <a:lstStyle/>
                    <a:p>
                      <a:pPr algn="l" indent="0" marL="0">
                        <a:buNone/>
                      </a:pPr>
                      <a:r>
                        <a:rPr lang="en-US" sz="1200" dirty="0">
                          <a:solidFill>
                            <a:srgbClr val="F1F5FB"/>
                          </a:solidFill>
                          <a:latin typeface="Calibri" pitchFamily="34" charset="0"/>
                          <a:ea typeface="Calibri" pitchFamily="34" charset="-122"/>
                          <a:cs typeface="Calibri" pitchFamily="34" charset="-120"/>
                        </a:rPr>
                        <a:t>Random forest + graph features</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90.7%</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80.6%</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0.85</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0.92</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c>
                  <a:txBody>
                    <a:bodyPr/>
                    <a:lstStyle/>
                    <a:p>
                      <a:pPr algn="ctr" indent="0" marL="0">
                        <a:buNone/>
                      </a:pPr>
                      <a:r>
                        <a:rPr lang="en-US" sz="1200" dirty="0">
                          <a:solidFill>
                            <a:srgbClr val="F1F5FB"/>
                          </a:solidFill>
                          <a:latin typeface="Calibri" pitchFamily="34" charset="0"/>
                          <a:ea typeface="Calibri" pitchFamily="34" charset="-122"/>
                          <a:cs typeface="Calibri" pitchFamily="34" charset="-120"/>
                        </a:rPr>
                        <a:t>0.22%</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0E1729"/>
                    </a:solidFill>
                  </a:tcPr>
                </a:tc>
              </a:tr>
              <a:tr h="310896">
                <a:tc>
                  <a:txBody>
                    <a:bodyPr/>
                    <a:lstStyle/>
                    <a:p>
                      <a:pPr algn="l" indent="0" marL="0">
                        <a:buNone/>
                      </a:pPr>
                      <a:r>
                        <a:rPr lang="en-US" sz="1200" b="1" dirty="0">
                          <a:solidFill>
                            <a:srgbClr val="34D399"/>
                          </a:solidFill>
                          <a:latin typeface="Calibri" pitchFamily="34" charset="0"/>
                          <a:ea typeface="Calibri" pitchFamily="34" charset="-122"/>
                          <a:cs typeface="Calibri" pitchFamily="34" charset="-120"/>
                        </a:rPr>
                        <a:t>Gradient boosting + graph features  ★</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23A33"/>
                    </a:solidFill>
                  </a:tcPr>
                </a:tc>
                <a:tc>
                  <a:txBody>
                    <a:bodyPr/>
                    <a:lstStyle/>
                    <a:p>
                      <a:pPr algn="ctr" indent="0" marL="0">
                        <a:buNone/>
                      </a:pPr>
                      <a:r>
                        <a:rPr lang="en-US" sz="1200" b="1" dirty="0">
                          <a:solidFill>
                            <a:srgbClr val="34D399"/>
                          </a:solidFill>
                          <a:latin typeface="Calibri" pitchFamily="34" charset="0"/>
                          <a:ea typeface="Calibri" pitchFamily="34" charset="-122"/>
                          <a:cs typeface="Calibri" pitchFamily="34" charset="-120"/>
                        </a:rPr>
                        <a:t>94.8%</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23A33"/>
                    </a:solidFill>
                  </a:tcPr>
                </a:tc>
                <a:tc>
                  <a:txBody>
                    <a:bodyPr/>
                    <a:lstStyle/>
                    <a:p>
                      <a:pPr algn="ctr" indent="0" marL="0">
                        <a:buNone/>
                      </a:pPr>
                      <a:r>
                        <a:rPr lang="en-US" sz="1200" b="1" dirty="0">
                          <a:solidFill>
                            <a:srgbClr val="34D399"/>
                          </a:solidFill>
                          <a:latin typeface="Calibri" pitchFamily="34" charset="0"/>
                          <a:ea typeface="Calibri" pitchFamily="34" charset="-122"/>
                          <a:cs typeface="Calibri" pitchFamily="34" charset="-120"/>
                        </a:rPr>
                        <a:t>83.8%</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23A33"/>
                    </a:solidFill>
                  </a:tcPr>
                </a:tc>
                <a:tc>
                  <a:txBody>
                    <a:bodyPr/>
                    <a:lstStyle/>
                    <a:p>
                      <a:pPr algn="ctr" indent="0" marL="0">
                        <a:buNone/>
                      </a:pPr>
                      <a:r>
                        <a:rPr lang="en-US" sz="1200" b="1" dirty="0">
                          <a:solidFill>
                            <a:srgbClr val="34D399"/>
                          </a:solidFill>
                          <a:latin typeface="Calibri" pitchFamily="34" charset="0"/>
                          <a:ea typeface="Calibri" pitchFamily="34" charset="-122"/>
                          <a:cs typeface="Calibri" pitchFamily="34" charset="-120"/>
                        </a:rPr>
                        <a:t>0.89</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23A33"/>
                    </a:solidFill>
                  </a:tcPr>
                </a:tc>
                <a:tc>
                  <a:txBody>
                    <a:bodyPr/>
                    <a:lstStyle/>
                    <a:p>
                      <a:pPr algn="ctr" indent="0" marL="0">
                        <a:buNone/>
                      </a:pPr>
                      <a:r>
                        <a:rPr lang="en-US" sz="1200" b="1" dirty="0">
                          <a:solidFill>
                            <a:srgbClr val="34D399"/>
                          </a:solidFill>
                          <a:latin typeface="Calibri" pitchFamily="34" charset="0"/>
                          <a:ea typeface="Calibri" pitchFamily="34" charset="-122"/>
                          <a:cs typeface="Calibri" pitchFamily="34" charset="-120"/>
                        </a:rPr>
                        <a:t>0.94</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23A33"/>
                    </a:solidFill>
                  </a:tcPr>
                </a:tc>
                <a:tc>
                  <a:txBody>
                    <a:bodyPr/>
                    <a:lstStyle/>
                    <a:p>
                      <a:pPr algn="ctr" indent="0" marL="0">
                        <a:buNone/>
                      </a:pPr>
                      <a:r>
                        <a:rPr lang="en-US" sz="1200" b="1" dirty="0">
                          <a:solidFill>
                            <a:srgbClr val="34D399"/>
                          </a:solidFill>
                          <a:latin typeface="Calibri" pitchFamily="34" charset="0"/>
                          <a:ea typeface="Calibri" pitchFamily="34" charset="-122"/>
                          <a:cs typeface="Calibri" pitchFamily="34" charset="-120"/>
                        </a:rPr>
                        <a:t>0.12%</a:t>
                      </a:r>
                      <a:endParaRPr lang="en-US" sz="1200" dirty="0">
                        <a:latin typeface="Calibri" charset="0"/>
                        <a:ea typeface="Calibri" charset="0"/>
                        <a:cs typeface="Calibri" charset="0"/>
                      </a:endParaRPr>
                    </a:p>
                  </a:txBody>
                  <a:tcPr marL="109728" marR="109728" marT="0" marB="0" anchor="ctr">
                    <a:lnL w="9525" cap="flat" cmpd="sng" algn="ctr">
                      <a:solidFill>
                        <a:srgbClr val="22314F"/>
                      </a:solidFill>
                      <a:prstDash val="solid"/>
                      <a:round/>
                      <a:headEnd type="none" w="med" len="med"/>
                      <a:tailEnd type="none" w="med" len="med"/>
                    </a:lnL>
                    <a:lnR w="9525" cap="flat" cmpd="sng" algn="ctr">
                      <a:solidFill>
                        <a:srgbClr val="22314F"/>
                      </a:solidFill>
                      <a:prstDash val="solid"/>
                      <a:round/>
                      <a:headEnd type="none" w="med" len="med"/>
                      <a:tailEnd type="none" w="med" len="med"/>
                    </a:lnR>
                    <a:lnT w="9525" cap="flat" cmpd="sng" algn="ctr">
                      <a:solidFill>
                        <a:srgbClr val="22314F"/>
                      </a:solidFill>
                      <a:prstDash val="solid"/>
                      <a:round/>
                      <a:headEnd type="none" w="med" len="med"/>
                      <a:tailEnd type="none" w="med" len="med"/>
                    </a:lnT>
                    <a:lnB w="9525" cap="flat" cmpd="sng" algn="ctr">
                      <a:solidFill>
                        <a:srgbClr val="22314F"/>
                      </a:solidFill>
                      <a:prstDash val="solid"/>
                      <a:round/>
                      <a:headEnd type="none" w="med" len="med"/>
                      <a:tailEnd type="none" w="med" len="med"/>
                    </a:lnB>
                    <a:solidFill>
                      <a:srgbClr val="123A33"/>
                    </a:solidFill>
                  </a:tcPr>
                </a:tc>
              </a:tr>
            </a:tbl>
          </a:graphicData>
        </a:graphic>
      </p:graphicFrame>
      <p:sp>
        <p:nvSpPr>
          <p:cNvPr id="18" name="mm__1"/>
          <p:cNvSpPr txBox="1"/>
          <p:nvPr/>
        </p:nvSpPr>
        <p:spPr>
          <a:xfrm>
            <a:off x="548640" y="5632704"/>
            <a:ext cx="11091672" cy="68580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848,752 synthetic Bangladesh-style MFS transactions with seven planted typologies and legitimate look-alikes. Trained on 2 networks, tuned on 1, tested on 3 unseen networks with different seeds (mean shown). Labels are exact by construction, so treat these as upper bounds for real upay data.</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anim calcmode="lin" valueType="num">
                                      <p:cBhvr additive="base">
                                        <p:cTn id="8" dur="400" fill="hold"/>
                                        <p:tgtEl>
                                          <p:spTgt spid="5"/>
                                        </p:tgtEl>
                                        <p:attrNameLst>
                                          <p:attrName>ppt_x</p:attrName>
                                        </p:attrNameLst>
                                      </p:cBhvr>
                                      <p:tavLst>
                                        <p:tav tm="0">
                                          <p:val>
                                            <p:strVal val="#ppt_x"/>
                                          </p:val>
                                        </p:tav>
                                        <p:tav tm="100000">
                                          <p:val>
                                            <p:strVal val="#ppt_x"/>
                                          </p:val>
                                        </p:tav>
                                      </p:tavLst>
                                    </p:anim>
                                    <p:anim calcmode="lin" valueType="num">
                                      <p:cBhvr additive="base">
                                        <p:cTn id="9" dur="4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anim calcmode="lin" valueType="num">
                                      <p:cBhvr additive="base">
                                        <p:cTn id="13" dur="400" fill="hold"/>
                                        <p:tgtEl>
                                          <p:spTgt spid="6"/>
                                        </p:tgtEl>
                                        <p:attrNameLst>
                                          <p:attrName>ppt_x</p:attrName>
                                        </p:attrNameLst>
                                      </p:cBhvr>
                                      <p:tavLst>
                                        <p:tav tm="0">
                                          <p:val>
                                            <p:strVal val="#ppt_x"/>
                                          </p:val>
                                        </p:tav>
                                        <p:tav tm="100000">
                                          <p:val>
                                            <p:strVal val="#ppt_x"/>
                                          </p:val>
                                        </p:tav>
                                      </p:tavLst>
                                    </p:anim>
                                    <p:anim calcmode="lin" valueType="num">
                                      <p:cBhvr additive="base">
                                        <p:cTn id="14" dur="4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1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anim calcmode="lin" valueType="num">
                                      <p:cBhvr additive="base">
                                        <p:cTn id="18" dur="400" fill="hold"/>
                                        <p:tgtEl>
                                          <p:spTgt spid="7"/>
                                        </p:tgtEl>
                                        <p:attrNameLst>
                                          <p:attrName>ppt_x</p:attrName>
                                        </p:attrNameLst>
                                      </p:cBhvr>
                                      <p:tavLst>
                                        <p:tav tm="0">
                                          <p:val>
                                            <p:strVal val="#ppt_x"/>
                                          </p:val>
                                        </p:tav>
                                        <p:tav tm="100000">
                                          <p:val>
                                            <p:strVal val="#ppt_x"/>
                                          </p:val>
                                        </p:tav>
                                      </p:tavLst>
                                    </p:anim>
                                    <p:anim calcmode="lin" valueType="num">
                                      <p:cBhvr additive="base">
                                        <p:cTn id="19" dur="4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anim calcmode="lin" valueType="num">
                                      <p:cBhvr additive="base">
                                        <p:cTn id="23" dur="400" fill="hold"/>
                                        <p:tgtEl>
                                          <p:spTgt spid="8"/>
                                        </p:tgtEl>
                                        <p:attrNameLst>
                                          <p:attrName>ppt_x</p:attrName>
                                        </p:attrNameLst>
                                      </p:cBhvr>
                                      <p:tavLst>
                                        <p:tav tm="0">
                                          <p:val>
                                            <p:strVal val="#ppt_x"/>
                                          </p:val>
                                        </p:tav>
                                        <p:tav tm="100000">
                                          <p:val>
                                            <p:strVal val="#ppt_x"/>
                                          </p:val>
                                        </p:tav>
                                      </p:tavLst>
                                    </p:anim>
                                    <p:anim calcmode="lin" valueType="num">
                                      <p:cBhvr additive="base">
                                        <p:cTn id="24" dur="4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anim calcmode="lin" valueType="num">
                                      <p:cBhvr additive="base">
                                        <p:cTn id="28" dur="400" fill="hold"/>
                                        <p:tgtEl>
                                          <p:spTgt spid="9"/>
                                        </p:tgtEl>
                                        <p:attrNameLst>
                                          <p:attrName>ppt_x</p:attrName>
                                        </p:attrNameLst>
                                      </p:cBhvr>
                                      <p:tavLst>
                                        <p:tav tm="0">
                                          <p:val>
                                            <p:strVal val="#ppt_x"/>
                                          </p:val>
                                        </p:tav>
                                        <p:tav tm="100000">
                                          <p:val>
                                            <p:strVal val="#ppt_x"/>
                                          </p:val>
                                        </p:tav>
                                      </p:tavLst>
                                    </p:anim>
                                    <p:anim calcmode="lin" valueType="num">
                                      <p:cBhvr additive="base">
                                        <p:cTn id="29" dur="4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3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00"/>
                                        <p:tgtEl>
                                          <p:spTgt spid="10"/>
                                        </p:tgtEl>
                                      </p:cBhvr>
                                    </p:animEffect>
                                    <p:anim calcmode="lin" valueType="num">
                                      <p:cBhvr additive="base">
                                        <p:cTn id="33" dur="400" fill="hold"/>
                                        <p:tgtEl>
                                          <p:spTgt spid="10"/>
                                        </p:tgtEl>
                                        <p:attrNameLst>
                                          <p:attrName>ppt_x</p:attrName>
                                        </p:attrNameLst>
                                      </p:cBhvr>
                                      <p:tavLst>
                                        <p:tav tm="0">
                                          <p:val>
                                            <p:strVal val="#ppt_x"/>
                                          </p:val>
                                        </p:tav>
                                        <p:tav tm="100000">
                                          <p:val>
                                            <p:strVal val="#ppt_x"/>
                                          </p:val>
                                        </p:tav>
                                      </p:tavLst>
                                    </p:anim>
                                    <p:anim calcmode="lin" valueType="num">
                                      <p:cBhvr additive="base">
                                        <p:cTn id="34" dur="4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45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00"/>
                                        <p:tgtEl>
                                          <p:spTgt spid="11"/>
                                        </p:tgtEl>
                                      </p:cBhvr>
                                    </p:animEffect>
                                    <p:anim calcmode="lin" valueType="num">
                                      <p:cBhvr additive="base">
                                        <p:cTn id="38" dur="400" fill="hold"/>
                                        <p:tgtEl>
                                          <p:spTgt spid="11"/>
                                        </p:tgtEl>
                                        <p:attrNameLst>
                                          <p:attrName>ppt_x</p:attrName>
                                        </p:attrNameLst>
                                      </p:cBhvr>
                                      <p:tavLst>
                                        <p:tav tm="0">
                                          <p:val>
                                            <p:strVal val="#ppt_x"/>
                                          </p:val>
                                        </p:tav>
                                        <p:tav tm="100000">
                                          <p:val>
                                            <p:strVal val="#ppt_x"/>
                                          </p:val>
                                        </p:tav>
                                      </p:tavLst>
                                    </p:anim>
                                    <p:anim calcmode="lin" valueType="num">
                                      <p:cBhvr additive="base">
                                        <p:cTn id="39" dur="4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4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00"/>
                                        <p:tgtEl>
                                          <p:spTgt spid="12"/>
                                        </p:tgtEl>
                                      </p:cBhvr>
                                    </p:animEffect>
                                    <p:anim calcmode="lin" valueType="num">
                                      <p:cBhvr additive="base">
                                        <p:cTn id="43" dur="400" fill="hold"/>
                                        <p:tgtEl>
                                          <p:spTgt spid="12"/>
                                        </p:tgtEl>
                                        <p:attrNameLst>
                                          <p:attrName>ppt_x</p:attrName>
                                        </p:attrNameLst>
                                      </p:cBhvr>
                                      <p:tavLst>
                                        <p:tav tm="0">
                                          <p:val>
                                            <p:strVal val="#ppt_x"/>
                                          </p:val>
                                        </p:tav>
                                        <p:tav tm="100000">
                                          <p:val>
                                            <p:strVal val="#ppt_x"/>
                                          </p:val>
                                        </p:tav>
                                      </p:tavLst>
                                    </p:anim>
                                    <p:anim calcmode="lin" valueType="num">
                                      <p:cBhvr additive="base">
                                        <p:cTn id="44" dur="4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45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00"/>
                                        <p:tgtEl>
                                          <p:spTgt spid="13"/>
                                        </p:tgtEl>
                                      </p:cBhvr>
                                    </p:animEffect>
                                    <p:anim calcmode="lin" valueType="num">
                                      <p:cBhvr additive="base">
                                        <p:cTn id="48" dur="400" fill="hold"/>
                                        <p:tgtEl>
                                          <p:spTgt spid="13"/>
                                        </p:tgtEl>
                                        <p:attrNameLst>
                                          <p:attrName>ppt_x</p:attrName>
                                        </p:attrNameLst>
                                      </p:cBhvr>
                                      <p:tavLst>
                                        <p:tav tm="0">
                                          <p:val>
                                            <p:strVal val="#ppt_x"/>
                                          </p:val>
                                        </p:tav>
                                        <p:tav tm="100000">
                                          <p:val>
                                            <p:strVal val="#ppt_x"/>
                                          </p:val>
                                        </p:tav>
                                      </p:tavLst>
                                    </p:anim>
                                    <p:anim calcmode="lin" valueType="num">
                                      <p:cBhvr additive="base">
                                        <p:cTn id="49" dur="4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60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00"/>
                                        <p:tgtEl>
                                          <p:spTgt spid="14"/>
                                        </p:tgtEl>
                                      </p:cBhvr>
                                    </p:animEffect>
                                    <p:anim calcmode="lin" valueType="num">
                                      <p:cBhvr additive="base">
                                        <p:cTn id="53" dur="400" fill="hold"/>
                                        <p:tgtEl>
                                          <p:spTgt spid="14"/>
                                        </p:tgtEl>
                                        <p:attrNameLst>
                                          <p:attrName>ppt_x</p:attrName>
                                        </p:attrNameLst>
                                      </p:cBhvr>
                                      <p:tavLst>
                                        <p:tav tm="0">
                                          <p:val>
                                            <p:strVal val="#ppt_x"/>
                                          </p:val>
                                        </p:tav>
                                        <p:tav tm="100000">
                                          <p:val>
                                            <p:strVal val="#ppt_x"/>
                                          </p:val>
                                        </p:tav>
                                      </p:tavLst>
                                    </p:anim>
                                    <p:anim calcmode="lin" valueType="num">
                                      <p:cBhvr additive="base">
                                        <p:cTn id="54" dur="4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6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00"/>
                                        <p:tgtEl>
                                          <p:spTgt spid="15"/>
                                        </p:tgtEl>
                                      </p:cBhvr>
                                    </p:animEffect>
                                    <p:anim calcmode="lin" valueType="num">
                                      <p:cBhvr additive="base">
                                        <p:cTn id="58" dur="400" fill="hold"/>
                                        <p:tgtEl>
                                          <p:spTgt spid="15"/>
                                        </p:tgtEl>
                                        <p:attrNameLst>
                                          <p:attrName>ppt_x</p:attrName>
                                        </p:attrNameLst>
                                      </p:cBhvr>
                                      <p:tavLst>
                                        <p:tav tm="0">
                                          <p:val>
                                            <p:strVal val="#ppt_x"/>
                                          </p:val>
                                        </p:tav>
                                        <p:tav tm="100000">
                                          <p:val>
                                            <p:strVal val="#ppt_x"/>
                                          </p:val>
                                        </p:tav>
                                      </p:tavLst>
                                    </p:anim>
                                    <p:anim calcmode="lin" valueType="num">
                                      <p:cBhvr additive="base">
                                        <p:cTn id="59" dur="4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6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00"/>
                                        <p:tgtEl>
                                          <p:spTgt spid="16"/>
                                        </p:tgtEl>
                                      </p:cBhvr>
                                    </p:animEffect>
                                    <p:anim calcmode="lin" valueType="num">
                                      <p:cBhvr additive="base">
                                        <p:cTn id="63" dur="400" fill="hold"/>
                                        <p:tgtEl>
                                          <p:spTgt spid="16"/>
                                        </p:tgtEl>
                                        <p:attrNameLst>
                                          <p:attrName>ppt_x</p:attrName>
                                        </p:attrNameLst>
                                      </p:cBhvr>
                                      <p:tavLst>
                                        <p:tav tm="0">
                                          <p:val>
                                            <p:strVal val="#ppt_x"/>
                                          </p:val>
                                        </p:tav>
                                        <p:tav tm="100000">
                                          <p:val>
                                            <p:strVal val="#ppt_x"/>
                                          </p:val>
                                        </p:tav>
                                      </p:tavLst>
                                    </p:anim>
                                    <p:anim calcmode="lin" valueType="num">
                                      <p:cBhvr additive="base">
                                        <p:cTn id="64" dur="400" fill="hold"/>
                                        <p:tgtEl>
                                          <p:spTgt spid="16"/>
                                        </p:tgtEl>
                                        <p:attrNameLst>
                                          <p:attrName>ppt_y</p:attrName>
                                        </p:attrNameLst>
                                      </p:cBhvr>
                                      <p:tavLst>
                                        <p:tav tm="0">
                                          <p:val>
                                            <p:strVal val="#ppt_y+.1"/>
                                          </p:val>
                                        </p:tav>
                                        <p:tav tm="100000">
                                          <p:val>
                                            <p:strVal val="#ppt_y"/>
                                          </p:val>
                                        </p:tav>
                                      </p:tavLst>
                                    </p:anim>
                                  </p:childTnLst>
                                </p:cTn>
                              </p:par>
                              <p:par>
                                <p:cTn id="65" presetID="10" presetClass="entr" presetSubtype="0" fill="hold" nodeType="withEffect">
                                  <p:stCondLst>
                                    <p:cond delay="8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700"/>
                                        <p:tgtEl>
                                          <p:spTgt spid="17"/>
                                        </p:tgtEl>
                                      </p:cBhvr>
                                    </p:animEffect>
                                  </p:childTnLst>
                                </p:cTn>
                              </p:par>
                              <p:par>
                                <p:cTn id="68" presetID="10" presetClass="entr" presetSubtype="0" fill="hold" nodeType="withEffect">
                                  <p:stCondLst>
                                    <p:cond delay="150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14  ·  WHY GRAPH INTELLIGENCE</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What the network catches that transaction rules miss</a:t>
            </a:r>
            <a:endParaRPr lang="en-US" sz="3400" dirty="0"/>
          </a:p>
        </p:txBody>
      </p:sp>
      <p:sp>
        <p:nvSpPr>
          <p:cNvPr id="5" name="gv__1"/>
          <p:cNvSpPr/>
          <p:nvPr/>
        </p:nvSpPr>
        <p:spPr>
          <a:xfrm>
            <a:off x="548640" y="1645920"/>
            <a:ext cx="5394960" cy="4343400"/>
          </a:xfrm>
          <a:prstGeom prst="roundRect">
            <a:avLst>
              <a:gd name="adj" fmla="val 2526"/>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gv__2"/>
          <p:cNvSpPr txBox="1"/>
          <p:nvPr/>
        </p:nvSpPr>
        <p:spPr>
          <a:xfrm>
            <a:off x="777240" y="1783080"/>
            <a:ext cx="4937760" cy="274320"/>
          </a:xfrm>
          <a:prstGeom prst="rect">
            <a:avLst/>
          </a:prstGeom>
          <a:noFill/>
          <a:ln/>
        </p:spPr>
        <p:txBody>
          <a:bodyPr wrap="square" lIns="0" tIns="0" rIns="0" bIns="0" rtlCol="0" anchor="ctr"/>
          <a:lstStyle/>
          <a:p>
            <a:pPr indent="0" marL="0">
              <a:buNone/>
            </a:pPr>
            <a:r>
              <a:rPr lang="en-US" sz="1000" b="1" spc="200" kern="0" dirty="0">
                <a:solidFill>
                  <a:srgbClr val="9AABC4"/>
                </a:solidFill>
                <a:latin typeface="Arial" pitchFamily="34" charset="0"/>
                <a:ea typeface="Arial" pitchFamily="34" charset="-122"/>
                <a:cs typeface="Arial" pitchFamily="34" charset="-120"/>
              </a:rPr>
              <a:t>3 HELD-OUT NETWORKS  ·  1,010 SUSPICIOUS ACCOUNTS</a:t>
            </a:r>
            <a:endParaRPr lang="en-US" sz="1000" dirty="0"/>
          </a:p>
        </p:txBody>
      </p:sp>
      <p:sp>
        <p:nvSpPr>
          <p:cNvPr id="7" name="gvb__1"/>
          <p:cNvSpPr txBox="1"/>
          <p:nvPr/>
        </p:nvSpPr>
        <p:spPr>
          <a:xfrm>
            <a:off x="777240" y="2240280"/>
            <a:ext cx="4937760" cy="274320"/>
          </a:xfrm>
          <a:prstGeom prst="rect">
            <a:avLst/>
          </a:prstGeom>
          <a:noFill/>
          <a:ln/>
        </p:spPr>
        <p:txBody>
          <a:bodyPr wrap="square" lIns="0" tIns="0" rIns="0" bIns="0" rtlCol="0" anchor="ctr"/>
          <a:lstStyle/>
          <a:p>
            <a:pPr indent="0" marL="0">
              <a:buNone/>
            </a:pPr>
            <a:r>
              <a:rPr lang="en-US" sz="1200" b="1" dirty="0">
                <a:solidFill>
                  <a:srgbClr val="F1F5FB"/>
                </a:solidFill>
                <a:latin typeface="Calibri" pitchFamily="34" charset="0"/>
                <a:ea typeface="Calibri" pitchFamily="34" charset="-122"/>
                <a:cs typeface="Calibri" pitchFamily="34" charset="-120"/>
              </a:rPr>
              <a:t>Transaction rules only   </a:t>
            </a:r>
            <a:pPr indent="0" marL="0">
              <a:buNone/>
            </a:pPr>
            <a:r>
              <a:rPr lang="en-US" sz="1200" dirty="0">
                <a:solidFill>
                  <a:srgbClr val="9AABC4"/>
                </a:solidFill>
                <a:latin typeface="Calibri" pitchFamily="34" charset="0"/>
                <a:ea typeface="Calibri" pitchFamily="34" charset="-122"/>
                <a:cs typeface="Calibri" pitchFamily="34" charset="-120"/>
              </a:rPr>
              <a:t>324 of 1,010 suspicious accounts caught</a:t>
            </a:r>
            <a:endParaRPr lang="en-US" sz="1200" dirty="0"/>
          </a:p>
        </p:txBody>
      </p:sp>
      <p:sp>
        <p:nvSpPr>
          <p:cNvPr id="8" name="gvb__2"/>
          <p:cNvSpPr/>
          <p:nvPr/>
        </p:nvSpPr>
        <p:spPr>
          <a:xfrm>
            <a:off x="777240" y="2569464"/>
            <a:ext cx="4846320" cy="292608"/>
          </a:xfrm>
          <a:prstGeom prst="roundRect">
            <a:avLst>
              <a:gd name="adj" fmla="val 25000"/>
            </a:avLst>
          </a:prstGeom>
          <a:solidFill>
            <a:srgbClr val="13203A"/>
          </a:solidFill>
          <a:ln w="12700">
            <a:solidFill>
              <a:srgbClr val="13203A"/>
            </a:solidFill>
            <a:prstDash val="solid"/>
          </a:ln>
        </p:spPr>
      </p:sp>
      <p:sp>
        <p:nvSpPr>
          <p:cNvPr id="9" name="gvf0__1"/>
          <p:cNvSpPr/>
          <p:nvPr/>
        </p:nvSpPr>
        <p:spPr>
          <a:xfrm>
            <a:off x="777240" y="2569464"/>
            <a:ext cx="1554661" cy="292608"/>
          </a:xfrm>
          <a:prstGeom prst="roundRect">
            <a:avLst>
              <a:gd name="adj" fmla="val 25000"/>
            </a:avLst>
          </a:prstGeom>
          <a:solidFill>
            <a:srgbClr val="5F7090"/>
          </a:solidFill>
          <a:ln w="12700">
            <a:solidFill>
              <a:srgbClr val="5F7090"/>
            </a:solidFill>
            <a:prstDash val="solid"/>
          </a:ln>
        </p:spPr>
      </p:sp>
      <p:sp>
        <p:nvSpPr>
          <p:cNvPr id="10" name="gvb__3"/>
          <p:cNvSpPr txBox="1"/>
          <p:nvPr/>
        </p:nvSpPr>
        <p:spPr>
          <a:xfrm>
            <a:off x="777240" y="3108960"/>
            <a:ext cx="4937760" cy="274320"/>
          </a:xfrm>
          <a:prstGeom prst="rect">
            <a:avLst/>
          </a:prstGeom>
          <a:noFill/>
          <a:ln/>
        </p:spPr>
        <p:txBody>
          <a:bodyPr wrap="square" lIns="0" tIns="0" rIns="0" bIns="0" rtlCol="0" anchor="ctr"/>
          <a:lstStyle/>
          <a:p>
            <a:pPr indent="0" marL="0">
              <a:buNone/>
            </a:pPr>
            <a:r>
              <a:rPr lang="en-US" sz="1200" b="1" dirty="0">
                <a:solidFill>
                  <a:srgbClr val="F1F5FB"/>
                </a:solidFill>
                <a:latin typeface="Calibri" pitchFamily="34" charset="0"/>
                <a:ea typeface="Calibri" pitchFamily="34" charset="-122"/>
                <a:cs typeface="Calibri" pitchFamily="34" charset="-120"/>
              </a:rPr>
              <a:t>Cygnus (graph + ML)   </a:t>
            </a:r>
            <a:pPr indent="0" marL="0">
              <a:buNone/>
            </a:pPr>
            <a:r>
              <a:rPr lang="en-US" sz="1200" dirty="0">
                <a:solidFill>
                  <a:srgbClr val="9AABC4"/>
                </a:solidFill>
                <a:latin typeface="Calibri" pitchFamily="34" charset="0"/>
                <a:ea typeface="Calibri" pitchFamily="34" charset="-122"/>
                <a:cs typeface="Calibri" pitchFamily="34" charset="-120"/>
              </a:rPr>
              <a:t>846 of 1,010 suspicious accounts caught</a:t>
            </a:r>
            <a:endParaRPr lang="en-US" sz="1200" dirty="0"/>
          </a:p>
        </p:txBody>
      </p:sp>
      <p:sp>
        <p:nvSpPr>
          <p:cNvPr id="11" name="gvb__4"/>
          <p:cNvSpPr/>
          <p:nvPr/>
        </p:nvSpPr>
        <p:spPr>
          <a:xfrm>
            <a:off x="777240" y="3438144"/>
            <a:ext cx="4846320" cy="292608"/>
          </a:xfrm>
          <a:prstGeom prst="roundRect">
            <a:avLst>
              <a:gd name="adj" fmla="val 25000"/>
            </a:avLst>
          </a:prstGeom>
          <a:solidFill>
            <a:srgbClr val="13203A"/>
          </a:solidFill>
          <a:ln w="12700">
            <a:solidFill>
              <a:srgbClr val="13203A"/>
            </a:solidFill>
            <a:prstDash val="solid"/>
          </a:ln>
        </p:spPr>
      </p:sp>
      <p:sp>
        <p:nvSpPr>
          <p:cNvPr id="12" name="gvf1__1"/>
          <p:cNvSpPr/>
          <p:nvPr/>
        </p:nvSpPr>
        <p:spPr>
          <a:xfrm>
            <a:off x="777240" y="3438144"/>
            <a:ext cx="4059393" cy="292608"/>
          </a:xfrm>
          <a:prstGeom prst="roundRect">
            <a:avLst>
              <a:gd name="adj" fmla="val 25000"/>
            </a:avLst>
          </a:prstGeom>
          <a:solidFill>
            <a:srgbClr val="38BDF8"/>
          </a:solidFill>
          <a:ln w="12700">
            <a:solidFill>
              <a:srgbClr val="38BDF8"/>
            </a:solidFill>
            <a:prstDash val="solid"/>
          </a:ln>
        </p:spPr>
      </p:sp>
      <p:sp>
        <p:nvSpPr>
          <p:cNvPr id="13" name="gvo__1"/>
          <p:cNvSpPr txBox="1"/>
          <p:nvPr/>
        </p:nvSpPr>
        <p:spPr>
          <a:xfrm>
            <a:off x="777240" y="4023360"/>
            <a:ext cx="5029200" cy="685800"/>
          </a:xfrm>
          <a:prstGeom prst="rect">
            <a:avLst/>
          </a:prstGeom>
          <a:noFill/>
          <a:ln/>
        </p:spPr>
        <p:txBody>
          <a:bodyPr wrap="square" lIns="0" tIns="0" rIns="0" bIns="0" rtlCol="0" anchor="ctr"/>
          <a:lstStyle/>
          <a:p>
            <a:pPr indent="0" marL="0">
              <a:buNone/>
            </a:pPr>
            <a:r>
              <a:rPr lang="en-US" sz="4000" b="1" dirty="0">
                <a:solidFill>
                  <a:srgbClr val="FF4D5E"/>
                </a:solidFill>
                <a:latin typeface="Arial" pitchFamily="34" charset="0"/>
                <a:ea typeface="Arial" pitchFamily="34" charset="-122"/>
                <a:cs typeface="Arial" pitchFamily="34" charset="-120"/>
              </a:rPr>
              <a:t>561</a:t>
            </a:r>
            <a:pPr indent="0" marL="0">
              <a:buNone/>
            </a:pPr>
            <a:r>
              <a:rPr lang="en-US" sz="1400" b="1" dirty="0">
                <a:solidFill>
                  <a:srgbClr val="F1F5FB"/>
                </a:solidFill>
                <a:latin typeface="Calibri" pitchFamily="34" charset="0"/>
                <a:ea typeface="Calibri" pitchFamily="34" charset="-122"/>
                <a:cs typeface="Calibri" pitchFamily="34" charset="-120"/>
              </a:rPr>
              <a:t>  missed by rules, caught via the network</a:t>
            </a:r>
            <a:endParaRPr lang="en-US" sz="4000" dirty="0"/>
          </a:p>
        </p:txBody>
      </p:sp>
      <p:sp>
        <p:nvSpPr>
          <p:cNvPr id="14" name="gvo__2"/>
          <p:cNvSpPr txBox="1"/>
          <p:nvPr/>
        </p:nvSpPr>
        <p:spPr>
          <a:xfrm>
            <a:off x="777240" y="4709160"/>
            <a:ext cx="4983480" cy="118872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Of the 686 accounts the rules miss, the graph model catches 561. On evasive variants built to stay under rule thresholds, rules catch 9.1%, the model without graph features 66.1%, with graph features 82.6%. False alarms fall from 904 to 46.</a:t>
            </a:r>
            <a:endParaRPr lang="en-US" sz="1200" dirty="0"/>
          </a:p>
        </p:txBody>
      </p:sp>
      <p:sp>
        <p:nvSpPr>
          <p:cNvPr id="15" name="fi__1"/>
          <p:cNvSpPr/>
          <p:nvPr/>
        </p:nvSpPr>
        <p:spPr>
          <a:xfrm>
            <a:off x="6172200" y="1645920"/>
            <a:ext cx="5468112" cy="4343400"/>
          </a:xfrm>
          <a:prstGeom prst="roundRect">
            <a:avLst>
              <a:gd name="adj" fmla="val 2526"/>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6" name="fi__2"/>
          <p:cNvSpPr txBox="1"/>
          <p:nvPr/>
        </p:nvSpPr>
        <p:spPr>
          <a:xfrm>
            <a:off x="6400800" y="1783080"/>
            <a:ext cx="5029200" cy="274320"/>
          </a:xfrm>
          <a:prstGeom prst="rect">
            <a:avLst/>
          </a:prstGeom>
          <a:noFill/>
          <a:ln/>
        </p:spPr>
        <p:txBody>
          <a:bodyPr wrap="square" lIns="0" tIns="0" rIns="0" bIns="0" rtlCol="0" anchor="ctr"/>
          <a:lstStyle/>
          <a:p>
            <a:pPr indent="0" marL="0">
              <a:buNone/>
            </a:pPr>
            <a:r>
              <a:rPr lang="en-US" sz="1000" b="1" spc="200" kern="0" dirty="0">
                <a:solidFill>
                  <a:srgbClr val="9AABC4"/>
                </a:solidFill>
                <a:latin typeface="Arial" pitchFamily="34" charset="0"/>
                <a:ea typeface="Arial" pitchFamily="34" charset="-122"/>
                <a:cs typeface="Arial" pitchFamily="34" charset="-120"/>
              </a:rPr>
              <a:t>FEATURE IMPORTANCE  ·  PR-AUC DROP WHEN SHUFFLED</a:t>
            </a:r>
            <a:endParaRPr lang="en-US" sz="1000" dirty="0"/>
          </a:p>
        </p:txBody>
      </p:sp>
      <p:graphicFrame>
        <p:nvGraphicFramePr>
          <p:cNvPr id="17" name="fic__1" descr=""/>
          <p:cNvGraphicFramePr/>
          <p:nvPr/>
        </p:nvGraphicFramePr>
        <p:xfrm>
          <a:off x="6309360" y="2103120"/>
          <a:ext cx="5212080" cy="3063240"/>
        </p:xfrm>
        <a:graphic xmlns:a="http://schemas.openxmlformats.org/drawingml/2006/main">
          <a:graphicData uri="http://schemas.openxmlformats.org/drawingml/2006/chart">
            <c:chart xmlns:c="http://schemas.openxmlformats.org/drawingml/2006/chart" r:id="rId2"/>
          </a:graphicData>
        </a:graphic>
      </p:graphicFrame>
      <p:sp>
        <p:nvSpPr>
          <p:cNvPr id="18" name="fil__1"/>
          <p:cNvSpPr txBox="1"/>
          <p:nvPr/>
        </p:nvSpPr>
        <p:spPr>
          <a:xfrm>
            <a:off x="6400800" y="5230368"/>
            <a:ext cx="5074920" cy="274320"/>
          </a:xfrm>
          <a:prstGeom prst="rect">
            <a:avLst/>
          </a:prstGeom>
          <a:noFill/>
          <a:ln/>
        </p:spPr>
        <p:txBody>
          <a:bodyPr wrap="square" lIns="0" tIns="0" rIns="0" bIns="0" rtlCol="0" anchor="ctr"/>
          <a:lstStyle/>
          <a:p>
            <a:pPr indent="0" marL="0">
              <a:buNone/>
            </a:pPr>
            <a:r>
              <a:rPr lang="en-US" sz="1000" i="1" dirty="0">
                <a:solidFill>
                  <a:srgbClr val="9AABC4"/>
                </a:solidFill>
                <a:latin typeface="Calibri" pitchFamily="34" charset="0"/>
                <a:ea typeface="Calibri" pitchFamily="34" charset="-122"/>
                <a:cs typeface="Calibri" pitchFamily="34" charset="-120"/>
              </a:rPr>
              <a:t>Adding feature families, PR-AUC: transactional 0.66 → + temporal 0.82 → + graph and flow tracing 0.93 → + 2-hop neighbourhood 0.94</a:t>
            </a:r>
            <a:endParaRPr lang="en-US" sz="1000" dirty="0"/>
          </a:p>
        </p:txBody>
      </p:sp>
      <p:sp>
        <p:nvSpPr>
          <p:cNvPr id="19" name="fil__2"/>
          <p:cNvSpPr/>
          <p:nvPr/>
        </p:nvSpPr>
        <p:spPr>
          <a:xfrm>
            <a:off x="6400800" y="5669280"/>
            <a:ext cx="146304" cy="146304"/>
          </a:xfrm>
          <a:prstGeom prst="ellipse">
            <a:avLst/>
          </a:prstGeom>
          <a:solidFill>
            <a:srgbClr val="A78BFA"/>
          </a:solidFill>
          <a:ln w="12700">
            <a:solidFill>
              <a:srgbClr val="A78BFA"/>
            </a:solidFill>
            <a:prstDash val="solid"/>
          </a:ln>
        </p:spPr>
      </p:sp>
      <p:sp>
        <p:nvSpPr>
          <p:cNvPr id="20" name="fil__3"/>
          <p:cNvSpPr txBox="1"/>
          <p:nvPr/>
        </p:nvSpPr>
        <p:spPr>
          <a:xfrm>
            <a:off x="6601968" y="5586984"/>
            <a:ext cx="1371600" cy="310896"/>
          </a:xfrm>
          <a:prstGeom prst="rect">
            <a:avLst/>
          </a:prstGeom>
          <a:noFill/>
          <a:ln/>
        </p:spPr>
        <p:txBody>
          <a:bodyPr wrap="square" lIns="0" tIns="0" rIns="0" bIns="0" rtlCol="0" anchor="ctr"/>
          <a:lstStyle/>
          <a:p>
            <a:pPr indent="0" marL="0">
              <a:buNone/>
            </a:pPr>
            <a:r>
              <a:rPr lang="en-US" sz="1100" dirty="0">
                <a:solidFill>
                  <a:srgbClr val="9AABC4"/>
                </a:solidFill>
                <a:latin typeface="Calibri" pitchFamily="34" charset="0"/>
                <a:ea typeface="Calibri" pitchFamily="34" charset="-122"/>
                <a:cs typeface="Calibri" pitchFamily="34" charset="-120"/>
              </a:rPr>
              <a:t>Graph / network</a:t>
            </a:r>
            <a:endParaRPr lang="en-US" sz="1100" dirty="0"/>
          </a:p>
        </p:txBody>
      </p:sp>
      <p:sp>
        <p:nvSpPr>
          <p:cNvPr id="21" name="fil__4"/>
          <p:cNvSpPr/>
          <p:nvPr/>
        </p:nvSpPr>
        <p:spPr>
          <a:xfrm>
            <a:off x="8001000" y="5669280"/>
            <a:ext cx="146304" cy="146304"/>
          </a:xfrm>
          <a:prstGeom prst="ellipse">
            <a:avLst/>
          </a:prstGeom>
          <a:solidFill>
            <a:srgbClr val="38BDF8"/>
          </a:solidFill>
          <a:ln w="12700">
            <a:solidFill>
              <a:srgbClr val="38BDF8"/>
            </a:solidFill>
            <a:prstDash val="solid"/>
          </a:ln>
        </p:spPr>
      </p:sp>
      <p:sp>
        <p:nvSpPr>
          <p:cNvPr id="22" name="fil__5"/>
          <p:cNvSpPr txBox="1"/>
          <p:nvPr/>
        </p:nvSpPr>
        <p:spPr>
          <a:xfrm>
            <a:off x="8202168" y="5586984"/>
            <a:ext cx="1371600" cy="310896"/>
          </a:xfrm>
          <a:prstGeom prst="rect">
            <a:avLst/>
          </a:prstGeom>
          <a:noFill/>
          <a:ln/>
        </p:spPr>
        <p:txBody>
          <a:bodyPr wrap="square" lIns="0" tIns="0" rIns="0" bIns="0" rtlCol="0" anchor="ctr"/>
          <a:lstStyle/>
          <a:p>
            <a:pPr indent="0" marL="0">
              <a:buNone/>
            </a:pPr>
            <a:r>
              <a:rPr lang="en-US" sz="1100" dirty="0">
                <a:solidFill>
                  <a:srgbClr val="9AABC4"/>
                </a:solidFill>
                <a:latin typeface="Calibri" pitchFamily="34" charset="0"/>
                <a:ea typeface="Calibri" pitchFamily="34" charset="-122"/>
                <a:cs typeface="Calibri" pitchFamily="34" charset="-120"/>
              </a:rPr>
              <a:t>Transactional</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4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4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nodeType="withEffect">
                                  <p:stCondLst>
                                    <p:cond delay="4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4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22" presetClass="entr" presetSubtype="8" fill="hold" nodeType="withEffect">
                                  <p:stCondLst>
                                    <p:cond delay="70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600"/>
                                        <p:tgtEl>
                                          <p:spTgt spid="9"/>
                                        </p:tgtEl>
                                      </p:cBhvr>
                                    </p:animEffect>
                                  </p:childTnLst>
                                </p:cTn>
                              </p:par>
                              <p:par>
                                <p:cTn id="20" presetID="22" presetClass="entr" presetSubtype="8" fill="hold" nodeType="withEffect">
                                  <p:stCondLst>
                                    <p:cond delay="110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800"/>
                                        <p:tgtEl>
                                          <p:spTgt spid="12"/>
                                        </p:tgtEl>
                                      </p:cBhvr>
                                    </p:animEffect>
                                  </p:childTnLst>
                                </p:cTn>
                              </p:par>
                              <p:par>
                                <p:cTn id="23" presetID="53" presetClass="entr" presetSubtype="16" fill="hold" nodeType="withEffect">
                                  <p:stCondLst>
                                    <p:cond delay="190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ppt_w</p:attrName>
                                        </p:attrNameLst>
                                      </p:cBhvr>
                                      <p:tavLst>
                                        <p:tav tm="0">
                                          <p:val>
                                            <p:strVal val="0"/>
                                          </p:val>
                                        </p:tav>
                                        <p:tav tm="100000">
                                          <p:val>
                                            <p:strVal val="#ppt_w"/>
                                          </p:val>
                                        </p:tav>
                                      </p:tavLst>
                                    </p:anim>
                                    <p:anim calcmode="lin" valueType="num">
                                      <p:cBhvr additive="base">
                                        <p:cTn id="26" dur="500" fill="hold"/>
                                        <p:tgtEl>
                                          <p:spTgt spid="13"/>
                                        </p:tgtEl>
                                        <p:attrNameLst>
                                          <p:attrName>ppt_h</p:attrName>
                                        </p:attrNameLst>
                                      </p:cBhvr>
                                      <p:tavLst>
                                        <p:tav tm="0">
                                          <p:val>
                                            <p:strVal val="0"/>
                                          </p:val>
                                        </p:tav>
                                        <p:tav tm="100000">
                                          <p:val>
                                            <p:strVal val="#ppt_h"/>
                                          </p:val>
                                        </p:tav>
                                      </p:tavLst>
                                    </p:anim>
                                    <p:animEffect transition="in" filter="fade">
                                      <p:cBhvr>
                                        <p:cTn id="27" dur="500"/>
                                        <p:tgtEl>
                                          <p:spTgt spid="13"/>
                                        </p:tgtEl>
                                      </p:cBhvr>
                                    </p:animEffect>
                                  </p:childTnLst>
                                </p:cTn>
                              </p:par>
                              <p:par>
                                <p:cTn id="28" presetID="53" presetClass="entr" presetSubtype="16" fill="hold" nodeType="withEffect">
                                  <p:stCondLst>
                                    <p:cond delay="19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ppt_w</p:attrName>
                                        </p:attrNameLst>
                                      </p:cBhvr>
                                      <p:tavLst>
                                        <p:tav tm="0">
                                          <p:val>
                                            <p:strVal val="0"/>
                                          </p:val>
                                        </p:tav>
                                        <p:tav tm="100000">
                                          <p:val>
                                            <p:strVal val="#ppt_w"/>
                                          </p:val>
                                        </p:tav>
                                      </p:tavLst>
                                    </p:anim>
                                    <p:anim calcmode="lin" valueType="num">
                                      <p:cBhvr additive="base">
                                        <p:cTn id="31" dur="500" fill="hold"/>
                                        <p:tgtEl>
                                          <p:spTgt spid="14"/>
                                        </p:tgtEl>
                                        <p:attrNameLst>
                                          <p:attrName>ppt_h</p:attrName>
                                        </p:attrNameLst>
                                      </p:cBhvr>
                                      <p:tavLst>
                                        <p:tav tm="0">
                                          <p:val>
                                            <p:strVal val="0"/>
                                          </p:val>
                                        </p:tav>
                                        <p:tav tm="100000">
                                          <p:val>
                                            <p:strVal val="#ppt_h"/>
                                          </p:val>
                                        </p:tav>
                                      </p:tavLst>
                                    </p:anim>
                                    <p:animEffect transition="in" filter="fade">
                                      <p:cBhvr>
                                        <p:cTn id="32" dur="500"/>
                                        <p:tgtEl>
                                          <p:spTgt spid="14"/>
                                        </p:tgtEl>
                                      </p:cBhvr>
                                    </p:animEffect>
                                  </p:childTnLst>
                                </p:cTn>
                              </p:par>
                              <p:par>
                                <p:cTn id="33" presetID="10" presetClass="entr" presetSubtype="0" fill="hold" nodeType="withEffect">
                                  <p:stCondLst>
                                    <p:cond delay="2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nodeType="withEffect">
                                  <p:stCondLst>
                                    <p:cond delay="23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22" presetClass="entr" presetSubtype="8" fill="hold" nodeType="withEffect">
                                  <p:stCondLst>
                                    <p:cond delay="250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800"/>
                                        <p:tgtEl>
                                          <p:spTgt spid="17"/>
                                        </p:tgtEl>
                                      </p:cBhvr>
                                    </p:animEffect>
                                  </p:childTnLst>
                                </p:cTn>
                              </p:par>
                              <p:par>
                                <p:cTn id="42" presetID="10" presetClass="entr" presetSubtype="0" fill="hold" nodeType="withEffect">
                                  <p:stCondLst>
                                    <p:cond delay="290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nodeType="withEffect">
                                  <p:stCondLst>
                                    <p:cond delay="290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nodeType="withEffect">
                                  <p:stCondLst>
                                    <p:cond delay="290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nodeType="withEffect">
                                  <p:stCondLst>
                                    <p:cond delay="290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nodeType="withEffect">
                                  <p:stCondLst>
                                    <p:cond delay="290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15  ·  ARCHITECTURE</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Four services, one Docker Compose stack</a:t>
            </a:r>
            <a:endParaRPr lang="en-US" sz="3400" dirty="0"/>
          </a:p>
        </p:txBody>
      </p:sp>
      <p:sp>
        <p:nvSpPr>
          <p:cNvPr id="5" name="dock__1"/>
          <p:cNvSpPr/>
          <p:nvPr/>
        </p:nvSpPr>
        <p:spPr>
          <a:xfrm>
            <a:off x="548640" y="1645920"/>
            <a:ext cx="11091672" cy="3611880"/>
          </a:xfrm>
          <a:prstGeom prst="roundRect">
            <a:avLst>
              <a:gd name="adj" fmla="val 3038"/>
            </a:avLst>
          </a:prstGeom>
          <a:solidFill>
            <a:srgbClr val="0E1729">
              <a:alpha val="45000"/>
            </a:srgbClr>
          </a:solidFill>
          <a:ln w="12700">
            <a:solidFill>
              <a:srgbClr val="0284C7"/>
            </a:solidFill>
            <a:prstDash val="dash"/>
          </a:ln>
        </p:spPr>
      </p:sp>
      <p:sp>
        <p:nvSpPr>
          <p:cNvPr id="6" name="dock__2"/>
          <p:cNvSpPr txBox="1"/>
          <p:nvPr/>
        </p:nvSpPr>
        <p:spPr>
          <a:xfrm>
            <a:off x="777240" y="1755648"/>
            <a:ext cx="274320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Arial" pitchFamily="34" charset="0"/>
                <a:ea typeface="Arial" pitchFamily="34" charset="-122"/>
                <a:cs typeface="Arial" pitchFamily="34" charset="-120"/>
              </a:rPr>
              <a:t>DOCKER COMPOSE</a:t>
            </a:r>
            <a:endParaRPr lang="en-US" sz="1100" dirty="0"/>
          </a:p>
        </p:txBody>
      </p:sp>
      <p:sp>
        <p:nvSpPr>
          <p:cNvPr id="7" name="sv0__1"/>
          <p:cNvSpPr/>
          <p:nvPr/>
        </p:nvSpPr>
        <p:spPr>
          <a:xfrm>
            <a:off x="777240" y="2651760"/>
            <a:ext cx="2514600" cy="1691640"/>
          </a:xfrm>
          <a:prstGeom prst="roundRect">
            <a:avLst>
              <a:gd name="adj" fmla="val 6486"/>
            </a:avLst>
          </a:prstGeom>
          <a:solidFill>
            <a:srgbClr val="13203A">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8" name="sv0__2"/>
          <p:cNvSpPr/>
          <p:nvPr/>
        </p:nvSpPr>
        <p:spPr>
          <a:xfrm>
            <a:off x="960120" y="2852928"/>
            <a:ext cx="548640" cy="548640"/>
          </a:xfrm>
          <a:prstGeom prst="ellipse">
            <a:avLst/>
          </a:prstGeom>
          <a:solidFill>
            <a:srgbClr val="38BDF8">
              <a:alpha val="18000"/>
            </a:srgbClr>
          </a:solidFill>
          <a:ln w="12700">
            <a:solidFill>
              <a:srgbClr val="38BDF8">
                <a:alpha val="60000"/>
              </a:srgbClr>
            </a:solidFill>
            <a:prstDash val="solid"/>
          </a:ln>
        </p:spPr>
      </p:sp>
      <p:pic>
        <p:nvPicPr>
          <p:cNvPr id="9" name="sv0__3" descr="preencoded.png">    </p:cNvPr>
          <p:cNvPicPr>
            <a:picLocks noChangeAspect="1"/>
          </p:cNvPicPr>
          <p:nvPr/>
        </p:nvPicPr>
        <p:blipFill>
          <a:blip r:embed="rId2"/>
          <a:stretch>
            <a:fillRect/>
          </a:stretch>
        </p:blipFill>
        <p:spPr>
          <a:xfrm>
            <a:off x="1097280" y="2990088"/>
            <a:ext cx="274320" cy="274320"/>
          </a:xfrm>
          <a:prstGeom prst="rect">
            <a:avLst/>
          </a:prstGeom>
        </p:spPr>
      </p:pic>
      <p:sp>
        <p:nvSpPr>
          <p:cNvPr id="10" name="sv0__4"/>
          <p:cNvSpPr txBox="1"/>
          <p:nvPr/>
        </p:nvSpPr>
        <p:spPr>
          <a:xfrm>
            <a:off x="1618488" y="2834640"/>
            <a:ext cx="155448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Dashboard</a:t>
            </a:r>
            <a:endParaRPr lang="en-US" sz="1500" dirty="0"/>
          </a:p>
        </p:txBody>
      </p:sp>
      <p:sp>
        <p:nvSpPr>
          <p:cNvPr id="11" name="sv0__5"/>
          <p:cNvSpPr txBox="1"/>
          <p:nvPr/>
        </p:nvSpPr>
        <p:spPr>
          <a:xfrm>
            <a:off x="1618488" y="3154680"/>
            <a:ext cx="1554480" cy="274320"/>
          </a:xfrm>
          <a:prstGeom prst="rect">
            <a:avLst/>
          </a:prstGeom>
          <a:noFill/>
          <a:ln/>
        </p:spPr>
        <p:txBody>
          <a:bodyPr wrap="square" lIns="0" tIns="0" rIns="0" bIns="0"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React · Vite · Recharts</a:t>
            </a:r>
            <a:endParaRPr lang="en-US" sz="1200" dirty="0"/>
          </a:p>
        </p:txBody>
      </p:sp>
      <p:sp>
        <p:nvSpPr>
          <p:cNvPr id="12" name="sv0__6"/>
          <p:cNvSpPr txBox="1"/>
          <p:nvPr/>
        </p:nvSpPr>
        <p:spPr>
          <a:xfrm>
            <a:off x="960120" y="3520440"/>
            <a:ext cx="2194560" cy="73152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Follow the Money, AI Investigator, analytics</a:t>
            </a:r>
            <a:endParaRPr lang="en-US" sz="1300" dirty="0"/>
          </a:p>
        </p:txBody>
      </p:sp>
      <p:sp>
        <p:nvSpPr>
          <p:cNvPr id="13" name="sv1__1"/>
          <p:cNvSpPr/>
          <p:nvPr/>
        </p:nvSpPr>
        <p:spPr>
          <a:xfrm>
            <a:off x="3703320" y="2651760"/>
            <a:ext cx="2514600" cy="1691640"/>
          </a:xfrm>
          <a:prstGeom prst="roundRect">
            <a:avLst>
              <a:gd name="adj" fmla="val 6486"/>
            </a:avLst>
          </a:prstGeom>
          <a:solidFill>
            <a:srgbClr val="13203A">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4" name="sv1__2"/>
          <p:cNvSpPr/>
          <p:nvPr/>
        </p:nvSpPr>
        <p:spPr>
          <a:xfrm>
            <a:off x="3886200" y="2852928"/>
            <a:ext cx="548640" cy="548640"/>
          </a:xfrm>
          <a:prstGeom prst="ellipse">
            <a:avLst/>
          </a:prstGeom>
          <a:solidFill>
            <a:srgbClr val="34D399">
              <a:alpha val="18000"/>
            </a:srgbClr>
          </a:solidFill>
          <a:ln w="12700">
            <a:solidFill>
              <a:srgbClr val="34D399">
                <a:alpha val="60000"/>
              </a:srgbClr>
            </a:solidFill>
            <a:prstDash val="solid"/>
          </a:ln>
        </p:spPr>
      </p:sp>
      <p:pic>
        <p:nvPicPr>
          <p:cNvPr id="15" name="sv1__3" descr="preencoded.png">    </p:cNvPr>
          <p:cNvPicPr>
            <a:picLocks noChangeAspect="1"/>
          </p:cNvPicPr>
          <p:nvPr/>
        </p:nvPicPr>
        <p:blipFill>
          <a:blip r:embed="rId3"/>
          <a:stretch>
            <a:fillRect/>
          </a:stretch>
        </p:blipFill>
        <p:spPr>
          <a:xfrm>
            <a:off x="4023360" y="2990088"/>
            <a:ext cx="274320" cy="274320"/>
          </a:xfrm>
          <a:prstGeom prst="rect">
            <a:avLst/>
          </a:prstGeom>
        </p:spPr>
      </p:pic>
      <p:sp>
        <p:nvSpPr>
          <p:cNvPr id="16" name="sv1__4"/>
          <p:cNvSpPr txBox="1"/>
          <p:nvPr/>
        </p:nvSpPr>
        <p:spPr>
          <a:xfrm>
            <a:off x="4544568" y="2834640"/>
            <a:ext cx="155448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API gateway</a:t>
            </a:r>
            <a:endParaRPr lang="en-US" sz="1500" dirty="0"/>
          </a:p>
        </p:txBody>
      </p:sp>
      <p:sp>
        <p:nvSpPr>
          <p:cNvPr id="17" name="sv1__5"/>
          <p:cNvSpPr txBox="1"/>
          <p:nvPr/>
        </p:nvSpPr>
        <p:spPr>
          <a:xfrm>
            <a:off x="4544568" y="3154680"/>
            <a:ext cx="1554480" cy="274320"/>
          </a:xfrm>
          <a:prstGeom prst="rect">
            <a:avLst/>
          </a:prstGeom>
          <a:noFill/>
          <a:ln/>
        </p:spPr>
        <p:txBody>
          <a:bodyPr wrap="square" lIns="0" tIns="0" rIns="0" bIns="0" rtlCol="0" anchor="ctr"/>
          <a:lstStyle/>
          <a:p>
            <a:pPr indent="0" marL="0">
              <a:buNone/>
            </a:pPr>
            <a:r>
              <a:rPr lang="en-US" sz="1200" b="1" dirty="0">
                <a:solidFill>
                  <a:srgbClr val="34D399"/>
                </a:solidFill>
                <a:latin typeface="Calibri" pitchFamily="34" charset="0"/>
                <a:ea typeface="Calibri" pitchFamily="34" charset="-122"/>
                <a:cs typeface="Calibri" pitchFamily="34" charset="-120"/>
              </a:rPr>
              <a:t>Node.js · Express</a:t>
            </a:r>
            <a:endParaRPr lang="en-US" sz="1200" dirty="0"/>
          </a:p>
        </p:txBody>
      </p:sp>
      <p:sp>
        <p:nvSpPr>
          <p:cNvPr id="18" name="sv1__6"/>
          <p:cNvSpPr txBox="1"/>
          <p:nvPr/>
        </p:nvSpPr>
        <p:spPr>
          <a:xfrm>
            <a:off x="3886200" y="3520440"/>
            <a:ext cx="2194560" cy="73152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Routes requests, caches pipeline results</a:t>
            </a:r>
            <a:endParaRPr lang="en-US" sz="1300" dirty="0"/>
          </a:p>
        </p:txBody>
      </p:sp>
      <p:sp>
        <p:nvSpPr>
          <p:cNvPr id="19" name="sv2__1"/>
          <p:cNvSpPr/>
          <p:nvPr/>
        </p:nvSpPr>
        <p:spPr>
          <a:xfrm>
            <a:off x="6675120" y="2103120"/>
            <a:ext cx="2788920" cy="1417320"/>
          </a:xfrm>
          <a:prstGeom prst="roundRect">
            <a:avLst>
              <a:gd name="adj" fmla="val 7742"/>
            </a:avLst>
          </a:prstGeom>
          <a:solidFill>
            <a:srgbClr val="13203A">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0" name="sv2__2"/>
          <p:cNvSpPr/>
          <p:nvPr/>
        </p:nvSpPr>
        <p:spPr>
          <a:xfrm>
            <a:off x="6858000" y="2304288"/>
            <a:ext cx="548640" cy="548640"/>
          </a:xfrm>
          <a:prstGeom prst="ellipse">
            <a:avLst/>
          </a:prstGeom>
          <a:solidFill>
            <a:srgbClr val="A78BFA">
              <a:alpha val="18000"/>
            </a:srgbClr>
          </a:solidFill>
          <a:ln w="12700">
            <a:solidFill>
              <a:srgbClr val="A78BFA">
                <a:alpha val="60000"/>
              </a:srgbClr>
            </a:solidFill>
            <a:prstDash val="solid"/>
          </a:ln>
        </p:spPr>
      </p:sp>
      <p:pic>
        <p:nvPicPr>
          <p:cNvPr id="21" name="sv2__3" descr="preencoded.png">    </p:cNvPr>
          <p:cNvPicPr>
            <a:picLocks noChangeAspect="1"/>
          </p:cNvPicPr>
          <p:nvPr/>
        </p:nvPicPr>
        <p:blipFill>
          <a:blip r:embed="rId4"/>
          <a:stretch>
            <a:fillRect/>
          </a:stretch>
        </p:blipFill>
        <p:spPr>
          <a:xfrm>
            <a:off x="6995160" y="2441448"/>
            <a:ext cx="274320" cy="274320"/>
          </a:xfrm>
          <a:prstGeom prst="rect">
            <a:avLst/>
          </a:prstGeom>
        </p:spPr>
      </p:pic>
      <p:sp>
        <p:nvSpPr>
          <p:cNvPr id="22" name="sv2__4"/>
          <p:cNvSpPr txBox="1"/>
          <p:nvPr/>
        </p:nvSpPr>
        <p:spPr>
          <a:xfrm>
            <a:off x="7516368" y="2286000"/>
            <a:ext cx="182880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Graph engine</a:t>
            </a:r>
            <a:endParaRPr lang="en-US" sz="1500" dirty="0"/>
          </a:p>
        </p:txBody>
      </p:sp>
      <p:sp>
        <p:nvSpPr>
          <p:cNvPr id="23" name="sv2__5"/>
          <p:cNvSpPr txBox="1"/>
          <p:nvPr/>
        </p:nvSpPr>
        <p:spPr>
          <a:xfrm>
            <a:off x="7516368" y="2606040"/>
            <a:ext cx="1828800" cy="274320"/>
          </a:xfrm>
          <a:prstGeom prst="rect">
            <a:avLst/>
          </a:prstGeom>
          <a:noFill/>
          <a:ln/>
        </p:spPr>
        <p:txBody>
          <a:bodyPr wrap="square" lIns="0" tIns="0" rIns="0" bIns="0" rtlCol="0" anchor="ctr"/>
          <a:lstStyle/>
          <a:p>
            <a:pPr indent="0" marL="0">
              <a:buNone/>
            </a:pPr>
            <a:r>
              <a:rPr lang="en-US" sz="1200" b="1" dirty="0">
                <a:solidFill>
                  <a:srgbClr val="A78BFA"/>
                </a:solidFill>
                <a:latin typeface="Calibri" pitchFamily="34" charset="0"/>
                <a:ea typeface="Calibri" pitchFamily="34" charset="-122"/>
                <a:cs typeface="Calibri" pitchFamily="34" charset="-120"/>
              </a:rPr>
              <a:t>FastAPI · NetworkX</a:t>
            </a:r>
            <a:endParaRPr lang="en-US" sz="1200" dirty="0"/>
          </a:p>
        </p:txBody>
      </p:sp>
      <p:sp>
        <p:nvSpPr>
          <p:cNvPr id="24" name="sv2__6"/>
          <p:cNvSpPr txBox="1"/>
          <p:nvPr/>
        </p:nvSpPr>
        <p:spPr>
          <a:xfrm>
            <a:off x="6858000" y="2971800"/>
            <a:ext cx="2468880" cy="45720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Graph build and pattern detectors</a:t>
            </a:r>
            <a:endParaRPr lang="en-US" sz="1300" dirty="0"/>
          </a:p>
        </p:txBody>
      </p:sp>
      <p:sp>
        <p:nvSpPr>
          <p:cNvPr id="25" name="sv3__1"/>
          <p:cNvSpPr/>
          <p:nvPr/>
        </p:nvSpPr>
        <p:spPr>
          <a:xfrm>
            <a:off x="6675120" y="3657600"/>
            <a:ext cx="2788920" cy="1417320"/>
          </a:xfrm>
          <a:prstGeom prst="roundRect">
            <a:avLst>
              <a:gd name="adj" fmla="val 7742"/>
            </a:avLst>
          </a:prstGeom>
          <a:solidFill>
            <a:srgbClr val="13203A">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6" name="sv3__2"/>
          <p:cNvSpPr/>
          <p:nvPr/>
        </p:nvSpPr>
        <p:spPr>
          <a:xfrm>
            <a:off x="6858000" y="3858768"/>
            <a:ext cx="548640" cy="548640"/>
          </a:xfrm>
          <a:prstGeom prst="ellipse">
            <a:avLst/>
          </a:prstGeom>
          <a:solidFill>
            <a:srgbClr val="F5A524">
              <a:alpha val="18000"/>
            </a:srgbClr>
          </a:solidFill>
          <a:ln w="12700">
            <a:solidFill>
              <a:srgbClr val="F5A524">
                <a:alpha val="60000"/>
              </a:srgbClr>
            </a:solidFill>
            <a:prstDash val="solid"/>
          </a:ln>
        </p:spPr>
      </p:sp>
      <p:pic>
        <p:nvPicPr>
          <p:cNvPr id="27" name="sv3__3" descr="preencoded.png">    </p:cNvPr>
          <p:cNvPicPr>
            <a:picLocks noChangeAspect="1"/>
          </p:cNvPicPr>
          <p:nvPr/>
        </p:nvPicPr>
        <p:blipFill>
          <a:blip r:embed="rId5"/>
          <a:stretch>
            <a:fillRect/>
          </a:stretch>
        </p:blipFill>
        <p:spPr>
          <a:xfrm>
            <a:off x="6995160" y="3995928"/>
            <a:ext cx="274320" cy="274320"/>
          </a:xfrm>
          <a:prstGeom prst="rect">
            <a:avLst/>
          </a:prstGeom>
        </p:spPr>
      </p:pic>
      <p:sp>
        <p:nvSpPr>
          <p:cNvPr id="28" name="sv3__4"/>
          <p:cNvSpPr txBox="1"/>
          <p:nvPr/>
        </p:nvSpPr>
        <p:spPr>
          <a:xfrm>
            <a:off x="7516368" y="3840480"/>
            <a:ext cx="182880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ML engine</a:t>
            </a:r>
            <a:endParaRPr lang="en-US" sz="1500" dirty="0"/>
          </a:p>
        </p:txBody>
      </p:sp>
      <p:sp>
        <p:nvSpPr>
          <p:cNvPr id="29" name="sv3__5"/>
          <p:cNvSpPr txBox="1"/>
          <p:nvPr/>
        </p:nvSpPr>
        <p:spPr>
          <a:xfrm>
            <a:off x="7516368" y="4160520"/>
            <a:ext cx="1828800" cy="274320"/>
          </a:xfrm>
          <a:prstGeom prst="rect">
            <a:avLst/>
          </a:prstGeom>
          <a:noFill/>
          <a:ln/>
        </p:spPr>
        <p:txBody>
          <a:bodyPr wrap="square" lIns="0" tIns="0" rIns="0" bIns="0" rtlCol="0" anchor="ctr"/>
          <a:lstStyle/>
          <a:p>
            <a:pPr indent="0" marL="0">
              <a:buNone/>
            </a:pPr>
            <a:r>
              <a:rPr lang="en-US" sz="1200" b="1" dirty="0">
                <a:solidFill>
                  <a:srgbClr val="F5A524"/>
                </a:solidFill>
                <a:latin typeface="Calibri" pitchFamily="34" charset="0"/>
                <a:ea typeface="Calibri" pitchFamily="34" charset="-122"/>
                <a:cs typeface="Calibri" pitchFamily="34" charset="-120"/>
              </a:rPr>
              <a:t>FastAPI · scikit-learn</a:t>
            </a:r>
            <a:endParaRPr lang="en-US" sz="1200" dirty="0"/>
          </a:p>
        </p:txBody>
      </p:sp>
      <p:sp>
        <p:nvSpPr>
          <p:cNvPr id="30" name="sv3__6"/>
          <p:cNvSpPr txBox="1"/>
          <p:nvPr/>
        </p:nvSpPr>
        <p:spPr>
          <a:xfrm>
            <a:off x="6858000" y="4526280"/>
            <a:ext cx="2468880" cy="45720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Isolation Forest, risk score, AI Investigator</a:t>
            </a:r>
            <a:endParaRPr lang="en-US" sz="1300" dirty="0"/>
          </a:p>
        </p:txBody>
      </p:sp>
      <p:sp>
        <p:nvSpPr>
          <p:cNvPr id="31" name="sv4__1"/>
          <p:cNvSpPr/>
          <p:nvPr/>
        </p:nvSpPr>
        <p:spPr>
          <a:xfrm>
            <a:off x="9829800" y="2651760"/>
            <a:ext cx="1691640" cy="1691640"/>
          </a:xfrm>
          <a:prstGeom prst="roundRect">
            <a:avLst>
              <a:gd name="adj" fmla="val 6486"/>
            </a:avLst>
          </a:prstGeom>
          <a:solidFill>
            <a:srgbClr val="13203A">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32" name="sv4__2"/>
          <p:cNvSpPr/>
          <p:nvPr/>
        </p:nvSpPr>
        <p:spPr>
          <a:xfrm>
            <a:off x="10012680" y="2852928"/>
            <a:ext cx="548640" cy="548640"/>
          </a:xfrm>
          <a:prstGeom prst="ellipse">
            <a:avLst/>
          </a:prstGeom>
          <a:solidFill>
            <a:srgbClr val="FF4D5E">
              <a:alpha val="18000"/>
            </a:srgbClr>
          </a:solidFill>
          <a:ln w="12700">
            <a:solidFill>
              <a:srgbClr val="FF4D5E">
                <a:alpha val="60000"/>
              </a:srgbClr>
            </a:solidFill>
            <a:prstDash val="solid"/>
          </a:ln>
        </p:spPr>
      </p:sp>
      <p:pic>
        <p:nvPicPr>
          <p:cNvPr id="33" name="sv4__3" descr="preencoded.png">    </p:cNvPr>
          <p:cNvPicPr>
            <a:picLocks noChangeAspect="1"/>
          </p:cNvPicPr>
          <p:nvPr/>
        </p:nvPicPr>
        <p:blipFill>
          <a:blip r:embed="rId6"/>
          <a:stretch>
            <a:fillRect/>
          </a:stretch>
        </p:blipFill>
        <p:spPr>
          <a:xfrm>
            <a:off x="10149840" y="2990088"/>
            <a:ext cx="274320" cy="274320"/>
          </a:xfrm>
          <a:prstGeom prst="rect">
            <a:avLst/>
          </a:prstGeom>
        </p:spPr>
      </p:pic>
      <p:sp>
        <p:nvSpPr>
          <p:cNvPr id="34" name="sv4__4"/>
          <p:cNvSpPr txBox="1"/>
          <p:nvPr/>
        </p:nvSpPr>
        <p:spPr>
          <a:xfrm>
            <a:off x="10671048" y="2834640"/>
            <a:ext cx="731520" cy="329184"/>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Data</a:t>
            </a:r>
            <a:endParaRPr lang="en-US" sz="1500" dirty="0"/>
          </a:p>
        </p:txBody>
      </p:sp>
      <p:sp>
        <p:nvSpPr>
          <p:cNvPr id="35" name="sv4__5"/>
          <p:cNvSpPr txBox="1"/>
          <p:nvPr/>
        </p:nvSpPr>
        <p:spPr>
          <a:xfrm>
            <a:off x="10671048" y="3154680"/>
            <a:ext cx="731520" cy="274320"/>
          </a:xfrm>
          <a:prstGeom prst="rect">
            <a:avLst/>
          </a:prstGeom>
          <a:noFill/>
          <a:ln/>
        </p:spPr>
        <p:txBody>
          <a:bodyPr wrap="square" lIns="0" tIns="0" rIns="0" bIns="0" rtlCol="0" anchor="ctr"/>
          <a:lstStyle/>
          <a:p>
            <a:pPr indent="0" marL="0">
              <a:buNone/>
            </a:pPr>
            <a:r>
              <a:rPr lang="en-US" sz="1200" b="1" dirty="0">
                <a:solidFill>
                  <a:srgbClr val="FF4D5E"/>
                </a:solidFill>
                <a:latin typeface="Calibri" pitchFamily="34" charset="0"/>
                <a:ea typeface="Calibri" pitchFamily="34" charset="-122"/>
                <a:cs typeface="Calibri" pitchFamily="34" charset="-120"/>
              </a:rPr>
              <a:t>Generator</a:t>
            </a:r>
            <a:endParaRPr lang="en-US" sz="1200" dirty="0"/>
          </a:p>
        </p:txBody>
      </p:sp>
      <p:sp>
        <p:nvSpPr>
          <p:cNvPr id="36" name="sv4__6"/>
          <p:cNvSpPr txBox="1"/>
          <p:nvPr/>
        </p:nvSpPr>
        <p:spPr>
          <a:xfrm>
            <a:off x="10012680" y="3520440"/>
            <a:ext cx="1371600" cy="73152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239 txns, 11 scenarios</a:t>
            </a:r>
            <a:endParaRPr lang="en-US" sz="1300" dirty="0"/>
          </a:p>
        </p:txBody>
      </p:sp>
      <p:sp>
        <p:nvSpPr>
          <p:cNvPr id="37" name="svA__1"/>
          <p:cNvSpPr/>
          <p:nvPr/>
        </p:nvSpPr>
        <p:spPr>
          <a:xfrm>
            <a:off x="3291840" y="3493008"/>
            <a:ext cx="411480" cy="914"/>
          </a:xfrm>
          <a:prstGeom prst="line">
            <a:avLst/>
          </a:prstGeom>
          <a:noFill/>
          <a:ln w="22225">
            <a:solidFill>
              <a:srgbClr val="38BDF8"/>
            </a:solidFill>
            <a:prstDash val="solid"/>
            <a:tailEnd type="triangle"/>
          </a:ln>
        </p:spPr>
      </p:sp>
      <p:sp>
        <p:nvSpPr>
          <p:cNvPr id="38" name="svA__2"/>
          <p:cNvSpPr/>
          <p:nvPr/>
        </p:nvSpPr>
        <p:spPr>
          <a:xfrm flipV="1">
            <a:off x="6217920" y="2816352"/>
            <a:ext cx="457200" cy="475488"/>
          </a:xfrm>
          <a:prstGeom prst="line">
            <a:avLst/>
          </a:prstGeom>
          <a:noFill/>
          <a:ln w="22225">
            <a:solidFill>
              <a:srgbClr val="38BDF8"/>
            </a:solidFill>
            <a:prstDash val="solid"/>
            <a:tailEnd type="triangle"/>
          </a:ln>
        </p:spPr>
      </p:sp>
      <p:sp>
        <p:nvSpPr>
          <p:cNvPr id="39" name="svA__3"/>
          <p:cNvSpPr/>
          <p:nvPr/>
        </p:nvSpPr>
        <p:spPr>
          <a:xfrm>
            <a:off x="6217920" y="3703320"/>
            <a:ext cx="457200" cy="667512"/>
          </a:xfrm>
          <a:prstGeom prst="line">
            <a:avLst/>
          </a:prstGeom>
          <a:noFill/>
          <a:ln w="22225">
            <a:solidFill>
              <a:srgbClr val="38BDF8"/>
            </a:solidFill>
            <a:prstDash val="solid"/>
            <a:tailEnd type="triangle"/>
          </a:ln>
        </p:spPr>
      </p:sp>
      <p:sp>
        <p:nvSpPr>
          <p:cNvPr id="40" name="svA__4"/>
          <p:cNvSpPr/>
          <p:nvPr/>
        </p:nvSpPr>
        <p:spPr>
          <a:xfrm flipH="1" flipV="1">
            <a:off x="9464040" y="2816352"/>
            <a:ext cx="365760" cy="384048"/>
          </a:xfrm>
          <a:prstGeom prst="line">
            <a:avLst/>
          </a:prstGeom>
          <a:noFill/>
          <a:ln w="19050">
            <a:solidFill>
              <a:srgbClr val="FF4D5E"/>
            </a:solidFill>
            <a:prstDash val="dash"/>
            <a:tailEnd type="triangle"/>
          </a:ln>
        </p:spPr>
      </p:sp>
      <p:sp>
        <p:nvSpPr>
          <p:cNvPr id="41" name="svA__5"/>
          <p:cNvSpPr/>
          <p:nvPr/>
        </p:nvSpPr>
        <p:spPr>
          <a:xfrm flipH="1">
            <a:off x="9464040" y="3794760"/>
            <a:ext cx="365760" cy="576072"/>
          </a:xfrm>
          <a:prstGeom prst="line">
            <a:avLst/>
          </a:prstGeom>
          <a:noFill/>
          <a:ln w="19050">
            <a:solidFill>
              <a:srgbClr val="FF4D5E"/>
            </a:solidFill>
            <a:prstDash val="dash"/>
            <a:tailEnd type="triangle"/>
          </a:ln>
        </p:spPr>
      </p:sp>
      <p:sp>
        <p:nvSpPr>
          <p:cNvPr id="42" name="stk__1"/>
          <p:cNvSpPr/>
          <p:nvPr/>
        </p:nvSpPr>
        <p:spPr>
          <a:xfrm>
            <a:off x="548640" y="5532120"/>
            <a:ext cx="822960" cy="365760"/>
          </a:xfrm>
          <a:prstGeom prst="roundRect">
            <a:avLst>
              <a:gd name="adj" fmla="val 50000"/>
            </a:avLst>
          </a:prstGeom>
          <a:solidFill>
            <a:srgbClr val="13203A"/>
          </a:solidFill>
          <a:ln w="9525">
            <a:solidFill>
              <a:srgbClr val="22314F"/>
            </a:solidFill>
            <a:prstDash val="solid"/>
          </a:ln>
        </p:spPr>
      </p:sp>
      <p:sp>
        <p:nvSpPr>
          <p:cNvPr id="43" name="stk__2"/>
          <p:cNvSpPr txBox="1"/>
          <p:nvPr/>
        </p:nvSpPr>
        <p:spPr>
          <a:xfrm>
            <a:off x="548640" y="5532120"/>
            <a:ext cx="822960"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React 19</a:t>
            </a:r>
            <a:endParaRPr lang="en-US" sz="1200" dirty="0"/>
          </a:p>
        </p:txBody>
      </p:sp>
      <p:sp>
        <p:nvSpPr>
          <p:cNvPr id="44" name="stk__3"/>
          <p:cNvSpPr/>
          <p:nvPr/>
        </p:nvSpPr>
        <p:spPr>
          <a:xfrm>
            <a:off x="1449324" y="5532120"/>
            <a:ext cx="530352" cy="365760"/>
          </a:xfrm>
          <a:prstGeom prst="roundRect">
            <a:avLst>
              <a:gd name="adj" fmla="val 50000"/>
            </a:avLst>
          </a:prstGeom>
          <a:solidFill>
            <a:srgbClr val="13203A"/>
          </a:solidFill>
          <a:ln w="9525">
            <a:solidFill>
              <a:srgbClr val="22314F"/>
            </a:solidFill>
            <a:prstDash val="solid"/>
          </a:ln>
        </p:spPr>
      </p:sp>
      <p:sp>
        <p:nvSpPr>
          <p:cNvPr id="45" name="stk__4"/>
          <p:cNvSpPr txBox="1"/>
          <p:nvPr/>
        </p:nvSpPr>
        <p:spPr>
          <a:xfrm>
            <a:off x="1449324" y="5532120"/>
            <a:ext cx="530352"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Vite</a:t>
            </a:r>
            <a:endParaRPr lang="en-US" sz="1200" dirty="0"/>
          </a:p>
        </p:txBody>
      </p:sp>
      <p:sp>
        <p:nvSpPr>
          <p:cNvPr id="46" name="stk__5"/>
          <p:cNvSpPr/>
          <p:nvPr/>
        </p:nvSpPr>
        <p:spPr>
          <a:xfrm>
            <a:off x="2057400" y="5532120"/>
            <a:ext cx="822960" cy="365760"/>
          </a:xfrm>
          <a:prstGeom prst="roundRect">
            <a:avLst>
              <a:gd name="adj" fmla="val 50000"/>
            </a:avLst>
          </a:prstGeom>
          <a:solidFill>
            <a:srgbClr val="13203A"/>
          </a:solidFill>
          <a:ln w="9525">
            <a:solidFill>
              <a:srgbClr val="22314F"/>
            </a:solidFill>
            <a:prstDash val="solid"/>
          </a:ln>
        </p:spPr>
      </p:sp>
      <p:sp>
        <p:nvSpPr>
          <p:cNvPr id="47" name="stk__6"/>
          <p:cNvSpPr txBox="1"/>
          <p:nvPr/>
        </p:nvSpPr>
        <p:spPr>
          <a:xfrm>
            <a:off x="2057400" y="5532120"/>
            <a:ext cx="822960"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Tailwind</a:t>
            </a:r>
            <a:endParaRPr lang="en-US" sz="1200" dirty="0"/>
          </a:p>
        </p:txBody>
      </p:sp>
      <p:sp>
        <p:nvSpPr>
          <p:cNvPr id="48" name="stk__7"/>
          <p:cNvSpPr/>
          <p:nvPr/>
        </p:nvSpPr>
        <p:spPr>
          <a:xfrm>
            <a:off x="2958084" y="5532120"/>
            <a:ext cx="822960" cy="365760"/>
          </a:xfrm>
          <a:prstGeom prst="roundRect">
            <a:avLst>
              <a:gd name="adj" fmla="val 50000"/>
            </a:avLst>
          </a:prstGeom>
          <a:solidFill>
            <a:srgbClr val="13203A"/>
          </a:solidFill>
          <a:ln w="9525">
            <a:solidFill>
              <a:srgbClr val="22314F"/>
            </a:solidFill>
            <a:prstDash val="solid"/>
          </a:ln>
        </p:spPr>
      </p:sp>
      <p:sp>
        <p:nvSpPr>
          <p:cNvPr id="49" name="stk__8"/>
          <p:cNvSpPr txBox="1"/>
          <p:nvPr/>
        </p:nvSpPr>
        <p:spPr>
          <a:xfrm>
            <a:off x="2958084" y="5532120"/>
            <a:ext cx="822960"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Recharts</a:t>
            </a:r>
            <a:endParaRPr lang="en-US" sz="1200" dirty="0"/>
          </a:p>
        </p:txBody>
      </p:sp>
      <p:sp>
        <p:nvSpPr>
          <p:cNvPr id="50" name="stk__9"/>
          <p:cNvSpPr/>
          <p:nvPr/>
        </p:nvSpPr>
        <p:spPr>
          <a:xfrm>
            <a:off x="3858768" y="5532120"/>
            <a:ext cx="749808" cy="365760"/>
          </a:xfrm>
          <a:prstGeom prst="roundRect">
            <a:avLst>
              <a:gd name="adj" fmla="val 50000"/>
            </a:avLst>
          </a:prstGeom>
          <a:solidFill>
            <a:srgbClr val="13203A"/>
          </a:solidFill>
          <a:ln w="9525">
            <a:solidFill>
              <a:srgbClr val="22314F"/>
            </a:solidFill>
            <a:prstDash val="solid"/>
          </a:ln>
        </p:spPr>
      </p:sp>
      <p:sp>
        <p:nvSpPr>
          <p:cNvPr id="51" name="stk__10"/>
          <p:cNvSpPr txBox="1"/>
          <p:nvPr/>
        </p:nvSpPr>
        <p:spPr>
          <a:xfrm>
            <a:off x="3858768" y="5532120"/>
            <a:ext cx="749808"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Node.js</a:t>
            </a:r>
            <a:endParaRPr lang="en-US" sz="1200" dirty="0"/>
          </a:p>
        </p:txBody>
      </p:sp>
      <p:sp>
        <p:nvSpPr>
          <p:cNvPr id="52" name="stk__11"/>
          <p:cNvSpPr/>
          <p:nvPr/>
        </p:nvSpPr>
        <p:spPr>
          <a:xfrm>
            <a:off x="4686300" y="5532120"/>
            <a:ext cx="749808" cy="365760"/>
          </a:xfrm>
          <a:prstGeom prst="roundRect">
            <a:avLst>
              <a:gd name="adj" fmla="val 50000"/>
            </a:avLst>
          </a:prstGeom>
          <a:solidFill>
            <a:srgbClr val="13203A"/>
          </a:solidFill>
          <a:ln w="9525">
            <a:solidFill>
              <a:srgbClr val="22314F"/>
            </a:solidFill>
            <a:prstDash val="solid"/>
          </a:ln>
        </p:spPr>
      </p:sp>
      <p:sp>
        <p:nvSpPr>
          <p:cNvPr id="53" name="stk__12"/>
          <p:cNvSpPr txBox="1"/>
          <p:nvPr/>
        </p:nvSpPr>
        <p:spPr>
          <a:xfrm>
            <a:off x="4686300" y="5532120"/>
            <a:ext cx="749808"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Express</a:t>
            </a:r>
            <a:endParaRPr lang="en-US" sz="1200" dirty="0"/>
          </a:p>
        </p:txBody>
      </p:sp>
      <p:sp>
        <p:nvSpPr>
          <p:cNvPr id="54" name="stk__13"/>
          <p:cNvSpPr/>
          <p:nvPr/>
        </p:nvSpPr>
        <p:spPr>
          <a:xfrm>
            <a:off x="5513832" y="5532120"/>
            <a:ext cx="676656" cy="365760"/>
          </a:xfrm>
          <a:prstGeom prst="roundRect">
            <a:avLst>
              <a:gd name="adj" fmla="val 50000"/>
            </a:avLst>
          </a:prstGeom>
          <a:solidFill>
            <a:srgbClr val="13203A"/>
          </a:solidFill>
          <a:ln w="9525">
            <a:solidFill>
              <a:srgbClr val="22314F"/>
            </a:solidFill>
            <a:prstDash val="solid"/>
          </a:ln>
        </p:spPr>
      </p:sp>
      <p:sp>
        <p:nvSpPr>
          <p:cNvPr id="55" name="stk__14"/>
          <p:cNvSpPr txBox="1"/>
          <p:nvPr/>
        </p:nvSpPr>
        <p:spPr>
          <a:xfrm>
            <a:off x="5513832" y="5532120"/>
            <a:ext cx="676656"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Python</a:t>
            </a:r>
            <a:endParaRPr lang="en-US" sz="1200" dirty="0"/>
          </a:p>
        </p:txBody>
      </p:sp>
      <p:sp>
        <p:nvSpPr>
          <p:cNvPr id="56" name="stk__15"/>
          <p:cNvSpPr/>
          <p:nvPr/>
        </p:nvSpPr>
        <p:spPr>
          <a:xfrm>
            <a:off x="6268212" y="5532120"/>
            <a:ext cx="749808" cy="365760"/>
          </a:xfrm>
          <a:prstGeom prst="roundRect">
            <a:avLst>
              <a:gd name="adj" fmla="val 50000"/>
            </a:avLst>
          </a:prstGeom>
          <a:solidFill>
            <a:srgbClr val="13203A"/>
          </a:solidFill>
          <a:ln w="9525">
            <a:solidFill>
              <a:srgbClr val="22314F"/>
            </a:solidFill>
            <a:prstDash val="solid"/>
          </a:ln>
        </p:spPr>
      </p:sp>
      <p:sp>
        <p:nvSpPr>
          <p:cNvPr id="57" name="stk__16"/>
          <p:cNvSpPr txBox="1"/>
          <p:nvPr/>
        </p:nvSpPr>
        <p:spPr>
          <a:xfrm>
            <a:off x="6268212" y="5532120"/>
            <a:ext cx="749808"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FastAPI</a:t>
            </a:r>
            <a:endParaRPr lang="en-US" sz="1200" dirty="0"/>
          </a:p>
        </p:txBody>
      </p:sp>
      <p:sp>
        <p:nvSpPr>
          <p:cNvPr id="58" name="stk__17"/>
          <p:cNvSpPr/>
          <p:nvPr/>
        </p:nvSpPr>
        <p:spPr>
          <a:xfrm>
            <a:off x="7095744" y="5532120"/>
            <a:ext cx="822960" cy="365760"/>
          </a:xfrm>
          <a:prstGeom prst="roundRect">
            <a:avLst>
              <a:gd name="adj" fmla="val 50000"/>
            </a:avLst>
          </a:prstGeom>
          <a:solidFill>
            <a:srgbClr val="13203A"/>
          </a:solidFill>
          <a:ln w="9525">
            <a:solidFill>
              <a:srgbClr val="22314F"/>
            </a:solidFill>
            <a:prstDash val="solid"/>
          </a:ln>
        </p:spPr>
      </p:sp>
      <p:sp>
        <p:nvSpPr>
          <p:cNvPr id="59" name="stk__18"/>
          <p:cNvSpPr txBox="1"/>
          <p:nvPr/>
        </p:nvSpPr>
        <p:spPr>
          <a:xfrm>
            <a:off x="7095744" y="5532120"/>
            <a:ext cx="822960"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NetworkX</a:t>
            </a:r>
            <a:endParaRPr lang="en-US" sz="1200" dirty="0"/>
          </a:p>
        </p:txBody>
      </p:sp>
      <p:sp>
        <p:nvSpPr>
          <p:cNvPr id="60" name="stk__19"/>
          <p:cNvSpPr/>
          <p:nvPr/>
        </p:nvSpPr>
        <p:spPr>
          <a:xfrm>
            <a:off x="7996428" y="5532120"/>
            <a:ext cx="676656" cy="365760"/>
          </a:xfrm>
          <a:prstGeom prst="roundRect">
            <a:avLst>
              <a:gd name="adj" fmla="val 50000"/>
            </a:avLst>
          </a:prstGeom>
          <a:solidFill>
            <a:srgbClr val="13203A"/>
          </a:solidFill>
          <a:ln w="9525">
            <a:solidFill>
              <a:srgbClr val="22314F"/>
            </a:solidFill>
            <a:prstDash val="solid"/>
          </a:ln>
        </p:spPr>
      </p:sp>
      <p:sp>
        <p:nvSpPr>
          <p:cNvPr id="61" name="stk__20"/>
          <p:cNvSpPr txBox="1"/>
          <p:nvPr/>
        </p:nvSpPr>
        <p:spPr>
          <a:xfrm>
            <a:off x="7996428" y="5532120"/>
            <a:ext cx="676656"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pandas</a:t>
            </a:r>
            <a:endParaRPr lang="en-US" sz="1200" dirty="0"/>
          </a:p>
        </p:txBody>
      </p:sp>
      <p:sp>
        <p:nvSpPr>
          <p:cNvPr id="62" name="stk__21"/>
          <p:cNvSpPr/>
          <p:nvPr/>
        </p:nvSpPr>
        <p:spPr>
          <a:xfrm>
            <a:off x="8750808" y="5532120"/>
            <a:ext cx="1115568" cy="365760"/>
          </a:xfrm>
          <a:prstGeom prst="roundRect">
            <a:avLst>
              <a:gd name="adj" fmla="val 50000"/>
            </a:avLst>
          </a:prstGeom>
          <a:solidFill>
            <a:srgbClr val="13203A"/>
          </a:solidFill>
          <a:ln w="9525">
            <a:solidFill>
              <a:srgbClr val="22314F"/>
            </a:solidFill>
            <a:prstDash val="solid"/>
          </a:ln>
        </p:spPr>
      </p:sp>
      <p:sp>
        <p:nvSpPr>
          <p:cNvPr id="63" name="stk__22"/>
          <p:cNvSpPr txBox="1"/>
          <p:nvPr/>
        </p:nvSpPr>
        <p:spPr>
          <a:xfrm>
            <a:off x="8750808" y="5532120"/>
            <a:ext cx="1115568"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scikit-learn</a:t>
            </a:r>
            <a:endParaRPr lang="en-US" sz="1200" dirty="0"/>
          </a:p>
        </p:txBody>
      </p:sp>
      <p:sp>
        <p:nvSpPr>
          <p:cNvPr id="64" name="stk__23"/>
          <p:cNvSpPr/>
          <p:nvPr/>
        </p:nvSpPr>
        <p:spPr>
          <a:xfrm>
            <a:off x="9944100" y="5532120"/>
            <a:ext cx="676656" cy="365760"/>
          </a:xfrm>
          <a:prstGeom prst="roundRect">
            <a:avLst>
              <a:gd name="adj" fmla="val 50000"/>
            </a:avLst>
          </a:prstGeom>
          <a:solidFill>
            <a:srgbClr val="13203A"/>
          </a:solidFill>
          <a:ln w="9525">
            <a:solidFill>
              <a:srgbClr val="22314F"/>
            </a:solidFill>
            <a:prstDash val="solid"/>
          </a:ln>
        </p:spPr>
      </p:sp>
      <p:sp>
        <p:nvSpPr>
          <p:cNvPr id="65" name="stk__24"/>
          <p:cNvSpPr txBox="1"/>
          <p:nvPr/>
        </p:nvSpPr>
        <p:spPr>
          <a:xfrm>
            <a:off x="9944100" y="5532120"/>
            <a:ext cx="676656"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pytest</a:t>
            </a:r>
            <a:endParaRPr lang="en-US" sz="1200" dirty="0"/>
          </a:p>
        </p:txBody>
      </p:sp>
      <p:sp>
        <p:nvSpPr>
          <p:cNvPr id="66" name="stk__25"/>
          <p:cNvSpPr/>
          <p:nvPr/>
        </p:nvSpPr>
        <p:spPr>
          <a:xfrm>
            <a:off x="10698480" y="5532120"/>
            <a:ext cx="676656" cy="365760"/>
          </a:xfrm>
          <a:prstGeom prst="roundRect">
            <a:avLst>
              <a:gd name="adj" fmla="val 50000"/>
            </a:avLst>
          </a:prstGeom>
          <a:solidFill>
            <a:srgbClr val="13203A"/>
          </a:solidFill>
          <a:ln w="9525">
            <a:solidFill>
              <a:srgbClr val="22314F"/>
            </a:solidFill>
            <a:prstDash val="solid"/>
          </a:ln>
        </p:spPr>
      </p:sp>
      <p:sp>
        <p:nvSpPr>
          <p:cNvPr id="67" name="stk__26"/>
          <p:cNvSpPr txBox="1"/>
          <p:nvPr/>
        </p:nvSpPr>
        <p:spPr>
          <a:xfrm>
            <a:off x="10698480" y="5532120"/>
            <a:ext cx="676656" cy="365760"/>
          </a:xfrm>
          <a:prstGeom prst="rect">
            <a:avLst/>
          </a:prstGeom>
          <a:noFill/>
          <a:ln/>
        </p:spPr>
        <p:txBody>
          <a:bodyPr wrap="square" lIns="0" tIns="0" rIns="0" bIns="0" rtlCol="0" anchor="ctr"/>
          <a:lstStyle/>
          <a:p>
            <a:pPr algn="ctr" indent="0" marL="0">
              <a:buNone/>
            </a:pPr>
            <a:r>
              <a:rPr lang="en-US" sz="1200" dirty="0">
                <a:solidFill>
                  <a:srgbClr val="F1F5FB"/>
                </a:solidFill>
                <a:latin typeface="Calibri" pitchFamily="34" charset="0"/>
                <a:ea typeface="Calibri" pitchFamily="34" charset="-122"/>
                <a:cs typeface="Calibri" pitchFamily="34" charset="-120"/>
              </a:rPr>
              <a:t>Docker</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42" presetClass="entr" presetSubtype="0" fill="hold" nodeType="withEffect">
                                  <p:stCondLst>
                                    <p:cond delay="50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450"/>
                                        <p:tgtEl>
                                          <p:spTgt spid="31"/>
                                        </p:tgtEl>
                                      </p:cBhvr>
                                    </p:animEffect>
                                    <p:anim calcmode="lin" valueType="num">
                                      <p:cBhvr additive="base">
                                        <p:cTn id="14" dur="450" fill="hold"/>
                                        <p:tgtEl>
                                          <p:spTgt spid="31"/>
                                        </p:tgtEl>
                                        <p:attrNameLst>
                                          <p:attrName>ppt_x</p:attrName>
                                        </p:attrNameLst>
                                      </p:cBhvr>
                                      <p:tavLst>
                                        <p:tav tm="0">
                                          <p:val>
                                            <p:strVal val="#ppt_x"/>
                                          </p:val>
                                        </p:tav>
                                        <p:tav tm="100000">
                                          <p:val>
                                            <p:strVal val="#ppt_x"/>
                                          </p:val>
                                        </p:tav>
                                      </p:tavLst>
                                    </p:anim>
                                    <p:anim calcmode="lin" valueType="num">
                                      <p:cBhvr additive="base">
                                        <p:cTn id="15" dur="450" fill="hold"/>
                                        <p:tgtEl>
                                          <p:spTgt spid="31"/>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50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450"/>
                                        <p:tgtEl>
                                          <p:spTgt spid="32"/>
                                        </p:tgtEl>
                                      </p:cBhvr>
                                    </p:animEffect>
                                    <p:anim calcmode="lin" valueType="num">
                                      <p:cBhvr additive="base">
                                        <p:cTn id="19" dur="450" fill="hold"/>
                                        <p:tgtEl>
                                          <p:spTgt spid="32"/>
                                        </p:tgtEl>
                                        <p:attrNameLst>
                                          <p:attrName>ppt_x</p:attrName>
                                        </p:attrNameLst>
                                      </p:cBhvr>
                                      <p:tavLst>
                                        <p:tav tm="0">
                                          <p:val>
                                            <p:strVal val="#ppt_x"/>
                                          </p:val>
                                        </p:tav>
                                        <p:tav tm="100000">
                                          <p:val>
                                            <p:strVal val="#ppt_x"/>
                                          </p:val>
                                        </p:tav>
                                      </p:tavLst>
                                    </p:anim>
                                    <p:anim calcmode="lin" valueType="num">
                                      <p:cBhvr additive="base">
                                        <p:cTn id="20" dur="450" fill="hold"/>
                                        <p:tgtEl>
                                          <p:spTgt spid="32"/>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50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50"/>
                                        <p:tgtEl>
                                          <p:spTgt spid="33"/>
                                        </p:tgtEl>
                                      </p:cBhvr>
                                    </p:animEffect>
                                    <p:anim calcmode="lin" valueType="num">
                                      <p:cBhvr additive="base">
                                        <p:cTn id="24" dur="450" fill="hold"/>
                                        <p:tgtEl>
                                          <p:spTgt spid="33"/>
                                        </p:tgtEl>
                                        <p:attrNameLst>
                                          <p:attrName>ppt_x</p:attrName>
                                        </p:attrNameLst>
                                      </p:cBhvr>
                                      <p:tavLst>
                                        <p:tav tm="0">
                                          <p:val>
                                            <p:strVal val="#ppt_x"/>
                                          </p:val>
                                        </p:tav>
                                        <p:tav tm="100000">
                                          <p:val>
                                            <p:strVal val="#ppt_x"/>
                                          </p:val>
                                        </p:tav>
                                      </p:tavLst>
                                    </p:anim>
                                    <p:anim calcmode="lin" valueType="num">
                                      <p:cBhvr additive="base">
                                        <p:cTn id="25" dur="450" fill="hold"/>
                                        <p:tgtEl>
                                          <p:spTgt spid="33"/>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50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450"/>
                                        <p:tgtEl>
                                          <p:spTgt spid="34"/>
                                        </p:tgtEl>
                                      </p:cBhvr>
                                    </p:animEffect>
                                    <p:anim calcmode="lin" valueType="num">
                                      <p:cBhvr additive="base">
                                        <p:cTn id="29" dur="450" fill="hold"/>
                                        <p:tgtEl>
                                          <p:spTgt spid="34"/>
                                        </p:tgtEl>
                                        <p:attrNameLst>
                                          <p:attrName>ppt_x</p:attrName>
                                        </p:attrNameLst>
                                      </p:cBhvr>
                                      <p:tavLst>
                                        <p:tav tm="0">
                                          <p:val>
                                            <p:strVal val="#ppt_x"/>
                                          </p:val>
                                        </p:tav>
                                        <p:tav tm="100000">
                                          <p:val>
                                            <p:strVal val="#ppt_x"/>
                                          </p:val>
                                        </p:tav>
                                      </p:tavLst>
                                    </p:anim>
                                    <p:anim calcmode="lin" valueType="num">
                                      <p:cBhvr additive="base">
                                        <p:cTn id="30" dur="450" fill="hold"/>
                                        <p:tgtEl>
                                          <p:spTgt spid="34"/>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50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450"/>
                                        <p:tgtEl>
                                          <p:spTgt spid="35"/>
                                        </p:tgtEl>
                                      </p:cBhvr>
                                    </p:animEffect>
                                    <p:anim calcmode="lin" valueType="num">
                                      <p:cBhvr additive="base">
                                        <p:cTn id="34" dur="450" fill="hold"/>
                                        <p:tgtEl>
                                          <p:spTgt spid="35"/>
                                        </p:tgtEl>
                                        <p:attrNameLst>
                                          <p:attrName>ppt_x</p:attrName>
                                        </p:attrNameLst>
                                      </p:cBhvr>
                                      <p:tavLst>
                                        <p:tav tm="0">
                                          <p:val>
                                            <p:strVal val="#ppt_x"/>
                                          </p:val>
                                        </p:tav>
                                        <p:tav tm="100000">
                                          <p:val>
                                            <p:strVal val="#ppt_x"/>
                                          </p:val>
                                        </p:tav>
                                      </p:tavLst>
                                    </p:anim>
                                    <p:anim calcmode="lin" valueType="num">
                                      <p:cBhvr additive="base">
                                        <p:cTn id="35" dur="450" fill="hold"/>
                                        <p:tgtEl>
                                          <p:spTgt spid="35"/>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50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450"/>
                                        <p:tgtEl>
                                          <p:spTgt spid="36"/>
                                        </p:tgtEl>
                                      </p:cBhvr>
                                    </p:animEffect>
                                    <p:anim calcmode="lin" valueType="num">
                                      <p:cBhvr additive="base">
                                        <p:cTn id="39" dur="450" fill="hold"/>
                                        <p:tgtEl>
                                          <p:spTgt spid="36"/>
                                        </p:tgtEl>
                                        <p:attrNameLst>
                                          <p:attrName>ppt_x</p:attrName>
                                        </p:attrNameLst>
                                      </p:cBhvr>
                                      <p:tavLst>
                                        <p:tav tm="0">
                                          <p:val>
                                            <p:strVal val="#ppt_x"/>
                                          </p:val>
                                        </p:tav>
                                        <p:tav tm="100000">
                                          <p:val>
                                            <p:strVal val="#ppt_x"/>
                                          </p:val>
                                        </p:tav>
                                      </p:tavLst>
                                    </p:anim>
                                    <p:anim calcmode="lin" valueType="num">
                                      <p:cBhvr additive="base">
                                        <p:cTn id="40" dur="450" fill="hold"/>
                                        <p:tgtEl>
                                          <p:spTgt spid="36"/>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80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50"/>
                                        <p:tgtEl>
                                          <p:spTgt spid="19"/>
                                        </p:tgtEl>
                                      </p:cBhvr>
                                    </p:animEffect>
                                    <p:anim calcmode="lin" valueType="num">
                                      <p:cBhvr additive="base">
                                        <p:cTn id="44" dur="450" fill="hold"/>
                                        <p:tgtEl>
                                          <p:spTgt spid="19"/>
                                        </p:tgtEl>
                                        <p:attrNameLst>
                                          <p:attrName>ppt_x</p:attrName>
                                        </p:attrNameLst>
                                      </p:cBhvr>
                                      <p:tavLst>
                                        <p:tav tm="0">
                                          <p:val>
                                            <p:strVal val="#ppt_x"/>
                                          </p:val>
                                        </p:tav>
                                        <p:tav tm="100000">
                                          <p:val>
                                            <p:strVal val="#ppt_x"/>
                                          </p:val>
                                        </p:tav>
                                      </p:tavLst>
                                    </p:anim>
                                    <p:anim calcmode="lin" valueType="num">
                                      <p:cBhvr additive="base">
                                        <p:cTn id="45" dur="450" fill="hold"/>
                                        <p:tgtEl>
                                          <p:spTgt spid="19"/>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80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50"/>
                                        <p:tgtEl>
                                          <p:spTgt spid="20"/>
                                        </p:tgtEl>
                                      </p:cBhvr>
                                    </p:animEffect>
                                    <p:anim calcmode="lin" valueType="num">
                                      <p:cBhvr additive="base">
                                        <p:cTn id="49" dur="450" fill="hold"/>
                                        <p:tgtEl>
                                          <p:spTgt spid="20"/>
                                        </p:tgtEl>
                                        <p:attrNameLst>
                                          <p:attrName>ppt_x</p:attrName>
                                        </p:attrNameLst>
                                      </p:cBhvr>
                                      <p:tavLst>
                                        <p:tav tm="0">
                                          <p:val>
                                            <p:strVal val="#ppt_x"/>
                                          </p:val>
                                        </p:tav>
                                        <p:tav tm="100000">
                                          <p:val>
                                            <p:strVal val="#ppt_x"/>
                                          </p:val>
                                        </p:tav>
                                      </p:tavLst>
                                    </p:anim>
                                    <p:anim calcmode="lin" valueType="num">
                                      <p:cBhvr additive="base">
                                        <p:cTn id="50" dur="450" fill="hold"/>
                                        <p:tgtEl>
                                          <p:spTgt spid="20"/>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80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anim calcmode="lin" valueType="num">
                                      <p:cBhvr additive="base">
                                        <p:cTn id="54" dur="450" fill="hold"/>
                                        <p:tgtEl>
                                          <p:spTgt spid="21"/>
                                        </p:tgtEl>
                                        <p:attrNameLst>
                                          <p:attrName>ppt_x</p:attrName>
                                        </p:attrNameLst>
                                      </p:cBhvr>
                                      <p:tavLst>
                                        <p:tav tm="0">
                                          <p:val>
                                            <p:strVal val="#ppt_x"/>
                                          </p:val>
                                        </p:tav>
                                        <p:tav tm="100000">
                                          <p:val>
                                            <p:strVal val="#ppt_x"/>
                                          </p:val>
                                        </p:tav>
                                      </p:tavLst>
                                    </p:anim>
                                    <p:anim calcmode="lin" valueType="num">
                                      <p:cBhvr additive="base">
                                        <p:cTn id="55" dur="450" fill="hold"/>
                                        <p:tgtEl>
                                          <p:spTgt spid="21"/>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8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anim calcmode="lin" valueType="num">
                                      <p:cBhvr additive="base">
                                        <p:cTn id="59" dur="450" fill="hold"/>
                                        <p:tgtEl>
                                          <p:spTgt spid="22"/>
                                        </p:tgtEl>
                                        <p:attrNameLst>
                                          <p:attrName>ppt_x</p:attrName>
                                        </p:attrNameLst>
                                      </p:cBhvr>
                                      <p:tavLst>
                                        <p:tav tm="0">
                                          <p:val>
                                            <p:strVal val="#ppt_x"/>
                                          </p:val>
                                        </p:tav>
                                        <p:tav tm="100000">
                                          <p:val>
                                            <p:strVal val="#ppt_x"/>
                                          </p:val>
                                        </p:tav>
                                      </p:tavLst>
                                    </p:anim>
                                    <p:anim calcmode="lin" valueType="num">
                                      <p:cBhvr additive="base">
                                        <p:cTn id="60" dur="450" fill="hold"/>
                                        <p:tgtEl>
                                          <p:spTgt spid="22"/>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80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anim calcmode="lin" valueType="num">
                                      <p:cBhvr additive="base">
                                        <p:cTn id="64" dur="450" fill="hold"/>
                                        <p:tgtEl>
                                          <p:spTgt spid="23"/>
                                        </p:tgtEl>
                                        <p:attrNameLst>
                                          <p:attrName>ppt_x</p:attrName>
                                        </p:attrNameLst>
                                      </p:cBhvr>
                                      <p:tavLst>
                                        <p:tav tm="0">
                                          <p:val>
                                            <p:strVal val="#ppt_x"/>
                                          </p:val>
                                        </p:tav>
                                        <p:tav tm="100000">
                                          <p:val>
                                            <p:strVal val="#ppt_x"/>
                                          </p:val>
                                        </p:tav>
                                      </p:tavLst>
                                    </p:anim>
                                    <p:anim calcmode="lin" valueType="num">
                                      <p:cBhvr additive="base">
                                        <p:cTn id="65" dur="450" fill="hold"/>
                                        <p:tgtEl>
                                          <p:spTgt spid="23"/>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80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50"/>
                                        <p:tgtEl>
                                          <p:spTgt spid="24"/>
                                        </p:tgtEl>
                                      </p:cBhvr>
                                    </p:animEffect>
                                    <p:anim calcmode="lin" valueType="num">
                                      <p:cBhvr additive="base">
                                        <p:cTn id="69" dur="450" fill="hold"/>
                                        <p:tgtEl>
                                          <p:spTgt spid="24"/>
                                        </p:tgtEl>
                                        <p:attrNameLst>
                                          <p:attrName>ppt_x</p:attrName>
                                        </p:attrNameLst>
                                      </p:cBhvr>
                                      <p:tavLst>
                                        <p:tav tm="0">
                                          <p:val>
                                            <p:strVal val="#ppt_x"/>
                                          </p:val>
                                        </p:tav>
                                        <p:tav tm="100000">
                                          <p:val>
                                            <p:strVal val="#ppt_x"/>
                                          </p:val>
                                        </p:tav>
                                      </p:tavLst>
                                    </p:anim>
                                    <p:anim calcmode="lin" valueType="num">
                                      <p:cBhvr additive="base">
                                        <p:cTn id="70" dur="450" fill="hold"/>
                                        <p:tgtEl>
                                          <p:spTgt spid="24"/>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95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50"/>
                                        <p:tgtEl>
                                          <p:spTgt spid="25"/>
                                        </p:tgtEl>
                                      </p:cBhvr>
                                    </p:animEffect>
                                    <p:anim calcmode="lin" valueType="num">
                                      <p:cBhvr additive="base">
                                        <p:cTn id="74" dur="450" fill="hold"/>
                                        <p:tgtEl>
                                          <p:spTgt spid="25"/>
                                        </p:tgtEl>
                                        <p:attrNameLst>
                                          <p:attrName>ppt_x</p:attrName>
                                        </p:attrNameLst>
                                      </p:cBhvr>
                                      <p:tavLst>
                                        <p:tav tm="0">
                                          <p:val>
                                            <p:strVal val="#ppt_x"/>
                                          </p:val>
                                        </p:tav>
                                        <p:tav tm="100000">
                                          <p:val>
                                            <p:strVal val="#ppt_x"/>
                                          </p:val>
                                        </p:tav>
                                      </p:tavLst>
                                    </p:anim>
                                    <p:anim calcmode="lin" valueType="num">
                                      <p:cBhvr additive="base">
                                        <p:cTn id="75" dur="450" fill="hold"/>
                                        <p:tgtEl>
                                          <p:spTgt spid="25"/>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95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50"/>
                                        <p:tgtEl>
                                          <p:spTgt spid="26"/>
                                        </p:tgtEl>
                                      </p:cBhvr>
                                    </p:animEffect>
                                    <p:anim calcmode="lin" valueType="num">
                                      <p:cBhvr additive="base">
                                        <p:cTn id="79" dur="450" fill="hold"/>
                                        <p:tgtEl>
                                          <p:spTgt spid="26"/>
                                        </p:tgtEl>
                                        <p:attrNameLst>
                                          <p:attrName>ppt_x</p:attrName>
                                        </p:attrNameLst>
                                      </p:cBhvr>
                                      <p:tavLst>
                                        <p:tav tm="0">
                                          <p:val>
                                            <p:strVal val="#ppt_x"/>
                                          </p:val>
                                        </p:tav>
                                        <p:tav tm="100000">
                                          <p:val>
                                            <p:strVal val="#ppt_x"/>
                                          </p:val>
                                        </p:tav>
                                      </p:tavLst>
                                    </p:anim>
                                    <p:anim calcmode="lin" valueType="num">
                                      <p:cBhvr additive="base">
                                        <p:cTn id="80" dur="450" fill="hold"/>
                                        <p:tgtEl>
                                          <p:spTgt spid="26"/>
                                        </p:tgtEl>
                                        <p:attrNameLst>
                                          <p:attrName>ppt_y</p:attrName>
                                        </p:attrNameLst>
                                      </p:cBhvr>
                                      <p:tavLst>
                                        <p:tav tm="0">
                                          <p:val>
                                            <p:strVal val="#ppt_y+.1"/>
                                          </p:val>
                                        </p:tav>
                                        <p:tav tm="100000">
                                          <p:val>
                                            <p:strVal val="#ppt_y"/>
                                          </p:val>
                                        </p:tav>
                                      </p:tavLst>
                                    </p:anim>
                                  </p:childTnLst>
                                </p:cTn>
                              </p:par>
                              <p:par>
                                <p:cTn id="81" presetID="42" presetClass="entr" presetSubtype="0" fill="hold" nodeType="withEffect">
                                  <p:stCondLst>
                                    <p:cond delay="95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50"/>
                                        <p:tgtEl>
                                          <p:spTgt spid="27"/>
                                        </p:tgtEl>
                                      </p:cBhvr>
                                    </p:animEffect>
                                    <p:anim calcmode="lin" valueType="num">
                                      <p:cBhvr additive="base">
                                        <p:cTn id="84" dur="450" fill="hold"/>
                                        <p:tgtEl>
                                          <p:spTgt spid="27"/>
                                        </p:tgtEl>
                                        <p:attrNameLst>
                                          <p:attrName>ppt_x</p:attrName>
                                        </p:attrNameLst>
                                      </p:cBhvr>
                                      <p:tavLst>
                                        <p:tav tm="0">
                                          <p:val>
                                            <p:strVal val="#ppt_x"/>
                                          </p:val>
                                        </p:tav>
                                        <p:tav tm="100000">
                                          <p:val>
                                            <p:strVal val="#ppt_x"/>
                                          </p:val>
                                        </p:tav>
                                      </p:tavLst>
                                    </p:anim>
                                    <p:anim calcmode="lin" valueType="num">
                                      <p:cBhvr additive="base">
                                        <p:cTn id="85" dur="450" fill="hold"/>
                                        <p:tgtEl>
                                          <p:spTgt spid="27"/>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95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50"/>
                                        <p:tgtEl>
                                          <p:spTgt spid="28"/>
                                        </p:tgtEl>
                                      </p:cBhvr>
                                    </p:animEffect>
                                    <p:anim calcmode="lin" valueType="num">
                                      <p:cBhvr additive="base">
                                        <p:cTn id="89" dur="450" fill="hold"/>
                                        <p:tgtEl>
                                          <p:spTgt spid="28"/>
                                        </p:tgtEl>
                                        <p:attrNameLst>
                                          <p:attrName>ppt_x</p:attrName>
                                        </p:attrNameLst>
                                      </p:cBhvr>
                                      <p:tavLst>
                                        <p:tav tm="0">
                                          <p:val>
                                            <p:strVal val="#ppt_x"/>
                                          </p:val>
                                        </p:tav>
                                        <p:tav tm="100000">
                                          <p:val>
                                            <p:strVal val="#ppt_x"/>
                                          </p:val>
                                        </p:tav>
                                      </p:tavLst>
                                    </p:anim>
                                    <p:anim calcmode="lin" valueType="num">
                                      <p:cBhvr additive="base">
                                        <p:cTn id="90" dur="450" fill="hold"/>
                                        <p:tgtEl>
                                          <p:spTgt spid="28"/>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95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450"/>
                                        <p:tgtEl>
                                          <p:spTgt spid="29"/>
                                        </p:tgtEl>
                                      </p:cBhvr>
                                    </p:animEffect>
                                    <p:anim calcmode="lin" valueType="num">
                                      <p:cBhvr additive="base">
                                        <p:cTn id="94" dur="450" fill="hold"/>
                                        <p:tgtEl>
                                          <p:spTgt spid="29"/>
                                        </p:tgtEl>
                                        <p:attrNameLst>
                                          <p:attrName>ppt_x</p:attrName>
                                        </p:attrNameLst>
                                      </p:cBhvr>
                                      <p:tavLst>
                                        <p:tav tm="0">
                                          <p:val>
                                            <p:strVal val="#ppt_x"/>
                                          </p:val>
                                        </p:tav>
                                        <p:tav tm="100000">
                                          <p:val>
                                            <p:strVal val="#ppt_x"/>
                                          </p:val>
                                        </p:tav>
                                      </p:tavLst>
                                    </p:anim>
                                    <p:anim calcmode="lin" valueType="num">
                                      <p:cBhvr additive="base">
                                        <p:cTn id="95" dur="450" fill="hold"/>
                                        <p:tgtEl>
                                          <p:spTgt spid="29"/>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950"/>
                                  </p:stCondLst>
                                  <p:childTnLst>
                                    <p:set>
                                      <p:cBhvr>
                                        <p:cTn id="97" dur="1" fill="hold">
                                          <p:stCondLst>
                                            <p:cond delay="0"/>
                                          </p:stCondLst>
                                        </p:cTn>
                                        <p:tgtEl>
                                          <p:spTgt spid="30"/>
                                        </p:tgtEl>
                                        <p:attrNameLst>
                                          <p:attrName>style.visibility</p:attrName>
                                        </p:attrNameLst>
                                      </p:cBhvr>
                                      <p:to>
                                        <p:strVal val="visible"/>
                                      </p:to>
                                    </p:set>
                                    <p:animEffect transition="in" filter="fade">
                                      <p:cBhvr>
                                        <p:cTn id="98" dur="450"/>
                                        <p:tgtEl>
                                          <p:spTgt spid="30"/>
                                        </p:tgtEl>
                                      </p:cBhvr>
                                    </p:animEffect>
                                    <p:anim calcmode="lin" valueType="num">
                                      <p:cBhvr additive="base">
                                        <p:cTn id="99" dur="450" fill="hold"/>
                                        <p:tgtEl>
                                          <p:spTgt spid="30"/>
                                        </p:tgtEl>
                                        <p:attrNameLst>
                                          <p:attrName>ppt_x</p:attrName>
                                        </p:attrNameLst>
                                      </p:cBhvr>
                                      <p:tavLst>
                                        <p:tav tm="0">
                                          <p:val>
                                            <p:strVal val="#ppt_x"/>
                                          </p:val>
                                        </p:tav>
                                        <p:tav tm="100000">
                                          <p:val>
                                            <p:strVal val="#ppt_x"/>
                                          </p:val>
                                        </p:tav>
                                      </p:tavLst>
                                    </p:anim>
                                    <p:anim calcmode="lin" valueType="num">
                                      <p:cBhvr additive="base">
                                        <p:cTn id="100" dur="450" fill="hold"/>
                                        <p:tgtEl>
                                          <p:spTgt spid="30"/>
                                        </p:tgtEl>
                                        <p:attrNameLst>
                                          <p:attrName>ppt_y</p:attrName>
                                        </p:attrNameLst>
                                      </p:cBhvr>
                                      <p:tavLst>
                                        <p:tav tm="0">
                                          <p:val>
                                            <p:strVal val="#ppt_y+.1"/>
                                          </p:val>
                                        </p:tav>
                                        <p:tav tm="100000">
                                          <p:val>
                                            <p:strVal val="#ppt_y"/>
                                          </p:val>
                                        </p:tav>
                                      </p:tavLst>
                                    </p:anim>
                                  </p:childTnLst>
                                </p:cTn>
                              </p:par>
                              <p:par>
                                <p:cTn id="101" presetID="42" presetClass="entr" presetSubtype="0" fill="hold" nodeType="withEffect">
                                  <p:stCondLst>
                                    <p:cond delay="1250"/>
                                  </p:stCondLst>
                                  <p:childTnLst>
                                    <p:set>
                                      <p:cBhvr>
                                        <p:cTn id="102" dur="1" fill="hold">
                                          <p:stCondLst>
                                            <p:cond delay="0"/>
                                          </p:stCondLst>
                                        </p:cTn>
                                        <p:tgtEl>
                                          <p:spTgt spid="13"/>
                                        </p:tgtEl>
                                        <p:attrNameLst>
                                          <p:attrName>style.visibility</p:attrName>
                                        </p:attrNameLst>
                                      </p:cBhvr>
                                      <p:to>
                                        <p:strVal val="visible"/>
                                      </p:to>
                                    </p:set>
                                    <p:animEffect transition="in" filter="fade">
                                      <p:cBhvr>
                                        <p:cTn id="103" dur="450"/>
                                        <p:tgtEl>
                                          <p:spTgt spid="13"/>
                                        </p:tgtEl>
                                      </p:cBhvr>
                                    </p:animEffect>
                                    <p:anim calcmode="lin" valueType="num">
                                      <p:cBhvr additive="base">
                                        <p:cTn id="104" dur="450" fill="hold"/>
                                        <p:tgtEl>
                                          <p:spTgt spid="13"/>
                                        </p:tgtEl>
                                        <p:attrNameLst>
                                          <p:attrName>ppt_x</p:attrName>
                                        </p:attrNameLst>
                                      </p:cBhvr>
                                      <p:tavLst>
                                        <p:tav tm="0">
                                          <p:val>
                                            <p:strVal val="#ppt_x"/>
                                          </p:val>
                                        </p:tav>
                                        <p:tav tm="100000">
                                          <p:val>
                                            <p:strVal val="#ppt_x"/>
                                          </p:val>
                                        </p:tav>
                                      </p:tavLst>
                                    </p:anim>
                                    <p:anim calcmode="lin" valueType="num">
                                      <p:cBhvr additive="base">
                                        <p:cTn id="105" dur="450" fill="hold"/>
                                        <p:tgtEl>
                                          <p:spTgt spid="13"/>
                                        </p:tgtEl>
                                        <p:attrNameLst>
                                          <p:attrName>ppt_y</p:attrName>
                                        </p:attrNameLst>
                                      </p:cBhvr>
                                      <p:tavLst>
                                        <p:tav tm="0">
                                          <p:val>
                                            <p:strVal val="#ppt_y+.1"/>
                                          </p:val>
                                        </p:tav>
                                        <p:tav tm="100000">
                                          <p:val>
                                            <p:strVal val="#ppt_y"/>
                                          </p:val>
                                        </p:tav>
                                      </p:tavLst>
                                    </p:anim>
                                  </p:childTnLst>
                                </p:cTn>
                              </p:par>
                              <p:par>
                                <p:cTn id="106" presetID="42" presetClass="entr" presetSubtype="0" fill="hold" nodeType="withEffect">
                                  <p:stCondLst>
                                    <p:cond delay="1250"/>
                                  </p:stCondLst>
                                  <p:childTnLst>
                                    <p:set>
                                      <p:cBhvr>
                                        <p:cTn id="107" dur="1" fill="hold">
                                          <p:stCondLst>
                                            <p:cond delay="0"/>
                                          </p:stCondLst>
                                        </p:cTn>
                                        <p:tgtEl>
                                          <p:spTgt spid="14"/>
                                        </p:tgtEl>
                                        <p:attrNameLst>
                                          <p:attrName>style.visibility</p:attrName>
                                        </p:attrNameLst>
                                      </p:cBhvr>
                                      <p:to>
                                        <p:strVal val="visible"/>
                                      </p:to>
                                    </p:set>
                                    <p:animEffect transition="in" filter="fade">
                                      <p:cBhvr>
                                        <p:cTn id="108" dur="450"/>
                                        <p:tgtEl>
                                          <p:spTgt spid="14"/>
                                        </p:tgtEl>
                                      </p:cBhvr>
                                    </p:animEffect>
                                    <p:anim calcmode="lin" valueType="num">
                                      <p:cBhvr additive="base">
                                        <p:cTn id="109" dur="450" fill="hold"/>
                                        <p:tgtEl>
                                          <p:spTgt spid="14"/>
                                        </p:tgtEl>
                                        <p:attrNameLst>
                                          <p:attrName>ppt_x</p:attrName>
                                        </p:attrNameLst>
                                      </p:cBhvr>
                                      <p:tavLst>
                                        <p:tav tm="0">
                                          <p:val>
                                            <p:strVal val="#ppt_x"/>
                                          </p:val>
                                        </p:tav>
                                        <p:tav tm="100000">
                                          <p:val>
                                            <p:strVal val="#ppt_x"/>
                                          </p:val>
                                        </p:tav>
                                      </p:tavLst>
                                    </p:anim>
                                    <p:anim calcmode="lin" valueType="num">
                                      <p:cBhvr additive="base">
                                        <p:cTn id="110" dur="450" fill="hold"/>
                                        <p:tgtEl>
                                          <p:spTgt spid="14"/>
                                        </p:tgtEl>
                                        <p:attrNameLst>
                                          <p:attrName>ppt_y</p:attrName>
                                        </p:attrNameLst>
                                      </p:cBhvr>
                                      <p:tavLst>
                                        <p:tav tm="0">
                                          <p:val>
                                            <p:strVal val="#ppt_y+.1"/>
                                          </p:val>
                                        </p:tav>
                                        <p:tav tm="100000">
                                          <p:val>
                                            <p:strVal val="#ppt_y"/>
                                          </p:val>
                                        </p:tav>
                                      </p:tavLst>
                                    </p:anim>
                                  </p:childTnLst>
                                </p:cTn>
                              </p:par>
                              <p:par>
                                <p:cTn id="111" presetID="42" presetClass="entr" presetSubtype="0" fill="hold" nodeType="withEffect">
                                  <p:stCondLst>
                                    <p:cond delay="1250"/>
                                  </p:stCondLst>
                                  <p:childTnLst>
                                    <p:set>
                                      <p:cBhvr>
                                        <p:cTn id="112" dur="1" fill="hold">
                                          <p:stCondLst>
                                            <p:cond delay="0"/>
                                          </p:stCondLst>
                                        </p:cTn>
                                        <p:tgtEl>
                                          <p:spTgt spid="15"/>
                                        </p:tgtEl>
                                        <p:attrNameLst>
                                          <p:attrName>style.visibility</p:attrName>
                                        </p:attrNameLst>
                                      </p:cBhvr>
                                      <p:to>
                                        <p:strVal val="visible"/>
                                      </p:to>
                                    </p:set>
                                    <p:animEffect transition="in" filter="fade">
                                      <p:cBhvr>
                                        <p:cTn id="113" dur="450"/>
                                        <p:tgtEl>
                                          <p:spTgt spid="15"/>
                                        </p:tgtEl>
                                      </p:cBhvr>
                                    </p:animEffect>
                                    <p:anim calcmode="lin" valueType="num">
                                      <p:cBhvr additive="base">
                                        <p:cTn id="114" dur="450" fill="hold"/>
                                        <p:tgtEl>
                                          <p:spTgt spid="15"/>
                                        </p:tgtEl>
                                        <p:attrNameLst>
                                          <p:attrName>ppt_x</p:attrName>
                                        </p:attrNameLst>
                                      </p:cBhvr>
                                      <p:tavLst>
                                        <p:tav tm="0">
                                          <p:val>
                                            <p:strVal val="#ppt_x"/>
                                          </p:val>
                                        </p:tav>
                                        <p:tav tm="100000">
                                          <p:val>
                                            <p:strVal val="#ppt_x"/>
                                          </p:val>
                                        </p:tav>
                                      </p:tavLst>
                                    </p:anim>
                                    <p:anim calcmode="lin" valueType="num">
                                      <p:cBhvr additive="base">
                                        <p:cTn id="115" dur="450" fill="hold"/>
                                        <p:tgtEl>
                                          <p:spTgt spid="15"/>
                                        </p:tgtEl>
                                        <p:attrNameLst>
                                          <p:attrName>ppt_y</p:attrName>
                                        </p:attrNameLst>
                                      </p:cBhvr>
                                      <p:tavLst>
                                        <p:tav tm="0">
                                          <p:val>
                                            <p:strVal val="#ppt_y+.1"/>
                                          </p:val>
                                        </p:tav>
                                        <p:tav tm="100000">
                                          <p:val>
                                            <p:strVal val="#ppt_y"/>
                                          </p:val>
                                        </p:tav>
                                      </p:tavLst>
                                    </p:anim>
                                  </p:childTnLst>
                                </p:cTn>
                              </p:par>
                              <p:par>
                                <p:cTn id="116" presetID="42" presetClass="entr" presetSubtype="0" fill="hold" nodeType="withEffect">
                                  <p:stCondLst>
                                    <p:cond delay="1250"/>
                                  </p:stCondLst>
                                  <p:childTnLst>
                                    <p:set>
                                      <p:cBhvr>
                                        <p:cTn id="117" dur="1" fill="hold">
                                          <p:stCondLst>
                                            <p:cond delay="0"/>
                                          </p:stCondLst>
                                        </p:cTn>
                                        <p:tgtEl>
                                          <p:spTgt spid="16"/>
                                        </p:tgtEl>
                                        <p:attrNameLst>
                                          <p:attrName>style.visibility</p:attrName>
                                        </p:attrNameLst>
                                      </p:cBhvr>
                                      <p:to>
                                        <p:strVal val="visible"/>
                                      </p:to>
                                    </p:set>
                                    <p:animEffect transition="in" filter="fade">
                                      <p:cBhvr>
                                        <p:cTn id="118" dur="450"/>
                                        <p:tgtEl>
                                          <p:spTgt spid="16"/>
                                        </p:tgtEl>
                                      </p:cBhvr>
                                    </p:animEffect>
                                    <p:anim calcmode="lin" valueType="num">
                                      <p:cBhvr additive="base">
                                        <p:cTn id="119" dur="450" fill="hold"/>
                                        <p:tgtEl>
                                          <p:spTgt spid="16"/>
                                        </p:tgtEl>
                                        <p:attrNameLst>
                                          <p:attrName>ppt_x</p:attrName>
                                        </p:attrNameLst>
                                      </p:cBhvr>
                                      <p:tavLst>
                                        <p:tav tm="0">
                                          <p:val>
                                            <p:strVal val="#ppt_x"/>
                                          </p:val>
                                        </p:tav>
                                        <p:tav tm="100000">
                                          <p:val>
                                            <p:strVal val="#ppt_x"/>
                                          </p:val>
                                        </p:tav>
                                      </p:tavLst>
                                    </p:anim>
                                    <p:anim calcmode="lin" valueType="num">
                                      <p:cBhvr additive="base">
                                        <p:cTn id="120" dur="450" fill="hold"/>
                                        <p:tgtEl>
                                          <p:spTgt spid="16"/>
                                        </p:tgtEl>
                                        <p:attrNameLst>
                                          <p:attrName>ppt_y</p:attrName>
                                        </p:attrNameLst>
                                      </p:cBhvr>
                                      <p:tavLst>
                                        <p:tav tm="0">
                                          <p:val>
                                            <p:strVal val="#ppt_y+.1"/>
                                          </p:val>
                                        </p:tav>
                                        <p:tav tm="100000">
                                          <p:val>
                                            <p:strVal val="#ppt_y"/>
                                          </p:val>
                                        </p:tav>
                                      </p:tavLst>
                                    </p:anim>
                                  </p:childTnLst>
                                </p:cTn>
                              </p:par>
                              <p:par>
                                <p:cTn id="121" presetID="42" presetClass="entr" presetSubtype="0" fill="hold" nodeType="withEffect">
                                  <p:stCondLst>
                                    <p:cond delay="1250"/>
                                  </p:stCondLst>
                                  <p:childTnLst>
                                    <p:set>
                                      <p:cBhvr>
                                        <p:cTn id="122" dur="1" fill="hold">
                                          <p:stCondLst>
                                            <p:cond delay="0"/>
                                          </p:stCondLst>
                                        </p:cTn>
                                        <p:tgtEl>
                                          <p:spTgt spid="17"/>
                                        </p:tgtEl>
                                        <p:attrNameLst>
                                          <p:attrName>style.visibility</p:attrName>
                                        </p:attrNameLst>
                                      </p:cBhvr>
                                      <p:to>
                                        <p:strVal val="visible"/>
                                      </p:to>
                                    </p:set>
                                    <p:animEffect transition="in" filter="fade">
                                      <p:cBhvr>
                                        <p:cTn id="123" dur="450"/>
                                        <p:tgtEl>
                                          <p:spTgt spid="17"/>
                                        </p:tgtEl>
                                      </p:cBhvr>
                                    </p:animEffect>
                                    <p:anim calcmode="lin" valueType="num">
                                      <p:cBhvr additive="base">
                                        <p:cTn id="124" dur="450" fill="hold"/>
                                        <p:tgtEl>
                                          <p:spTgt spid="17"/>
                                        </p:tgtEl>
                                        <p:attrNameLst>
                                          <p:attrName>ppt_x</p:attrName>
                                        </p:attrNameLst>
                                      </p:cBhvr>
                                      <p:tavLst>
                                        <p:tav tm="0">
                                          <p:val>
                                            <p:strVal val="#ppt_x"/>
                                          </p:val>
                                        </p:tav>
                                        <p:tav tm="100000">
                                          <p:val>
                                            <p:strVal val="#ppt_x"/>
                                          </p:val>
                                        </p:tav>
                                      </p:tavLst>
                                    </p:anim>
                                    <p:anim calcmode="lin" valueType="num">
                                      <p:cBhvr additive="base">
                                        <p:cTn id="125" dur="450" fill="hold"/>
                                        <p:tgtEl>
                                          <p:spTgt spid="17"/>
                                        </p:tgtEl>
                                        <p:attrNameLst>
                                          <p:attrName>ppt_y</p:attrName>
                                        </p:attrNameLst>
                                      </p:cBhvr>
                                      <p:tavLst>
                                        <p:tav tm="0">
                                          <p:val>
                                            <p:strVal val="#ppt_y+.1"/>
                                          </p:val>
                                        </p:tav>
                                        <p:tav tm="100000">
                                          <p:val>
                                            <p:strVal val="#ppt_y"/>
                                          </p:val>
                                        </p:tav>
                                      </p:tavLst>
                                    </p:anim>
                                  </p:childTnLst>
                                </p:cTn>
                              </p:par>
                              <p:par>
                                <p:cTn id="126" presetID="42" presetClass="entr" presetSubtype="0" fill="hold" nodeType="withEffect">
                                  <p:stCondLst>
                                    <p:cond delay="1250"/>
                                  </p:stCondLst>
                                  <p:childTnLst>
                                    <p:set>
                                      <p:cBhvr>
                                        <p:cTn id="127" dur="1" fill="hold">
                                          <p:stCondLst>
                                            <p:cond delay="0"/>
                                          </p:stCondLst>
                                        </p:cTn>
                                        <p:tgtEl>
                                          <p:spTgt spid="18"/>
                                        </p:tgtEl>
                                        <p:attrNameLst>
                                          <p:attrName>style.visibility</p:attrName>
                                        </p:attrNameLst>
                                      </p:cBhvr>
                                      <p:to>
                                        <p:strVal val="visible"/>
                                      </p:to>
                                    </p:set>
                                    <p:animEffect transition="in" filter="fade">
                                      <p:cBhvr>
                                        <p:cTn id="128" dur="450"/>
                                        <p:tgtEl>
                                          <p:spTgt spid="18"/>
                                        </p:tgtEl>
                                      </p:cBhvr>
                                    </p:animEffect>
                                    <p:anim calcmode="lin" valueType="num">
                                      <p:cBhvr additive="base">
                                        <p:cTn id="129" dur="450" fill="hold"/>
                                        <p:tgtEl>
                                          <p:spTgt spid="18"/>
                                        </p:tgtEl>
                                        <p:attrNameLst>
                                          <p:attrName>ppt_x</p:attrName>
                                        </p:attrNameLst>
                                      </p:cBhvr>
                                      <p:tavLst>
                                        <p:tav tm="0">
                                          <p:val>
                                            <p:strVal val="#ppt_x"/>
                                          </p:val>
                                        </p:tav>
                                        <p:tav tm="100000">
                                          <p:val>
                                            <p:strVal val="#ppt_x"/>
                                          </p:val>
                                        </p:tav>
                                      </p:tavLst>
                                    </p:anim>
                                    <p:anim calcmode="lin" valueType="num">
                                      <p:cBhvr additive="base">
                                        <p:cTn id="130" dur="450" fill="hold"/>
                                        <p:tgtEl>
                                          <p:spTgt spid="18"/>
                                        </p:tgtEl>
                                        <p:attrNameLst>
                                          <p:attrName>ppt_y</p:attrName>
                                        </p:attrNameLst>
                                      </p:cBhvr>
                                      <p:tavLst>
                                        <p:tav tm="0">
                                          <p:val>
                                            <p:strVal val="#ppt_y+.1"/>
                                          </p:val>
                                        </p:tav>
                                        <p:tav tm="100000">
                                          <p:val>
                                            <p:strVal val="#ppt_y"/>
                                          </p:val>
                                        </p:tav>
                                      </p:tavLst>
                                    </p:anim>
                                  </p:childTnLst>
                                </p:cTn>
                              </p:par>
                              <p:par>
                                <p:cTn id="131" presetID="42" presetClass="entr" presetSubtype="0" fill="hold" nodeType="withEffect">
                                  <p:stCondLst>
                                    <p:cond delay="1550"/>
                                  </p:stCondLst>
                                  <p:childTnLst>
                                    <p:set>
                                      <p:cBhvr>
                                        <p:cTn id="132" dur="1" fill="hold">
                                          <p:stCondLst>
                                            <p:cond delay="0"/>
                                          </p:stCondLst>
                                        </p:cTn>
                                        <p:tgtEl>
                                          <p:spTgt spid="7"/>
                                        </p:tgtEl>
                                        <p:attrNameLst>
                                          <p:attrName>style.visibility</p:attrName>
                                        </p:attrNameLst>
                                      </p:cBhvr>
                                      <p:to>
                                        <p:strVal val="visible"/>
                                      </p:to>
                                    </p:set>
                                    <p:animEffect transition="in" filter="fade">
                                      <p:cBhvr>
                                        <p:cTn id="133" dur="450"/>
                                        <p:tgtEl>
                                          <p:spTgt spid="7"/>
                                        </p:tgtEl>
                                      </p:cBhvr>
                                    </p:animEffect>
                                    <p:anim calcmode="lin" valueType="num">
                                      <p:cBhvr additive="base">
                                        <p:cTn id="134" dur="450" fill="hold"/>
                                        <p:tgtEl>
                                          <p:spTgt spid="7"/>
                                        </p:tgtEl>
                                        <p:attrNameLst>
                                          <p:attrName>ppt_x</p:attrName>
                                        </p:attrNameLst>
                                      </p:cBhvr>
                                      <p:tavLst>
                                        <p:tav tm="0">
                                          <p:val>
                                            <p:strVal val="#ppt_x"/>
                                          </p:val>
                                        </p:tav>
                                        <p:tav tm="100000">
                                          <p:val>
                                            <p:strVal val="#ppt_x"/>
                                          </p:val>
                                        </p:tav>
                                      </p:tavLst>
                                    </p:anim>
                                    <p:anim calcmode="lin" valueType="num">
                                      <p:cBhvr additive="base">
                                        <p:cTn id="135" dur="450" fill="hold"/>
                                        <p:tgtEl>
                                          <p:spTgt spid="7"/>
                                        </p:tgtEl>
                                        <p:attrNameLst>
                                          <p:attrName>ppt_y</p:attrName>
                                        </p:attrNameLst>
                                      </p:cBhvr>
                                      <p:tavLst>
                                        <p:tav tm="0">
                                          <p:val>
                                            <p:strVal val="#ppt_y+.1"/>
                                          </p:val>
                                        </p:tav>
                                        <p:tav tm="100000">
                                          <p:val>
                                            <p:strVal val="#ppt_y"/>
                                          </p:val>
                                        </p:tav>
                                      </p:tavLst>
                                    </p:anim>
                                  </p:childTnLst>
                                </p:cTn>
                              </p:par>
                              <p:par>
                                <p:cTn id="136" presetID="42" presetClass="entr" presetSubtype="0" fill="hold" nodeType="withEffect">
                                  <p:stCondLst>
                                    <p:cond delay="1550"/>
                                  </p:stCondLst>
                                  <p:childTnLst>
                                    <p:set>
                                      <p:cBhvr>
                                        <p:cTn id="137" dur="1" fill="hold">
                                          <p:stCondLst>
                                            <p:cond delay="0"/>
                                          </p:stCondLst>
                                        </p:cTn>
                                        <p:tgtEl>
                                          <p:spTgt spid="8"/>
                                        </p:tgtEl>
                                        <p:attrNameLst>
                                          <p:attrName>style.visibility</p:attrName>
                                        </p:attrNameLst>
                                      </p:cBhvr>
                                      <p:to>
                                        <p:strVal val="visible"/>
                                      </p:to>
                                    </p:set>
                                    <p:animEffect transition="in" filter="fade">
                                      <p:cBhvr>
                                        <p:cTn id="138" dur="450"/>
                                        <p:tgtEl>
                                          <p:spTgt spid="8"/>
                                        </p:tgtEl>
                                      </p:cBhvr>
                                    </p:animEffect>
                                    <p:anim calcmode="lin" valueType="num">
                                      <p:cBhvr additive="base">
                                        <p:cTn id="139" dur="450" fill="hold"/>
                                        <p:tgtEl>
                                          <p:spTgt spid="8"/>
                                        </p:tgtEl>
                                        <p:attrNameLst>
                                          <p:attrName>ppt_x</p:attrName>
                                        </p:attrNameLst>
                                      </p:cBhvr>
                                      <p:tavLst>
                                        <p:tav tm="0">
                                          <p:val>
                                            <p:strVal val="#ppt_x"/>
                                          </p:val>
                                        </p:tav>
                                        <p:tav tm="100000">
                                          <p:val>
                                            <p:strVal val="#ppt_x"/>
                                          </p:val>
                                        </p:tav>
                                      </p:tavLst>
                                    </p:anim>
                                    <p:anim calcmode="lin" valueType="num">
                                      <p:cBhvr additive="base">
                                        <p:cTn id="140" dur="450" fill="hold"/>
                                        <p:tgtEl>
                                          <p:spTgt spid="8"/>
                                        </p:tgtEl>
                                        <p:attrNameLst>
                                          <p:attrName>ppt_y</p:attrName>
                                        </p:attrNameLst>
                                      </p:cBhvr>
                                      <p:tavLst>
                                        <p:tav tm="0">
                                          <p:val>
                                            <p:strVal val="#ppt_y+.1"/>
                                          </p:val>
                                        </p:tav>
                                        <p:tav tm="100000">
                                          <p:val>
                                            <p:strVal val="#ppt_y"/>
                                          </p:val>
                                        </p:tav>
                                      </p:tavLst>
                                    </p:anim>
                                  </p:childTnLst>
                                </p:cTn>
                              </p:par>
                              <p:par>
                                <p:cTn id="141" presetID="42" presetClass="entr" presetSubtype="0" fill="hold" nodeType="withEffect">
                                  <p:stCondLst>
                                    <p:cond delay="1550"/>
                                  </p:stCondLst>
                                  <p:childTnLst>
                                    <p:set>
                                      <p:cBhvr>
                                        <p:cTn id="142" dur="1" fill="hold">
                                          <p:stCondLst>
                                            <p:cond delay="0"/>
                                          </p:stCondLst>
                                        </p:cTn>
                                        <p:tgtEl>
                                          <p:spTgt spid="9"/>
                                        </p:tgtEl>
                                        <p:attrNameLst>
                                          <p:attrName>style.visibility</p:attrName>
                                        </p:attrNameLst>
                                      </p:cBhvr>
                                      <p:to>
                                        <p:strVal val="visible"/>
                                      </p:to>
                                    </p:set>
                                    <p:animEffect transition="in" filter="fade">
                                      <p:cBhvr>
                                        <p:cTn id="143" dur="450"/>
                                        <p:tgtEl>
                                          <p:spTgt spid="9"/>
                                        </p:tgtEl>
                                      </p:cBhvr>
                                    </p:animEffect>
                                    <p:anim calcmode="lin" valueType="num">
                                      <p:cBhvr additive="base">
                                        <p:cTn id="144" dur="450" fill="hold"/>
                                        <p:tgtEl>
                                          <p:spTgt spid="9"/>
                                        </p:tgtEl>
                                        <p:attrNameLst>
                                          <p:attrName>ppt_x</p:attrName>
                                        </p:attrNameLst>
                                      </p:cBhvr>
                                      <p:tavLst>
                                        <p:tav tm="0">
                                          <p:val>
                                            <p:strVal val="#ppt_x"/>
                                          </p:val>
                                        </p:tav>
                                        <p:tav tm="100000">
                                          <p:val>
                                            <p:strVal val="#ppt_x"/>
                                          </p:val>
                                        </p:tav>
                                      </p:tavLst>
                                    </p:anim>
                                    <p:anim calcmode="lin" valueType="num">
                                      <p:cBhvr additive="base">
                                        <p:cTn id="145" dur="450" fill="hold"/>
                                        <p:tgtEl>
                                          <p:spTgt spid="9"/>
                                        </p:tgtEl>
                                        <p:attrNameLst>
                                          <p:attrName>ppt_y</p:attrName>
                                        </p:attrNameLst>
                                      </p:cBhvr>
                                      <p:tavLst>
                                        <p:tav tm="0">
                                          <p:val>
                                            <p:strVal val="#ppt_y+.1"/>
                                          </p:val>
                                        </p:tav>
                                        <p:tav tm="100000">
                                          <p:val>
                                            <p:strVal val="#ppt_y"/>
                                          </p:val>
                                        </p:tav>
                                      </p:tavLst>
                                    </p:anim>
                                  </p:childTnLst>
                                </p:cTn>
                              </p:par>
                              <p:par>
                                <p:cTn id="146" presetID="42" presetClass="entr" presetSubtype="0" fill="hold" nodeType="withEffect">
                                  <p:stCondLst>
                                    <p:cond delay="1550"/>
                                  </p:stCondLst>
                                  <p:childTnLst>
                                    <p:set>
                                      <p:cBhvr>
                                        <p:cTn id="147" dur="1" fill="hold">
                                          <p:stCondLst>
                                            <p:cond delay="0"/>
                                          </p:stCondLst>
                                        </p:cTn>
                                        <p:tgtEl>
                                          <p:spTgt spid="10"/>
                                        </p:tgtEl>
                                        <p:attrNameLst>
                                          <p:attrName>style.visibility</p:attrName>
                                        </p:attrNameLst>
                                      </p:cBhvr>
                                      <p:to>
                                        <p:strVal val="visible"/>
                                      </p:to>
                                    </p:set>
                                    <p:animEffect transition="in" filter="fade">
                                      <p:cBhvr>
                                        <p:cTn id="148" dur="450"/>
                                        <p:tgtEl>
                                          <p:spTgt spid="10"/>
                                        </p:tgtEl>
                                      </p:cBhvr>
                                    </p:animEffect>
                                    <p:anim calcmode="lin" valueType="num">
                                      <p:cBhvr additive="base">
                                        <p:cTn id="149" dur="450" fill="hold"/>
                                        <p:tgtEl>
                                          <p:spTgt spid="10"/>
                                        </p:tgtEl>
                                        <p:attrNameLst>
                                          <p:attrName>ppt_x</p:attrName>
                                        </p:attrNameLst>
                                      </p:cBhvr>
                                      <p:tavLst>
                                        <p:tav tm="0">
                                          <p:val>
                                            <p:strVal val="#ppt_x"/>
                                          </p:val>
                                        </p:tav>
                                        <p:tav tm="100000">
                                          <p:val>
                                            <p:strVal val="#ppt_x"/>
                                          </p:val>
                                        </p:tav>
                                      </p:tavLst>
                                    </p:anim>
                                    <p:anim calcmode="lin" valueType="num">
                                      <p:cBhvr additive="base">
                                        <p:cTn id="150" dur="450" fill="hold"/>
                                        <p:tgtEl>
                                          <p:spTgt spid="10"/>
                                        </p:tgtEl>
                                        <p:attrNameLst>
                                          <p:attrName>ppt_y</p:attrName>
                                        </p:attrNameLst>
                                      </p:cBhvr>
                                      <p:tavLst>
                                        <p:tav tm="0">
                                          <p:val>
                                            <p:strVal val="#ppt_y+.1"/>
                                          </p:val>
                                        </p:tav>
                                        <p:tav tm="100000">
                                          <p:val>
                                            <p:strVal val="#ppt_y"/>
                                          </p:val>
                                        </p:tav>
                                      </p:tavLst>
                                    </p:anim>
                                  </p:childTnLst>
                                </p:cTn>
                              </p:par>
                              <p:par>
                                <p:cTn id="151" presetID="42" presetClass="entr" presetSubtype="0" fill="hold" nodeType="withEffect">
                                  <p:stCondLst>
                                    <p:cond delay="1550"/>
                                  </p:stCondLst>
                                  <p:childTnLst>
                                    <p:set>
                                      <p:cBhvr>
                                        <p:cTn id="152" dur="1" fill="hold">
                                          <p:stCondLst>
                                            <p:cond delay="0"/>
                                          </p:stCondLst>
                                        </p:cTn>
                                        <p:tgtEl>
                                          <p:spTgt spid="11"/>
                                        </p:tgtEl>
                                        <p:attrNameLst>
                                          <p:attrName>style.visibility</p:attrName>
                                        </p:attrNameLst>
                                      </p:cBhvr>
                                      <p:to>
                                        <p:strVal val="visible"/>
                                      </p:to>
                                    </p:set>
                                    <p:animEffect transition="in" filter="fade">
                                      <p:cBhvr>
                                        <p:cTn id="153" dur="450"/>
                                        <p:tgtEl>
                                          <p:spTgt spid="11"/>
                                        </p:tgtEl>
                                      </p:cBhvr>
                                    </p:animEffect>
                                    <p:anim calcmode="lin" valueType="num">
                                      <p:cBhvr additive="base">
                                        <p:cTn id="154" dur="450" fill="hold"/>
                                        <p:tgtEl>
                                          <p:spTgt spid="11"/>
                                        </p:tgtEl>
                                        <p:attrNameLst>
                                          <p:attrName>ppt_x</p:attrName>
                                        </p:attrNameLst>
                                      </p:cBhvr>
                                      <p:tavLst>
                                        <p:tav tm="0">
                                          <p:val>
                                            <p:strVal val="#ppt_x"/>
                                          </p:val>
                                        </p:tav>
                                        <p:tav tm="100000">
                                          <p:val>
                                            <p:strVal val="#ppt_x"/>
                                          </p:val>
                                        </p:tav>
                                      </p:tavLst>
                                    </p:anim>
                                    <p:anim calcmode="lin" valueType="num">
                                      <p:cBhvr additive="base">
                                        <p:cTn id="155" dur="450" fill="hold"/>
                                        <p:tgtEl>
                                          <p:spTgt spid="11"/>
                                        </p:tgtEl>
                                        <p:attrNameLst>
                                          <p:attrName>ppt_y</p:attrName>
                                        </p:attrNameLst>
                                      </p:cBhvr>
                                      <p:tavLst>
                                        <p:tav tm="0">
                                          <p:val>
                                            <p:strVal val="#ppt_y+.1"/>
                                          </p:val>
                                        </p:tav>
                                        <p:tav tm="100000">
                                          <p:val>
                                            <p:strVal val="#ppt_y"/>
                                          </p:val>
                                        </p:tav>
                                      </p:tavLst>
                                    </p:anim>
                                  </p:childTnLst>
                                </p:cTn>
                              </p:par>
                              <p:par>
                                <p:cTn id="156" presetID="42" presetClass="entr" presetSubtype="0" fill="hold" nodeType="withEffect">
                                  <p:stCondLst>
                                    <p:cond delay="1550"/>
                                  </p:stCondLst>
                                  <p:childTnLst>
                                    <p:set>
                                      <p:cBhvr>
                                        <p:cTn id="157" dur="1" fill="hold">
                                          <p:stCondLst>
                                            <p:cond delay="0"/>
                                          </p:stCondLst>
                                        </p:cTn>
                                        <p:tgtEl>
                                          <p:spTgt spid="12"/>
                                        </p:tgtEl>
                                        <p:attrNameLst>
                                          <p:attrName>style.visibility</p:attrName>
                                        </p:attrNameLst>
                                      </p:cBhvr>
                                      <p:to>
                                        <p:strVal val="visible"/>
                                      </p:to>
                                    </p:set>
                                    <p:animEffect transition="in" filter="fade">
                                      <p:cBhvr>
                                        <p:cTn id="158" dur="450"/>
                                        <p:tgtEl>
                                          <p:spTgt spid="12"/>
                                        </p:tgtEl>
                                      </p:cBhvr>
                                    </p:animEffect>
                                    <p:anim calcmode="lin" valueType="num">
                                      <p:cBhvr additive="base">
                                        <p:cTn id="159" dur="450" fill="hold"/>
                                        <p:tgtEl>
                                          <p:spTgt spid="12"/>
                                        </p:tgtEl>
                                        <p:attrNameLst>
                                          <p:attrName>ppt_x</p:attrName>
                                        </p:attrNameLst>
                                      </p:cBhvr>
                                      <p:tavLst>
                                        <p:tav tm="0">
                                          <p:val>
                                            <p:strVal val="#ppt_x"/>
                                          </p:val>
                                        </p:tav>
                                        <p:tav tm="100000">
                                          <p:val>
                                            <p:strVal val="#ppt_x"/>
                                          </p:val>
                                        </p:tav>
                                      </p:tavLst>
                                    </p:anim>
                                    <p:anim calcmode="lin" valueType="num">
                                      <p:cBhvr additive="base">
                                        <p:cTn id="160" dur="450" fill="hold"/>
                                        <p:tgtEl>
                                          <p:spTgt spid="12"/>
                                        </p:tgtEl>
                                        <p:attrNameLst>
                                          <p:attrName>ppt_y</p:attrName>
                                        </p:attrNameLst>
                                      </p:cBhvr>
                                      <p:tavLst>
                                        <p:tav tm="0">
                                          <p:val>
                                            <p:strVal val="#ppt_y+.1"/>
                                          </p:val>
                                        </p:tav>
                                        <p:tav tm="100000">
                                          <p:val>
                                            <p:strVal val="#ppt_y"/>
                                          </p:val>
                                        </p:tav>
                                      </p:tavLst>
                                    </p:anim>
                                  </p:childTnLst>
                                </p:cTn>
                              </p:par>
                              <p:par>
                                <p:cTn id="161" presetID="10" presetClass="entr" presetSubtype="0" fill="hold" nodeType="withEffect">
                                  <p:stCondLst>
                                    <p:cond delay="1950"/>
                                  </p:stCondLst>
                                  <p:childTnLst>
                                    <p:set>
                                      <p:cBhvr>
                                        <p:cTn id="162" dur="1" fill="hold">
                                          <p:stCondLst>
                                            <p:cond delay="0"/>
                                          </p:stCondLst>
                                        </p:cTn>
                                        <p:tgtEl>
                                          <p:spTgt spid="37"/>
                                        </p:tgtEl>
                                        <p:attrNameLst>
                                          <p:attrName>style.visibility</p:attrName>
                                        </p:attrNameLst>
                                      </p:cBhvr>
                                      <p:to>
                                        <p:strVal val="visible"/>
                                      </p:to>
                                    </p:set>
                                    <p:animEffect transition="in" filter="fade">
                                      <p:cBhvr>
                                        <p:cTn id="163" dur="500"/>
                                        <p:tgtEl>
                                          <p:spTgt spid="37"/>
                                        </p:tgtEl>
                                      </p:cBhvr>
                                    </p:animEffect>
                                  </p:childTnLst>
                                </p:cTn>
                              </p:par>
                              <p:par>
                                <p:cTn id="164" presetID="10" presetClass="entr" presetSubtype="0" fill="hold" nodeType="withEffect">
                                  <p:stCondLst>
                                    <p:cond delay="1950"/>
                                  </p:stCondLst>
                                  <p:childTnLst>
                                    <p:set>
                                      <p:cBhvr>
                                        <p:cTn id="165" dur="1" fill="hold">
                                          <p:stCondLst>
                                            <p:cond delay="0"/>
                                          </p:stCondLst>
                                        </p:cTn>
                                        <p:tgtEl>
                                          <p:spTgt spid="38"/>
                                        </p:tgtEl>
                                        <p:attrNameLst>
                                          <p:attrName>style.visibility</p:attrName>
                                        </p:attrNameLst>
                                      </p:cBhvr>
                                      <p:to>
                                        <p:strVal val="visible"/>
                                      </p:to>
                                    </p:set>
                                    <p:animEffect transition="in" filter="fade">
                                      <p:cBhvr>
                                        <p:cTn id="166" dur="500"/>
                                        <p:tgtEl>
                                          <p:spTgt spid="38"/>
                                        </p:tgtEl>
                                      </p:cBhvr>
                                    </p:animEffect>
                                  </p:childTnLst>
                                </p:cTn>
                              </p:par>
                              <p:par>
                                <p:cTn id="167" presetID="10" presetClass="entr" presetSubtype="0" fill="hold" nodeType="withEffect">
                                  <p:stCondLst>
                                    <p:cond delay="1950"/>
                                  </p:stCondLst>
                                  <p:childTnLst>
                                    <p:set>
                                      <p:cBhvr>
                                        <p:cTn id="168" dur="1" fill="hold">
                                          <p:stCondLst>
                                            <p:cond delay="0"/>
                                          </p:stCondLst>
                                        </p:cTn>
                                        <p:tgtEl>
                                          <p:spTgt spid="39"/>
                                        </p:tgtEl>
                                        <p:attrNameLst>
                                          <p:attrName>style.visibility</p:attrName>
                                        </p:attrNameLst>
                                      </p:cBhvr>
                                      <p:to>
                                        <p:strVal val="visible"/>
                                      </p:to>
                                    </p:set>
                                    <p:animEffect transition="in" filter="fade">
                                      <p:cBhvr>
                                        <p:cTn id="169" dur="500"/>
                                        <p:tgtEl>
                                          <p:spTgt spid="39"/>
                                        </p:tgtEl>
                                      </p:cBhvr>
                                    </p:animEffect>
                                  </p:childTnLst>
                                </p:cTn>
                              </p:par>
                              <p:par>
                                <p:cTn id="170" presetID="10" presetClass="entr" presetSubtype="0" fill="hold" nodeType="withEffect">
                                  <p:stCondLst>
                                    <p:cond delay="1950"/>
                                  </p:stCondLst>
                                  <p:childTnLst>
                                    <p:set>
                                      <p:cBhvr>
                                        <p:cTn id="171" dur="1" fill="hold">
                                          <p:stCondLst>
                                            <p:cond delay="0"/>
                                          </p:stCondLst>
                                        </p:cTn>
                                        <p:tgtEl>
                                          <p:spTgt spid="40"/>
                                        </p:tgtEl>
                                        <p:attrNameLst>
                                          <p:attrName>style.visibility</p:attrName>
                                        </p:attrNameLst>
                                      </p:cBhvr>
                                      <p:to>
                                        <p:strVal val="visible"/>
                                      </p:to>
                                    </p:set>
                                    <p:animEffect transition="in" filter="fade">
                                      <p:cBhvr>
                                        <p:cTn id="172" dur="500"/>
                                        <p:tgtEl>
                                          <p:spTgt spid="40"/>
                                        </p:tgtEl>
                                      </p:cBhvr>
                                    </p:animEffect>
                                  </p:childTnLst>
                                </p:cTn>
                              </p:par>
                              <p:par>
                                <p:cTn id="173" presetID="10" presetClass="entr" presetSubtype="0" fill="hold" nodeType="withEffect">
                                  <p:stCondLst>
                                    <p:cond delay="1950"/>
                                  </p:stCondLst>
                                  <p:childTnLst>
                                    <p:set>
                                      <p:cBhvr>
                                        <p:cTn id="174" dur="1" fill="hold">
                                          <p:stCondLst>
                                            <p:cond delay="0"/>
                                          </p:stCondLst>
                                        </p:cTn>
                                        <p:tgtEl>
                                          <p:spTgt spid="41"/>
                                        </p:tgtEl>
                                        <p:attrNameLst>
                                          <p:attrName>style.visibility</p:attrName>
                                        </p:attrNameLst>
                                      </p:cBhvr>
                                      <p:to>
                                        <p:strVal val="visible"/>
                                      </p:to>
                                    </p:set>
                                    <p:animEffect transition="in" filter="fade">
                                      <p:cBhvr>
                                        <p:cTn id="175" dur="500"/>
                                        <p:tgtEl>
                                          <p:spTgt spid="41"/>
                                        </p:tgtEl>
                                      </p:cBhvr>
                                    </p:animEffect>
                                  </p:childTnLst>
                                </p:cTn>
                              </p:par>
                              <p:par>
                                <p:cTn id="176" presetID="10" presetClass="entr" presetSubtype="0" fill="hold" nodeType="withEffect">
                                  <p:stCondLst>
                                    <p:cond delay="2400"/>
                                  </p:stCondLst>
                                  <p:childTnLst>
                                    <p:set>
                                      <p:cBhvr>
                                        <p:cTn id="177" dur="1" fill="hold">
                                          <p:stCondLst>
                                            <p:cond delay="0"/>
                                          </p:stCondLst>
                                        </p:cTn>
                                        <p:tgtEl>
                                          <p:spTgt spid="42"/>
                                        </p:tgtEl>
                                        <p:attrNameLst>
                                          <p:attrName>style.visibility</p:attrName>
                                        </p:attrNameLst>
                                      </p:cBhvr>
                                      <p:to>
                                        <p:strVal val="visible"/>
                                      </p:to>
                                    </p:set>
                                    <p:animEffect transition="in" filter="fade">
                                      <p:cBhvr>
                                        <p:cTn id="178" dur="600"/>
                                        <p:tgtEl>
                                          <p:spTgt spid="42"/>
                                        </p:tgtEl>
                                      </p:cBhvr>
                                    </p:animEffect>
                                  </p:childTnLst>
                                </p:cTn>
                              </p:par>
                              <p:par>
                                <p:cTn id="179" presetID="10" presetClass="entr" presetSubtype="0" fill="hold" nodeType="withEffect">
                                  <p:stCondLst>
                                    <p:cond delay="2400"/>
                                  </p:stCondLst>
                                  <p:childTnLst>
                                    <p:set>
                                      <p:cBhvr>
                                        <p:cTn id="180" dur="1" fill="hold">
                                          <p:stCondLst>
                                            <p:cond delay="0"/>
                                          </p:stCondLst>
                                        </p:cTn>
                                        <p:tgtEl>
                                          <p:spTgt spid="43"/>
                                        </p:tgtEl>
                                        <p:attrNameLst>
                                          <p:attrName>style.visibility</p:attrName>
                                        </p:attrNameLst>
                                      </p:cBhvr>
                                      <p:to>
                                        <p:strVal val="visible"/>
                                      </p:to>
                                    </p:set>
                                    <p:animEffect transition="in" filter="fade">
                                      <p:cBhvr>
                                        <p:cTn id="181" dur="600"/>
                                        <p:tgtEl>
                                          <p:spTgt spid="43"/>
                                        </p:tgtEl>
                                      </p:cBhvr>
                                    </p:animEffect>
                                  </p:childTnLst>
                                </p:cTn>
                              </p:par>
                              <p:par>
                                <p:cTn id="182" presetID="10" presetClass="entr" presetSubtype="0" fill="hold" nodeType="withEffect">
                                  <p:stCondLst>
                                    <p:cond delay="2400"/>
                                  </p:stCondLst>
                                  <p:childTnLst>
                                    <p:set>
                                      <p:cBhvr>
                                        <p:cTn id="183" dur="1" fill="hold">
                                          <p:stCondLst>
                                            <p:cond delay="0"/>
                                          </p:stCondLst>
                                        </p:cTn>
                                        <p:tgtEl>
                                          <p:spTgt spid="44"/>
                                        </p:tgtEl>
                                        <p:attrNameLst>
                                          <p:attrName>style.visibility</p:attrName>
                                        </p:attrNameLst>
                                      </p:cBhvr>
                                      <p:to>
                                        <p:strVal val="visible"/>
                                      </p:to>
                                    </p:set>
                                    <p:animEffect transition="in" filter="fade">
                                      <p:cBhvr>
                                        <p:cTn id="184" dur="600"/>
                                        <p:tgtEl>
                                          <p:spTgt spid="44"/>
                                        </p:tgtEl>
                                      </p:cBhvr>
                                    </p:animEffect>
                                  </p:childTnLst>
                                </p:cTn>
                              </p:par>
                              <p:par>
                                <p:cTn id="185" presetID="10" presetClass="entr" presetSubtype="0" fill="hold" nodeType="withEffect">
                                  <p:stCondLst>
                                    <p:cond delay="2400"/>
                                  </p:stCondLst>
                                  <p:childTnLst>
                                    <p:set>
                                      <p:cBhvr>
                                        <p:cTn id="186" dur="1" fill="hold">
                                          <p:stCondLst>
                                            <p:cond delay="0"/>
                                          </p:stCondLst>
                                        </p:cTn>
                                        <p:tgtEl>
                                          <p:spTgt spid="45"/>
                                        </p:tgtEl>
                                        <p:attrNameLst>
                                          <p:attrName>style.visibility</p:attrName>
                                        </p:attrNameLst>
                                      </p:cBhvr>
                                      <p:to>
                                        <p:strVal val="visible"/>
                                      </p:to>
                                    </p:set>
                                    <p:animEffect transition="in" filter="fade">
                                      <p:cBhvr>
                                        <p:cTn id="187" dur="600"/>
                                        <p:tgtEl>
                                          <p:spTgt spid="45"/>
                                        </p:tgtEl>
                                      </p:cBhvr>
                                    </p:animEffect>
                                  </p:childTnLst>
                                </p:cTn>
                              </p:par>
                              <p:par>
                                <p:cTn id="188" presetID="10" presetClass="entr" presetSubtype="0" fill="hold" nodeType="withEffect">
                                  <p:stCondLst>
                                    <p:cond delay="2400"/>
                                  </p:stCondLst>
                                  <p:childTnLst>
                                    <p:set>
                                      <p:cBhvr>
                                        <p:cTn id="189" dur="1" fill="hold">
                                          <p:stCondLst>
                                            <p:cond delay="0"/>
                                          </p:stCondLst>
                                        </p:cTn>
                                        <p:tgtEl>
                                          <p:spTgt spid="46"/>
                                        </p:tgtEl>
                                        <p:attrNameLst>
                                          <p:attrName>style.visibility</p:attrName>
                                        </p:attrNameLst>
                                      </p:cBhvr>
                                      <p:to>
                                        <p:strVal val="visible"/>
                                      </p:to>
                                    </p:set>
                                    <p:animEffect transition="in" filter="fade">
                                      <p:cBhvr>
                                        <p:cTn id="190" dur="600"/>
                                        <p:tgtEl>
                                          <p:spTgt spid="46"/>
                                        </p:tgtEl>
                                      </p:cBhvr>
                                    </p:animEffect>
                                  </p:childTnLst>
                                </p:cTn>
                              </p:par>
                              <p:par>
                                <p:cTn id="191" presetID="10" presetClass="entr" presetSubtype="0" fill="hold" nodeType="withEffect">
                                  <p:stCondLst>
                                    <p:cond delay="2400"/>
                                  </p:stCondLst>
                                  <p:childTnLst>
                                    <p:set>
                                      <p:cBhvr>
                                        <p:cTn id="192" dur="1" fill="hold">
                                          <p:stCondLst>
                                            <p:cond delay="0"/>
                                          </p:stCondLst>
                                        </p:cTn>
                                        <p:tgtEl>
                                          <p:spTgt spid="47"/>
                                        </p:tgtEl>
                                        <p:attrNameLst>
                                          <p:attrName>style.visibility</p:attrName>
                                        </p:attrNameLst>
                                      </p:cBhvr>
                                      <p:to>
                                        <p:strVal val="visible"/>
                                      </p:to>
                                    </p:set>
                                    <p:animEffect transition="in" filter="fade">
                                      <p:cBhvr>
                                        <p:cTn id="193" dur="600"/>
                                        <p:tgtEl>
                                          <p:spTgt spid="47"/>
                                        </p:tgtEl>
                                      </p:cBhvr>
                                    </p:animEffect>
                                  </p:childTnLst>
                                </p:cTn>
                              </p:par>
                              <p:par>
                                <p:cTn id="194" presetID="10" presetClass="entr" presetSubtype="0" fill="hold" nodeType="withEffect">
                                  <p:stCondLst>
                                    <p:cond delay="2400"/>
                                  </p:stCondLst>
                                  <p:childTnLst>
                                    <p:set>
                                      <p:cBhvr>
                                        <p:cTn id="195" dur="1" fill="hold">
                                          <p:stCondLst>
                                            <p:cond delay="0"/>
                                          </p:stCondLst>
                                        </p:cTn>
                                        <p:tgtEl>
                                          <p:spTgt spid="48"/>
                                        </p:tgtEl>
                                        <p:attrNameLst>
                                          <p:attrName>style.visibility</p:attrName>
                                        </p:attrNameLst>
                                      </p:cBhvr>
                                      <p:to>
                                        <p:strVal val="visible"/>
                                      </p:to>
                                    </p:set>
                                    <p:animEffect transition="in" filter="fade">
                                      <p:cBhvr>
                                        <p:cTn id="196" dur="600"/>
                                        <p:tgtEl>
                                          <p:spTgt spid="48"/>
                                        </p:tgtEl>
                                      </p:cBhvr>
                                    </p:animEffect>
                                  </p:childTnLst>
                                </p:cTn>
                              </p:par>
                              <p:par>
                                <p:cTn id="197" presetID="10" presetClass="entr" presetSubtype="0" fill="hold" nodeType="withEffect">
                                  <p:stCondLst>
                                    <p:cond delay="2400"/>
                                  </p:stCondLst>
                                  <p:childTnLst>
                                    <p:set>
                                      <p:cBhvr>
                                        <p:cTn id="198" dur="1" fill="hold">
                                          <p:stCondLst>
                                            <p:cond delay="0"/>
                                          </p:stCondLst>
                                        </p:cTn>
                                        <p:tgtEl>
                                          <p:spTgt spid="49"/>
                                        </p:tgtEl>
                                        <p:attrNameLst>
                                          <p:attrName>style.visibility</p:attrName>
                                        </p:attrNameLst>
                                      </p:cBhvr>
                                      <p:to>
                                        <p:strVal val="visible"/>
                                      </p:to>
                                    </p:set>
                                    <p:animEffect transition="in" filter="fade">
                                      <p:cBhvr>
                                        <p:cTn id="199" dur="600"/>
                                        <p:tgtEl>
                                          <p:spTgt spid="49"/>
                                        </p:tgtEl>
                                      </p:cBhvr>
                                    </p:animEffect>
                                  </p:childTnLst>
                                </p:cTn>
                              </p:par>
                              <p:par>
                                <p:cTn id="200" presetID="10" presetClass="entr" presetSubtype="0" fill="hold" nodeType="withEffect">
                                  <p:stCondLst>
                                    <p:cond delay="2400"/>
                                  </p:stCondLst>
                                  <p:childTnLst>
                                    <p:set>
                                      <p:cBhvr>
                                        <p:cTn id="201" dur="1" fill="hold">
                                          <p:stCondLst>
                                            <p:cond delay="0"/>
                                          </p:stCondLst>
                                        </p:cTn>
                                        <p:tgtEl>
                                          <p:spTgt spid="50"/>
                                        </p:tgtEl>
                                        <p:attrNameLst>
                                          <p:attrName>style.visibility</p:attrName>
                                        </p:attrNameLst>
                                      </p:cBhvr>
                                      <p:to>
                                        <p:strVal val="visible"/>
                                      </p:to>
                                    </p:set>
                                    <p:animEffect transition="in" filter="fade">
                                      <p:cBhvr>
                                        <p:cTn id="202" dur="600"/>
                                        <p:tgtEl>
                                          <p:spTgt spid="50"/>
                                        </p:tgtEl>
                                      </p:cBhvr>
                                    </p:animEffect>
                                  </p:childTnLst>
                                </p:cTn>
                              </p:par>
                              <p:par>
                                <p:cTn id="203" presetID="10" presetClass="entr" presetSubtype="0" fill="hold" nodeType="withEffect">
                                  <p:stCondLst>
                                    <p:cond delay="2400"/>
                                  </p:stCondLst>
                                  <p:childTnLst>
                                    <p:set>
                                      <p:cBhvr>
                                        <p:cTn id="204" dur="1" fill="hold">
                                          <p:stCondLst>
                                            <p:cond delay="0"/>
                                          </p:stCondLst>
                                        </p:cTn>
                                        <p:tgtEl>
                                          <p:spTgt spid="51"/>
                                        </p:tgtEl>
                                        <p:attrNameLst>
                                          <p:attrName>style.visibility</p:attrName>
                                        </p:attrNameLst>
                                      </p:cBhvr>
                                      <p:to>
                                        <p:strVal val="visible"/>
                                      </p:to>
                                    </p:set>
                                    <p:animEffect transition="in" filter="fade">
                                      <p:cBhvr>
                                        <p:cTn id="205" dur="600"/>
                                        <p:tgtEl>
                                          <p:spTgt spid="51"/>
                                        </p:tgtEl>
                                      </p:cBhvr>
                                    </p:animEffect>
                                  </p:childTnLst>
                                </p:cTn>
                              </p:par>
                              <p:par>
                                <p:cTn id="206" presetID="10" presetClass="entr" presetSubtype="0" fill="hold" nodeType="withEffect">
                                  <p:stCondLst>
                                    <p:cond delay="2400"/>
                                  </p:stCondLst>
                                  <p:childTnLst>
                                    <p:set>
                                      <p:cBhvr>
                                        <p:cTn id="207" dur="1" fill="hold">
                                          <p:stCondLst>
                                            <p:cond delay="0"/>
                                          </p:stCondLst>
                                        </p:cTn>
                                        <p:tgtEl>
                                          <p:spTgt spid="52"/>
                                        </p:tgtEl>
                                        <p:attrNameLst>
                                          <p:attrName>style.visibility</p:attrName>
                                        </p:attrNameLst>
                                      </p:cBhvr>
                                      <p:to>
                                        <p:strVal val="visible"/>
                                      </p:to>
                                    </p:set>
                                    <p:animEffect transition="in" filter="fade">
                                      <p:cBhvr>
                                        <p:cTn id="208" dur="600"/>
                                        <p:tgtEl>
                                          <p:spTgt spid="52"/>
                                        </p:tgtEl>
                                      </p:cBhvr>
                                    </p:animEffect>
                                  </p:childTnLst>
                                </p:cTn>
                              </p:par>
                              <p:par>
                                <p:cTn id="209" presetID="10" presetClass="entr" presetSubtype="0" fill="hold" nodeType="withEffect">
                                  <p:stCondLst>
                                    <p:cond delay="2400"/>
                                  </p:stCondLst>
                                  <p:childTnLst>
                                    <p:set>
                                      <p:cBhvr>
                                        <p:cTn id="210" dur="1" fill="hold">
                                          <p:stCondLst>
                                            <p:cond delay="0"/>
                                          </p:stCondLst>
                                        </p:cTn>
                                        <p:tgtEl>
                                          <p:spTgt spid="53"/>
                                        </p:tgtEl>
                                        <p:attrNameLst>
                                          <p:attrName>style.visibility</p:attrName>
                                        </p:attrNameLst>
                                      </p:cBhvr>
                                      <p:to>
                                        <p:strVal val="visible"/>
                                      </p:to>
                                    </p:set>
                                    <p:animEffect transition="in" filter="fade">
                                      <p:cBhvr>
                                        <p:cTn id="211" dur="600"/>
                                        <p:tgtEl>
                                          <p:spTgt spid="53"/>
                                        </p:tgtEl>
                                      </p:cBhvr>
                                    </p:animEffect>
                                  </p:childTnLst>
                                </p:cTn>
                              </p:par>
                              <p:par>
                                <p:cTn id="212" presetID="10" presetClass="entr" presetSubtype="0" fill="hold" nodeType="withEffect">
                                  <p:stCondLst>
                                    <p:cond delay="2400"/>
                                  </p:stCondLst>
                                  <p:childTnLst>
                                    <p:set>
                                      <p:cBhvr>
                                        <p:cTn id="213" dur="1" fill="hold">
                                          <p:stCondLst>
                                            <p:cond delay="0"/>
                                          </p:stCondLst>
                                        </p:cTn>
                                        <p:tgtEl>
                                          <p:spTgt spid="54"/>
                                        </p:tgtEl>
                                        <p:attrNameLst>
                                          <p:attrName>style.visibility</p:attrName>
                                        </p:attrNameLst>
                                      </p:cBhvr>
                                      <p:to>
                                        <p:strVal val="visible"/>
                                      </p:to>
                                    </p:set>
                                    <p:animEffect transition="in" filter="fade">
                                      <p:cBhvr>
                                        <p:cTn id="214" dur="600"/>
                                        <p:tgtEl>
                                          <p:spTgt spid="54"/>
                                        </p:tgtEl>
                                      </p:cBhvr>
                                    </p:animEffect>
                                  </p:childTnLst>
                                </p:cTn>
                              </p:par>
                              <p:par>
                                <p:cTn id="215" presetID="10" presetClass="entr" presetSubtype="0" fill="hold" nodeType="withEffect">
                                  <p:stCondLst>
                                    <p:cond delay="2400"/>
                                  </p:stCondLst>
                                  <p:childTnLst>
                                    <p:set>
                                      <p:cBhvr>
                                        <p:cTn id="216" dur="1" fill="hold">
                                          <p:stCondLst>
                                            <p:cond delay="0"/>
                                          </p:stCondLst>
                                        </p:cTn>
                                        <p:tgtEl>
                                          <p:spTgt spid="55"/>
                                        </p:tgtEl>
                                        <p:attrNameLst>
                                          <p:attrName>style.visibility</p:attrName>
                                        </p:attrNameLst>
                                      </p:cBhvr>
                                      <p:to>
                                        <p:strVal val="visible"/>
                                      </p:to>
                                    </p:set>
                                    <p:animEffect transition="in" filter="fade">
                                      <p:cBhvr>
                                        <p:cTn id="217" dur="600"/>
                                        <p:tgtEl>
                                          <p:spTgt spid="55"/>
                                        </p:tgtEl>
                                      </p:cBhvr>
                                    </p:animEffect>
                                  </p:childTnLst>
                                </p:cTn>
                              </p:par>
                              <p:par>
                                <p:cTn id="218" presetID="10" presetClass="entr" presetSubtype="0" fill="hold" nodeType="withEffect">
                                  <p:stCondLst>
                                    <p:cond delay="2400"/>
                                  </p:stCondLst>
                                  <p:childTnLst>
                                    <p:set>
                                      <p:cBhvr>
                                        <p:cTn id="219" dur="1" fill="hold">
                                          <p:stCondLst>
                                            <p:cond delay="0"/>
                                          </p:stCondLst>
                                        </p:cTn>
                                        <p:tgtEl>
                                          <p:spTgt spid="56"/>
                                        </p:tgtEl>
                                        <p:attrNameLst>
                                          <p:attrName>style.visibility</p:attrName>
                                        </p:attrNameLst>
                                      </p:cBhvr>
                                      <p:to>
                                        <p:strVal val="visible"/>
                                      </p:to>
                                    </p:set>
                                    <p:animEffect transition="in" filter="fade">
                                      <p:cBhvr>
                                        <p:cTn id="220" dur="600"/>
                                        <p:tgtEl>
                                          <p:spTgt spid="56"/>
                                        </p:tgtEl>
                                      </p:cBhvr>
                                    </p:animEffect>
                                  </p:childTnLst>
                                </p:cTn>
                              </p:par>
                              <p:par>
                                <p:cTn id="221" presetID="10" presetClass="entr" presetSubtype="0" fill="hold" nodeType="withEffect">
                                  <p:stCondLst>
                                    <p:cond delay="2400"/>
                                  </p:stCondLst>
                                  <p:childTnLst>
                                    <p:set>
                                      <p:cBhvr>
                                        <p:cTn id="222" dur="1" fill="hold">
                                          <p:stCondLst>
                                            <p:cond delay="0"/>
                                          </p:stCondLst>
                                        </p:cTn>
                                        <p:tgtEl>
                                          <p:spTgt spid="57"/>
                                        </p:tgtEl>
                                        <p:attrNameLst>
                                          <p:attrName>style.visibility</p:attrName>
                                        </p:attrNameLst>
                                      </p:cBhvr>
                                      <p:to>
                                        <p:strVal val="visible"/>
                                      </p:to>
                                    </p:set>
                                    <p:animEffect transition="in" filter="fade">
                                      <p:cBhvr>
                                        <p:cTn id="223" dur="600"/>
                                        <p:tgtEl>
                                          <p:spTgt spid="57"/>
                                        </p:tgtEl>
                                      </p:cBhvr>
                                    </p:animEffect>
                                  </p:childTnLst>
                                </p:cTn>
                              </p:par>
                              <p:par>
                                <p:cTn id="224" presetID="10" presetClass="entr" presetSubtype="0" fill="hold" nodeType="withEffect">
                                  <p:stCondLst>
                                    <p:cond delay="2400"/>
                                  </p:stCondLst>
                                  <p:childTnLst>
                                    <p:set>
                                      <p:cBhvr>
                                        <p:cTn id="225" dur="1" fill="hold">
                                          <p:stCondLst>
                                            <p:cond delay="0"/>
                                          </p:stCondLst>
                                        </p:cTn>
                                        <p:tgtEl>
                                          <p:spTgt spid="58"/>
                                        </p:tgtEl>
                                        <p:attrNameLst>
                                          <p:attrName>style.visibility</p:attrName>
                                        </p:attrNameLst>
                                      </p:cBhvr>
                                      <p:to>
                                        <p:strVal val="visible"/>
                                      </p:to>
                                    </p:set>
                                    <p:animEffect transition="in" filter="fade">
                                      <p:cBhvr>
                                        <p:cTn id="226" dur="600"/>
                                        <p:tgtEl>
                                          <p:spTgt spid="58"/>
                                        </p:tgtEl>
                                      </p:cBhvr>
                                    </p:animEffect>
                                  </p:childTnLst>
                                </p:cTn>
                              </p:par>
                              <p:par>
                                <p:cTn id="227" presetID="10" presetClass="entr" presetSubtype="0" fill="hold" nodeType="withEffect">
                                  <p:stCondLst>
                                    <p:cond delay="2400"/>
                                  </p:stCondLst>
                                  <p:childTnLst>
                                    <p:set>
                                      <p:cBhvr>
                                        <p:cTn id="228" dur="1" fill="hold">
                                          <p:stCondLst>
                                            <p:cond delay="0"/>
                                          </p:stCondLst>
                                        </p:cTn>
                                        <p:tgtEl>
                                          <p:spTgt spid="59"/>
                                        </p:tgtEl>
                                        <p:attrNameLst>
                                          <p:attrName>style.visibility</p:attrName>
                                        </p:attrNameLst>
                                      </p:cBhvr>
                                      <p:to>
                                        <p:strVal val="visible"/>
                                      </p:to>
                                    </p:set>
                                    <p:animEffect transition="in" filter="fade">
                                      <p:cBhvr>
                                        <p:cTn id="229" dur="600"/>
                                        <p:tgtEl>
                                          <p:spTgt spid="59"/>
                                        </p:tgtEl>
                                      </p:cBhvr>
                                    </p:animEffect>
                                  </p:childTnLst>
                                </p:cTn>
                              </p:par>
                              <p:par>
                                <p:cTn id="230" presetID="10" presetClass="entr" presetSubtype="0" fill="hold" nodeType="withEffect">
                                  <p:stCondLst>
                                    <p:cond delay="2400"/>
                                  </p:stCondLst>
                                  <p:childTnLst>
                                    <p:set>
                                      <p:cBhvr>
                                        <p:cTn id="231" dur="1" fill="hold">
                                          <p:stCondLst>
                                            <p:cond delay="0"/>
                                          </p:stCondLst>
                                        </p:cTn>
                                        <p:tgtEl>
                                          <p:spTgt spid="60"/>
                                        </p:tgtEl>
                                        <p:attrNameLst>
                                          <p:attrName>style.visibility</p:attrName>
                                        </p:attrNameLst>
                                      </p:cBhvr>
                                      <p:to>
                                        <p:strVal val="visible"/>
                                      </p:to>
                                    </p:set>
                                    <p:animEffect transition="in" filter="fade">
                                      <p:cBhvr>
                                        <p:cTn id="232" dur="600"/>
                                        <p:tgtEl>
                                          <p:spTgt spid="60"/>
                                        </p:tgtEl>
                                      </p:cBhvr>
                                    </p:animEffect>
                                  </p:childTnLst>
                                </p:cTn>
                              </p:par>
                              <p:par>
                                <p:cTn id="233" presetID="10" presetClass="entr" presetSubtype="0" fill="hold" nodeType="withEffect">
                                  <p:stCondLst>
                                    <p:cond delay="2400"/>
                                  </p:stCondLst>
                                  <p:childTnLst>
                                    <p:set>
                                      <p:cBhvr>
                                        <p:cTn id="234" dur="1" fill="hold">
                                          <p:stCondLst>
                                            <p:cond delay="0"/>
                                          </p:stCondLst>
                                        </p:cTn>
                                        <p:tgtEl>
                                          <p:spTgt spid="61"/>
                                        </p:tgtEl>
                                        <p:attrNameLst>
                                          <p:attrName>style.visibility</p:attrName>
                                        </p:attrNameLst>
                                      </p:cBhvr>
                                      <p:to>
                                        <p:strVal val="visible"/>
                                      </p:to>
                                    </p:set>
                                    <p:animEffect transition="in" filter="fade">
                                      <p:cBhvr>
                                        <p:cTn id="235" dur="600"/>
                                        <p:tgtEl>
                                          <p:spTgt spid="61"/>
                                        </p:tgtEl>
                                      </p:cBhvr>
                                    </p:animEffect>
                                  </p:childTnLst>
                                </p:cTn>
                              </p:par>
                              <p:par>
                                <p:cTn id="236" presetID="10" presetClass="entr" presetSubtype="0" fill="hold" nodeType="withEffect">
                                  <p:stCondLst>
                                    <p:cond delay="2400"/>
                                  </p:stCondLst>
                                  <p:childTnLst>
                                    <p:set>
                                      <p:cBhvr>
                                        <p:cTn id="237" dur="1" fill="hold">
                                          <p:stCondLst>
                                            <p:cond delay="0"/>
                                          </p:stCondLst>
                                        </p:cTn>
                                        <p:tgtEl>
                                          <p:spTgt spid="62"/>
                                        </p:tgtEl>
                                        <p:attrNameLst>
                                          <p:attrName>style.visibility</p:attrName>
                                        </p:attrNameLst>
                                      </p:cBhvr>
                                      <p:to>
                                        <p:strVal val="visible"/>
                                      </p:to>
                                    </p:set>
                                    <p:animEffect transition="in" filter="fade">
                                      <p:cBhvr>
                                        <p:cTn id="238" dur="600"/>
                                        <p:tgtEl>
                                          <p:spTgt spid="62"/>
                                        </p:tgtEl>
                                      </p:cBhvr>
                                    </p:animEffect>
                                  </p:childTnLst>
                                </p:cTn>
                              </p:par>
                              <p:par>
                                <p:cTn id="239" presetID="10" presetClass="entr" presetSubtype="0" fill="hold" nodeType="withEffect">
                                  <p:stCondLst>
                                    <p:cond delay="2400"/>
                                  </p:stCondLst>
                                  <p:childTnLst>
                                    <p:set>
                                      <p:cBhvr>
                                        <p:cTn id="240" dur="1" fill="hold">
                                          <p:stCondLst>
                                            <p:cond delay="0"/>
                                          </p:stCondLst>
                                        </p:cTn>
                                        <p:tgtEl>
                                          <p:spTgt spid="63"/>
                                        </p:tgtEl>
                                        <p:attrNameLst>
                                          <p:attrName>style.visibility</p:attrName>
                                        </p:attrNameLst>
                                      </p:cBhvr>
                                      <p:to>
                                        <p:strVal val="visible"/>
                                      </p:to>
                                    </p:set>
                                    <p:animEffect transition="in" filter="fade">
                                      <p:cBhvr>
                                        <p:cTn id="241" dur="600"/>
                                        <p:tgtEl>
                                          <p:spTgt spid="63"/>
                                        </p:tgtEl>
                                      </p:cBhvr>
                                    </p:animEffect>
                                  </p:childTnLst>
                                </p:cTn>
                              </p:par>
                              <p:par>
                                <p:cTn id="242" presetID="10" presetClass="entr" presetSubtype="0" fill="hold" nodeType="withEffect">
                                  <p:stCondLst>
                                    <p:cond delay="2400"/>
                                  </p:stCondLst>
                                  <p:childTnLst>
                                    <p:set>
                                      <p:cBhvr>
                                        <p:cTn id="243" dur="1" fill="hold">
                                          <p:stCondLst>
                                            <p:cond delay="0"/>
                                          </p:stCondLst>
                                        </p:cTn>
                                        <p:tgtEl>
                                          <p:spTgt spid="64"/>
                                        </p:tgtEl>
                                        <p:attrNameLst>
                                          <p:attrName>style.visibility</p:attrName>
                                        </p:attrNameLst>
                                      </p:cBhvr>
                                      <p:to>
                                        <p:strVal val="visible"/>
                                      </p:to>
                                    </p:set>
                                    <p:animEffect transition="in" filter="fade">
                                      <p:cBhvr>
                                        <p:cTn id="244" dur="600"/>
                                        <p:tgtEl>
                                          <p:spTgt spid="64"/>
                                        </p:tgtEl>
                                      </p:cBhvr>
                                    </p:animEffect>
                                  </p:childTnLst>
                                </p:cTn>
                              </p:par>
                              <p:par>
                                <p:cTn id="245" presetID="10" presetClass="entr" presetSubtype="0" fill="hold" nodeType="withEffect">
                                  <p:stCondLst>
                                    <p:cond delay="2400"/>
                                  </p:stCondLst>
                                  <p:childTnLst>
                                    <p:set>
                                      <p:cBhvr>
                                        <p:cTn id="246" dur="1" fill="hold">
                                          <p:stCondLst>
                                            <p:cond delay="0"/>
                                          </p:stCondLst>
                                        </p:cTn>
                                        <p:tgtEl>
                                          <p:spTgt spid="65"/>
                                        </p:tgtEl>
                                        <p:attrNameLst>
                                          <p:attrName>style.visibility</p:attrName>
                                        </p:attrNameLst>
                                      </p:cBhvr>
                                      <p:to>
                                        <p:strVal val="visible"/>
                                      </p:to>
                                    </p:set>
                                    <p:animEffect transition="in" filter="fade">
                                      <p:cBhvr>
                                        <p:cTn id="247" dur="600"/>
                                        <p:tgtEl>
                                          <p:spTgt spid="65"/>
                                        </p:tgtEl>
                                      </p:cBhvr>
                                    </p:animEffect>
                                  </p:childTnLst>
                                </p:cTn>
                              </p:par>
                              <p:par>
                                <p:cTn id="248" presetID="10" presetClass="entr" presetSubtype="0" fill="hold" nodeType="withEffect">
                                  <p:stCondLst>
                                    <p:cond delay="2400"/>
                                  </p:stCondLst>
                                  <p:childTnLst>
                                    <p:set>
                                      <p:cBhvr>
                                        <p:cTn id="249" dur="1" fill="hold">
                                          <p:stCondLst>
                                            <p:cond delay="0"/>
                                          </p:stCondLst>
                                        </p:cTn>
                                        <p:tgtEl>
                                          <p:spTgt spid="66"/>
                                        </p:tgtEl>
                                        <p:attrNameLst>
                                          <p:attrName>style.visibility</p:attrName>
                                        </p:attrNameLst>
                                      </p:cBhvr>
                                      <p:to>
                                        <p:strVal val="visible"/>
                                      </p:to>
                                    </p:set>
                                    <p:animEffect transition="in" filter="fade">
                                      <p:cBhvr>
                                        <p:cTn id="250" dur="600"/>
                                        <p:tgtEl>
                                          <p:spTgt spid="66"/>
                                        </p:tgtEl>
                                      </p:cBhvr>
                                    </p:animEffect>
                                  </p:childTnLst>
                                </p:cTn>
                              </p:par>
                              <p:par>
                                <p:cTn id="251" presetID="10" presetClass="entr" presetSubtype="0" fill="hold" nodeType="withEffect">
                                  <p:stCondLst>
                                    <p:cond delay="2400"/>
                                  </p:stCondLst>
                                  <p:childTnLst>
                                    <p:set>
                                      <p:cBhvr>
                                        <p:cTn id="252" dur="1" fill="hold">
                                          <p:stCondLst>
                                            <p:cond delay="0"/>
                                          </p:stCondLst>
                                        </p:cTn>
                                        <p:tgtEl>
                                          <p:spTgt spid="67"/>
                                        </p:tgtEl>
                                        <p:attrNameLst>
                                          <p:attrName>style.visibility</p:attrName>
                                        </p:attrNameLst>
                                      </p:cBhvr>
                                      <p:to>
                                        <p:strVal val="visible"/>
                                      </p:to>
                                    </p:set>
                                    <p:animEffect transition="in" filter="fade">
                                      <p:cBhvr>
                                        <p:cTn id="253" dur="6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16  ·  SCALABILITY &amp; INTEGRATION</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Measured today, with a clear path to upay volume</a:t>
            </a:r>
            <a:endParaRPr lang="en-US" sz="3400" dirty="0"/>
          </a:p>
        </p:txBody>
      </p:sp>
      <p:sp>
        <p:nvSpPr>
          <p:cNvPr id="5" name="bm__1"/>
          <p:cNvSpPr/>
          <p:nvPr/>
        </p:nvSpPr>
        <p:spPr>
          <a:xfrm>
            <a:off x="548640" y="1645920"/>
            <a:ext cx="4206240" cy="4343400"/>
          </a:xfrm>
          <a:prstGeom prst="roundRect">
            <a:avLst>
              <a:gd name="adj" fmla="val 2609"/>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bm__2"/>
          <p:cNvSpPr txBox="1"/>
          <p:nvPr/>
        </p:nvSpPr>
        <p:spPr>
          <a:xfrm>
            <a:off x="777240" y="1783080"/>
            <a:ext cx="3840480" cy="274320"/>
          </a:xfrm>
          <a:prstGeom prst="rect">
            <a:avLst/>
          </a:prstGeom>
          <a:noFill/>
          <a:ln/>
        </p:spPr>
        <p:txBody>
          <a:bodyPr wrap="square" lIns="0" tIns="0" rIns="0" bIns="0" rtlCol="0" anchor="ctr"/>
          <a:lstStyle/>
          <a:p>
            <a:pPr indent="0" marL="0">
              <a:buNone/>
            </a:pPr>
            <a:r>
              <a:rPr lang="en-US" sz="1000" b="1" spc="200" kern="0" dirty="0">
                <a:solidFill>
                  <a:srgbClr val="34D399"/>
                </a:solidFill>
                <a:latin typeface="Arial" pitchFamily="34" charset="0"/>
                <a:ea typeface="Arial" pitchFamily="34" charset="-122"/>
                <a:cs typeface="Arial" pitchFamily="34" charset="-120"/>
              </a:rPr>
              <a:t>MEASURED ON A LAPTOP TODAY</a:t>
            </a:r>
            <a:endParaRPr lang="en-US" sz="1000" dirty="0"/>
          </a:p>
        </p:txBody>
      </p:sp>
      <p:sp>
        <p:nvSpPr>
          <p:cNvPr id="7" name="bmr__1"/>
          <p:cNvSpPr txBox="1"/>
          <p:nvPr/>
        </p:nvSpPr>
        <p:spPr>
          <a:xfrm>
            <a:off x="777240" y="2148840"/>
            <a:ext cx="3840480" cy="502920"/>
          </a:xfrm>
          <a:prstGeom prst="rect">
            <a:avLst/>
          </a:prstGeom>
          <a:noFill/>
          <a:ln/>
        </p:spPr>
        <p:txBody>
          <a:bodyPr wrap="square" lIns="0" tIns="0" rIns="0" bIns="0" rtlCol="0" anchor="ctr"/>
          <a:lstStyle/>
          <a:p>
            <a:pPr indent="0" marL="0">
              <a:buNone/>
            </a:pPr>
            <a:r>
              <a:rPr lang="en-US" sz="2600" b="1" dirty="0">
                <a:solidFill>
                  <a:srgbClr val="38BDF8"/>
                </a:solidFill>
                <a:latin typeface="Arial" pitchFamily="34" charset="0"/>
                <a:ea typeface="Arial" pitchFamily="34" charset="-122"/>
                <a:cs typeface="Arial" pitchFamily="34" charset="-120"/>
              </a:rPr>
              <a:t>1,061,510</a:t>
            </a:r>
            <a:endParaRPr lang="en-US" sz="2600" dirty="0"/>
          </a:p>
        </p:txBody>
      </p:sp>
      <p:sp>
        <p:nvSpPr>
          <p:cNvPr id="8" name="bmr__2"/>
          <p:cNvSpPr txBox="1"/>
          <p:nvPr/>
        </p:nvSpPr>
        <p:spPr>
          <a:xfrm>
            <a:off x="777240" y="2624328"/>
            <a:ext cx="3840480" cy="32004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transactions scored in 18.9 s</a:t>
            </a:r>
            <a:endParaRPr lang="en-US" sz="1200" dirty="0"/>
          </a:p>
        </p:txBody>
      </p:sp>
      <p:sp>
        <p:nvSpPr>
          <p:cNvPr id="9" name="bmr__3"/>
          <p:cNvSpPr txBox="1"/>
          <p:nvPr/>
        </p:nvSpPr>
        <p:spPr>
          <a:xfrm>
            <a:off x="777240" y="3017520"/>
            <a:ext cx="3840480" cy="502920"/>
          </a:xfrm>
          <a:prstGeom prst="rect">
            <a:avLst/>
          </a:prstGeom>
          <a:noFill/>
          <a:ln/>
        </p:spPr>
        <p:txBody>
          <a:bodyPr wrap="square" lIns="0" tIns="0" rIns="0" bIns="0" rtlCol="0" anchor="ctr"/>
          <a:lstStyle/>
          <a:p>
            <a:pPr indent="0" marL="0">
              <a:buNone/>
            </a:pPr>
            <a:r>
              <a:rPr lang="en-US" sz="2600" b="1" dirty="0">
                <a:solidFill>
                  <a:srgbClr val="38BDF8"/>
                </a:solidFill>
                <a:latin typeface="Arial" pitchFamily="34" charset="0"/>
                <a:ea typeface="Arial" pitchFamily="34" charset="-122"/>
                <a:cs typeface="Arial" pitchFamily="34" charset="-120"/>
              </a:rPr>
              <a:t>~56,000 / s</a:t>
            </a:r>
            <a:endParaRPr lang="en-US" sz="2600" dirty="0"/>
          </a:p>
        </p:txBody>
      </p:sp>
      <p:sp>
        <p:nvSpPr>
          <p:cNvPr id="10" name="bmr__4"/>
          <p:cNvSpPr txBox="1"/>
          <p:nvPr/>
        </p:nvSpPr>
        <p:spPr>
          <a:xfrm>
            <a:off x="777240" y="3493008"/>
            <a:ext cx="3840480" cy="32004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scoring throughput, one process</a:t>
            </a:r>
            <a:endParaRPr lang="en-US" sz="1200" dirty="0"/>
          </a:p>
        </p:txBody>
      </p:sp>
      <p:sp>
        <p:nvSpPr>
          <p:cNvPr id="11" name="bmr__5"/>
          <p:cNvSpPr txBox="1"/>
          <p:nvPr/>
        </p:nvSpPr>
        <p:spPr>
          <a:xfrm>
            <a:off x="777240" y="3886200"/>
            <a:ext cx="3840480" cy="502920"/>
          </a:xfrm>
          <a:prstGeom prst="rect">
            <a:avLst/>
          </a:prstGeom>
          <a:noFill/>
          <a:ln/>
        </p:spPr>
        <p:txBody>
          <a:bodyPr wrap="square" lIns="0" tIns="0" rIns="0" bIns="0" rtlCol="0" anchor="ctr"/>
          <a:lstStyle/>
          <a:p>
            <a:pPr indent="0" marL="0">
              <a:buNone/>
            </a:pPr>
            <a:r>
              <a:rPr lang="en-US" sz="2600" b="1" dirty="0">
                <a:solidFill>
                  <a:srgbClr val="38BDF8"/>
                </a:solidFill>
                <a:latin typeface="Arial" pitchFamily="34" charset="0"/>
                <a:ea typeface="Arial" pitchFamily="34" charset="-122"/>
                <a:cs typeface="Arial" pitchFamily="34" charset="-120"/>
              </a:rPr>
              <a:t>&lt; 6 ms</a:t>
            </a:r>
            <a:endParaRPr lang="en-US" sz="2600" dirty="0"/>
          </a:p>
        </p:txBody>
      </p:sp>
      <p:sp>
        <p:nvSpPr>
          <p:cNvPr id="12" name="bmr__6"/>
          <p:cNvSpPr txBox="1"/>
          <p:nvPr/>
        </p:nvSpPr>
        <p:spPr>
          <a:xfrm>
            <a:off x="777240" y="4361688"/>
            <a:ext cx="3840480" cy="32004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API response time, p95 (every endpoint)</a:t>
            </a:r>
            <a:endParaRPr lang="en-US" sz="1200" dirty="0"/>
          </a:p>
        </p:txBody>
      </p:sp>
      <p:sp>
        <p:nvSpPr>
          <p:cNvPr id="13" name="bmr__7"/>
          <p:cNvSpPr txBox="1"/>
          <p:nvPr/>
        </p:nvSpPr>
        <p:spPr>
          <a:xfrm>
            <a:off x="777240" y="4754880"/>
            <a:ext cx="3840480" cy="502920"/>
          </a:xfrm>
          <a:prstGeom prst="rect">
            <a:avLst/>
          </a:prstGeom>
          <a:noFill/>
          <a:ln/>
        </p:spPr>
        <p:txBody>
          <a:bodyPr wrap="square" lIns="0" tIns="0" rIns="0" bIns="0" rtlCol="0" anchor="ctr"/>
          <a:lstStyle/>
          <a:p>
            <a:pPr indent="0" marL="0">
              <a:buNone/>
            </a:pPr>
            <a:r>
              <a:rPr lang="en-US" sz="2600" b="1" dirty="0">
                <a:solidFill>
                  <a:srgbClr val="38BDF8"/>
                </a:solidFill>
                <a:latin typeface="Arial" pitchFamily="34" charset="0"/>
                <a:ea typeface="Arial" pitchFamily="34" charset="-122"/>
                <a:cs typeface="Arial" pitchFamily="34" charset="-120"/>
              </a:rPr>
              <a:t>0.21 s</a:t>
            </a:r>
            <a:endParaRPr lang="en-US" sz="2600" dirty="0"/>
          </a:p>
        </p:txBody>
      </p:sp>
      <p:sp>
        <p:nvSpPr>
          <p:cNvPr id="14" name="bmr__8"/>
          <p:cNvSpPr txBox="1"/>
          <p:nvPr/>
        </p:nvSpPr>
        <p:spPr>
          <a:xfrm>
            <a:off x="777240" y="5230368"/>
            <a:ext cx="3840480" cy="320040"/>
          </a:xfrm>
          <a:prstGeom prst="rect">
            <a:avLst/>
          </a:prstGeom>
          <a:noFill/>
          <a:ln/>
        </p:spPr>
        <p:txBody>
          <a:bodyPr wrap="square" lIns="0" tIns="0" rIns="0" bIns="0" rtlCol="0" anchor="t"/>
          <a:lstStyle/>
          <a:p>
            <a:pPr indent="0" marL="0">
              <a:buNone/>
            </a:pPr>
            <a:r>
              <a:rPr lang="en-US" sz="1200" dirty="0">
                <a:solidFill>
                  <a:srgbClr val="9AABC4"/>
                </a:solidFill>
                <a:latin typeface="Calibri" pitchFamily="34" charset="0"/>
                <a:ea typeface="Calibri" pitchFamily="34" charset="-122"/>
                <a:cs typeface="Calibri" pitchFamily="34" charset="-120"/>
              </a:rPr>
              <a:t>re-score the last 24 hours (9,508 tx)</a:t>
            </a:r>
            <a:endParaRPr lang="en-US" sz="1200" dirty="0"/>
          </a:p>
        </p:txBody>
      </p:sp>
      <p:sp>
        <p:nvSpPr>
          <p:cNvPr id="15" name="bmr__9"/>
          <p:cNvSpPr txBox="1"/>
          <p:nvPr/>
        </p:nvSpPr>
        <p:spPr>
          <a:xfrm>
            <a:off x="777240" y="5577840"/>
            <a:ext cx="3840480" cy="320040"/>
          </a:xfrm>
          <a:prstGeom prst="rect">
            <a:avLst/>
          </a:prstGeom>
          <a:noFill/>
          <a:ln/>
        </p:spPr>
        <p:txBody>
          <a:bodyPr wrap="square" lIns="0" tIns="0" rIns="0" bIns="0" rtlCol="0" anchor="t"/>
          <a:lstStyle/>
          <a:p>
            <a:pPr indent="0" marL="0">
              <a:buNone/>
            </a:pPr>
            <a:r>
              <a:rPr lang="en-US" sz="1000" i="1" dirty="0">
                <a:solidFill>
                  <a:srgbClr val="5F7090"/>
                </a:solidFill>
                <a:latin typeface="Calibri" pitchFamily="34" charset="0"/>
                <a:ea typeface="Calibri" pitchFamily="34" charset="-122"/>
                <a:cs typeface="Calibri" pitchFamily="34" charset="-120"/>
              </a:rPr>
              <a:t>8-core laptop, Python 3.11, one process in Docker, no GPU, peak 1.9 GB. Full pipeline with graph and evidence text: ~8,600 tx/s.</a:t>
            </a:r>
            <a:endParaRPr lang="en-US" sz="1000" dirty="0"/>
          </a:p>
        </p:txBody>
      </p:sp>
      <p:sp>
        <p:nvSpPr>
          <p:cNvPr id="16" name="nd__1"/>
          <p:cNvSpPr/>
          <p:nvPr/>
        </p:nvSpPr>
        <p:spPr>
          <a:xfrm>
            <a:off x="4983480" y="1645920"/>
            <a:ext cx="6656832" cy="1143000"/>
          </a:xfrm>
          <a:prstGeom prst="roundRect">
            <a:avLst>
              <a:gd name="adj" fmla="val 9600"/>
            </a:avLst>
          </a:prstGeom>
          <a:solidFill>
            <a:srgbClr val="F5A524">
              <a:alpha val="12000"/>
            </a:srgbClr>
          </a:solidFill>
          <a:ln w="12700">
            <a:solidFill>
              <a:srgbClr val="F5A524"/>
            </a:solidFill>
            <a:prstDash val="solid"/>
          </a:ln>
          <a:effectLst>
            <a:outerShdw sx="100000" sy="100000" kx="0" ky="0" algn="bl" rotWithShape="0" blurRad="101600" dist="38100" dir="5400000">
              <a:srgbClr val="000000">
                <a:alpha val="45000"/>
              </a:srgbClr>
            </a:outerShdw>
          </a:effectLst>
        </p:spPr>
      </p:sp>
      <p:sp>
        <p:nvSpPr>
          <p:cNvPr id="17" name="nd__2"/>
          <p:cNvSpPr txBox="1"/>
          <p:nvPr/>
        </p:nvSpPr>
        <p:spPr>
          <a:xfrm>
            <a:off x="5212080" y="1719072"/>
            <a:ext cx="6263640" cy="1005840"/>
          </a:xfrm>
          <a:prstGeom prst="rect">
            <a:avLst/>
          </a:prstGeom>
          <a:noFill/>
          <a:ln/>
        </p:spPr>
        <p:txBody>
          <a:bodyPr wrap="square" lIns="0" tIns="0" rIns="0" bIns="0" rtlCol="0" anchor="ctr"/>
          <a:lstStyle/>
          <a:p>
            <a:pPr indent="0" marL="0">
              <a:buNone/>
            </a:pPr>
            <a:r>
              <a:rPr lang="en-US" sz="1500" b="1" dirty="0">
                <a:solidFill>
                  <a:srgbClr val="F5A524"/>
                </a:solidFill>
                <a:latin typeface="Arial" pitchFamily="34" charset="0"/>
                <a:ea typeface="Arial" pitchFamily="34" charset="-122"/>
                <a:cs typeface="Arial" pitchFamily="34" charset="-120"/>
              </a:rPr>
              <a:t>upay-scale target  </a:t>
            </a:r>
            <a:pPr indent="0" marL="0">
              <a:buNone/>
            </a:pPr>
            <a:r>
              <a:rPr lang="en-US" sz="1250" dirty="0">
                <a:solidFill>
                  <a:srgbClr val="F1F5FB"/>
                </a:solidFill>
                <a:latin typeface="Calibri" pitchFamily="34" charset="0"/>
                <a:ea typeface="Calibri" pitchFamily="34" charset="-122"/>
                <a:cs typeface="Calibri" pitchFamily="34" charset="-120"/>
              </a:rPr>
              <a:t>All Bangladesh MFS together average ~250 transfers a second [2]. Our batch scoring already runs ~56,000 a second on one laptop process; the streaming layers below make it real-time for upay.</a:t>
            </a:r>
            <a:endParaRPr lang="en-US" sz="1500" dirty="0"/>
          </a:p>
        </p:txBody>
      </p:sp>
      <p:sp>
        <p:nvSpPr>
          <p:cNvPr id="18" name="ta__1"/>
          <p:cNvSpPr txBox="1"/>
          <p:nvPr/>
        </p:nvSpPr>
        <p:spPr>
          <a:xfrm>
            <a:off x="4983480" y="2971800"/>
            <a:ext cx="6400800" cy="274320"/>
          </a:xfrm>
          <a:prstGeom prst="rect">
            <a:avLst/>
          </a:prstGeom>
          <a:noFill/>
          <a:ln/>
        </p:spPr>
        <p:txBody>
          <a:bodyPr wrap="square" lIns="0" tIns="0" rIns="0" bIns="0" rtlCol="0" anchor="ctr"/>
          <a:lstStyle/>
          <a:p>
            <a:pPr indent="0" marL="0">
              <a:buNone/>
            </a:pPr>
            <a:r>
              <a:rPr lang="en-US" sz="1000" b="1" spc="200" kern="0" dirty="0">
                <a:solidFill>
                  <a:srgbClr val="A78BFA"/>
                </a:solidFill>
                <a:latin typeface="Arial" pitchFamily="34" charset="0"/>
                <a:ea typeface="Arial" pitchFamily="34" charset="-122"/>
                <a:cs typeface="Arial" pitchFamily="34" charset="-120"/>
              </a:rPr>
              <a:t>TARGET ARCHITECTURE  ·  ROADMAP</a:t>
            </a:r>
            <a:endParaRPr lang="en-US" sz="1000" dirty="0"/>
          </a:p>
        </p:txBody>
      </p:sp>
      <p:sp>
        <p:nvSpPr>
          <p:cNvPr id="19" name="ar0__1"/>
          <p:cNvSpPr/>
          <p:nvPr/>
        </p:nvSpPr>
        <p:spPr>
          <a:xfrm>
            <a:off x="4983480" y="3310128"/>
            <a:ext cx="1216152" cy="2679192"/>
          </a:xfrm>
          <a:prstGeom prst="roundRect">
            <a:avLst>
              <a:gd name="adj" fmla="val 9023"/>
            </a:avLst>
          </a:prstGeom>
          <a:solidFill>
            <a:srgbClr val="0E1729">
              <a:alpha val="70000"/>
            </a:srgbClr>
          </a:solidFill>
          <a:ln w="12700">
            <a:solidFill>
              <a:srgbClr val="22314F"/>
            </a:solidFill>
            <a:prstDash val="dash"/>
          </a:ln>
          <a:effectLst>
            <a:outerShdw sx="100000" sy="100000" kx="0" ky="0" algn="bl" rotWithShape="0" blurRad="101600" dist="38100" dir="5400000">
              <a:srgbClr val="000000">
                <a:alpha val="45000"/>
              </a:srgbClr>
            </a:outerShdw>
          </a:effectLst>
        </p:spPr>
      </p:sp>
      <p:sp>
        <p:nvSpPr>
          <p:cNvPr id="20" name="ar0__2"/>
          <p:cNvSpPr/>
          <p:nvPr/>
        </p:nvSpPr>
        <p:spPr>
          <a:xfrm>
            <a:off x="5308092" y="3474720"/>
            <a:ext cx="566928" cy="566928"/>
          </a:xfrm>
          <a:prstGeom prst="ellipse">
            <a:avLst/>
          </a:prstGeom>
          <a:solidFill>
            <a:srgbClr val="A78BFA">
              <a:alpha val="18000"/>
            </a:srgbClr>
          </a:solidFill>
          <a:ln w="12700">
            <a:solidFill>
              <a:srgbClr val="A78BFA">
                <a:alpha val="60000"/>
              </a:srgbClr>
            </a:solidFill>
            <a:prstDash val="solid"/>
          </a:ln>
        </p:spPr>
      </p:sp>
      <p:pic>
        <p:nvPicPr>
          <p:cNvPr id="21" name="ar0__3" descr="preencoded.png">    </p:cNvPr>
          <p:cNvPicPr>
            <a:picLocks noChangeAspect="1"/>
          </p:cNvPicPr>
          <p:nvPr/>
        </p:nvPicPr>
        <p:blipFill>
          <a:blip r:embed="rId2"/>
          <a:stretch>
            <a:fillRect/>
          </a:stretch>
        </p:blipFill>
        <p:spPr>
          <a:xfrm>
            <a:off x="5449824" y="3616452"/>
            <a:ext cx="283464" cy="283464"/>
          </a:xfrm>
          <a:prstGeom prst="rect">
            <a:avLst/>
          </a:prstGeom>
        </p:spPr>
      </p:pic>
      <p:sp>
        <p:nvSpPr>
          <p:cNvPr id="22" name="ar0__4"/>
          <p:cNvSpPr txBox="1"/>
          <p:nvPr/>
        </p:nvSpPr>
        <p:spPr>
          <a:xfrm>
            <a:off x="5038344" y="4133088"/>
            <a:ext cx="1106424" cy="329184"/>
          </a:xfrm>
          <a:prstGeom prst="rect">
            <a:avLst/>
          </a:prstGeom>
          <a:noFill/>
          <a:ln/>
        </p:spPr>
        <p:txBody>
          <a:bodyPr wrap="square" lIns="0" tIns="0" rIns="0" bIns="0" rtlCol="0" anchor="ctr"/>
          <a:lstStyle/>
          <a:p>
            <a:pPr algn="ctr" indent="0" marL="0">
              <a:buNone/>
            </a:pPr>
            <a:r>
              <a:rPr lang="en-US" sz="1300" b="1" dirty="0">
                <a:solidFill>
                  <a:srgbClr val="F1F5FB"/>
                </a:solidFill>
                <a:latin typeface="Arial" pitchFamily="34" charset="0"/>
                <a:ea typeface="Arial" pitchFamily="34" charset="-122"/>
                <a:cs typeface="Arial" pitchFamily="34" charset="-120"/>
              </a:rPr>
              <a:t>Stream in</a:t>
            </a:r>
            <a:endParaRPr lang="en-US" sz="1300" dirty="0"/>
          </a:p>
        </p:txBody>
      </p:sp>
      <p:sp>
        <p:nvSpPr>
          <p:cNvPr id="23" name="ar0__5"/>
          <p:cNvSpPr txBox="1"/>
          <p:nvPr/>
        </p:nvSpPr>
        <p:spPr>
          <a:xfrm>
            <a:off x="5074920" y="4498848"/>
            <a:ext cx="1033272" cy="1417320"/>
          </a:xfrm>
          <a:prstGeom prst="rect">
            <a:avLst/>
          </a:prstGeom>
          <a:noFill/>
          <a:ln/>
        </p:spPr>
        <p:txBody>
          <a:bodyPr wrap="square" lIns="0" tIns="0" rIns="0" bIns="0" rtlCol="0" anchor="t"/>
          <a:lstStyle/>
          <a:p>
            <a:pPr algn="ctr" indent="0" marL="0">
              <a:buNone/>
            </a:pPr>
            <a:r>
              <a:rPr lang="en-US" sz="1050" dirty="0">
                <a:solidFill>
                  <a:srgbClr val="9AABC4"/>
                </a:solidFill>
                <a:latin typeface="Calibri" pitchFamily="34" charset="0"/>
                <a:ea typeface="Calibri" pitchFamily="34" charset="-122"/>
                <a:cs typeface="Calibri" pitchFamily="34" charset="-120"/>
              </a:rPr>
              <a:t>Kafka topic fed by upay's core ledger / AML feed (CDC)</a:t>
            </a:r>
            <a:endParaRPr lang="en-US" sz="1050" dirty="0"/>
          </a:p>
        </p:txBody>
      </p:sp>
      <p:sp>
        <p:nvSpPr>
          <p:cNvPr id="24" name="arA__1"/>
          <p:cNvSpPr/>
          <p:nvPr/>
        </p:nvSpPr>
        <p:spPr>
          <a:xfrm>
            <a:off x="6204204" y="3758184"/>
            <a:ext cx="132588" cy="914"/>
          </a:xfrm>
          <a:prstGeom prst="line">
            <a:avLst/>
          </a:prstGeom>
          <a:noFill/>
          <a:ln w="15875">
            <a:solidFill>
              <a:srgbClr val="A78BFA"/>
            </a:solidFill>
            <a:prstDash val="solid"/>
            <a:tailEnd type="triangle"/>
          </a:ln>
        </p:spPr>
      </p:sp>
      <p:sp>
        <p:nvSpPr>
          <p:cNvPr id="25" name="ar1__1"/>
          <p:cNvSpPr/>
          <p:nvPr/>
        </p:nvSpPr>
        <p:spPr>
          <a:xfrm>
            <a:off x="6341364" y="3310128"/>
            <a:ext cx="1216152" cy="2679192"/>
          </a:xfrm>
          <a:prstGeom prst="roundRect">
            <a:avLst>
              <a:gd name="adj" fmla="val 9023"/>
            </a:avLst>
          </a:prstGeom>
          <a:solidFill>
            <a:srgbClr val="0E1729">
              <a:alpha val="70000"/>
            </a:srgbClr>
          </a:solidFill>
          <a:ln w="12700">
            <a:solidFill>
              <a:srgbClr val="22314F"/>
            </a:solidFill>
            <a:prstDash val="dash"/>
          </a:ln>
          <a:effectLst>
            <a:outerShdw sx="100000" sy="100000" kx="0" ky="0" algn="bl" rotWithShape="0" blurRad="101600" dist="38100" dir="5400000">
              <a:srgbClr val="000000">
                <a:alpha val="45000"/>
              </a:srgbClr>
            </a:outerShdw>
          </a:effectLst>
        </p:spPr>
      </p:sp>
      <p:sp>
        <p:nvSpPr>
          <p:cNvPr id="26" name="ar1__2"/>
          <p:cNvSpPr/>
          <p:nvPr/>
        </p:nvSpPr>
        <p:spPr>
          <a:xfrm>
            <a:off x="6665976" y="3474720"/>
            <a:ext cx="566928" cy="566928"/>
          </a:xfrm>
          <a:prstGeom prst="ellipse">
            <a:avLst/>
          </a:prstGeom>
          <a:solidFill>
            <a:srgbClr val="A78BFA">
              <a:alpha val="18000"/>
            </a:srgbClr>
          </a:solidFill>
          <a:ln w="12700">
            <a:solidFill>
              <a:srgbClr val="A78BFA">
                <a:alpha val="60000"/>
              </a:srgbClr>
            </a:solidFill>
            <a:prstDash val="solid"/>
          </a:ln>
        </p:spPr>
      </p:sp>
      <p:pic>
        <p:nvPicPr>
          <p:cNvPr id="27" name="ar1__3" descr="preencoded.png">    </p:cNvPr>
          <p:cNvPicPr>
            <a:picLocks noChangeAspect="1"/>
          </p:cNvPicPr>
          <p:nvPr/>
        </p:nvPicPr>
        <p:blipFill>
          <a:blip r:embed="rId3"/>
          <a:stretch>
            <a:fillRect/>
          </a:stretch>
        </p:blipFill>
        <p:spPr>
          <a:xfrm>
            <a:off x="6807708" y="3616452"/>
            <a:ext cx="283464" cy="283464"/>
          </a:xfrm>
          <a:prstGeom prst="rect">
            <a:avLst/>
          </a:prstGeom>
        </p:spPr>
      </p:pic>
      <p:sp>
        <p:nvSpPr>
          <p:cNvPr id="28" name="ar1__4"/>
          <p:cNvSpPr txBox="1"/>
          <p:nvPr/>
        </p:nvSpPr>
        <p:spPr>
          <a:xfrm>
            <a:off x="6396228" y="4133088"/>
            <a:ext cx="1106424" cy="329184"/>
          </a:xfrm>
          <a:prstGeom prst="rect">
            <a:avLst/>
          </a:prstGeom>
          <a:noFill/>
          <a:ln/>
        </p:spPr>
        <p:txBody>
          <a:bodyPr wrap="square" lIns="0" tIns="0" rIns="0" bIns="0" rtlCol="0" anchor="ctr"/>
          <a:lstStyle/>
          <a:p>
            <a:pPr algn="ctr" indent="0" marL="0">
              <a:buNone/>
            </a:pPr>
            <a:r>
              <a:rPr lang="en-US" sz="1300" b="1" dirty="0">
                <a:solidFill>
                  <a:srgbClr val="F1F5FB"/>
                </a:solidFill>
                <a:latin typeface="Arial" pitchFamily="34" charset="0"/>
                <a:ea typeface="Arial" pitchFamily="34" charset="-122"/>
                <a:cs typeface="Arial" pitchFamily="34" charset="-120"/>
              </a:rPr>
              <a:t>Window</a:t>
            </a:r>
            <a:endParaRPr lang="en-US" sz="1300" dirty="0"/>
          </a:p>
        </p:txBody>
      </p:sp>
      <p:sp>
        <p:nvSpPr>
          <p:cNvPr id="29" name="ar1__5"/>
          <p:cNvSpPr txBox="1"/>
          <p:nvPr/>
        </p:nvSpPr>
        <p:spPr>
          <a:xfrm>
            <a:off x="6432804" y="4498848"/>
            <a:ext cx="1033272" cy="1417320"/>
          </a:xfrm>
          <a:prstGeom prst="rect">
            <a:avLst/>
          </a:prstGeom>
          <a:noFill/>
          <a:ln/>
        </p:spPr>
        <p:txBody>
          <a:bodyPr wrap="square" lIns="0" tIns="0" rIns="0" bIns="0" rtlCol="0" anchor="t"/>
          <a:lstStyle/>
          <a:p>
            <a:pPr algn="ctr" indent="0" marL="0">
              <a:buNone/>
            </a:pPr>
            <a:r>
              <a:rPr lang="en-US" sz="1050" dirty="0">
                <a:solidFill>
                  <a:srgbClr val="9AABC4"/>
                </a:solidFill>
                <a:latin typeface="Calibri" pitchFamily="34" charset="0"/>
                <a:ea typeface="Calibri" pitchFamily="34" charset="-122"/>
                <a:cs typeface="Calibri" pitchFamily="34" charset="-120"/>
              </a:rPr>
              <a:t>Incremental graph features over sliding 1h / 24h / 7d windows</a:t>
            </a:r>
            <a:endParaRPr lang="en-US" sz="1050" dirty="0"/>
          </a:p>
        </p:txBody>
      </p:sp>
      <p:sp>
        <p:nvSpPr>
          <p:cNvPr id="30" name="arA__2"/>
          <p:cNvSpPr/>
          <p:nvPr/>
        </p:nvSpPr>
        <p:spPr>
          <a:xfrm>
            <a:off x="7562088" y="3758184"/>
            <a:ext cx="132588" cy="914"/>
          </a:xfrm>
          <a:prstGeom prst="line">
            <a:avLst/>
          </a:prstGeom>
          <a:noFill/>
          <a:ln w="15875">
            <a:solidFill>
              <a:srgbClr val="A78BFA"/>
            </a:solidFill>
            <a:prstDash val="solid"/>
            <a:tailEnd type="triangle"/>
          </a:ln>
        </p:spPr>
      </p:sp>
      <p:sp>
        <p:nvSpPr>
          <p:cNvPr id="31" name="ar2__1"/>
          <p:cNvSpPr/>
          <p:nvPr/>
        </p:nvSpPr>
        <p:spPr>
          <a:xfrm>
            <a:off x="7699248" y="3310128"/>
            <a:ext cx="1216152" cy="2679192"/>
          </a:xfrm>
          <a:prstGeom prst="roundRect">
            <a:avLst>
              <a:gd name="adj" fmla="val 9023"/>
            </a:avLst>
          </a:prstGeom>
          <a:solidFill>
            <a:srgbClr val="0E1729">
              <a:alpha val="70000"/>
            </a:srgbClr>
          </a:solidFill>
          <a:ln w="12700">
            <a:solidFill>
              <a:srgbClr val="22314F"/>
            </a:solidFill>
            <a:prstDash val="dash"/>
          </a:ln>
          <a:effectLst>
            <a:outerShdw sx="100000" sy="100000" kx="0" ky="0" algn="bl" rotWithShape="0" blurRad="101600" dist="38100" dir="5400000">
              <a:srgbClr val="000000">
                <a:alpha val="45000"/>
              </a:srgbClr>
            </a:outerShdw>
          </a:effectLst>
        </p:spPr>
      </p:sp>
      <p:sp>
        <p:nvSpPr>
          <p:cNvPr id="32" name="ar2__2"/>
          <p:cNvSpPr/>
          <p:nvPr/>
        </p:nvSpPr>
        <p:spPr>
          <a:xfrm>
            <a:off x="8023860" y="3474720"/>
            <a:ext cx="566928" cy="566928"/>
          </a:xfrm>
          <a:prstGeom prst="ellipse">
            <a:avLst/>
          </a:prstGeom>
          <a:solidFill>
            <a:srgbClr val="A78BFA">
              <a:alpha val="18000"/>
            </a:srgbClr>
          </a:solidFill>
          <a:ln w="12700">
            <a:solidFill>
              <a:srgbClr val="A78BFA">
                <a:alpha val="60000"/>
              </a:srgbClr>
            </a:solidFill>
            <a:prstDash val="solid"/>
          </a:ln>
        </p:spPr>
      </p:sp>
      <p:pic>
        <p:nvPicPr>
          <p:cNvPr id="33" name="ar2__3" descr="preencoded.png">    </p:cNvPr>
          <p:cNvPicPr>
            <a:picLocks noChangeAspect="1"/>
          </p:cNvPicPr>
          <p:nvPr/>
        </p:nvPicPr>
        <p:blipFill>
          <a:blip r:embed="rId4"/>
          <a:stretch>
            <a:fillRect/>
          </a:stretch>
        </p:blipFill>
        <p:spPr>
          <a:xfrm>
            <a:off x="8165592" y="3616452"/>
            <a:ext cx="283464" cy="283464"/>
          </a:xfrm>
          <a:prstGeom prst="rect">
            <a:avLst/>
          </a:prstGeom>
        </p:spPr>
      </p:pic>
      <p:sp>
        <p:nvSpPr>
          <p:cNvPr id="34" name="ar2__4"/>
          <p:cNvSpPr txBox="1"/>
          <p:nvPr/>
        </p:nvSpPr>
        <p:spPr>
          <a:xfrm>
            <a:off x="7754112" y="4133088"/>
            <a:ext cx="1106424" cy="329184"/>
          </a:xfrm>
          <a:prstGeom prst="rect">
            <a:avLst/>
          </a:prstGeom>
          <a:noFill/>
          <a:ln/>
        </p:spPr>
        <p:txBody>
          <a:bodyPr wrap="square" lIns="0" tIns="0" rIns="0" bIns="0" rtlCol="0" anchor="ctr"/>
          <a:lstStyle/>
          <a:p>
            <a:pPr algn="ctr" indent="0" marL="0">
              <a:buNone/>
            </a:pPr>
            <a:r>
              <a:rPr lang="en-US" sz="1300" b="1" dirty="0">
                <a:solidFill>
                  <a:srgbClr val="F1F5FB"/>
                </a:solidFill>
                <a:latin typeface="Arial" pitchFamily="34" charset="0"/>
                <a:ea typeface="Arial" pitchFamily="34" charset="-122"/>
                <a:cs typeface="Arial" pitchFamily="34" charset="-120"/>
              </a:rPr>
              <a:t>Graph store</a:t>
            </a:r>
            <a:endParaRPr lang="en-US" sz="1300" dirty="0"/>
          </a:p>
        </p:txBody>
      </p:sp>
      <p:sp>
        <p:nvSpPr>
          <p:cNvPr id="35" name="ar2__5"/>
          <p:cNvSpPr txBox="1"/>
          <p:nvPr/>
        </p:nvSpPr>
        <p:spPr>
          <a:xfrm>
            <a:off x="7790688" y="4498848"/>
            <a:ext cx="1033272" cy="1417320"/>
          </a:xfrm>
          <a:prstGeom prst="rect">
            <a:avLst/>
          </a:prstGeom>
          <a:noFill/>
          <a:ln/>
        </p:spPr>
        <p:txBody>
          <a:bodyPr wrap="square" lIns="0" tIns="0" rIns="0" bIns="0" rtlCol="0" anchor="t"/>
          <a:lstStyle/>
          <a:p>
            <a:pPr algn="ctr" indent="0" marL="0">
              <a:buNone/>
            </a:pPr>
            <a:r>
              <a:rPr lang="en-US" sz="1050" dirty="0">
                <a:solidFill>
                  <a:srgbClr val="9AABC4"/>
                </a:solidFill>
                <a:latin typeface="Calibri" pitchFamily="34" charset="0"/>
                <a:ea typeface="Calibri" pitchFamily="34" charset="-122"/>
                <a:cs typeface="Calibri" pitchFamily="34" charset="-120"/>
              </a:rPr>
              <a:t>Neo4j or TigerGraph for multi-hop queries at scale</a:t>
            </a:r>
            <a:endParaRPr lang="en-US" sz="1050" dirty="0"/>
          </a:p>
        </p:txBody>
      </p:sp>
      <p:sp>
        <p:nvSpPr>
          <p:cNvPr id="36" name="arA__3"/>
          <p:cNvSpPr/>
          <p:nvPr/>
        </p:nvSpPr>
        <p:spPr>
          <a:xfrm>
            <a:off x="8919972" y="3758184"/>
            <a:ext cx="132588" cy="914"/>
          </a:xfrm>
          <a:prstGeom prst="line">
            <a:avLst/>
          </a:prstGeom>
          <a:noFill/>
          <a:ln w="15875">
            <a:solidFill>
              <a:srgbClr val="A78BFA"/>
            </a:solidFill>
            <a:prstDash val="solid"/>
            <a:tailEnd type="triangle"/>
          </a:ln>
        </p:spPr>
      </p:sp>
      <p:sp>
        <p:nvSpPr>
          <p:cNvPr id="37" name="ar3__1"/>
          <p:cNvSpPr/>
          <p:nvPr/>
        </p:nvSpPr>
        <p:spPr>
          <a:xfrm>
            <a:off x="9057132" y="3310128"/>
            <a:ext cx="1216152" cy="2679192"/>
          </a:xfrm>
          <a:prstGeom prst="roundRect">
            <a:avLst>
              <a:gd name="adj" fmla="val 9023"/>
            </a:avLst>
          </a:prstGeom>
          <a:solidFill>
            <a:srgbClr val="0E1729">
              <a:alpha val="70000"/>
            </a:srgbClr>
          </a:solidFill>
          <a:ln w="12700">
            <a:solidFill>
              <a:srgbClr val="22314F"/>
            </a:solidFill>
            <a:prstDash val="dash"/>
          </a:ln>
          <a:effectLst>
            <a:outerShdw sx="100000" sy="100000" kx="0" ky="0" algn="bl" rotWithShape="0" blurRad="101600" dist="38100" dir="5400000">
              <a:srgbClr val="000000">
                <a:alpha val="45000"/>
              </a:srgbClr>
            </a:outerShdw>
          </a:effectLst>
        </p:spPr>
      </p:sp>
      <p:sp>
        <p:nvSpPr>
          <p:cNvPr id="38" name="ar3__2"/>
          <p:cNvSpPr/>
          <p:nvPr/>
        </p:nvSpPr>
        <p:spPr>
          <a:xfrm>
            <a:off x="9381744" y="3474720"/>
            <a:ext cx="566928" cy="566928"/>
          </a:xfrm>
          <a:prstGeom prst="ellipse">
            <a:avLst/>
          </a:prstGeom>
          <a:solidFill>
            <a:srgbClr val="A78BFA">
              <a:alpha val="18000"/>
            </a:srgbClr>
          </a:solidFill>
          <a:ln w="12700">
            <a:solidFill>
              <a:srgbClr val="A78BFA">
                <a:alpha val="60000"/>
              </a:srgbClr>
            </a:solidFill>
            <a:prstDash val="solid"/>
          </a:ln>
        </p:spPr>
      </p:sp>
      <p:pic>
        <p:nvPicPr>
          <p:cNvPr id="39" name="ar3__3" descr="preencoded.png">    </p:cNvPr>
          <p:cNvPicPr>
            <a:picLocks noChangeAspect="1"/>
          </p:cNvPicPr>
          <p:nvPr/>
        </p:nvPicPr>
        <p:blipFill>
          <a:blip r:embed="rId5"/>
          <a:stretch>
            <a:fillRect/>
          </a:stretch>
        </p:blipFill>
        <p:spPr>
          <a:xfrm>
            <a:off x="9523476" y="3616452"/>
            <a:ext cx="283464" cy="283464"/>
          </a:xfrm>
          <a:prstGeom prst="rect">
            <a:avLst/>
          </a:prstGeom>
        </p:spPr>
      </p:pic>
      <p:sp>
        <p:nvSpPr>
          <p:cNvPr id="40" name="ar3__4"/>
          <p:cNvSpPr txBox="1"/>
          <p:nvPr/>
        </p:nvSpPr>
        <p:spPr>
          <a:xfrm>
            <a:off x="9111996" y="4133088"/>
            <a:ext cx="1106424" cy="329184"/>
          </a:xfrm>
          <a:prstGeom prst="rect">
            <a:avLst/>
          </a:prstGeom>
          <a:noFill/>
          <a:ln/>
        </p:spPr>
        <p:txBody>
          <a:bodyPr wrap="square" lIns="0" tIns="0" rIns="0" bIns="0" rtlCol="0" anchor="ctr"/>
          <a:lstStyle/>
          <a:p>
            <a:pPr algn="ctr" indent="0" marL="0">
              <a:buNone/>
            </a:pPr>
            <a:r>
              <a:rPr lang="en-US" sz="1300" b="1" dirty="0">
                <a:solidFill>
                  <a:srgbClr val="F1F5FB"/>
                </a:solidFill>
                <a:latin typeface="Arial" pitchFamily="34" charset="0"/>
                <a:ea typeface="Arial" pitchFamily="34" charset="-122"/>
                <a:cs typeface="Arial" pitchFamily="34" charset="-120"/>
              </a:rPr>
              <a:t>Score</a:t>
            </a:r>
            <a:endParaRPr lang="en-US" sz="1300" dirty="0"/>
          </a:p>
        </p:txBody>
      </p:sp>
      <p:sp>
        <p:nvSpPr>
          <p:cNvPr id="41" name="ar3__5"/>
          <p:cNvSpPr txBox="1"/>
          <p:nvPr/>
        </p:nvSpPr>
        <p:spPr>
          <a:xfrm>
            <a:off x="9148572" y="4498848"/>
            <a:ext cx="1033272" cy="1417320"/>
          </a:xfrm>
          <a:prstGeom prst="rect">
            <a:avLst/>
          </a:prstGeom>
          <a:noFill/>
          <a:ln/>
        </p:spPr>
        <p:txBody>
          <a:bodyPr wrap="square" lIns="0" tIns="0" rIns="0" bIns="0" rtlCol="0" anchor="t"/>
          <a:lstStyle/>
          <a:p>
            <a:pPr algn="ctr" indent="0" marL="0">
              <a:buNone/>
            </a:pPr>
            <a:r>
              <a:rPr lang="en-US" sz="1050" dirty="0">
                <a:solidFill>
                  <a:srgbClr val="9AABC4"/>
                </a:solidFill>
                <a:latin typeface="Calibri" pitchFamily="34" charset="0"/>
                <a:ea typeface="Calibri" pitchFamily="34" charset="-122"/>
                <a:cs typeface="Calibri" pitchFamily="34" charset="-120"/>
              </a:rPr>
              <a:t>Current models + temporal GNN, served behind the same API</a:t>
            </a:r>
            <a:endParaRPr lang="en-US" sz="1050" dirty="0"/>
          </a:p>
        </p:txBody>
      </p:sp>
      <p:sp>
        <p:nvSpPr>
          <p:cNvPr id="42" name="arA__4"/>
          <p:cNvSpPr/>
          <p:nvPr/>
        </p:nvSpPr>
        <p:spPr>
          <a:xfrm>
            <a:off x="10277856" y="3758184"/>
            <a:ext cx="132588" cy="914"/>
          </a:xfrm>
          <a:prstGeom prst="line">
            <a:avLst/>
          </a:prstGeom>
          <a:noFill/>
          <a:ln w="15875">
            <a:solidFill>
              <a:srgbClr val="A78BFA"/>
            </a:solidFill>
            <a:prstDash val="solid"/>
            <a:tailEnd type="triangle"/>
          </a:ln>
        </p:spPr>
      </p:sp>
      <p:sp>
        <p:nvSpPr>
          <p:cNvPr id="43" name="ar4__1"/>
          <p:cNvSpPr/>
          <p:nvPr/>
        </p:nvSpPr>
        <p:spPr>
          <a:xfrm>
            <a:off x="10415016" y="3310128"/>
            <a:ext cx="1216152" cy="2679192"/>
          </a:xfrm>
          <a:prstGeom prst="roundRect">
            <a:avLst>
              <a:gd name="adj" fmla="val 9023"/>
            </a:avLst>
          </a:prstGeom>
          <a:solidFill>
            <a:srgbClr val="0E1729">
              <a:alpha val="70000"/>
            </a:srgbClr>
          </a:solidFill>
          <a:ln w="12700">
            <a:solidFill>
              <a:srgbClr val="22314F"/>
            </a:solidFill>
            <a:prstDash val="dash"/>
          </a:ln>
          <a:effectLst>
            <a:outerShdw sx="100000" sy="100000" kx="0" ky="0" algn="bl" rotWithShape="0" blurRad="101600" dist="38100" dir="5400000">
              <a:srgbClr val="000000">
                <a:alpha val="45000"/>
              </a:srgbClr>
            </a:outerShdw>
          </a:effectLst>
        </p:spPr>
      </p:sp>
      <p:sp>
        <p:nvSpPr>
          <p:cNvPr id="44" name="ar4__2"/>
          <p:cNvSpPr/>
          <p:nvPr/>
        </p:nvSpPr>
        <p:spPr>
          <a:xfrm>
            <a:off x="10739628" y="3474720"/>
            <a:ext cx="566928" cy="566928"/>
          </a:xfrm>
          <a:prstGeom prst="ellipse">
            <a:avLst/>
          </a:prstGeom>
          <a:solidFill>
            <a:srgbClr val="A78BFA">
              <a:alpha val="18000"/>
            </a:srgbClr>
          </a:solidFill>
          <a:ln w="12700">
            <a:solidFill>
              <a:srgbClr val="A78BFA">
                <a:alpha val="60000"/>
              </a:srgbClr>
            </a:solidFill>
            <a:prstDash val="solid"/>
          </a:ln>
        </p:spPr>
      </p:sp>
      <p:pic>
        <p:nvPicPr>
          <p:cNvPr id="45" name="ar4__3" descr="preencoded.png">    </p:cNvPr>
          <p:cNvPicPr>
            <a:picLocks noChangeAspect="1"/>
          </p:cNvPicPr>
          <p:nvPr/>
        </p:nvPicPr>
        <p:blipFill>
          <a:blip r:embed="rId6"/>
          <a:stretch>
            <a:fillRect/>
          </a:stretch>
        </p:blipFill>
        <p:spPr>
          <a:xfrm>
            <a:off x="10881360" y="3616452"/>
            <a:ext cx="283464" cy="283464"/>
          </a:xfrm>
          <a:prstGeom prst="rect">
            <a:avLst/>
          </a:prstGeom>
        </p:spPr>
      </p:pic>
      <p:sp>
        <p:nvSpPr>
          <p:cNvPr id="46" name="ar4__4"/>
          <p:cNvSpPr txBox="1"/>
          <p:nvPr/>
        </p:nvSpPr>
        <p:spPr>
          <a:xfrm>
            <a:off x="10469880" y="4133088"/>
            <a:ext cx="1106424" cy="329184"/>
          </a:xfrm>
          <a:prstGeom prst="rect">
            <a:avLst/>
          </a:prstGeom>
          <a:noFill/>
          <a:ln/>
        </p:spPr>
        <p:txBody>
          <a:bodyPr wrap="square" lIns="0" tIns="0" rIns="0" bIns="0" rtlCol="0" anchor="ctr"/>
          <a:lstStyle/>
          <a:p>
            <a:pPr algn="ctr" indent="0" marL="0">
              <a:buNone/>
            </a:pPr>
            <a:r>
              <a:rPr lang="en-US" sz="1300" b="1" dirty="0">
                <a:solidFill>
                  <a:srgbClr val="F1F5FB"/>
                </a:solidFill>
                <a:latin typeface="Arial" pitchFamily="34" charset="0"/>
                <a:ea typeface="Arial" pitchFamily="34" charset="-122"/>
                <a:cs typeface="Arial" pitchFamily="34" charset="-120"/>
              </a:rPr>
              <a:t>Integrate</a:t>
            </a:r>
            <a:endParaRPr lang="en-US" sz="1300" dirty="0"/>
          </a:p>
        </p:txBody>
      </p:sp>
      <p:sp>
        <p:nvSpPr>
          <p:cNvPr id="47" name="ar4__5"/>
          <p:cNvSpPr txBox="1"/>
          <p:nvPr/>
        </p:nvSpPr>
        <p:spPr>
          <a:xfrm>
            <a:off x="10506456" y="4498848"/>
            <a:ext cx="1033272" cy="1417320"/>
          </a:xfrm>
          <a:prstGeom prst="rect">
            <a:avLst/>
          </a:prstGeom>
          <a:noFill/>
          <a:ln/>
        </p:spPr>
        <p:txBody>
          <a:bodyPr wrap="square" lIns="0" tIns="0" rIns="0" bIns="0" rtlCol="0" anchor="t"/>
          <a:lstStyle/>
          <a:p>
            <a:pPr algn="ctr" indent="0" marL="0">
              <a:buNone/>
            </a:pPr>
            <a:r>
              <a:rPr lang="en-US" sz="1050" dirty="0">
                <a:solidFill>
                  <a:srgbClr val="9AABC4"/>
                </a:solidFill>
                <a:latin typeface="Calibri" pitchFamily="34" charset="0"/>
                <a:ea typeface="Calibri" pitchFamily="34" charset="-122"/>
                <a:cs typeface="Calibri" pitchFamily="34" charset="-120"/>
              </a:rPr>
              <a:t>Cases and STR drafts pushed to upay's AML / case system</a:t>
            </a:r>
            <a:endParaRPr lang="en-US" sz="10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2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50"/>
                                        <p:tgtEl>
                                          <p:spTgt spid="19"/>
                                        </p:tgtEl>
                                      </p:cBhvr>
                                    </p:animEffect>
                                    <p:anim calcmode="lin" valueType="num">
                                      <p:cBhvr additive="base">
                                        <p:cTn id="8" dur="450" fill="hold"/>
                                        <p:tgtEl>
                                          <p:spTgt spid="19"/>
                                        </p:tgtEl>
                                        <p:attrNameLst>
                                          <p:attrName>ppt_x</p:attrName>
                                        </p:attrNameLst>
                                      </p:cBhvr>
                                      <p:tavLst>
                                        <p:tav tm="0">
                                          <p:val>
                                            <p:strVal val="#ppt_x"/>
                                          </p:val>
                                        </p:tav>
                                        <p:tav tm="100000">
                                          <p:val>
                                            <p:strVal val="#ppt_x"/>
                                          </p:val>
                                        </p:tav>
                                      </p:tavLst>
                                    </p:anim>
                                    <p:anim calcmode="lin" valueType="num">
                                      <p:cBhvr additive="base">
                                        <p:cTn id="9" dur="45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20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50"/>
                                        <p:tgtEl>
                                          <p:spTgt spid="20"/>
                                        </p:tgtEl>
                                      </p:cBhvr>
                                    </p:animEffec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120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50"/>
                                        <p:tgtEl>
                                          <p:spTgt spid="21"/>
                                        </p:tgtEl>
                                      </p:cBhvr>
                                    </p:animEffect>
                                    <p:anim calcmode="lin" valueType="num">
                                      <p:cBhvr additive="base">
                                        <p:cTn id="18" dur="450" fill="hold"/>
                                        <p:tgtEl>
                                          <p:spTgt spid="21"/>
                                        </p:tgtEl>
                                        <p:attrNameLst>
                                          <p:attrName>ppt_x</p:attrName>
                                        </p:attrNameLst>
                                      </p:cBhvr>
                                      <p:tavLst>
                                        <p:tav tm="0">
                                          <p:val>
                                            <p:strVal val="#ppt_x"/>
                                          </p:val>
                                        </p:tav>
                                        <p:tav tm="100000">
                                          <p:val>
                                            <p:strVal val="#ppt_x"/>
                                          </p:val>
                                        </p:tav>
                                      </p:tavLst>
                                    </p:anim>
                                    <p:anim calcmode="lin" valueType="num">
                                      <p:cBhvr additive="base">
                                        <p:cTn id="19" dur="450" fill="hold"/>
                                        <p:tgtEl>
                                          <p:spTgt spid="2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120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50"/>
                                        <p:tgtEl>
                                          <p:spTgt spid="22"/>
                                        </p:tgtEl>
                                      </p:cBhvr>
                                    </p:animEffect>
                                    <p:anim calcmode="lin" valueType="num">
                                      <p:cBhvr additive="base">
                                        <p:cTn id="23" dur="450" fill="hold"/>
                                        <p:tgtEl>
                                          <p:spTgt spid="22"/>
                                        </p:tgtEl>
                                        <p:attrNameLst>
                                          <p:attrName>ppt_x</p:attrName>
                                        </p:attrNameLst>
                                      </p:cBhvr>
                                      <p:tavLst>
                                        <p:tav tm="0">
                                          <p:val>
                                            <p:strVal val="#ppt_x"/>
                                          </p:val>
                                        </p:tav>
                                        <p:tav tm="100000">
                                          <p:val>
                                            <p:strVal val="#ppt_x"/>
                                          </p:val>
                                        </p:tav>
                                      </p:tavLst>
                                    </p:anim>
                                    <p:anim calcmode="lin" valueType="num">
                                      <p:cBhvr additive="base">
                                        <p:cTn id="24" dur="450" fill="hold"/>
                                        <p:tgtEl>
                                          <p:spTgt spid="2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120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50"/>
                                        <p:tgtEl>
                                          <p:spTgt spid="23"/>
                                        </p:tgtEl>
                                      </p:cBhvr>
                                    </p:animEffect>
                                    <p:anim calcmode="lin" valueType="num">
                                      <p:cBhvr additive="base">
                                        <p:cTn id="28" dur="450" fill="hold"/>
                                        <p:tgtEl>
                                          <p:spTgt spid="23"/>
                                        </p:tgtEl>
                                        <p:attrNameLst>
                                          <p:attrName>ppt_x</p:attrName>
                                        </p:attrNameLst>
                                      </p:cBhvr>
                                      <p:tavLst>
                                        <p:tav tm="0">
                                          <p:val>
                                            <p:strVal val="#ppt_x"/>
                                          </p:val>
                                        </p:tav>
                                        <p:tav tm="100000">
                                          <p:val>
                                            <p:strVal val="#ppt_x"/>
                                          </p:val>
                                        </p:tav>
                                      </p:tavLst>
                                    </p:anim>
                                    <p:anim calcmode="lin" valueType="num">
                                      <p:cBhvr additive="base">
                                        <p:cTn id="29" dur="450" fill="hold"/>
                                        <p:tgtEl>
                                          <p:spTgt spid="23"/>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145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50"/>
                                        <p:tgtEl>
                                          <p:spTgt spid="25"/>
                                        </p:tgtEl>
                                      </p:cBhvr>
                                    </p:animEffect>
                                    <p:anim calcmode="lin" valueType="num">
                                      <p:cBhvr additive="base">
                                        <p:cTn id="33" dur="450" fill="hold"/>
                                        <p:tgtEl>
                                          <p:spTgt spid="25"/>
                                        </p:tgtEl>
                                        <p:attrNameLst>
                                          <p:attrName>ppt_x</p:attrName>
                                        </p:attrNameLst>
                                      </p:cBhvr>
                                      <p:tavLst>
                                        <p:tav tm="0">
                                          <p:val>
                                            <p:strVal val="#ppt_x"/>
                                          </p:val>
                                        </p:tav>
                                        <p:tav tm="100000">
                                          <p:val>
                                            <p:strVal val="#ppt_x"/>
                                          </p:val>
                                        </p:tav>
                                      </p:tavLst>
                                    </p:anim>
                                    <p:anim calcmode="lin" valueType="num">
                                      <p:cBhvr additive="base">
                                        <p:cTn id="34" dur="450" fill="hold"/>
                                        <p:tgtEl>
                                          <p:spTgt spid="25"/>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45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50"/>
                                        <p:tgtEl>
                                          <p:spTgt spid="26"/>
                                        </p:tgtEl>
                                      </p:cBhvr>
                                    </p:animEffect>
                                    <p:anim calcmode="lin" valueType="num">
                                      <p:cBhvr additive="base">
                                        <p:cTn id="38" dur="450" fill="hold"/>
                                        <p:tgtEl>
                                          <p:spTgt spid="26"/>
                                        </p:tgtEl>
                                        <p:attrNameLst>
                                          <p:attrName>ppt_x</p:attrName>
                                        </p:attrNameLst>
                                      </p:cBhvr>
                                      <p:tavLst>
                                        <p:tav tm="0">
                                          <p:val>
                                            <p:strVal val="#ppt_x"/>
                                          </p:val>
                                        </p:tav>
                                        <p:tav tm="100000">
                                          <p:val>
                                            <p:strVal val="#ppt_x"/>
                                          </p:val>
                                        </p:tav>
                                      </p:tavLst>
                                    </p:anim>
                                    <p:anim calcmode="lin" valueType="num">
                                      <p:cBhvr additive="base">
                                        <p:cTn id="39" dur="450" fill="hold"/>
                                        <p:tgtEl>
                                          <p:spTgt spid="26"/>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45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50"/>
                                        <p:tgtEl>
                                          <p:spTgt spid="27"/>
                                        </p:tgtEl>
                                      </p:cBhvr>
                                    </p:animEffect>
                                    <p:anim calcmode="lin" valueType="num">
                                      <p:cBhvr additive="base">
                                        <p:cTn id="43" dur="450" fill="hold"/>
                                        <p:tgtEl>
                                          <p:spTgt spid="27"/>
                                        </p:tgtEl>
                                        <p:attrNameLst>
                                          <p:attrName>ppt_x</p:attrName>
                                        </p:attrNameLst>
                                      </p:cBhvr>
                                      <p:tavLst>
                                        <p:tav tm="0">
                                          <p:val>
                                            <p:strVal val="#ppt_x"/>
                                          </p:val>
                                        </p:tav>
                                        <p:tav tm="100000">
                                          <p:val>
                                            <p:strVal val="#ppt_x"/>
                                          </p:val>
                                        </p:tav>
                                      </p:tavLst>
                                    </p:anim>
                                    <p:anim calcmode="lin" valueType="num">
                                      <p:cBhvr additive="base">
                                        <p:cTn id="44" dur="450" fill="hold"/>
                                        <p:tgtEl>
                                          <p:spTgt spid="27"/>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5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450"/>
                                        <p:tgtEl>
                                          <p:spTgt spid="28"/>
                                        </p:tgtEl>
                                      </p:cBhvr>
                                    </p:animEffect>
                                    <p:anim calcmode="lin" valueType="num">
                                      <p:cBhvr additive="base">
                                        <p:cTn id="48" dur="450" fill="hold"/>
                                        <p:tgtEl>
                                          <p:spTgt spid="28"/>
                                        </p:tgtEl>
                                        <p:attrNameLst>
                                          <p:attrName>ppt_x</p:attrName>
                                        </p:attrNameLst>
                                      </p:cBhvr>
                                      <p:tavLst>
                                        <p:tav tm="0">
                                          <p:val>
                                            <p:strVal val="#ppt_x"/>
                                          </p:val>
                                        </p:tav>
                                        <p:tav tm="100000">
                                          <p:val>
                                            <p:strVal val="#ppt_x"/>
                                          </p:val>
                                        </p:tav>
                                      </p:tavLst>
                                    </p:anim>
                                    <p:anim calcmode="lin" valueType="num">
                                      <p:cBhvr additive="base">
                                        <p:cTn id="49" dur="450" fill="hold"/>
                                        <p:tgtEl>
                                          <p:spTgt spid="28"/>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45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450"/>
                                        <p:tgtEl>
                                          <p:spTgt spid="29"/>
                                        </p:tgtEl>
                                      </p:cBhvr>
                                    </p:animEffect>
                                    <p:anim calcmode="lin" valueType="num">
                                      <p:cBhvr additive="base">
                                        <p:cTn id="53" dur="450" fill="hold"/>
                                        <p:tgtEl>
                                          <p:spTgt spid="29"/>
                                        </p:tgtEl>
                                        <p:attrNameLst>
                                          <p:attrName>ppt_x</p:attrName>
                                        </p:attrNameLst>
                                      </p:cBhvr>
                                      <p:tavLst>
                                        <p:tav tm="0">
                                          <p:val>
                                            <p:strVal val="#ppt_x"/>
                                          </p:val>
                                        </p:tav>
                                        <p:tav tm="100000">
                                          <p:val>
                                            <p:strVal val="#ppt_x"/>
                                          </p:val>
                                        </p:tav>
                                      </p:tavLst>
                                    </p:anim>
                                    <p:anim calcmode="lin" valueType="num">
                                      <p:cBhvr additive="base">
                                        <p:cTn id="54" dur="450" fill="hold"/>
                                        <p:tgtEl>
                                          <p:spTgt spid="29"/>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70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450"/>
                                        <p:tgtEl>
                                          <p:spTgt spid="31"/>
                                        </p:tgtEl>
                                      </p:cBhvr>
                                    </p:animEffect>
                                    <p:anim calcmode="lin" valueType="num">
                                      <p:cBhvr additive="base">
                                        <p:cTn id="58" dur="450" fill="hold"/>
                                        <p:tgtEl>
                                          <p:spTgt spid="31"/>
                                        </p:tgtEl>
                                        <p:attrNameLst>
                                          <p:attrName>ppt_x</p:attrName>
                                        </p:attrNameLst>
                                      </p:cBhvr>
                                      <p:tavLst>
                                        <p:tav tm="0">
                                          <p:val>
                                            <p:strVal val="#ppt_x"/>
                                          </p:val>
                                        </p:tav>
                                        <p:tav tm="100000">
                                          <p:val>
                                            <p:strVal val="#ppt_x"/>
                                          </p:val>
                                        </p:tav>
                                      </p:tavLst>
                                    </p:anim>
                                    <p:anim calcmode="lin" valueType="num">
                                      <p:cBhvr additive="base">
                                        <p:cTn id="59" dur="450" fill="hold"/>
                                        <p:tgtEl>
                                          <p:spTgt spid="31"/>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70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50"/>
                                        <p:tgtEl>
                                          <p:spTgt spid="32"/>
                                        </p:tgtEl>
                                      </p:cBhvr>
                                    </p:animEffect>
                                    <p:anim calcmode="lin" valueType="num">
                                      <p:cBhvr additive="base">
                                        <p:cTn id="63" dur="450" fill="hold"/>
                                        <p:tgtEl>
                                          <p:spTgt spid="32"/>
                                        </p:tgtEl>
                                        <p:attrNameLst>
                                          <p:attrName>ppt_x</p:attrName>
                                        </p:attrNameLst>
                                      </p:cBhvr>
                                      <p:tavLst>
                                        <p:tav tm="0">
                                          <p:val>
                                            <p:strVal val="#ppt_x"/>
                                          </p:val>
                                        </p:tav>
                                        <p:tav tm="100000">
                                          <p:val>
                                            <p:strVal val="#ppt_x"/>
                                          </p:val>
                                        </p:tav>
                                      </p:tavLst>
                                    </p:anim>
                                    <p:anim calcmode="lin" valueType="num">
                                      <p:cBhvr additive="base">
                                        <p:cTn id="64" dur="450" fill="hold"/>
                                        <p:tgtEl>
                                          <p:spTgt spid="32"/>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70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50"/>
                                        <p:tgtEl>
                                          <p:spTgt spid="33"/>
                                        </p:tgtEl>
                                      </p:cBhvr>
                                    </p:animEffect>
                                    <p:anim calcmode="lin" valueType="num">
                                      <p:cBhvr additive="base">
                                        <p:cTn id="68" dur="450" fill="hold"/>
                                        <p:tgtEl>
                                          <p:spTgt spid="33"/>
                                        </p:tgtEl>
                                        <p:attrNameLst>
                                          <p:attrName>ppt_x</p:attrName>
                                        </p:attrNameLst>
                                      </p:cBhvr>
                                      <p:tavLst>
                                        <p:tav tm="0">
                                          <p:val>
                                            <p:strVal val="#ppt_x"/>
                                          </p:val>
                                        </p:tav>
                                        <p:tav tm="100000">
                                          <p:val>
                                            <p:strVal val="#ppt_x"/>
                                          </p:val>
                                        </p:tav>
                                      </p:tavLst>
                                    </p:anim>
                                    <p:anim calcmode="lin" valueType="num">
                                      <p:cBhvr additive="base">
                                        <p:cTn id="69" dur="450" fill="hold"/>
                                        <p:tgtEl>
                                          <p:spTgt spid="33"/>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1700"/>
                                  </p:stCondLst>
                                  <p:childTnLst>
                                    <p:set>
                                      <p:cBhvr>
                                        <p:cTn id="71" dur="1" fill="hold">
                                          <p:stCondLst>
                                            <p:cond delay="0"/>
                                          </p:stCondLst>
                                        </p:cTn>
                                        <p:tgtEl>
                                          <p:spTgt spid="34"/>
                                        </p:tgtEl>
                                        <p:attrNameLst>
                                          <p:attrName>style.visibility</p:attrName>
                                        </p:attrNameLst>
                                      </p:cBhvr>
                                      <p:to>
                                        <p:strVal val="visible"/>
                                      </p:to>
                                    </p:set>
                                    <p:animEffect transition="in" filter="fade">
                                      <p:cBhvr>
                                        <p:cTn id="72" dur="450"/>
                                        <p:tgtEl>
                                          <p:spTgt spid="34"/>
                                        </p:tgtEl>
                                      </p:cBhvr>
                                    </p:animEffect>
                                    <p:anim calcmode="lin" valueType="num">
                                      <p:cBhvr additive="base">
                                        <p:cTn id="73" dur="450" fill="hold"/>
                                        <p:tgtEl>
                                          <p:spTgt spid="34"/>
                                        </p:tgtEl>
                                        <p:attrNameLst>
                                          <p:attrName>ppt_x</p:attrName>
                                        </p:attrNameLst>
                                      </p:cBhvr>
                                      <p:tavLst>
                                        <p:tav tm="0">
                                          <p:val>
                                            <p:strVal val="#ppt_x"/>
                                          </p:val>
                                        </p:tav>
                                        <p:tav tm="100000">
                                          <p:val>
                                            <p:strVal val="#ppt_x"/>
                                          </p:val>
                                        </p:tav>
                                      </p:tavLst>
                                    </p:anim>
                                    <p:anim calcmode="lin" valueType="num">
                                      <p:cBhvr additive="base">
                                        <p:cTn id="74" dur="450" fill="hold"/>
                                        <p:tgtEl>
                                          <p:spTgt spid="34"/>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170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50"/>
                                        <p:tgtEl>
                                          <p:spTgt spid="35"/>
                                        </p:tgtEl>
                                      </p:cBhvr>
                                    </p:animEffect>
                                    <p:anim calcmode="lin" valueType="num">
                                      <p:cBhvr additive="base">
                                        <p:cTn id="78" dur="450" fill="hold"/>
                                        <p:tgtEl>
                                          <p:spTgt spid="35"/>
                                        </p:tgtEl>
                                        <p:attrNameLst>
                                          <p:attrName>ppt_x</p:attrName>
                                        </p:attrNameLst>
                                      </p:cBhvr>
                                      <p:tavLst>
                                        <p:tav tm="0">
                                          <p:val>
                                            <p:strVal val="#ppt_x"/>
                                          </p:val>
                                        </p:tav>
                                        <p:tav tm="100000">
                                          <p:val>
                                            <p:strVal val="#ppt_x"/>
                                          </p:val>
                                        </p:tav>
                                      </p:tavLst>
                                    </p:anim>
                                    <p:anim calcmode="lin" valueType="num">
                                      <p:cBhvr additive="base">
                                        <p:cTn id="79" dur="450" fill="hold"/>
                                        <p:tgtEl>
                                          <p:spTgt spid="35"/>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195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450"/>
                                        <p:tgtEl>
                                          <p:spTgt spid="37"/>
                                        </p:tgtEl>
                                      </p:cBhvr>
                                    </p:animEffect>
                                    <p:anim calcmode="lin" valueType="num">
                                      <p:cBhvr additive="base">
                                        <p:cTn id="83" dur="450" fill="hold"/>
                                        <p:tgtEl>
                                          <p:spTgt spid="37"/>
                                        </p:tgtEl>
                                        <p:attrNameLst>
                                          <p:attrName>ppt_x</p:attrName>
                                        </p:attrNameLst>
                                      </p:cBhvr>
                                      <p:tavLst>
                                        <p:tav tm="0">
                                          <p:val>
                                            <p:strVal val="#ppt_x"/>
                                          </p:val>
                                        </p:tav>
                                        <p:tav tm="100000">
                                          <p:val>
                                            <p:strVal val="#ppt_x"/>
                                          </p:val>
                                        </p:tav>
                                      </p:tavLst>
                                    </p:anim>
                                    <p:anim calcmode="lin" valueType="num">
                                      <p:cBhvr additive="base">
                                        <p:cTn id="84" dur="450" fill="hold"/>
                                        <p:tgtEl>
                                          <p:spTgt spid="3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195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450"/>
                                        <p:tgtEl>
                                          <p:spTgt spid="38"/>
                                        </p:tgtEl>
                                      </p:cBhvr>
                                    </p:animEffect>
                                    <p:anim calcmode="lin" valueType="num">
                                      <p:cBhvr additive="base">
                                        <p:cTn id="88" dur="450" fill="hold"/>
                                        <p:tgtEl>
                                          <p:spTgt spid="38"/>
                                        </p:tgtEl>
                                        <p:attrNameLst>
                                          <p:attrName>ppt_x</p:attrName>
                                        </p:attrNameLst>
                                      </p:cBhvr>
                                      <p:tavLst>
                                        <p:tav tm="0">
                                          <p:val>
                                            <p:strVal val="#ppt_x"/>
                                          </p:val>
                                        </p:tav>
                                        <p:tav tm="100000">
                                          <p:val>
                                            <p:strVal val="#ppt_x"/>
                                          </p:val>
                                        </p:tav>
                                      </p:tavLst>
                                    </p:anim>
                                    <p:anim calcmode="lin" valueType="num">
                                      <p:cBhvr additive="base">
                                        <p:cTn id="89" dur="450" fill="hold"/>
                                        <p:tgtEl>
                                          <p:spTgt spid="3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195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450"/>
                                        <p:tgtEl>
                                          <p:spTgt spid="39"/>
                                        </p:tgtEl>
                                      </p:cBhvr>
                                    </p:animEffect>
                                    <p:anim calcmode="lin" valueType="num">
                                      <p:cBhvr additive="base">
                                        <p:cTn id="93" dur="450" fill="hold"/>
                                        <p:tgtEl>
                                          <p:spTgt spid="39"/>
                                        </p:tgtEl>
                                        <p:attrNameLst>
                                          <p:attrName>ppt_x</p:attrName>
                                        </p:attrNameLst>
                                      </p:cBhvr>
                                      <p:tavLst>
                                        <p:tav tm="0">
                                          <p:val>
                                            <p:strVal val="#ppt_x"/>
                                          </p:val>
                                        </p:tav>
                                        <p:tav tm="100000">
                                          <p:val>
                                            <p:strVal val="#ppt_x"/>
                                          </p:val>
                                        </p:tav>
                                      </p:tavLst>
                                    </p:anim>
                                    <p:anim calcmode="lin" valueType="num">
                                      <p:cBhvr additive="base">
                                        <p:cTn id="94" dur="450" fill="hold"/>
                                        <p:tgtEl>
                                          <p:spTgt spid="39"/>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195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450"/>
                                        <p:tgtEl>
                                          <p:spTgt spid="40"/>
                                        </p:tgtEl>
                                      </p:cBhvr>
                                    </p:animEffect>
                                    <p:anim calcmode="lin" valueType="num">
                                      <p:cBhvr additive="base">
                                        <p:cTn id="98" dur="450" fill="hold"/>
                                        <p:tgtEl>
                                          <p:spTgt spid="40"/>
                                        </p:tgtEl>
                                        <p:attrNameLst>
                                          <p:attrName>ppt_x</p:attrName>
                                        </p:attrNameLst>
                                      </p:cBhvr>
                                      <p:tavLst>
                                        <p:tav tm="0">
                                          <p:val>
                                            <p:strVal val="#ppt_x"/>
                                          </p:val>
                                        </p:tav>
                                        <p:tav tm="100000">
                                          <p:val>
                                            <p:strVal val="#ppt_x"/>
                                          </p:val>
                                        </p:tav>
                                      </p:tavLst>
                                    </p:anim>
                                    <p:anim calcmode="lin" valueType="num">
                                      <p:cBhvr additive="base">
                                        <p:cTn id="99" dur="450" fill="hold"/>
                                        <p:tgtEl>
                                          <p:spTgt spid="40"/>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195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450"/>
                                        <p:tgtEl>
                                          <p:spTgt spid="41"/>
                                        </p:tgtEl>
                                      </p:cBhvr>
                                    </p:animEffect>
                                    <p:anim calcmode="lin" valueType="num">
                                      <p:cBhvr additive="base">
                                        <p:cTn id="103" dur="450" fill="hold"/>
                                        <p:tgtEl>
                                          <p:spTgt spid="41"/>
                                        </p:tgtEl>
                                        <p:attrNameLst>
                                          <p:attrName>ppt_x</p:attrName>
                                        </p:attrNameLst>
                                      </p:cBhvr>
                                      <p:tavLst>
                                        <p:tav tm="0">
                                          <p:val>
                                            <p:strVal val="#ppt_x"/>
                                          </p:val>
                                        </p:tav>
                                        <p:tav tm="100000">
                                          <p:val>
                                            <p:strVal val="#ppt_x"/>
                                          </p:val>
                                        </p:tav>
                                      </p:tavLst>
                                    </p:anim>
                                    <p:anim calcmode="lin" valueType="num">
                                      <p:cBhvr additive="base">
                                        <p:cTn id="104" dur="450" fill="hold"/>
                                        <p:tgtEl>
                                          <p:spTgt spid="41"/>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2200"/>
                                  </p:stCondLst>
                                  <p:childTnLst>
                                    <p:set>
                                      <p:cBhvr>
                                        <p:cTn id="106" dur="1" fill="hold">
                                          <p:stCondLst>
                                            <p:cond delay="0"/>
                                          </p:stCondLst>
                                        </p:cTn>
                                        <p:tgtEl>
                                          <p:spTgt spid="43"/>
                                        </p:tgtEl>
                                        <p:attrNameLst>
                                          <p:attrName>style.visibility</p:attrName>
                                        </p:attrNameLst>
                                      </p:cBhvr>
                                      <p:to>
                                        <p:strVal val="visible"/>
                                      </p:to>
                                    </p:set>
                                    <p:animEffect transition="in" filter="fade">
                                      <p:cBhvr>
                                        <p:cTn id="107" dur="450"/>
                                        <p:tgtEl>
                                          <p:spTgt spid="43"/>
                                        </p:tgtEl>
                                      </p:cBhvr>
                                    </p:animEffect>
                                    <p:anim calcmode="lin" valueType="num">
                                      <p:cBhvr additive="base">
                                        <p:cTn id="108" dur="450" fill="hold"/>
                                        <p:tgtEl>
                                          <p:spTgt spid="43"/>
                                        </p:tgtEl>
                                        <p:attrNameLst>
                                          <p:attrName>ppt_x</p:attrName>
                                        </p:attrNameLst>
                                      </p:cBhvr>
                                      <p:tavLst>
                                        <p:tav tm="0">
                                          <p:val>
                                            <p:strVal val="#ppt_x"/>
                                          </p:val>
                                        </p:tav>
                                        <p:tav tm="100000">
                                          <p:val>
                                            <p:strVal val="#ppt_x"/>
                                          </p:val>
                                        </p:tav>
                                      </p:tavLst>
                                    </p:anim>
                                    <p:anim calcmode="lin" valueType="num">
                                      <p:cBhvr additive="base">
                                        <p:cTn id="109" dur="450" fill="hold"/>
                                        <p:tgtEl>
                                          <p:spTgt spid="43"/>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2200"/>
                                  </p:stCondLst>
                                  <p:childTnLst>
                                    <p:set>
                                      <p:cBhvr>
                                        <p:cTn id="111" dur="1" fill="hold">
                                          <p:stCondLst>
                                            <p:cond delay="0"/>
                                          </p:stCondLst>
                                        </p:cTn>
                                        <p:tgtEl>
                                          <p:spTgt spid="44"/>
                                        </p:tgtEl>
                                        <p:attrNameLst>
                                          <p:attrName>style.visibility</p:attrName>
                                        </p:attrNameLst>
                                      </p:cBhvr>
                                      <p:to>
                                        <p:strVal val="visible"/>
                                      </p:to>
                                    </p:set>
                                    <p:animEffect transition="in" filter="fade">
                                      <p:cBhvr>
                                        <p:cTn id="112" dur="450"/>
                                        <p:tgtEl>
                                          <p:spTgt spid="44"/>
                                        </p:tgtEl>
                                      </p:cBhvr>
                                    </p:animEffect>
                                    <p:anim calcmode="lin" valueType="num">
                                      <p:cBhvr additive="base">
                                        <p:cTn id="113" dur="450" fill="hold"/>
                                        <p:tgtEl>
                                          <p:spTgt spid="44"/>
                                        </p:tgtEl>
                                        <p:attrNameLst>
                                          <p:attrName>ppt_x</p:attrName>
                                        </p:attrNameLst>
                                      </p:cBhvr>
                                      <p:tavLst>
                                        <p:tav tm="0">
                                          <p:val>
                                            <p:strVal val="#ppt_x"/>
                                          </p:val>
                                        </p:tav>
                                        <p:tav tm="100000">
                                          <p:val>
                                            <p:strVal val="#ppt_x"/>
                                          </p:val>
                                        </p:tav>
                                      </p:tavLst>
                                    </p:anim>
                                    <p:anim calcmode="lin" valueType="num">
                                      <p:cBhvr additive="base">
                                        <p:cTn id="114" dur="450" fill="hold"/>
                                        <p:tgtEl>
                                          <p:spTgt spid="44"/>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2200"/>
                                  </p:stCondLst>
                                  <p:childTnLst>
                                    <p:set>
                                      <p:cBhvr>
                                        <p:cTn id="116" dur="1" fill="hold">
                                          <p:stCondLst>
                                            <p:cond delay="0"/>
                                          </p:stCondLst>
                                        </p:cTn>
                                        <p:tgtEl>
                                          <p:spTgt spid="45"/>
                                        </p:tgtEl>
                                        <p:attrNameLst>
                                          <p:attrName>style.visibility</p:attrName>
                                        </p:attrNameLst>
                                      </p:cBhvr>
                                      <p:to>
                                        <p:strVal val="visible"/>
                                      </p:to>
                                    </p:set>
                                    <p:animEffect transition="in" filter="fade">
                                      <p:cBhvr>
                                        <p:cTn id="117" dur="450"/>
                                        <p:tgtEl>
                                          <p:spTgt spid="45"/>
                                        </p:tgtEl>
                                      </p:cBhvr>
                                    </p:animEffect>
                                    <p:anim calcmode="lin" valueType="num">
                                      <p:cBhvr additive="base">
                                        <p:cTn id="118" dur="450" fill="hold"/>
                                        <p:tgtEl>
                                          <p:spTgt spid="45"/>
                                        </p:tgtEl>
                                        <p:attrNameLst>
                                          <p:attrName>ppt_x</p:attrName>
                                        </p:attrNameLst>
                                      </p:cBhvr>
                                      <p:tavLst>
                                        <p:tav tm="0">
                                          <p:val>
                                            <p:strVal val="#ppt_x"/>
                                          </p:val>
                                        </p:tav>
                                        <p:tav tm="100000">
                                          <p:val>
                                            <p:strVal val="#ppt_x"/>
                                          </p:val>
                                        </p:tav>
                                      </p:tavLst>
                                    </p:anim>
                                    <p:anim calcmode="lin" valueType="num">
                                      <p:cBhvr additive="base">
                                        <p:cTn id="119" dur="450" fill="hold"/>
                                        <p:tgtEl>
                                          <p:spTgt spid="45"/>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220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450"/>
                                        <p:tgtEl>
                                          <p:spTgt spid="46"/>
                                        </p:tgtEl>
                                      </p:cBhvr>
                                    </p:animEffect>
                                    <p:anim calcmode="lin" valueType="num">
                                      <p:cBhvr additive="base">
                                        <p:cTn id="123" dur="450" fill="hold"/>
                                        <p:tgtEl>
                                          <p:spTgt spid="46"/>
                                        </p:tgtEl>
                                        <p:attrNameLst>
                                          <p:attrName>ppt_x</p:attrName>
                                        </p:attrNameLst>
                                      </p:cBhvr>
                                      <p:tavLst>
                                        <p:tav tm="0">
                                          <p:val>
                                            <p:strVal val="#ppt_x"/>
                                          </p:val>
                                        </p:tav>
                                        <p:tav tm="100000">
                                          <p:val>
                                            <p:strVal val="#ppt_x"/>
                                          </p:val>
                                        </p:tav>
                                      </p:tavLst>
                                    </p:anim>
                                    <p:anim calcmode="lin" valueType="num">
                                      <p:cBhvr additive="base">
                                        <p:cTn id="124" dur="450" fill="hold"/>
                                        <p:tgtEl>
                                          <p:spTgt spid="46"/>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2200"/>
                                  </p:stCondLst>
                                  <p:childTnLst>
                                    <p:set>
                                      <p:cBhvr>
                                        <p:cTn id="126" dur="1" fill="hold">
                                          <p:stCondLst>
                                            <p:cond delay="0"/>
                                          </p:stCondLst>
                                        </p:cTn>
                                        <p:tgtEl>
                                          <p:spTgt spid="47"/>
                                        </p:tgtEl>
                                        <p:attrNameLst>
                                          <p:attrName>style.visibility</p:attrName>
                                        </p:attrNameLst>
                                      </p:cBhvr>
                                      <p:to>
                                        <p:strVal val="visible"/>
                                      </p:to>
                                    </p:set>
                                    <p:animEffect transition="in" filter="fade">
                                      <p:cBhvr>
                                        <p:cTn id="127" dur="450"/>
                                        <p:tgtEl>
                                          <p:spTgt spid="47"/>
                                        </p:tgtEl>
                                      </p:cBhvr>
                                    </p:animEffect>
                                    <p:anim calcmode="lin" valueType="num">
                                      <p:cBhvr additive="base">
                                        <p:cTn id="128" dur="450" fill="hold"/>
                                        <p:tgtEl>
                                          <p:spTgt spid="47"/>
                                        </p:tgtEl>
                                        <p:attrNameLst>
                                          <p:attrName>ppt_x</p:attrName>
                                        </p:attrNameLst>
                                      </p:cBhvr>
                                      <p:tavLst>
                                        <p:tav tm="0">
                                          <p:val>
                                            <p:strVal val="#ppt_x"/>
                                          </p:val>
                                        </p:tav>
                                        <p:tav tm="100000">
                                          <p:val>
                                            <p:strVal val="#ppt_x"/>
                                          </p:val>
                                        </p:tav>
                                      </p:tavLst>
                                    </p:anim>
                                    <p:anim calcmode="lin" valueType="num">
                                      <p:cBhvr additive="base">
                                        <p:cTn id="129" dur="450" fill="hold"/>
                                        <p:tgtEl>
                                          <p:spTgt spid="47"/>
                                        </p:tgtEl>
                                        <p:attrNameLst>
                                          <p:attrName>ppt_y</p:attrName>
                                        </p:attrNameLst>
                                      </p:cBhvr>
                                      <p:tavLst>
                                        <p:tav tm="0">
                                          <p:val>
                                            <p:strVal val="#ppt_y+.1"/>
                                          </p:val>
                                        </p:tav>
                                        <p:tav tm="100000">
                                          <p:val>
                                            <p:strVal val="#ppt_y"/>
                                          </p:val>
                                        </p:tav>
                                      </p:tavLst>
                                    </p:anim>
                                  </p:childTnLst>
                                </p:cTn>
                              </p:par>
                              <p:par>
                                <p:cTn id="130" presetID="10" presetClass="entr" presetSubtype="0" fill="hold" nodeType="withEffect">
                                  <p:stCondLst>
                                    <p:cond delay="200"/>
                                  </p:stCondLst>
                                  <p:childTnLst>
                                    <p:set>
                                      <p:cBhvr>
                                        <p:cTn id="131" dur="1" fill="hold">
                                          <p:stCondLst>
                                            <p:cond delay="0"/>
                                          </p:stCondLst>
                                        </p:cTn>
                                        <p:tgtEl>
                                          <p:spTgt spid="5"/>
                                        </p:tgtEl>
                                        <p:attrNameLst>
                                          <p:attrName>style.visibility</p:attrName>
                                        </p:attrNameLst>
                                      </p:cBhvr>
                                      <p:to>
                                        <p:strVal val="visible"/>
                                      </p:to>
                                    </p:set>
                                    <p:animEffect transition="in" filter="fade">
                                      <p:cBhvr>
                                        <p:cTn id="132" dur="400"/>
                                        <p:tgtEl>
                                          <p:spTgt spid="5"/>
                                        </p:tgtEl>
                                      </p:cBhvr>
                                    </p:animEffect>
                                  </p:childTnLst>
                                </p:cTn>
                              </p:par>
                              <p:par>
                                <p:cTn id="133" presetID="10" presetClass="entr" presetSubtype="0" fill="hold" nodeType="withEffect">
                                  <p:stCondLst>
                                    <p:cond delay="200"/>
                                  </p:stCondLst>
                                  <p:childTnLst>
                                    <p:set>
                                      <p:cBhvr>
                                        <p:cTn id="134" dur="1" fill="hold">
                                          <p:stCondLst>
                                            <p:cond delay="0"/>
                                          </p:stCondLst>
                                        </p:cTn>
                                        <p:tgtEl>
                                          <p:spTgt spid="6"/>
                                        </p:tgtEl>
                                        <p:attrNameLst>
                                          <p:attrName>style.visibility</p:attrName>
                                        </p:attrNameLst>
                                      </p:cBhvr>
                                      <p:to>
                                        <p:strVal val="visible"/>
                                      </p:to>
                                    </p:set>
                                    <p:animEffect transition="in" filter="fade">
                                      <p:cBhvr>
                                        <p:cTn id="135" dur="400"/>
                                        <p:tgtEl>
                                          <p:spTgt spid="6"/>
                                        </p:tgtEl>
                                      </p:cBhvr>
                                    </p:animEffect>
                                  </p:childTnLst>
                                </p:cTn>
                              </p:par>
                              <p:par>
                                <p:cTn id="136" presetID="42" presetClass="entr" presetSubtype="0" fill="hold" nodeType="withEffect">
                                  <p:stCondLst>
                                    <p:cond delay="400"/>
                                  </p:stCondLst>
                                  <p:childTnLst>
                                    <p:set>
                                      <p:cBhvr>
                                        <p:cTn id="137" dur="1" fill="hold">
                                          <p:stCondLst>
                                            <p:cond delay="0"/>
                                          </p:stCondLst>
                                        </p:cTn>
                                        <p:tgtEl>
                                          <p:spTgt spid="7"/>
                                        </p:tgtEl>
                                        <p:attrNameLst>
                                          <p:attrName>style.visibility</p:attrName>
                                        </p:attrNameLst>
                                      </p:cBhvr>
                                      <p:to>
                                        <p:strVal val="visible"/>
                                      </p:to>
                                    </p:set>
                                    <p:animEffect transition="in" filter="fade">
                                      <p:cBhvr>
                                        <p:cTn id="138" dur="500"/>
                                        <p:tgtEl>
                                          <p:spTgt spid="7"/>
                                        </p:tgtEl>
                                      </p:cBhvr>
                                    </p:animEffect>
                                    <p:anim calcmode="lin" valueType="num">
                                      <p:cBhvr additive="base">
                                        <p:cTn id="139" dur="500" fill="hold"/>
                                        <p:tgtEl>
                                          <p:spTgt spid="7"/>
                                        </p:tgtEl>
                                        <p:attrNameLst>
                                          <p:attrName>ppt_x</p:attrName>
                                        </p:attrNameLst>
                                      </p:cBhvr>
                                      <p:tavLst>
                                        <p:tav tm="0">
                                          <p:val>
                                            <p:strVal val="#ppt_x"/>
                                          </p:val>
                                        </p:tav>
                                        <p:tav tm="100000">
                                          <p:val>
                                            <p:strVal val="#ppt_x"/>
                                          </p:val>
                                        </p:tav>
                                      </p:tavLst>
                                    </p:anim>
                                    <p:anim calcmode="lin" valueType="num">
                                      <p:cBhvr additive="base">
                                        <p:cTn id="140" dur="500" fill="hold"/>
                                        <p:tgtEl>
                                          <p:spTgt spid="7"/>
                                        </p:tgtEl>
                                        <p:attrNameLst>
                                          <p:attrName>ppt_y</p:attrName>
                                        </p:attrNameLst>
                                      </p:cBhvr>
                                      <p:tavLst>
                                        <p:tav tm="0">
                                          <p:val>
                                            <p:strVal val="#ppt_y+.1"/>
                                          </p:val>
                                        </p:tav>
                                        <p:tav tm="100000">
                                          <p:val>
                                            <p:strVal val="#ppt_y"/>
                                          </p:val>
                                        </p:tav>
                                      </p:tavLst>
                                    </p:anim>
                                  </p:childTnLst>
                                </p:cTn>
                              </p:par>
                              <p:par>
                                <p:cTn id="141" presetID="42" presetClass="entr" presetSubtype="0" fill="hold" nodeType="withEffect">
                                  <p:stCondLst>
                                    <p:cond delay="400"/>
                                  </p:stCondLst>
                                  <p:childTnLst>
                                    <p:set>
                                      <p:cBhvr>
                                        <p:cTn id="142" dur="1" fill="hold">
                                          <p:stCondLst>
                                            <p:cond delay="0"/>
                                          </p:stCondLst>
                                        </p:cTn>
                                        <p:tgtEl>
                                          <p:spTgt spid="8"/>
                                        </p:tgtEl>
                                        <p:attrNameLst>
                                          <p:attrName>style.visibility</p:attrName>
                                        </p:attrNameLst>
                                      </p:cBhvr>
                                      <p:to>
                                        <p:strVal val="visible"/>
                                      </p:to>
                                    </p:set>
                                    <p:animEffect transition="in" filter="fade">
                                      <p:cBhvr>
                                        <p:cTn id="143" dur="500"/>
                                        <p:tgtEl>
                                          <p:spTgt spid="8"/>
                                        </p:tgtEl>
                                      </p:cBhvr>
                                    </p:animEffect>
                                    <p:anim calcmode="lin" valueType="num">
                                      <p:cBhvr additive="base">
                                        <p:cTn id="144" dur="500" fill="hold"/>
                                        <p:tgtEl>
                                          <p:spTgt spid="8"/>
                                        </p:tgtEl>
                                        <p:attrNameLst>
                                          <p:attrName>ppt_x</p:attrName>
                                        </p:attrNameLst>
                                      </p:cBhvr>
                                      <p:tavLst>
                                        <p:tav tm="0">
                                          <p:val>
                                            <p:strVal val="#ppt_x"/>
                                          </p:val>
                                        </p:tav>
                                        <p:tav tm="100000">
                                          <p:val>
                                            <p:strVal val="#ppt_x"/>
                                          </p:val>
                                        </p:tav>
                                      </p:tavLst>
                                    </p:anim>
                                    <p:anim calcmode="lin" valueType="num">
                                      <p:cBhvr additive="base">
                                        <p:cTn id="145" dur="500" fill="hold"/>
                                        <p:tgtEl>
                                          <p:spTgt spid="8"/>
                                        </p:tgtEl>
                                        <p:attrNameLst>
                                          <p:attrName>ppt_y</p:attrName>
                                        </p:attrNameLst>
                                      </p:cBhvr>
                                      <p:tavLst>
                                        <p:tav tm="0">
                                          <p:val>
                                            <p:strVal val="#ppt_y+.1"/>
                                          </p:val>
                                        </p:tav>
                                        <p:tav tm="100000">
                                          <p:val>
                                            <p:strVal val="#ppt_y"/>
                                          </p:val>
                                        </p:tav>
                                      </p:tavLst>
                                    </p:anim>
                                  </p:childTnLst>
                                </p:cTn>
                              </p:par>
                              <p:par>
                                <p:cTn id="146" presetID="42" presetClass="entr" presetSubtype="0" fill="hold" nodeType="withEffect">
                                  <p:stCondLst>
                                    <p:cond delay="400"/>
                                  </p:stCondLst>
                                  <p:childTnLst>
                                    <p:set>
                                      <p:cBhvr>
                                        <p:cTn id="147" dur="1" fill="hold">
                                          <p:stCondLst>
                                            <p:cond delay="0"/>
                                          </p:stCondLst>
                                        </p:cTn>
                                        <p:tgtEl>
                                          <p:spTgt spid="9"/>
                                        </p:tgtEl>
                                        <p:attrNameLst>
                                          <p:attrName>style.visibility</p:attrName>
                                        </p:attrNameLst>
                                      </p:cBhvr>
                                      <p:to>
                                        <p:strVal val="visible"/>
                                      </p:to>
                                    </p:set>
                                    <p:animEffect transition="in" filter="fade">
                                      <p:cBhvr>
                                        <p:cTn id="148" dur="500"/>
                                        <p:tgtEl>
                                          <p:spTgt spid="9"/>
                                        </p:tgtEl>
                                      </p:cBhvr>
                                    </p:animEffect>
                                    <p:anim calcmode="lin" valueType="num">
                                      <p:cBhvr additive="base">
                                        <p:cTn id="149" dur="500" fill="hold"/>
                                        <p:tgtEl>
                                          <p:spTgt spid="9"/>
                                        </p:tgtEl>
                                        <p:attrNameLst>
                                          <p:attrName>ppt_x</p:attrName>
                                        </p:attrNameLst>
                                      </p:cBhvr>
                                      <p:tavLst>
                                        <p:tav tm="0">
                                          <p:val>
                                            <p:strVal val="#ppt_x"/>
                                          </p:val>
                                        </p:tav>
                                        <p:tav tm="100000">
                                          <p:val>
                                            <p:strVal val="#ppt_x"/>
                                          </p:val>
                                        </p:tav>
                                      </p:tavLst>
                                    </p:anim>
                                    <p:anim calcmode="lin" valueType="num">
                                      <p:cBhvr additive="base">
                                        <p:cTn id="150" dur="500" fill="hold"/>
                                        <p:tgtEl>
                                          <p:spTgt spid="9"/>
                                        </p:tgtEl>
                                        <p:attrNameLst>
                                          <p:attrName>ppt_y</p:attrName>
                                        </p:attrNameLst>
                                      </p:cBhvr>
                                      <p:tavLst>
                                        <p:tav tm="0">
                                          <p:val>
                                            <p:strVal val="#ppt_y+.1"/>
                                          </p:val>
                                        </p:tav>
                                        <p:tav tm="100000">
                                          <p:val>
                                            <p:strVal val="#ppt_y"/>
                                          </p:val>
                                        </p:tav>
                                      </p:tavLst>
                                    </p:anim>
                                  </p:childTnLst>
                                </p:cTn>
                              </p:par>
                              <p:par>
                                <p:cTn id="151" presetID="42" presetClass="entr" presetSubtype="0" fill="hold" nodeType="withEffect">
                                  <p:stCondLst>
                                    <p:cond delay="400"/>
                                  </p:stCondLst>
                                  <p:childTnLst>
                                    <p:set>
                                      <p:cBhvr>
                                        <p:cTn id="152" dur="1" fill="hold">
                                          <p:stCondLst>
                                            <p:cond delay="0"/>
                                          </p:stCondLst>
                                        </p:cTn>
                                        <p:tgtEl>
                                          <p:spTgt spid="10"/>
                                        </p:tgtEl>
                                        <p:attrNameLst>
                                          <p:attrName>style.visibility</p:attrName>
                                        </p:attrNameLst>
                                      </p:cBhvr>
                                      <p:to>
                                        <p:strVal val="visible"/>
                                      </p:to>
                                    </p:set>
                                    <p:animEffect transition="in" filter="fade">
                                      <p:cBhvr>
                                        <p:cTn id="153" dur="500"/>
                                        <p:tgtEl>
                                          <p:spTgt spid="10"/>
                                        </p:tgtEl>
                                      </p:cBhvr>
                                    </p:animEffect>
                                    <p:anim calcmode="lin" valueType="num">
                                      <p:cBhvr additive="base">
                                        <p:cTn id="154" dur="500" fill="hold"/>
                                        <p:tgtEl>
                                          <p:spTgt spid="10"/>
                                        </p:tgtEl>
                                        <p:attrNameLst>
                                          <p:attrName>ppt_x</p:attrName>
                                        </p:attrNameLst>
                                      </p:cBhvr>
                                      <p:tavLst>
                                        <p:tav tm="0">
                                          <p:val>
                                            <p:strVal val="#ppt_x"/>
                                          </p:val>
                                        </p:tav>
                                        <p:tav tm="100000">
                                          <p:val>
                                            <p:strVal val="#ppt_x"/>
                                          </p:val>
                                        </p:tav>
                                      </p:tavLst>
                                    </p:anim>
                                    <p:anim calcmode="lin" valueType="num">
                                      <p:cBhvr additive="base">
                                        <p:cTn id="155" dur="500" fill="hold"/>
                                        <p:tgtEl>
                                          <p:spTgt spid="10"/>
                                        </p:tgtEl>
                                        <p:attrNameLst>
                                          <p:attrName>ppt_y</p:attrName>
                                        </p:attrNameLst>
                                      </p:cBhvr>
                                      <p:tavLst>
                                        <p:tav tm="0">
                                          <p:val>
                                            <p:strVal val="#ppt_y+.1"/>
                                          </p:val>
                                        </p:tav>
                                        <p:tav tm="100000">
                                          <p:val>
                                            <p:strVal val="#ppt_y"/>
                                          </p:val>
                                        </p:tav>
                                      </p:tavLst>
                                    </p:anim>
                                  </p:childTnLst>
                                </p:cTn>
                              </p:par>
                              <p:par>
                                <p:cTn id="156" presetID="42" presetClass="entr" presetSubtype="0" fill="hold" nodeType="withEffect">
                                  <p:stCondLst>
                                    <p:cond delay="400"/>
                                  </p:stCondLst>
                                  <p:childTnLst>
                                    <p:set>
                                      <p:cBhvr>
                                        <p:cTn id="157" dur="1" fill="hold">
                                          <p:stCondLst>
                                            <p:cond delay="0"/>
                                          </p:stCondLst>
                                        </p:cTn>
                                        <p:tgtEl>
                                          <p:spTgt spid="11"/>
                                        </p:tgtEl>
                                        <p:attrNameLst>
                                          <p:attrName>style.visibility</p:attrName>
                                        </p:attrNameLst>
                                      </p:cBhvr>
                                      <p:to>
                                        <p:strVal val="visible"/>
                                      </p:to>
                                    </p:set>
                                    <p:animEffect transition="in" filter="fade">
                                      <p:cBhvr>
                                        <p:cTn id="158" dur="500"/>
                                        <p:tgtEl>
                                          <p:spTgt spid="11"/>
                                        </p:tgtEl>
                                      </p:cBhvr>
                                    </p:animEffect>
                                    <p:anim calcmode="lin" valueType="num">
                                      <p:cBhvr additive="base">
                                        <p:cTn id="159" dur="500" fill="hold"/>
                                        <p:tgtEl>
                                          <p:spTgt spid="11"/>
                                        </p:tgtEl>
                                        <p:attrNameLst>
                                          <p:attrName>ppt_x</p:attrName>
                                        </p:attrNameLst>
                                      </p:cBhvr>
                                      <p:tavLst>
                                        <p:tav tm="0">
                                          <p:val>
                                            <p:strVal val="#ppt_x"/>
                                          </p:val>
                                        </p:tav>
                                        <p:tav tm="100000">
                                          <p:val>
                                            <p:strVal val="#ppt_x"/>
                                          </p:val>
                                        </p:tav>
                                      </p:tavLst>
                                    </p:anim>
                                    <p:anim calcmode="lin" valueType="num">
                                      <p:cBhvr additive="base">
                                        <p:cTn id="160" dur="500" fill="hold"/>
                                        <p:tgtEl>
                                          <p:spTgt spid="11"/>
                                        </p:tgtEl>
                                        <p:attrNameLst>
                                          <p:attrName>ppt_y</p:attrName>
                                        </p:attrNameLst>
                                      </p:cBhvr>
                                      <p:tavLst>
                                        <p:tav tm="0">
                                          <p:val>
                                            <p:strVal val="#ppt_y+.1"/>
                                          </p:val>
                                        </p:tav>
                                        <p:tav tm="100000">
                                          <p:val>
                                            <p:strVal val="#ppt_y"/>
                                          </p:val>
                                        </p:tav>
                                      </p:tavLst>
                                    </p:anim>
                                  </p:childTnLst>
                                </p:cTn>
                              </p:par>
                              <p:par>
                                <p:cTn id="161" presetID="42" presetClass="entr" presetSubtype="0" fill="hold" nodeType="withEffect">
                                  <p:stCondLst>
                                    <p:cond delay="400"/>
                                  </p:stCondLst>
                                  <p:childTnLst>
                                    <p:set>
                                      <p:cBhvr>
                                        <p:cTn id="162" dur="1" fill="hold">
                                          <p:stCondLst>
                                            <p:cond delay="0"/>
                                          </p:stCondLst>
                                        </p:cTn>
                                        <p:tgtEl>
                                          <p:spTgt spid="12"/>
                                        </p:tgtEl>
                                        <p:attrNameLst>
                                          <p:attrName>style.visibility</p:attrName>
                                        </p:attrNameLst>
                                      </p:cBhvr>
                                      <p:to>
                                        <p:strVal val="visible"/>
                                      </p:to>
                                    </p:set>
                                    <p:animEffect transition="in" filter="fade">
                                      <p:cBhvr>
                                        <p:cTn id="163" dur="500"/>
                                        <p:tgtEl>
                                          <p:spTgt spid="12"/>
                                        </p:tgtEl>
                                      </p:cBhvr>
                                    </p:animEffect>
                                    <p:anim calcmode="lin" valueType="num">
                                      <p:cBhvr additive="base">
                                        <p:cTn id="164" dur="500" fill="hold"/>
                                        <p:tgtEl>
                                          <p:spTgt spid="12"/>
                                        </p:tgtEl>
                                        <p:attrNameLst>
                                          <p:attrName>ppt_x</p:attrName>
                                        </p:attrNameLst>
                                      </p:cBhvr>
                                      <p:tavLst>
                                        <p:tav tm="0">
                                          <p:val>
                                            <p:strVal val="#ppt_x"/>
                                          </p:val>
                                        </p:tav>
                                        <p:tav tm="100000">
                                          <p:val>
                                            <p:strVal val="#ppt_x"/>
                                          </p:val>
                                        </p:tav>
                                      </p:tavLst>
                                    </p:anim>
                                    <p:anim calcmode="lin" valueType="num">
                                      <p:cBhvr additive="base">
                                        <p:cTn id="165" dur="500" fill="hold"/>
                                        <p:tgtEl>
                                          <p:spTgt spid="12"/>
                                        </p:tgtEl>
                                        <p:attrNameLst>
                                          <p:attrName>ppt_y</p:attrName>
                                        </p:attrNameLst>
                                      </p:cBhvr>
                                      <p:tavLst>
                                        <p:tav tm="0">
                                          <p:val>
                                            <p:strVal val="#ppt_y+.1"/>
                                          </p:val>
                                        </p:tav>
                                        <p:tav tm="100000">
                                          <p:val>
                                            <p:strVal val="#ppt_y"/>
                                          </p:val>
                                        </p:tav>
                                      </p:tavLst>
                                    </p:anim>
                                  </p:childTnLst>
                                </p:cTn>
                              </p:par>
                              <p:par>
                                <p:cTn id="166" presetID="42" presetClass="entr" presetSubtype="0" fill="hold" nodeType="withEffect">
                                  <p:stCondLst>
                                    <p:cond delay="400"/>
                                  </p:stCondLst>
                                  <p:childTnLst>
                                    <p:set>
                                      <p:cBhvr>
                                        <p:cTn id="167" dur="1" fill="hold">
                                          <p:stCondLst>
                                            <p:cond delay="0"/>
                                          </p:stCondLst>
                                        </p:cTn>
                                        <p:tgtEl>
                                          <p:spTgt spid="13"/>
                                        </p:tgtEl>
                                        <p:attrNameLst>
                                          <p:attrName>style.visibility</p:attrName>
                                        </p:attrNameLst>
                                      </p:cBhvr>
                                      <p:to>
                                        <p:strVal val="visible"/>
                                      </p:to>
                                    </p:set>
                                    <p:animEffect transition="in" filter="fade">
                                      <p:cBhvr>
                                        <p:cTn id="168" dur="500"/>
                                        <p:tgtEl>
                                          <p:spTgt spid="13"/>
                                        </p:tgtEl>
                                      </p:cBhvr>
                                    </p:animEffect>
                                    <p:anim calcmode="lin" valueType="num">
                                      <p:cBhvr additive="base">
                                        <p:cTn id="169" dur="500" fill="hold"/>
                                        <p:tgtEl>
                                          <p:spTgt spid="13"/>
                                        </p:tgtEl>
                                        <p:attrNameLst>
                                          <p:attrName>ppt_x</p:attrName>
                                        </p:attrNameLst>
                                      </p:cBhvr>
                                      <p:tavLst>
                                        <p:tav tm="0">
                                          <p:val>
                                            <p:strVal val="#ppt_x"/>
                                          </p:val>
                                        </p:tav>
                                        <p:tav tm="100000">
                                          <p:val>
                                            <p:strVal val="#ppt_x"/>
                                          </p:val>
                                        </p:tav>
                                      </p:tavLst>
                                    </p:anim>
                                    <p:anim calcmode="lin" valueType="num">
                                      <p:cBhvr additive="base">
                                        <p:cTn id="170" dur="500" fill="hold"/>
                                        <p:tgtEl>
                                          <p:spTgt spid="13"/>
                                        </p:tgtEl>
                                        <p:attrNameLst>
                                          <p:attrName>ppt_y</p:attrName>
                                        </p:attrNameLst>
                                      </p:cBhvr>
                                      <p:tavLst>
                                        <p:tav tm="0">
                                          <p:val>
                                            <p:strVal val="#ppt_y+.1"/>
                                          </p:val>
                                        </p:tav>
                                        <p:tav tm="100000">
                                          <p:val>
                                            <p:strVal val="#ppt_y"/>
                                          </p:val>
                                        </p:tav>
                                      </p:tavLst>
                                    </p:anim>
                                  </p:childTnLst>
                                </p:cTn>
                              </p:par>
                              <p:par>
                                <p:cTn id="171" presetID="42" presetClass="entr" presetSubtype="0" fill="hold" nodeType="withEffect">
                                  <p:stCondLst>
                                    <p:cond delay="400"/>
                                  </p:stCondLst>
                                  <p:childTnLst>
                                    <p:set>
                                      <p:cBhvr>
                                        <p:cTn id="172" dur="1" fill="hold">
                                          <p:stCondLst>
                                            <p:cond delay="0"/>
                                          </p:stCondLst>
                                        </p:cTn>
                                        <p:tgtEl>
                                          <p:spTgt spid="14"/>
                                        </p:tgtEl>
                                        <p:attrNameLst>
                                          <p:attrName>style.visibility</p:attrName>
                                        </p:attrNameLst>
                                      </p:cBhvr>
                                      <p:to>
                                        <p:strVal val="visible"/>
                                      </p:to>
                                    </p:set>
                                    <p:animEffect transition="in" filter="fade">
                                      <p:cBhvr>
                                        <p:cTn id="173" dur="500"/>
                                        <p:tgtEl>
                                          <p:spTgt spid="14"/>
                                        </p:tgtEl>
                                      </p:cBhvr>
                                    </p:animEffect>
                                    <p:anim calcmode="lin" valueType="num">
                                      <p:cBhvr additive="base">
                                        <p:cTn id="174" dur="500" fill="hold"/>
                                        <p:tgtEl>
                                          <p:spTgt spid="14"/>
                                        </p:tgtEl>
                                        <p:attrNameLst>
                                          <p:attrName>ppt_x</p:attrName>
                                        </p:attrNameLst>
                                      </p:cBhvr>
                                      <p:tavLst>
                                        <p:tav tm="0">
                                          <p:val>
                                            <p:strVal val="#ppt_x"/>
                                          </p:val>
                                        </p:tav>
                                        <p:tav tm="100000">
                                          <p:val>
                                            <p:strVal val="#ppt_x"/>
                                          </p:val>
                                        </p:tav>
                                      </p:tavLst>
                                    </p:anim>
                                    <p:anim calcmode="lin" valueType="num">
                                      <p:cBhvr additive="base">
                                        <p:cTn id="175" dur="500" fill="hold"/>
                                        <p:tgtEl>
                                          <p:spTgt spid="14"/>
                                        </p:tgtEl>
                                        <p:attrNameLst>
                                          <p:attrName>ppt_y</p:attrName>
                                        </p:attrNameLst>
                                      </p:cBhvr>
                                      <p:tavLst>
                                        <p:tav tm="0">
                                          <p:val>
                                            <p:strVal val="#ppt_y+.1"/>
                                          </p:val>
                                        </p:tav>
                                        <p:tav tm="100000">
                                          <p:val>
                                            <p:strVal val="#ppt_y"/>
                                          </p:val>
                                        </p:tav>
                                      </p:tavLst>
                                    </p:anim>
                                  </p:childTnLst>
                                </p:cTn>
                              </p:par>
                              <p:par>
                                <p:cTn id="176" presetID="42" presetClass="entr" presetSubtype="0" fill="hold" nodeType="withEffect">
                                  <p:stCondLst>
                                    <p:cond delay="400"/>
                                  </p:stCondLst>
                                  <p:childTnLst>
                                    <p:set>
                                      <p:cBhvr>
                                        <p:cTn id="177" dur="1" fill="hold">
                                          <p:stCondLst>
                                            <p:cond delay="0"/>
                                          </p:stCondLst>
                                        </p:cTn>
                                        <p:tgtEl>
                                          <p:spTgt spid="15"/>
                                        </p:tgtEl>
                                        <p:attrNameLst>
                                          <p:attrName>style.visibility</p:attrName>
                                        </p:attrNameLst>
                                      </p:cBhvr>
                                      <p:to>
                                        <p:strVal val="visible"/>
                                      </p:to>
                                    </p:set>
                                    <p:animEffect transition="in" filter="fade">
                                      <p:cBhvr>
                                        <p:cTn id="178" dur="500"/>
                                        <p:tgtEl>
                                          <p:spTgt spid="15"/>
                                        </p:tgtEl>
                                      </p:cBhvr>
                                    </p:animEffect>
                                    <p:anim calcmode="lin" valueType="num">
                                      <p:cBhvr additive="base">
                                        <p:cTn id="179" dur="500" fill="hold"/>
                                        <p:tgtEl>
                                          <p:spTgt spid="15"/>
                                        </p:tgtEl>
                                        <p:attrNameLst>
                                          <p:attrName>ppt_x</p:attrName>
                                        </p:attrNameLst>
                                      </p:cBhvr>
                                      <p:tavLst>
                                        <p:tav tm="0">
                                          <p:val>
                                            <p:strVal val="#ppt_x"/>
                                          </p:val>
                                        </p:tav>
                                        <p:tav tm="100000">
                                          <p:val>
                                            <p:strVal val="#ppt_x"/>
                                          </p:val>
                                        </p:tav>
                                      </p:tavLst>
                                    </p:anim>
                                    <p:anim calcmode="lin" valueType="num">
                                      <p:cBhvr additive="base">
                                        <p:cTn id="180" dur="500" fill="hold"/>
                                        <p:tgtEl>
                                          <p:spTgt spid="15"/>
                                        </p:tgtEl>
                                        <p:attrNameLst>
                                          <p:attrName>ppt_y</p:attrName>
                                        </p:attrNameLst>
                                      </p:cBhvr>
                                      <p:tavLst>
                                        <p:tav tm="0">
                                          <p:val>
                                            <p:strVal val="#ppt_y+.1"/>
                                          </p:val>
                                        </p:tav>
                                        <p:tav tm="100000">
                                          <p:val>
                                            <p:strVal val="#ppt_y"/>
                                          </p:val>
                                        </p:tav>
                                      </p:tavLst>
                                    </p:anim>
                                  </p:childTnLst>
                                </p:cTn>
                              </p:par>
                              <p:par>
                                <p:cTn id="181" presetID="10" presetClass="entr" presetSubtype="0" fill="hold" nodeType="withEffect">
                                  <p:stCondLst>
                                    <p:cond delay="900"/>
                                  </p:stCondLst>
                                  <p:childTnLst>
                                    <p:set>
                                      <p:cBhvr>
                                        <p:cTn id="182" dur="1" fill="hold">
                                          <p:stCondLst>
                                            <p:cond delay="0"/>
                                          </p:stCondLst>
                                        </p:cTn>
                                        <p:tgtEl>
                                          <p:spTgt spid="16"/>
                                        </p:tgtEl>
                                        <p:attrNameLst>
                                          <p:attrName>style.visibility</p:attrName>
                                        </p:attrNameLst>
                                      </p:cBhvr>
                                      <p:to>
                                        <p:strVal val="visible"/>
                                      </p:to>
                                    </p:set>
                                    <p:animEffect transition="in" filter="fade">
                                      <p:cBhvr>
                                        <p:cTn id="183" dur="500"/>
                                        <p:tgtEl>
                                          <p:spTgt spid="16"/>
                                        </p:tgtEl>
                                      </p:cBhvr>
                                    </p:animEffect>
                                  </p:childTnLst>
                                </p:cTn>
                              </p:par>
                              <p:par>
                                <p:cTn id="184" presetID="10" presetClass="entr" presetSubtype="0" fill="hold" nodeType="withEffect">
                                  <p:stCondLst>
                                    <p:cond delay="900"/>
                                  </p:stCondLst>
                                  <p:childTnLst>
                                    <p:set>
                                      <p:cBhvr>
                                        <p:cTn id="185" dur="1" fill="hold">
                                          <p:stCondLst>
                                            <p:cond delay="0"/>
                                          </p:stCondLst>
                                        </p:cTn>
                                        <p:tgtEl>
                                          <p:spTgt spid="17"/>
                                        </p:tgtEl>
                                        <p:attrNameLst>
                                          <p:attrName>style.visibility</p:attrName>
                                        </p:attrNameLst>
                                      </p:cBhvr>
                                      <p:to>
                                        <p:strVal val="visible"/>
                                      </p:to>
                                    </p:set>
                                    <p:animEffect transition="in" filter="fade">
                                      <p:cBhvr>
                                        <p:cTn id="186" dur="500"/>
                                        <p:tgtEl>
                                          <p:spTgt spid="17"/>
                                        </p:tgtEl>
                                      </p:cBhvr>
                                    </p:animEffect>
                                  </p:childTnLst>
                                </p:cTn>
                              </p:par>
                              <p:par>
                                <p:cTn id="187" presetID="10" presetClass="entr" presetSubtype="0" fill="hold" nodeType="withEffect">
                                  <p:stCondLst>
                                    <p:cond delay="1100"/>
                                  </p:stCondLst>
                                  <p:childTnLst>
                                    <p:set>
                                      <p:cBhvr>
                                        <p:cTn id="188" dur="1" fill="hold">
                                          <p:stCondLst>
                                            <p:cond delay="0"/>
                                          </p:stCondLst>
                                        </p:cTn>
                                        <p:tgtEl>
                                          <p:spTgt spid="18"/>
                                        </p:tgtEl>
                                        <p:attrNameLst>
                                          <p:attrName>style.visibility</p:attrName>
                                        </p:attrNameLst>
                                      </p:cBhvr>
                                      <p:to>
                                        <p:strVal val="visible"/>
                                      </p:to>
                                    </p:set>
                                    <p:animEffect transition="in" filter="fade">
                                      <p:cBhvr>
                                        <p:cTn id="189" dur="300"/>
                                        <p:tgtEl>
                                          <p:spTgt spid="18"/>
                                        </p:tgtEl>
                                      </p:cBhvr>
                                    </p:animEffect>
                                  </p:childTnLst>
                                </p:cTn>
                              </p:par>
                              <p:par>
                                <p:cTn id="190" presetID="10" presetClass="entr" presetSubtype="0" fill="hold" nodeType="withEffect">
                                  <p:stCondLst>
                                    <p:cond delay="2500"/>
                                  </p:stCondLst>
                                  <p:childTnLst>
                                    <p:set>
                                      <p:cBhvr>
                                        <p:cTn id="191" dur="1" fill="hold">
                                          <p:stCondLst>
                                            <p:cond delay="0"/>
                                          </p:stCondLst>
                                        </p:cTn>
                                        <p:tgtEl>
                                          <p:spTgt spid="24"/>
                                        </p:tgtEl>
                                        <p:attrNameLst>
                                          <p:attrName>style.visibility</p:attrName>
                                        </p:attrNameLst>
                                      </p:cBhvr>
                                      <p:to>
                                        <p:strVal val="visible"/>
                                      </p:to>
                                    </p:set>
                                    <p:animEffect transition="in" filter="fade">
                                      <p:cBhvr>
                                        <p:cTn id="192" dur="400"/>
                                        <p:tgtEl>
                                          <p:spTgt spid="24"/>
                                        </p:tgtEl>
                                      </p:cBhvr>
                                    </p:animEffect>
                                  </p:childTnLst>
                                </p:cTn>
                              </p:par>
                              <p:par>
                                <p:cTn id="193" presetID="10" presetClass="entr" presetSubtype="0" fill="hold" nodeType="withEffect">
                                  <p:stCondLst>
                                    <p:cond delay="2500"/>
                                  </p:stCondLst>
                                  <p:childTnLst>
                                    <p:set>
                                      <p:cBhvr>
                                        <p:cTn id="194" dur="1" fill="hold">
                                          <p:stCondLst>
                                            <p:cond delay="0"/>
                                          </p:stCondLst>
                                        </p:cTn>
                                        <p:tgtEl>
                                          <p:spTgt spid="30"/>
                                        </p:tgtEl>
                                        <p:attrNameLst>
                                          <p:attrName>style.visibility</p:attrName>
                                        </p:attrNameLst>
                                      </p:cBhvr>
                                      <p:to>
                                        <p:strVal val="visible"/>
                                      </p:to>
                                    </p:set>
                                    <p:animEffect transition="in" filter="fade">
                                      <p:cBhvr>
                                        <p:cTn id="195" dur="400"/>
                                        <p:tgtEl>
                                          <p:spTgt spid="30"/>
                                        </p:tgtEl>
                                      </p:cBhvr>
                                    </p:animEffect>
                                  </p:childTnLst>
                                </p:cTn>
                              </p:par>
                              <p:par>
                                <p:cTn id="196" presetID="10" presetClass="entr" presetSubtype="0" fill="hold" nodeType="withEffect">
                                  <p:stCondLst>
                                    <p:cond delay="2500"/>
                                  </p:stCondLst>
                                  <p:childTnLst>
                                    <p:set>
                                      <p:cBhvr>
                                        <p:cTn id="197" dur="1" fill="hold">
                                          <p:stCondLst>
                                            <p:cond delay="0"/>
                                          </p:stCondLst>
                                        </p:cTn>
                                        <p:tgtEl>
                                          <p:spTgt spid="36"/>
                                        </p:tgtEl>
                                        <p:attrNameLst>
                                          <p:attrName>style.visibility</p:attrName>
                                        </p:attrNameLst>
                                      </p:cBhvr>
                                      <p:to>
                                        <p:strVal val="visible"/>
                                      </p:to>
                                    </p:set>
                                    <p:animEffect transition="in" filter="fade">
                                      <p:cBhvr>
                                        <p:cTn id="198" dur="400"/>
                                        <p:tgtEl>
                                          <p:spTgt spid="36"/>
                                        </p:tgtEl>
                                      </p:cBhvr>
                                    </p:animEffect>
                                  </p:childTnLst>
                                </p:cTn>
                              </p:par>
                              <p:par>
                                <p:cTn id="199" presetID="10" presetClass="entr" presetSubtype="0" fill="hold" nodeType="withEffect">
                                  <p:stCondLst>
                                    <p:cond delay="2500"/>
                                  </p:stCondLst>
                                  <p:childTnLst>
                                    <p:set>
                                      <p:cBhvr>
                                        <p:cTn id="200" dur="1" fill="hold">
                                          <p:stCondLst>
                                            <p:cond delay="0"/>
                                          </p:stCondLst>
                                        </p:cTn>
                                        <p:tgtEl>
                                          <p:spTgt spid="42"/>
                                        </p:tgtEl>
                                        <p:attrNameLst>
                                          <p:attrName>style.visibility</p:attrName>
                                        </p:attrNameLst>
                                      </p:cBhvr>
                                      <p:to>
                                        <p:strVal val="visible"/>
                                      </p:to>
                                    </p:set>
                                    <p:animEffect transition="in" filter="fade">
                                      <p:cBhvr>
                                        <p:cTn id="201"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17  ·  RESPONSIBLE AI &amp; SECURITY</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Safeguards built today, and what production adds</a:t>
            </a:r>
            <a:endParaRPr lang="en-US" sz="3400" dirty="0"/>
          </a:p>
        </p:txBody>
      </p:sp>
      <p:sp>
        <p:nvSpPr>
          <p:cNvPr id="5" name="tb__1"/>
          <p:cNvSpPr/>
          <p:nvPr/>
        </p:nvSpPr>
        <p:spPr>
          <a:xfrm>
            <a:off x="548640" y="1645920"/>
            <a:ext cx="6903720" cy="4343400"/>
          </a:xfrm>
          <a:prstGeom prst="roundRect">
            <a:avLst>
              <a:gd name="adj" fmla="val 2526"/>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tb__2"/>
          <p:cNvSpPr txBox="1"/>
          <p:nvPr/>
        </p:nvSpPr>
        <p:spPr>
          <a:xfrm>
            <a:off x="777240" y="1764792"/>
            <a:ext cx="6400800" cy="274320"/>
          </a:xfrm>
          <a:prstGeom prst="rect">
            <a:avLst/>
          </a:prstGeom>
          <a:noFill/>
          <a:ln/>
        </p:spPr>
        <p:txBody>
          <a:bodyPr wrap="square" lIns="0" tIns="0" rIns="0" bIns="0" rtlCol="0" anchor="ctr"/>
          <a:lstStyle/>
          <a:p>
            <a:pPr indent="0" marL="0">
              <a:buNone/>
            </a:pPr>
            <a:r>
              <a:rPr lang="en-US" sz="1000" b="1" spc="200" kern="0" dirty="0">
                <a:solidFill>
                  <a:srgbClr val="34D399"/>
                </a:solidFill>
                <a:latin typeface="Arial" pitchFamily="34" charset="0"/>
                <a:ea typeface="Arial" pitchFamily="34" charset="-122"/>
                <a:cs typeface="Arial" pitchFamily="34" charset="-120"/>
              </a:rPr>
              <a:t>BUILT AND TESTED IN THE PROTOTYPE</a:t>
            </a:r>
            <a:endParaRPr lang="en-US" sz="1000" dirty="0"/>
          </a:p>
        </p:txBody>
      </p:sp>
      <p:pic>
        <p:nvPicPr>
          <p:cNvPr id="7" name="tbr0__1" descr="preencoded.png">    </p:cNvPr>
          <p:cNvPicPr>
            <a:picLocks noChangeAspect="1"/>
          </p:cNvPicPr>
          <p:nvPr/>
        </p:nvPicPr>
        <p:blipFill>
          <a:blip r:embed="rId2"/>
          <a:stretch>
            <a:fillRect/>
          </a:stretch>
        </p:blipFill>
        <p:spPr>
          <a:xfrm>
            <a:off x="804672" y="2185416"/>
            <a:ext cx="310896" cy="310896"/>
          </a:xfrm>
          <a:prstGeom prst="rect">
            <a:avLst/>
          </a:prstGeom>
        </p:spPr>
      </p:pic>
      <p:sp>
        <p:nvSpPr>
          <p:cNvPr id="8" name="tbr0__2"/>
          <p:cNvSpPr txBox="1"/>
          <p:nvPr/>
        </p:nvSpPr>
        <p:spPr>
          <a:xfrm>
            <a:off x="1261872" y="2121408"/>
            <a:ext cx="6035040" cy="475488"/>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Strict input validation  </a:t>
            </a:r>
            <a:pPr indent="0" marL="0">
              <a:buNone/>
            </a:pPr>
            <a:r>
              <a:rPr lang="en-US" sz="1150" dirty="0">
                <a:solidFill>
                  <a:srgbClr val="9AABC4"/>
                </a:solidFill>
                <a:latin typeface="Calibri" pitchFamily="34" charset="0"/>
                <a:ea typeface="Calibri" pitchFamily="34" charset="-122"/>
                <a:cs typeface="Calibri" pitchFamily="34" charset="-120"/>
              </a:rPr>
              <a:t>bad amounts, NaN/Inf, bad timestamps, self-transfers, duplicates rejected</a:t>
            </a:r>
            <a:endParaRPr lang="en-US" sz="1300" dirty="0"/>
          </a:p>
        </p:txBody>
      </p:sp>
      <p:pic>
        <p:nvPicPr>
          <p:cNvPr id="9" name="tbr1__1" descr="preencoded.png">    </p:cNvPr>
          <p:cNvPicPr>
            <a:picLocks noChangeAspect="1"/>
          </p:cNvPicPr>
          <p:nvPr/>
        </p:nvPicPr>
        <p:blipFill>
          <a:blip r:embed="rId3"/>
          <a:stretch>
            <a:fillRect/>
          </a:stretch>
        </p:blipFill>
        <p:spPr>
          <a:xfrm>
            <a:off x="804672" y="2734056"/>
            <a:ext cx="310896" cy="310896"/>
          </a:xfrm>
          <a:prstGeom prst="rect">
            <a:avLst/>
          </a:prstGeom>
        </p:spPr>
      </p:pic>
      <p:sp>
        <p:nvSpPr>
          <p:cNvPr id="10" name="tbr1__2"/>
          <p:cNvSpPr txBox="1"/>
          <p:nvPr/>
        </p:nvSpPr>
        <p:spPr>
          <a:xfrm>
            <a:off x="1261872" y="2670048"/>
            <a:ext cx="6035040" cy="475488"/>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Role-based access  </a:t>
            </a:r>
            <a:pPr indent="0" marL="0">
              <a:buNone/>
            </a:pPr>
            <a:r>
              <a:rPr lang="en-US" sz="1150" dirty="0">
                <a:solidFill>
                  <a:srgbClr val="9AABC4"/>
                </a:solidFill>
                <a:latin typeface="Calibri" pitchFamily="34" charset="0"/>
                <a:ea typeface="Calibri" pitchFamily="34" charset="-122"/>
                <a:cs typeface="Calibri" pitchFamily="34" charset="-120"/>
              </a:rPr>
              <a:t>sign-in as AML analyst or compliance officer</a:t>
            </a:r>
            <a:endParaRPr lang="en-US" sz="1300" dirty="0"/>
          </a:p>
        </p:txBody>
      </p:sp>
      <p:pic>
        <p:nvPicPr>
          <p:cNvPr id="11" name="tbr2__1" descr="preencoded.png">    </p:cNvPr>
          <p:cNvPicPr>
            <a:picLocks noChangeAspect="1"/>
          </p:cNvPicPr>
          <p:nvPr/>
        </p:nvPicPr>
        <p:blipFill>
          <a:blip r:embed="rId4"/>
          <a:stretch>
            <a:fillRect/>
          </a:stretch>
        </p:blipFill>
        <p:spPr>
          <a:xfrm>
            <a:off x="804672" y="3282696"/>
            <a:ext cx="310896" cy="310896"/>
          </a:xfrm>
          <a:prstGeom prst="rect">
            <a:avLst/>
          </a:prstGeom>
        </p:spPr>
      </p:pic>
      <p:sp>
        <p:nvSpPr>
          <p:cNvPr id="12" name="tbr2__2"/>
          <p:cNvSpPr txBox="1"/>
          <p:nvPr/>
        </p:nvSpPr>
        <p:spPr>
          <a:xfrm>
            <a:off x="1261872" y="3218688"/>
            <a:ext cx="6035040" cy="475488"/>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Hash-chained audit log  </a:t>
            </a:r>
            <a:pPr indent="0" marL="0">
              <a:buNone/>
            </a:pPr>
            <a:r>
              <a:rPr lang="en-US" sz="1150" dirty="0">
                <a:solidFill>
                  <a:srgbClr val="9AABC4"/>
                </a:solidFill>
                <a:latin typeface="Calibri" pitchFamily="34" charset="0"/>
                <a:ea typeface="Calibri" pitchFamily="34" charset="-122"/>
                <a:cs typeface="Calibri" pitchFamily="34" charset="-120"/>
              </a:rPr>
              <a:t>case actions and data reveals are chained, so tampering shows</a:t>
            </a:r>
            <a:endParaRPr lang="en-US" sz="1300" dirty="0"/>
          </a:p>
        </p:txBody>
      </p:sp>
      <p:pic>
        <p:nvPicPr>
          <p:cNvPr id="13" name="tbr3__1" descr="preencoded.png">    </p:cNvPr>
          <p:cNvPicPr>
            <a:picLocks noChangeAspect="1"/>
          </p:cNvPicPr>
          <p:nvPr/>
        </p:nvPicPr>
        <p:blipFill>
          <a:blip r:embed="rId5"/>
          <a:stretch>
            <a:fillRect/>
          </a:stretch>
        </p:blipFill>
        <p:spPr>
          <a:xfrm>
            <a:off x="804672" y="3831336"/>
            <a:ext cx="310896" cy="310896"/>
          </a:xfrm>
          <a:prstGeom prst="rect">
            <a:avLst/>
          </a:prstGeom>
        </p:spPr>
      </p:pic>
      <p:sp>
        <p:nvSpPr>
          <p:cNvPr id="14" name="tbr3__2"/>
          <p:cNvSpPr txBox="1"/>
          <p:nvPr/>
        </p:nvSpPr>
        <p:spPr>
          <a:xfrm>
            <a:off x="1261872" y="3767328"/>
            <a:ext cx="6035040" cy="475488"/>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PII masking  </a:t>
            </a:r>
            <a:pPr indent="0" marL="0">
              <a:buNone/>
            </a:pPr>
            <a:r>
              <a:rPr lang="en-US" sz="1150" dirty="0">
                <a:solidFill>
                  <a:srgbClr val="9AABC4"/>
                </a:solidFill>
                <a:latin typeface="Calibri" pitchFamily="34" charset="0"/>
                <a:ea typeface="Calibri" pitchFamily="34" charset="-122"/>
                <a:cs typeface="Calibri" pitchFamily="34" charset="-120"/>
              </a:rPr>
              <a:t>personal details masked by default; every reveal is logged</a:t>
            </a:r>
            <a:endParaRPr lang="en-US" sz="1300" dirty="0"/>
          </a:p>
        </p:txBody>
      </p:sp>
      <p:pic>
        <p:nvPicPr>
          <p:cNvPr id="15" name="tbr4__1" descr="preencoded.png">    </p:cNvPr>
          <p:cNvPicPr>
            <a:picLocks noChangeAspect="1"/>
          </p:cNvPicPr>
          <p:nvPr/>
        </p:nvPicPr>
        <p:blipFill>
          <a:blip r:embed="rId6"/>
          <a:stretch>
            <a:fillRect/>
          </a:stretch>
        </p:blipFill>
        <p:spPr>
          <a:xfrm>
            <a:off x="804672" y="4379976"/>
            <a:ext cx="310896" cy="310896"/>
          </a:xfrm>
          <a:prstGeom prst="rect">
            <a:avLst/>
          </a:prstGeom>
        </p:spPr>
      </p:pic>
      <p:sp>
        <p:nvSpPr>
          <p:cNvPr id="16" name="tbr4__2"/>
          <p:cNvSpPr txBox="1"/>
          <p:nvPr/>
        </p:nvSpPr>
        <p:spPr>
          <a:xfrm>
            <a:off x="1261872" y="4315968"/>
            <a:ext cx="6035040" cy="475488"/>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Bias check  </a:t>
            </a:r>
            <a:pPr indent="0" marL="0">
              <a:buNone/>
            </a:pPr>
            <a:r>
              <a:rPr lang="en-US" sz="1150" dirty="0">
                <a:solidFill>
                  <a:srgbClr val="9AABC4"/>
                </a:solidFill>
                <a:latin typeface="Calibri" pitchFamily="34" charset="0"/>
                <a:ea typeface="Calibri" pitchFamily="34" charset="-122"/>
                <a:cs typeface="Calibri" pitchFamily="34" charset="-120"/>
              </a:rPr>
              <a:t>legit agents flagged 98.7% (first prototype) → 0.57% now; no district effect (p = 0.30)</a:t>
            </a:r>
            <a:endParaRPr lang="en-US" sz="1300" dirty="0"/>
          </a:p>
        </p:txBody>
      </p:sp>
      <p:pic>
        <p:nvPicPr>
          <p:cNvPr id="17" name="tbr5__1" descr="preencoded.png">    </p:cNvPr>
          <p:cNvPicPr>
            <a:picLocks noChangeAspect="1"/>
          </p:cNvPicPr>
          <p:nvPr/>
        </p:nvPicPr>
        <p:blipFill>
          <a:blip r:embed="rId7"/>
          <a:stretch>
            <a:fillRect/>
          </a:stretch>
        </p:blipFill>
        <p:spPr>
          <a:xfrm>
            <a:off x="804672" y="4928616"/>
            <a:ext cx="310896" cy="310896"/>
          </a:xfrm>
          <a:prstGeom prst="rect">
            <a:avLst/>
          </a:prstGeom>
        </p:spPr>
      </p:pic>
      <p:sp>
        <p:nvSpPr>
          <p:cNvPr id="18" name="tbr5__2"/>
          <p:cNvSpPr txBox="1"/>
          <p:nvPr/>
        </p:nvSpPr>
        <p:spPr>
          <a:xfrm>
            <a:off x="1261872" y="4864608"/>
            <a:ext cx="6035040" cy="475488"/>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Grounded explanations  </a:t>
            </a:r>
            <a:pPr indent="0" marL="0">
              <a:buNone/>
            </a:pPr>
            <a:r>
              <a:rPr lang="en-US" sz="1150" dirty="0">
                <a:solidFill>
                  <a:srgbClr val="9AABC4"/>
                </a:solidFill>
                <a:latin typeface="Calibri" pitchFamily="34" charset="0"/>
                <a:ea typeface="Calibri" pitchFamily="34" charset="-122"/>
                <a:cs typeface="Calibri" pitchFamily="34" charset="-120"/>
              </a:rPr>
              <a:t>every sentence quotes a computed metric; the optional LLM only rephrases</a:t>
            </a:r>
            <a:endParaRPr lang="en-US" sz="1300" dirty="0"/>
          </a:p>
        </p:txBody>
      </p:sp>
      <p:pic>
        <p:nvPicPr>
          <p:cNvPr id="19" name="tbr6__1" descr="preencoded.png">    </p:cNvPr>
          <p:cNvPicPr>
            <a:picLocks noChangeAspect="1"/>
          </p:cNvPicPr>
          <p:nvPr/>
        </p:nvPicPr>
        <p:blipFill>
          <a:blip r:embed="rId8"/>
          <a:stretch>
            <a:fillRect/>
          </a:stretch>
        </p:blipFill>
        <p:spPr>
          <a:xfrm>
            <a:off x="804672" y="5477256"/>
            <a:ext cx="310896" cy="310896"/>
          </a:xfrm>
          <a:prstGeom prst="rect">
            <a:avLst/>
          </a:prstGeom>
        </p:spPr>
      </p:pic>
      <p:sp>
        <p:nvSpPr>
          <p:cNvPr id="20" name="tbr6__2"/>
          <p:cNvSpPr txBox="1"/>
          <p:nvPr/>
        </p:nvSpPr>
        <p:spPr>
          <a:xfrm>
            <a:off x="1261872" y="5413248"/>
            <a:ext cx="6035040" cy="475488"/>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Human in the loop  </a:t>
            </a:r>
            <a:pPr indent="0" marL="0">
              <a:buNone/>
            </a:pPr>
            <a:r>
              <a:rPr lang="en-US" sz="1150" dirty="0">
                <a:solidFill>
                  <a:srgbClr val="9AABC4"/>
                </a:solidFill>
                <a:latin typeface="Calibri" pitchFamily="34" charset="0"/>
                <a:ea typeface="Calibri" pitchFamily="34" charset="-122"/>
                <a:cs typeface="Calibri" pitchFamily="34" charset="-120"/>
              </a:rPr>
              <a:t>scores prioritise review; analysts decide and file STRs</a:t>
            </a:r>
            <a:endParaRPr lang="en-US" sz="1300" dirty="0"/>
          </a:p>
        </p:txBody>
      </p:sp>
      <p:sp>
        <p:nvSpPr>
          <p:cNvPr id="21" name="tr__1"/>
          <p:cNvSpPr/>
          <p:nvPr/>
        </p:nvSpPr>
        <p:spPr>
          <a:xfrm>
            <a:off x="7680960" y="1645920"/>
            <a:ext cx="3959352" cy="4343400"/>
          </a:xfrm>
          <a:prstGeom prst="roundRect">
            <a:avLst>
              <a:gd name="adj" fmla="val 2771"/>
            </a:avLst>
          </a:prstGeom>
          <a:solidFill>
            <a:srgbClr val="0E1729">
              <a:alpha val="70000"/>
            </a:srgbClr>
          </a:solidFill>
          <a:ln w="12700">
            <a:solidFill>
              <a:srgbClr val="22314F"/>
            </a:solidFill>
            <a:prstDash val="dash"/>
          </a:ln>
          <a:effectLst>
            <a:outerShdw sx="100000" sy="100000" kx="0" ky="0" algn="bl" rotWithShape="0" blurRad="101600" dist="38100" dir="5400000">
              <a:srgbClr val="000000">
                <a:alpha val="45000"/>
              </a:srgbClr>
            </a:outerShdw>
          </a:effectLst>
        </p:spPr>
      </p:sp>
      <p:sp>
        <p:nvSpPr>
          <p:cNvPr id="22" name="tr__2"/>
          <p:cNvSpPr txBox="1"/>
          <p:nvPr/>
        </p:nvSpPr>
        <p:spPr>
          <a:xfrm>
            <a:off x="7909560" y="1764792"/>
            <a:ext cx="3566160" cy="274320"/>
          </a:xfrm>
          <a:prstGeom prst="rect">
            <a:avLst/>
          </a:prstGeom>
          <a:noFill/>
          <a:ln/>
        </p:spPr>
        <p:txBody>
          <a:bodyPr wrap="square" lIns="0" tIns="0" rIns="0" bIns="0" rtlCol="0" anchor="ctr"/>
          <a:lstStyle/>
          <a:p>
            <a:pPr indent="0" marL="0">
              <a:buNone/>
            </a:pPr>
            <a:r>
              <a:rPr lang="en-US" sz="1000" b="1" spc="200" kern="0" dirty="0">
                <a:solidFill>
                  <a:srgbClr val="A78BFA"/>
                </a:solidFill>
                <a:latin typeface="Arial" pitchFamily="34" charset="0"/>
                <a:ea typeface="Arial" pitchFamily="34" charset="-122"/>
                <a:cs typeface="Arial" pitchFamily="34" charset="-120"/>
              </a:rPr>
              <a:t>PRODUCTION ROADMAP</a:t>
            </a:r>
            <a:endParaRPr lang="en-US" sz="1000" dirty="0"/>
          </a:p>
        </p:txBody>
      </p:sp>
      <p:sp>
        <p:nvSpPr>
          <p:cNvPr id="23" name="trl__1"/>
          <p:cNvSpPr txBox="1"/>
          <p:nvPr/>
        </p:nvSpPr>
        <p:spPr>
          <a:xfrm>
            <a:off x="7909560" y="2121408"/>
            <a:ext cx="3566160" cy="37490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1F5FB"/>
                </a:solidFill>
                <a:latin typeface="Calibri" pitchFamily="34" charset="0"/>
                <a:ea typeface="Calibri" pitchFamily="34" charset="-122"/>
                <a:cs typeface="Calibri" pitchFamily="34" charset="-120"/>
              </a:rPr>
              <a:t>SSO with upay identity and MFA for analysts</a:t>
            </a:r>
            <a:endParaRPr lang="en-US" sz="1200" dirty="0"/>
          </a:p>
          <a:p>
            <a:pPr marL="342900" indent="-342900">
              <a:spcAft>
                <a:spcPts val="500"/>
              </a:spcAft>
              <a:buSzPct val="100000"/>
              <a:buChar char="▸"/>
            </a:pPr>
            <a:r>
              <a:rPr lang="en-US" sz="1200" dirty="0">
                <a:solidFill>
                  <a:srgbClr val="F1F5FB"/>
                </a:solidFill>
                <a:latin typeface="Calibri" pitchFamily="34" charset="0"/>
                <a:ea typeface="Calibri" pitchFamily="34" charset="-122"/>
                <a:cs typeface="Calibri" pitchFamily="34" charset="-120"/>
              </a:rPr>
              <a:t>TLS everywhere and encryption at rest for case data</a:t>
            </a:r>
            <a:endParaRPr lang="en-US" sz="1200" dirty="0"/>
          </a:p>
          <a:p>
            <a:pPr marL="342900" indent="-342900">
              <a:spcAft>
                <a:spcPts val="500"/>
              </a:spcAft>
              <a:buSzPct val="100000"/>
              <a:buChar char="▸"/>
            </a:pPr>
            <a:r>
              <a:rPr lang="en-US" sz="1200" dirty="0">
                <a:solidFill>
                  <a:srgbClr val="F1F5FB"/>
                </a:solidFill>
                <a:latin typeface="Calibri" pitchFamily="34" charset="0"/>
                <a:ea typeface="Calibri" pitchFamily="34" charset="-122"/>
                <a:cs typeface="Calibri" pitchFamily="34" charset="-120"/>
              </a:rPr>
              <a:t>Write-once audit storage and regular external penetration tests</a:t>
            </a:r>
            <a:endParaRPr lang="en-US" sz="1200" dirty="0"/>
          </a:p>
          <a:p>
            <a:pPr marL="342900" indent="-342900">
              <a:spcAft>
                <a:spcPts val="500"/>
              </a:spcAft>
              <a:buSzPct val="100000"/>
              <a:buChar char="▸"/>
            </a:pPr>
            <a:r>
              <a:rPr lang="en-US" sz="1200" dirty="0">
                <a:solidFill>
                  <a:srgbClr val="F1F5FB"/>
                </a:solidFill>
                <a:latin typeface="Calibri" pitchFamily="34" charset="0"/>
                <a:ea typeface="Calibri" pitchFamily="34" charset="-122"/>
                <a:cs typeface="Calibri" pitchFamily="34" charset="-120"/>
              </a:rPr>
              <a:t>Model-drift and alert-volume monitoring with monthly threshold review</a:t>
            </a:r>
            <a:endParaRPr lang="en-US" sz="1200" dirty="0"/>
          </a:p>
          <a:p>
            <a:pPr marL="342900" indent="-342900">
              <a:spcAft>
                <a:spcPts val="500"/>
              </a:spcAft>
              <a:buSzPct val="100000"/>
              <a:buChar char="▸"/>
            </a:pPr>
            <a:r>
              <a:rPr lang="en-US" sz="1200" dirty="0">
                <a:solidFill>
                  <a:srgbClr val="F1F5FB"/>
                </a:solidFill>
                <a:latin typeface="Calibri" pitchFamily="34" charset="0"/>
                <a:ea typeface="Calibri" pitchFamily="34" charset="-122"/>
                <a:cs typeface="Calibri" pitchFamily="34" charset="-120"/>
              </a:rPr>
              <a:t>Privacy governance: data minimisation, retention limits, access reviews</a:t>
            </a:r>
            <a:endParaRPr lang="en-US" sz="1200" dirty="0"/>
          </a:p>
          <a:p>
            <a:pPr marL="342900" indent="-342900">
              <a:spcAft>
                <a:spcPts val="500"/>
              </a:spcAft>
              <a:buSzPct val="100000"/>
              <a:buChar char="▸"/>
            </a:pPr>
            <a:r>
              <a:rPr lang="en-US" sz="1200" dirty="0">
                <a:solidFill>
                  <a:srgbClr val="F1F5FB"/>
                </a:solidFill>
                <a:latin typeface="Calibri" pitchFamily="34" charset="0"/>
                <a:ea typeface="Calibri" pitchFamily="34" charset="-122"/>
                <a:cs typeface="Calibri" pitchFamily="34" charset="-120"/>
              </a:rPr>
              <a:t>Fairness review on real data across regions, account types and agent tiers</a:t>
            </a:r>
            <a:endParaRPr lang="en-US" sz="1200" dirty="0"/>
          </a:p>
          <a:p>
            <a:pPr marL="342900" indent="-342900">
              <a:spcAft>
                <a:spcPts val="500"/>
              </a:spcAft>
              <a:buSzPct val="100000"/>
              <a:buChar char="▸"/>
            </a:pPr>
            <a:r>
              <a:rPr lang="en-US" sz="1200" dirty="0">
                <a:solidFill>
                  <a:srgbClr val="F1F5FB"/>
                </a:solidFill>
                <a:latin typeface="Calibri" pitchFamily="34" charset="0"/>
                <a:ea typeface="Calibri" pitchFamily="34" charset="-122"/>
                <a:cs typeface="Calibri" pitchFamily="34" charset="-120"/>
              </a:rPr>
              <a:t>Cross-provider analytics without sharing raw PII (federated learning or secure aggregation)</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3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anim calcmode="lin" valueType="num">
                                      <p:cBhvr additive="base">
                                        <p:cTn id="8" dur="400" fill="hold"/>
                                        <p:tgtEl>
                                          <p:spTgt spid="7"/>
                                        </p:tgtEl>
                                        <p:attrNameLst>
                                          <p:attrName>ppt_x</p:attrName>
                                        </p:attrNameLst>
                                      </p:cBhvr>
                                      <p:tavLst>
                                        <p:tav tm="0">
                                          <p:val>
                                            <p:strVal val="#ppt_x"/>
                                          </p:val>
                                        </p:tav>
                                        <p:tav tm="100000">
                                          <p:val>
                                            <p:strVal val="#ppt_x"/>
                                          </p:val>
                                        </p:tav>
                                      </p:tavLst>
                                    </p:anim>
                                    <p:anim calcmode="lin" valueType="num">
                                      <p:cBhvr additive="base">
                                        <p:cTn id="9" dur="4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3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00"/>
                                        <p:tgtEl>
                                          <p:spTgt spid="8"/>
                                        </p:tgtEl>
                                      </p:cBhvr>
                                    </p:animEffect>
                                    <p:anim calcmode="lin" valueType="num">
                                      <p:cBhvr additive="base">
                                        <p:cTn id="13" dur="400" fill="hold"/>
                                        <p:tgtEl>
                                          <p:spTgt spid="8"/>
                                        </p:tgtEl>
                                        <p:attrNameLst>
                                          <p:attrName>ppt_x</p:attrName>
                                        </p:attrNameLst>
                                      </p:cBhvr>
                                      <p:tavLst>
                                        <p:tav tm="0">
                                          <p:val>
                                            <p:strVal val="#ppt_x"/>
                                          </p:val>
                                        </p:tav>
                                        <p:tav tm="100000">
                                          <p:val>
                                            <p:strVal val="#ppt_x"/>
                                          </p:val>
                                        </p:tav>
                                      </p:tavLst>
                                    </p:anim>
                                    <p:anim calcmode="lin" valueType="num">
                                      <p:cBhvr additive="base">
                                        <p:cTn id="14" dur="4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46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anim calcmode="lin" valueType="num">
                                      <p:cBhvr additive="base">
                                        <p:cTn id="18" dur="400" fill="hold"/>
                                        <p:tgtEl>
                                          <p:spTgt spid="9"/>
                                        </p:tgtEl>
                                        <p:attrNameLst>
                                          <p:attrName>ppt_x</p:attrName>
                                        </p:attrNameLst>
                                      </p:cBhvr>
                                      <p:tavLst>
                                        <p:tav tm="0">
                                          <p:val>
                                            <p:strVal val="#ppt_x"/>
                                          </p:val>
                                        </p:tav>
                                        <p:tav tm="100000">
                                          <p:val>
                                            <p:strVal val="#ppt_x"/>
                                          </p:val>
                                        </p:tav>
                                      </p:tavLst>
                                    </p:anim>
                                    <p:anim calcmode="lin" valueType="num">
                                      <p:cBhvr additive="base">
                                        <p:cTn id="19" dur="4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46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anim calcmode="lin" valueType="num">
                                      <p:cBhvr additive="base">
                                        <p:cTn id="23" dur="400" fill="hold"/>
                                        <p:tgtEl>
                                          <p:spTgt spid="10"/>
                                        </p:tgtEl>
                                        <p:attrNameLst>
                                          <p:attrName>ppt_x</p:attrName>
                                        </p:attrNameLst>
                                      </p:cBhvr>
                                      <p:tavLst>
                                        <p:tav tm="0">
                                          <p:val>
                                            <p:strVal val="#ppt_x"/>
                                          </p:val>
                                        </p:tav>
                                        <p:tav tm="100000">
                                          <p:val>
                                            <p:strVal val="#ppt_x"/>
                                          </p:val>
                                        </p:tav>
                                      </p:tavLst>
                                    </p:anim>
                                    <p:anim calcmode="lin" valueType="num">
                                      <p:cBhvr additive="base">
                                        <p:cTn id="24" dur="4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62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anim calcmode="lin" valueType="num">
                                      <p:cBhvr additive="base">
                                        <p:cTn id="28" dur="400" fill="hold"/>
                                        <p:tgtEl>
                                          <p:spTgt spid="11"/>
                                        </p:tgtEl>
                                        <p:attrNameLst>
                                          <p:attrName>ppt_x</p:attrName>
                                        </p:attrNameLst>
                                      </p:cBhvr>
                                      <p:tavLst>
                                        <p:tav tm="0">
                                          <p:val>
                                            <p:strVal val="#ppt_x"/>
                                          </p:val>
                                        </p:tav>
                                        <p:tav tm="100000">
                                          <p:val>
                                            <p:strVal val="#ppt_x"/>
                                          </p:val>
                                        </p:tav>
                                      </p:tavLst>
                                    </p:anim>
                                    <p:anim calcmode="lin" valueType="num">
                                      <p:cBhvr additive="base">
                                        <p:cTn id="29" dur="4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62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anim calcmode="lin" valueType="num">
                                      <p:cBhvr additive="base">
                                        <p:cTn id="33" dur="400" fill="hold"/>
                                        <p:tgtEl>
                                          <p:spTgt spid="12"/>
                                        </p:tgtEl>
                                        <p:attrNameLst>
                                          <p:attrName>ppt_x</p:attrName>
                                        </p:attrNameLst>
                                      </p:cBhvr>
                                      <p:tavLst>
                                        <p:tav tm="0">
                                          <p:val>
                                            <p:strVal val="#ppt_x"/>
                                          </p:val>
                                        </p:tav>
                                        <p:tav tm="100000">
                                          <p:val>
                                            <p:strVal val="#ppt_x"/>
                                          </p:val>
                                        </p:tav>
                                      </p:tavLst>
                                    </p:anim>
                                    <p:anim calcmode="lin" valueType="num">
                                      <p:cBhvr additive="base">
                                        <p:cTn id="34" dur="400" fill="hold"/>
                                        <p:tgtEl>
                                          <p:spTgt spid="1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78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00"/>
                                        <p:tgtEl>
                                          <p:spTgt spid="13"/>
                                        </p:tgtEl>
                                      </p:cBhvr>
                                    </p:animEffect>
                                    <p:anim calcmode="lin" valueType="num">
                                      <p:cBhvr additive="base">
                                        <p:cTn id="38" dur="400" fill="hold"/>
                                        <p:tgtEl>
                                          <p:spTgt spid="13"/>
                                        </p:tgtEl>
                                        <p:attrNameLst>
                                          <p:attrName>ppt_x</p:attrName>
                                        </p:attrNameLst>
                                      </p:cBhvr>
                                      <p:tavLst>
                                        <p:tav tm="0">
                                          <p:val>
                                            <p:strVal val="#ppt_x"/>
                                          </p:val>
                                        </p:tav>
                                        <p:tav tm="100000">
                                          <p:val>
                                            <p:strVal val="#ppt_x"/>
                                          </p:val>
                                        </p:tav>
                                      </p:tavLst>
                                    </p:anim>
                                    <p:anim calcmode="lin" valueType="num">
                                      <p:cBhvr additive="base">
                                        <p:cTn id="39" dur="400" fill="hold"/>
                                        <p:tgtEl>
                                          <p:spTgt spid="13"/>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78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anim calcmode="lin" valueType="num">
                                      <p:cBhvr additive="base">
                                        <p:cTn id="43" dur="400" fill="hold"/>
                                        <p:tgtEl>
                                          <p:spTgt spid="14"/>
                                        </p:tgtEl>
                                        <p:attrNameLst>
                                          <p:attrName>ppt_x</p:attrName>
                                        </p:attrNameLst>
                                      </p:cBhvr>
                                      <p:tavLst>
                                        <p:tav tm="0">
                                          <p:val>
                                            <p:strVal val="#ppt_x"/>
                                          </p:val>
                                        </p:tav>
                                        <p:tav tm="100000">
                                          <p:val>
                                            <p:strVal val="#ppt_x"/>
                                          </p:val>
                                        </p:tav>
                                      </p:tavLst>
                                    </p:anim>
                                    <p:anim calcmode="lin" valueType="num">
                                      <p:cBhvr additive="base">
                                        <p:cTn id="44" dur="400" fill="hold"/>
                                        <p:tgtEl>
                                          <p:spTgt spid="14"/>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94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400"/>
                                        <p:tgtEl>
                                          <p:spTgt spid="15"/>
                                        </p:tgtEl>
                                      </p:cBhvr>
                                    </p:animEffect>
                                    <p:anim calcmode="lin" valueType="num">
                                      <p:cBhvr additive="base">
                                        <p:cTn id="48" dur="400" fill="hold"/>
                                        <p:tgtEl>
                                          <p:spTgt spid="15"/>
                                        </p:tgtEl>
                                        <p:attrNameLst>
                                          <p:attrName>ppt_x</p:attrName>
                                        </p:attrNameLst>
                                      </p:cBhvr>
                                      <p:tavLst>
                                        <p:tav tm="0">
                                          <p:val>
                                            <p:strVal val="#ppt_x"/>
                                          </p:val>
                                        </p:tav>
                                        <p:tav tm="100000">
                                          <p:val>
                                            <p:strVal val="#ppt_x"/>
                                          </p:val>
                                        </p:tav>
                                      </p:tavLst>
                                    </p:anim>
                                    <p:anim calcmode="lin" valueType="num">
                                      <p:cBhvr additive="base">
                                        <p:cTn id="49" dur="400" fill="hold"/>
                                        <p:tgtEl>
                                          <p:spTgt spid="15"/>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94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400"/>
                                        <p:tgtEl>
                                          <p:spTgt spid="16"/>
                                        </p:tgtEl>
                                      </p:cBhvr>
                                    </p:animEffect>
                                    <p:anim calcmode="lin" valueType="num">
                                      <p:cBhvr additive="base">
                                        <p:cTn id="53" dur="400" fill="hold"/>
                                        <p:tgtEl>
                                          <p:spTgt spid="16"/>
                                        </p:tgtEl>
                                        <p:attrNameLst>
                                          <p:attrName>ppt_x</p:attrName>
                                        </p:attrNameLst>
                                      </p:cBhvr>
                                      <p:tavLst>
                                        <p:tav tm="0">
                                          <p:val>
                                            <p:strVal val="#ppt_x"/>
                                          </p:val>
                                        </p:tav>
                                        <p:tav tm="100000">
                                          <p:val>
                                            <p:strVal val="#ppt_x"/>
                                          </p:val>
                                        </p:tav>
                                      </p:tavLst>
                                    </p:anim>
                                    <p:anim calcmode="lin" valueType="num">
                                      <p:cBhvr additive="base">
                                        <p:cTn id="54" dur="400" fill="hold"/>
                                        <p:tgtEl>
                                          <p:spTgt spid="16"/>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10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400"/>
                                        <p:tgtEl>
                                          <p:spTgt spid="17"/>
                                        </p:tgtEl>
                                      </p:cBhvr>
                                    </p:animEffect>
                                    <p:anim calcmode="lin" valueType="num">
                                      <p:cBhvr additive="base">
                                        <p:cTn id="58" dur="400" fill="hold"/>
                                        <p:tgtEl>
                                          <p:spTgt spid="17"/>
                                        </p:tgtEl>
                                        <p:attrNameLst>
                                          <p:attrName>ppt_x</p:attrName>
                                        </p:attrNameLst>
                                      </p:cBhvr>
                                      <p:tavLst>
                                        <p:tav tm="0">
                                          <p:val>
                                            <p:strVal val="#ppt_x"/>
                                          </p:val>
                                        </p:tav>
                                        <p:tav tm="100000">
                                          <p:val>
                                            <p:strVal val="#ppt_x"/>
                                          </p:val>
                                        </p:tav>
                                      </p:tavLst>
                                    </p:anim>
                                    <p:anim calcmode="lin" valueType="num">
                                      <p:cBhvr additive="base">
                                        <p:cTn id="59" dur="400" fill="hold"/>
                                        <p:tgtEl>
                                          <p:spTgt spid="17"/>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10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400"/>
                                        <p:tgtEl>
                                          <p:spTgt spid="18"/>
                                        </p:tgtEl>
                                      </p:cBhvr>
                                    </p:animEffect>
                                    <p:anim calcmode="lin" valueType="num">
                                      <p:cBhvr additive="base">
                                        <p:cTn id="63" dur="400" fill="hold"/>
                                        <p:tgtEl>
                                          <p:spTgt spid="18"/>
                                        </p:tgtEl>
                                        <p:attrNameLst>
                                          <p:attrName>ppt_x</p:attrName>
                                        </p:attrNameLst>
                                      </p:cBhvr>
                                      <p:tavLst>
                                        <p:tav tm="0">
                                          <p:val>
                                            <p:strVal val="#ppt_x"/>
                                          </p:val>
                                        </p:tav>
                                        <p:tav tm="100000">
                                          <p:val>
                                            <p:strVal val="#ppt_x"/>
                                          </p:val>
                                        </p:tav>
                                      </p:tavLst>
                                    </p:anim>
                                    <p:anim calcmode="lin" valueType="num">
                                      <p:cBhvr additive="base">
                                        <p:cTn id="64" dur="400" fill="hold"/>
                                        <p:tgtEl>
                                          <p:spTgt spid="18"/>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26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400"/>
                                        <p:tgtEl>
                                          <p:spTgt spid="19"/>
                                        </p:tgtEl>
                                      </p:cBhvr>
                                    </p:animEffect>
                                    <p:anim calcmode="lin" valueType="num">
                                      <p:cBhvr additive="base">
                                        <p:cTn id="68" dur="400" fill="hold"/>
                                        <p:tgtEl>
                                          <p:spTgt spid="19"/>
                                        </p:tgtEl>
                                        <p:attrNameLst>
                                          <p:attrName>ppt_x</p:attrName>
                                        </p:attrNameLst>
                                      </p:cBhvr>
                                      <p:tavLst>
                                        <p:tav tm="0">
                                          <p:val>
                                            <p:strVal val="#ppt_x"/>
                                          </p:val>
                                        </p:tav>
                                        <p:tav tm="100000">
                                          <p:val>
                                            <p:strVal val="#ppt_x"/>
                                          </p:val>
                                        </p:tav>
                                      </p:tavLst>
                                    </p:anim>
                                    <p:anim calcmode="lin" valueType="num">
                                      <p:cBhvr additive="base">
                                        <p:cTn id="69" dur="400" fill="hold"/>
                                        <p:tgtEl>
                                          <p:spTgt spid="19"/>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126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400"/>
                                        <p:tgtEl>
                                          <p:spTgt spid="20"/>
                                        </p:tgtEl>
                                      </p:cBhvr>
                                    </p:animEffect>
                                    <p:anim calcmode="lin" valueType="num">
                                      <p:cBhvr additive="base">
                                        <p:cTn id="73" dur="400" fill="hold"/>
                                        <p:tgtEl>
                                          <p:spTgt spid="20"/>
                                        </p:tgtEl>
                                        <p:attrNameLst>
                                          <p:attrName>ppt_x</p:attrName>
                                        </p:attrNameLst>
                                      </p:cBhvr>
                                      <p:tavLst>
                                        <p:tav tm="0">
                                          <p:val>
                                            <p:strVal val="#ppt_x"/>
                                          </p:val>
                                        </p:tav>
                                        <p:tav tm="100000">
                                          <p:val>
                                            <p:strVal val="#ppt_x"/>
                                          </p:val>
                                        </p:tav>
                                      </p:tavLst>
                                    </p:anim>
                                    <p:anim calcmode="lin" valueType="num">
                                      <p:cBhvr additive="base">
                                        <p:cTn id="74" dur="400" fill="hold"/>
                                        <p:tgtEl>
                                          <p:spTgt spid="20"/>
                                        </p:tgtEl>
                                        <p:attrNameLst>
                                          <p:attrName>ppt_y</p:attrName>
                                        </p:attrNameLst>
                                      </p:cBhvr>
                                      <p:tavLst>
                                        <p:tav tm="0">
                                          <p:val>
                                            <p:strVal val="#ppt_y+.1"/>
                                          </p:val>
                                        </p:tav>
                                        <p:tav tm="100000">
                                          <p:val>
                                            <p:strVal val="#ppt_y"/>
                                          </p:val>
                                        </p:tav>
                                      </p:tavLst>
                                    </p:anim>
                                  </p:childTnLst>
                                </p:cTn>
                              </p:par>
                              <p:par>
                                <p:cTn id="75" presetID="10" presetClass="entr" presetSubtype="0" fill="hold" nodeType="withEffect">
                                  <p:stCondLst>
                                    <p:cond delay="150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400"/>
                                        <p:tgtEl>
                                          <p:spTgt spid="21"/>
                                        </p:tgtEl>
                                      </p:cBhvr>
                                    </p:animEffect>
                                  </p:childTnLst>
                                </p:cTn>
                              </p:par>
                              <p:par>
                                <p:cTn id="78" presetID="10" presetClass="entr" presetSubtype="0" fill="hold" nodeType="withEffect">
                                  <p:stCondLst>
                                    <p:cond delay="150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400"/>
                                        <p:tgtEl>
                                          <p:spTgt spid="22"/>
                                        </p:tgtEl>
                                      </p:cBhvr>
                                    </p:animEffect>
                                  </p:childTnLst>
                                </p:cTn>
                              </p:par>
                              <p:par>
                                <p:cTn id="81" presetID="10" presetClass="entr" presetSubtype="0" fill="hold" nodeType="withEffect">
                                  <p:stCondLst>
                                    <p:cond delay="170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18  ·  BUSINESS IMPACT</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What it saves an AML team, and how a pilot proves it</a:t>
            </a:r>
            <a:endParaRPr lang="en-US" sz="3400" dirty="0"/>
          </a:p>
        </p:txBody>
      </p:sp>
      <p:sp>
        <p:nvSpPr>
          <p:cNvPr id="5" name="im0__1"/>
          <p:cNvSpPr/>
          <p:nvPr/>
        </p:nvSpPr>
        <p:spPr>
          <a:xfrm>
            <a:off x="548640" y="1627632"/>
            <a:ext cx="2606040" cy="1691640"/>
          </a:xfrm>
          <a:prstGeom prst="roundRect">
            <a:avLst>
              <a:gd name="adj" fmla="val 6486"/>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6" name="im0__2"/>
          <p:cNvSpPr txBox="1"/>
          <p:nvPr/>
        </p:nvSpPr>
        <p:spPr>
          <a:xfrm>
            <a:off x="749808" y="1700784"/>
            <a:ext cx="2286000" cy="594360"/>
          </a:xfrm>
          <a:prstGeom prst="rect">
            <a:avLst/>
          </a:prstGeom>
          <a:noFill/>
          <a:ln/>
        </p:spPr>
        <p:txBody>
          <a:bodyPr wrap="square" lIns="0" tIns="0" rIns="0" bIns="0" rtlCol="0" anchor="ctr"/>
          <a:lstStyle/>
          <a:p>
            <a:pPr indent="0" marL="0">
              <a:buNone/>
            </a:pPr>
            <a:r>
              <a:rPr lang="en-US" sz="3000" b="1" dirty="0">
                <a:solidFill>
                  <a:srgbClr val="34D399"/>
                </a:solidFill>
                <a:latin typeface="Arial" pitchFamily="34" charset="0"/>
                <a:ea typeface="Arial" pitchFamily="34" charset="-122"/>
                <a:cs typeface="Arial" pitchFamily="34" charset="-120"/>
              </a:rPr>
              <a:t>73.6%</a:t>
            </a:r>
            <a:endParaRPr lang="en-US" sz="3000" dirty="0"/>
          </a:p>
        </p:txBody>
      </p:sp>
      <p:sp>
        <p:nvSpPr>
          <p:cNvPr id="7" name="im0__3"/>
          <p:cNvSpPr txBox="1"/>
          <p:nvPr/>
        </p:nvSpPr>
        <p:spPr>
          <a:xfrm>
            <a:off x="749808" y="2286000"/>
            <a:ext cx="2286000" cy="347472"/>
          </a:xfrm>
          <a:prstGeom prst="rect">
            <a:avLst/>
          </a:prstGeom>
          <a:noFill/>
          <a:ln/>
        </p:spPr>
        <p:txBody>
          <a:bodyPr wrap="square" lIns="0" tIns="0" rIns="0" bIns="0" rtlCol="0" anchor="ctr"/>
          <a:lstStyle/>
          <a:p>
            <a:pPr indent="0" marL="0">
              <a:buNone/>
            </a:pPr>
            <a:r>
              <a:rPr lang="en-US" sz="1300" b="1" dirty="0">
                <a:solidFill>
                  <a:srgbClr val="F1F5FB"/>
                </a:solidFill>
                <a:latin typeface="Arial" pitchFamily="34" charset="0"/>
                <a:ea typeface="Arial" pitchFamily="34" charset="-122"/>
                <a:cs typeface="Arial" pitchFamily="34" charset="-120"/>
              </a:rPr>
              <a:t>fewer alerts at equal recall</a:t>
            </a:r>
            <a:endParaRPr lang="en-US" sz="1300" dirty="0"/>
          </a:p>
        </p:txBody>
      </p:sp>
      <p:sp>
        <p:nvSpPr>
          <p:cNvPr id="8" name="im0__4"/>
          <p:cNvSpPr txBox="1"/>
          <p:nvPr/>
        </p:nvSpPr>
        <p:spPr>
          <a:xfrm>
            <a:off x="749808" y="2633472"/>
            <a:ext cx="2286000" cy="640080"/>
          </a:xfrm>
          <a:prstGeom prst="rect">
            <a:avLst/>
          </a:prstGeom>
          <a:noFill/>
          <a:ln/>
        </p:spPr>
        <p:txBody>
          <a:bodyPr wrap="square" lIns="0" tIns="0" rIns="0" bIns="0" rtlCol="0" anchor="t"/>
          <a:lstStyle/>
          <a:p>
            <a:pPr indent="0" marL="0">
              <a:buNone/>
            </a:pPr>
            <a:r>
              <a:rPr lang="en-US" sz="1100" dirty="0">
                <a:solidFill>
                  <a:srgbClr val="9AABC4"/>
                </a:solidFill>
                <a:latin typeface="Calibri" pitchFamily="34" charset="0"/>
                <a:ea typeface="Calibri" pitchFamily="34" charset="-122"/>
                <a:cs typeface="Calibri" pitchFamily="34" charset="-120"/>
              </a:rPr>
              <a:t>324 alerts instead of 1,228 to find the same 324 accounts</a:t>
            </a:r>
            <a:endParaRPr lang="en-US" sz="1100" dirty="0"/>
          </a:p>
        </p:txBody>
      </p:sp>
      <p:sp>
        <p:nvSpPr>
          <p:cNvPr id="9" name="im1__1"/>
          <p:cNvSpPr/>
          <p:nvPr/>
        </p:nvSpPr>
        <p:spPr>
          <a:xfrm>
            <a:off x="3376879" y="1627632"/>
            <a:ext cx="2606040" cy="1691640"/>
          </a:xfrm>
          <a:prstGeom prst="roundRect">
            <a:avLst>
              <a:gd name="adj" fmla="val 6486"/>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0" name="im1__2"/>
          <p:cNvSpPr txBox="1"/>
          <p:nvPr/>
        </p:nvSpPr>
        <p:spPr>
          <a:xfrm>
            <a:off x="3578047" y="1700784"/>
            <a:ext cx="2286000" cy="594360"/>
          </a:xfrm>
          <a:prstGeom prst="rect">
            <a:avLst/>
          </a:prstGeom>
          <a:noFill/>
          <a:ln/>
        </p:spPr>
        <p:txBody>
          <a:bodyPr wrap="square" lIns="0" tIns="0" rIns="0" bIns="0" rtlCol="0" anchor="ctr"/>
          <a:lstStyle/>
          <a:p>
            <a:pPr indent="0" marL="0">
              <a:buNone/>
            </a:pPr>
            <a:r>
              <a:rPr lang="en-US" sz="3000" b="1" dirty="0">
                <a:solidFill>
                  <a:srgbClr val="34D399"/>
                </a:solidFill>
                <a:latin typeface="Arial" pitchFamily="34" charset="0"/>
                <a:ea typeface="Arial" pitchFamily="34" charset="-122"/>
                <a:cs typeface="Arial" pitchFamily="34" charset="-120"/>
              </a:rPr>
              <a:t>904 → 46</a:t>
            </a:r>
            <a:endParaRPr lang="en-US" sz="3000" dirty="0"/>
          </a:p>
        </p:txBody>
      </p:sp>
      <p:sp>
        <p:nvSpPr>
          <p:cNvPr id="11" name="im1__3"/>
          <p:cNvSpPr txBox="1"/>
          <p:nvPr/>
        </p:nvSpPr>
        <p:spPr>
          <a:xfrm>
            <a:off x="3578047" y="2286000"/>
            <a:ext cx="2286000" cy="347472"/>
          </a:xfrm>
          <a:prstGeom prst="rect">
            <a:avLst/>
          </a:prstGeom>
          <a:noFill/>
          <a:ln/>
        </p:spPr>
        <p:txBody>
          <a:bodyPr wrap="square" lIns="0" tIns="0" rIns="0" bIns="0" rtlCol="0" anchor="ctr"/>
          <a:lstStyle/>
          <a:p>
            <a:pPr indent="0" marL="0">
              <a:buNone/>
            </a:pPr>
            <a:r>
              <a:rPr lang="en-US" sz="1300" b="1" dirty="0">
                <a:solidFill>
                  <a:srgbClr val="F1F5FB"/>
                </a:solidFill>
                <a:latin typeface="Arial" pitchFamily="34" charset="0"/>
                <a:ea typeface="Arial" pitchFamily="34" charset="-122"/>
                <a:cs typeface="Arial" pitchFamily="34" charset="-120"/>
              </a:rPr>
              <a:t>false alarms</a:t>
            </a:r>
            <a:endParaRPr lang="en-US" sz="1300" dirty="0"/>
          </a:p>
        </p:txBody>
      </p:sp>
      <p:sp>
        <p:nvSpPr>
          <p:cNvPr id="12" name="im1__4"/>
          <p:cNvSpPr txBox="1"/>
          <p:nvPr/>
        </p:nvSpPr>
        <p:spPr>
          <a:xfrm>
            <a:off x="3578047" y="2633472"/>
            <a:ext cx="2286000" cy="640080"/>
          </a:xfrm>
          <a:prstGeom prst="rect">
            <a:avLst/>
          </a:prstGeom>
          <a:noFill/>
          <a:ln/>
        </p:spPr>
        <p:txBody>
          <a:bodyPr wrap="square" lIns="0" tIns="0" rIns="0" bIns="0" rtlCol="0" anchor="t"/>
          <a:lstStyle/>
          <a:p>
            <a:pPr indent="0" marL="0">
              <a:buNone/>
            </a:pPr>
            <a:r>
              <a:rPr lang="en-US" sz="1100" dirty="0">
                <a:solidFill>
                  <a:srgbClr val="9AABC4"/>
                </a:solidFill>
                <a:latin typeface="Calibri" pitchFamily="34" charset="0"/>
                <a:ea typeface="Calibri" pitchFamily="34" charset="-122"/>
                <a:cs typeface="Calibri" pitchFamily="34" charset="-120"/>
              </a:rPr>
              <a:t>on 39,490 held-out accounts</a:t>
            </a:r>
            <a:endParaRPr lang="en-US" sz="1100" dirty="0"/>
          </a:p>
        </p:txBody>
      </p:sp>
      <p:sp>
        <p:nvSpPr>
          <p:cNvPr id="13" name="im2__1"/>
          <p:cNvSpPr/>
          <p:nvPr/>
        </p:nvSpPr>
        <p:spPr>
          <a:xfrm>
            <a:off x="6205118" y="1627632"/>
            <a:ext cx="2606040" cy="1691640"/>
          </a:xfrm>
          <a:prstGeom prst="roundRect">
            <a:avLst>
              <a:gd name="adj" fmla="val 6486"/>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4" name="im2__2"/>
          <p:cNvSpPr txBox="1"/>
          <p:nvPr/>
        </p:nvSpPr>
        <p:spPr>
          <a:xfrm>
            <a:off x="6406286" y="1700784"/>
            <a:ext cx="2286000" cy="594360"/>
          </a:xfrm>
          <a:prstGeom prst="rect">
            <a:avLst/>
          </a:prstGeom>
          <a:noFill/>
          <a:ln/>
        </p:spPr>
        <p:txBody>
          <a:bodyPr wrap="square" lIns="0" tIns="0" rIns="0" bIns="0" rtlCol="0" anchor="ctr"/>
          <a:lstStyle/>
          <a:p>
            <a:pPr indent="0" marL="0">
              <a:buNone/>
            </a:pPr>
            <a:r>
              <a:rPr lang="en-US" sz="3000" b="1" dirty="0">
                <a:solidFill>
                  <a:srgbClr val="34D399"/>
                </a:solidFill>
                <a:latin typeface="Arial" pitchFamily="34" charset="0"/>
                <a:ea typeface="Arial" pitchFamily="34" charset="-122"/>
                <a:cs typeface="Arial" pitchFamily="34" charset="-120"/>
              </a:rPr>
              <a:t>32% → 84%</a:t>
            </a:r>
            <a:endParaRPr lang="en-US" sz="3000" dirty="0"/>
          </a:p>
        </p:txBody>
      </p:sp>
      <p:sp>
        <p:nvSpPr>
          <p:cNvPr id="15" name="im2__3"/>
          <p:cNvSpPr txBox="1"/>
          <p:nvPr/>
        </p:nvSpPr>
        <p:spPr>
          <a:xfrm>
            <a:off x="6406286" y="2286000"/>
            <a:ext cx="2286000" cy="347472"/>
          </a:xfrm>
          <a:prstGeom prst="rect">
            <a:avLst/>
          </a:prstGeom>
          <a:noFill/>
          <a:ln/>
        </p:spPr>
        <p:txBody>
          <a:bodyPr wrap="square" lIns="0" tIns="0" rIns="0" bIns="0" rtlCol="0" anchor="ctr"/>
          <a:lstStyle/>
          <a:p>
            <a:pPr indent="0" marL="0">
              <a:buNone/>
            </a:pPr>
            <a:r>
              <a:rPr lang="en-US" sz="1300" b="1" dirty="0">
                <a:solidFill>
                  <a:srgbClr val="F1F5FB"/>
                </a:solidFill>
                <a:latin typeface="Arial" pitchFamily="34" charset="0"/>
                <a:ea typeface="Arial" pitchFamily="34" charset="-122"/>
                <a:cs typeface="Arial" pitchFamily="34" charset="-120"/>
              </a:rPr>
              <a:t>suspicious accounts caught</a:t>
            </a:r>
            <a:endParaRPr lang="en-US" sz="1300" dirty="0"/>
          </a:p>
        </p:txBody>
      </p:sp>
      <p:sp>
        <p:nvSpPr>
          <p:cNvPr id="16" name="im2__4"/>
          <p:cNvSpPr txBox="1"/>
          <p:nvPr/>
        </p:nvSpPr>
        <p:spPr>
          <a:xfrm>
            <a:off x="6406286" y="2633472"/>
            <a:ext cx="2286000" cy="640080"/>
          </a:xfrm>
          <a:prstGeom prst="rect">
            <a:avLst/>
          </a:prstGeom>
          <a:noFill/>
          <a:ln/>
        </p:spPr>
        <p:txBody>
          <a:bodyPr wrap="square" lIns="0" tIns="0" rIns="0" bIns="0" rtlCol="0" anchor="t"/>
          <a:lstStyle/>
          <a:p>
            <a:pPr indent="0" marL="0">
              <a:buNone/>
            </a:pPr>
            <a:r>
              <a:rPr lang="en-US" sz="1100" dirty="0">
                <a:solidFill>
                  <a:srgbClr val="9AABC4"/>
                </a:solidFill>
                <a:latin typeface="Calibri" pitchFamily="34" charset="0"/>
                <a:ea typeface="Calibri" pitchFamily="34" charset="-122"/>
                <a:cs typeface="Calibri" pitchFamily="34" charset="-120"/>
              </a:rPr>
              <a:t>rules vs graph model, same networks</a:t>
            </a:r>
            <a:endParaRPr lang="en-US" sz="1100" dirty="0"/>
          </a:p>
        </p:txBody>
      </p:sp>
      <p:sp>
        <p:nvSpPr>
          <p:cNvPr id="17" name="im3__1"/>
          <p:cNvSpPr/>
          <p:nvPr/>
        </p:nvSpPr>
        <p:spPr>
          <a:xfrm>
            <a:off x="9033358" y="1627632"/>
            <a:ext cx="2606040" cy="1691640"/>
          </a:xfrm>
          <a:prstGeom prst="roundRect">
            <a:avLst>
              <a:gd name="adj" fmla="val 6486"/>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18" name="im3__2"/>
          <p:cNvSpPr txBox="1"/>
          <p:nvPr/>
        </p:nvSpPr>
        <p:spPr>
          <a:xfrm>
            <a:off x="9234526" y="1700784"/>
            <a:ext cx="2286000" cy="594360"/>
          </a:xfrm>
          <a:prstGeom prst="rect">
            <a:avLst/>
          </a:prstGeom>
          <a:noFill/>
          <a:ln/>
        </p:spPr>
        <p:txBody>
          <a:bodyPr wrap="square" lIns="0" tIns="0" rIns="0" bIns="0" rtlCol="0" anchor="ctr"/>
          <a:lstStyle/>
          <a:p>
            <a:pPr indent="0" marL="0">
              <a:buNone/>
            </a:pPr>
            <a:r>
              <a:rPr lang="en-US" sz="3000" b="1" dirty="0">
                <a:solidFill>
                  <a:srgbClr val="34D399"/>
                </a:solidFill>
                <a:latin typeface="Arial" pitchFamily="34" charset="0"/>
                <a:ea typeface="Arial" pitchFamily="34" charset="-122"/>
                <a:cs typeface="Arial" pitchFamily="34" charset="-120"/>
              </a:rPr>
              <a:t>76 → 21 min</a:t>
            </a:r>
            <a:endParaRPr lang="en-US" sz="3000" dirty="0"/>
          </a:p>
        </p:txBody>
      </p:sp>
      <p:sp>
        <p:nvSpPr>
          <p:cNvPr id="19" name="im3__3"/>
          <p:cNvSpPr txBox="1"/>
          <p:nvPr/>
        </p:nvSpPr>
        <p:spPr>
          <a:xfrm>
            <a:off x="9234526" y="2286000"/>
            <a:ext cx="2286000" cy="347472"/>
          </a:xfrm>
          <a:prstGeom prst="rect">
            <a:avLst/>
          </a:prstGeom>
          <a:noFill/>
          <a:ln/>
        </p:spPr>
        <p:txBody>
          <a:bodyPr wrap="square" lIns="0" tIns="0" rIns="0" bIns="0" rtlCol="0" anchor="ctr"/>
          <a:lstStyle/>
          <a:p>
            <a:pPr indent="0" marL="0">
              <a:buNone/>
            </a:pPr>
            <a:r>
              <a:rPr lang="en-US" sz="1300" b="1" dirty="0">
                <a:solidFill>
                  <a:srgbClr val="F1F5FB"/>
                </a:solidFill>
                <a:latin typeface="Arial" pitchFamily="34" charset="0"/>
                <a:ea typeface="Arial" pitchFamily="34" charset="-122"/>
                <a:cs typeface="Arial" pitchFamily="34" charset="-120"/>
              </a:rPr>
              <a:t>analyst time per true case</a:t>
            </a:r>
            <a:endParaRPr lang="en-US" sz="1300" dirty="0"/>
          </a:p>
        </p:txBody>
      </p:sp>
      <p:sp>
        <p:nvSpPr>
          <p:cNvPr id="20" name="im3__4"/>
          <p:cNvSpPr txBox="1"/>
          <p:nvPr/>
        </p:nvSpPr>
        <p:spPr>
          <a:xfrm>
            <a:off x="9234526" y="2633472"/>
            <a:ext cx="2286000" cy="640080"/>
          </a:xfrm>
          <a:prstGeom prst="rect">
            <a:avLst/>
          </a:prstGeom>
          <a:noFill/>
          <a:ln/>
        </p:spPr>
        <p:txBody>
          <a:bodyPr wrap="square" lIns="0" tIns="0" rIns="0" bIns="0" rtlCol="0" anchor="t"/>
          <a:lstStyle/>
          <a:p>
            <a:pPr indent="0" marL="0">
              <a:buNone/>
            </a:pPr>
            <a:r>
              <a:rPr lang="en-US" sz="1100" dirty="0">
                <a:solidFill>
                  <a:srgbClr val="9AABC4"/>
                </a:solidFill>
                <a:latin typeface="Calibri" pitchFamily="34" charset="0"/>
                <a:ea typeface="Calibri" pitchFamily="34" charset="-122"/>
                <a:cs typeface="Calibri" pitchFamily="34" charset="-120"/>
              </a:rPr>
              <a:t>at 20 minutes per alert (assumed)</a:t>
            </a:r>
            <a:endParaRPr lang="en-US" sz="1100" dirty="0"/>
          </a:p>
        </p:txBody>
      </p:sp>
      <p:sp>
        <p:nvSpPr>
          <p:cNvPr id="21" name="roi__1"/>
          <p:cNvSpPr/>
          <p:nvPr/>
        </p:nvSpPr>
        <p:spPr>
          <a:xfrm>
            <a:off x="548640" y="3520440"/>
            <a:ext cx="5486400" cy="2468880"/>
          </a:xfrm>
          <a:prstGeom prst="roundRect">
            <a:avLst>
              <a:gd name="adj" fmla="val 4444"/>
            </a:avLst>
          </a:prstGeom>
          <a:solidFill>
            <a:srgbClr val="13203A">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2" name="roi__2"/>
          <p:cNvSpPr txBox="1"/>
          <p:nvPr/>
        </p:nvSpPr>
        <p:spPr>
          <a:xfrm>
            <a:off x="777240" y="3630168"/>
            <a:ext cx="5120640" cy="274320"/>
          </a:xfrm>
          <a:prstGeom prst="rect">
            <a:avLst/>
          </a:prstGeom>
          <a:noFill/>
          <a:ln/>
        </p:spPr>
        <p:txBody>
          <a:bodyPr wrap="square" lIns="0" tIns="0" rIns="0" bIns="0" rtlCol="0" anchor="ctr"/>
          <a:lstStyle/>
          <a:p>
            <a:pPr indent="0" marL="0">
              <a:buNone/>
            </a:pPr>
            <a:r>
              <a:rPr lang="en-US" sz="950" b="1" spc="100" kern="0" dirty="0">
                <a:solidFill>
                  <a:srgbClr val="F5A524"/>
                </a:solidFill>
                <a:latin typeface="Arial" pitchFamily="34" charset="0"/>
                <a:ea typeface="Arial" pitchFamily="34" charset="-122"/>
                <a:cs typeface="Arial" pitchFamily="34" charset="-120"/>
              </a:rPr>
              <a:t>MODELLED SAVINGS  ·  20 MIN PER ALERT, ASSUMED</a:t>
            </a:r>
            <a:endParaRPr lang="en-US" sz="950" dirty="0"/>
          </a:p>
        </p:txBody>
      </p:sp>
      <p:sp>
        <p:nvSpPr>
          <p:cNvPr id="23" name="roi__3"/>
          <p:cNvSpPr txBox="1"/>
          <p:nvPr/>
        </p:nvSpPr>
        <p:spPr>
          <a:xfrm>
            <a:off x="777240" y="3950208"/>
            <a:ext cx="5120640" cy="1965960"/>
          </a:xfrm>
          <a:prstGeom prst="rect">
            <a:avLst/>
          </a:prstGeom>
          <a:noFill/>
          <a:ln/>
        </p:spPr>
        <p:txBody>
          <a:bodyPr wrap="square" lIns="0" tIns="0" rIns="0" bIns="0" rtlCol="0" anchor="t"/>
          <a:lstStyle/>
          <a:p>
            <a:pPr indent="0" marL="0">
              <a:spcAft>
                <a:spcPts val="300"/>
              </a:spcAft>
              <a:buNone/>
            </a:pPr>
            <a:r>
              <a:rPr lang="en-US" sz="1200" dirty="0">
                <a:solidFill>
                  <a:srgbClr val="F1F5FB"/>
                </a:solidFill>
                <a:latin typeface="Calibri" pitchFamily="34" charset="0"/>
                <a:ea typeface="Calibri" pitchFamily="34" charset="-122"/>
                <a:cs typeface="Calibri" pitchFamily="34" charset="-120"/>
              </a:rPr>
              <a:t>Assumption: 20 minutes of analyst review per alert. The pilot replaces it with upay's measured time.</a:t>
            </a:r>
            <a:endParaRPr lang="en-US" sz="1200" dirty="0"/>
          </a:p>
          <a:p>
            <a:pPr indent="0" marL="0">
              <a:spcAft>
                <a:spcPts val="300"/>
              </a:spcAft>
              <a:buNone/>
            </a:pPr>
            <a:r>
              <a:rPr lang="en-US" sz="1200" dirty="0">
                <a:solidFill>
                  <a:srgbClr val="F1F5FB"/>
                </a:solidFill>
                <a:latin typeface="Calibri" pitchFamily="34" charset="0"/>
                <a:ea typeface="Calibri" pitchFamily="34" charset="-122"/>
                <a:cs typeface="Calibri" pitchFamily="34" charset="-120"/>
              </a:rPr>
              <a:t>Rules: 1,228 alerts = 409 analyst hours, finding 324 suspicious accounts.</a:t>
            </a:r>
            <a:endParaRPr lang="en-US" sz="1200" dirty="0"/>
          </a:p>
          <a:p>
            <a:pPr indent="0" marL="0">
              <a:spcAft>
                <a:spcPts val="300"/>
              </a:spcAft>
              <a:buNone/>
            </a:pPr>
            <a:r>
              <a:rPr lang="en-US" sz="1200" dirty="0">
                <a:solidFill>
                  <a:srgbClr val="F1F5FB"/>
                </a:solidFill>
                <a:latin typeface="Calibri" pitchFamily="34" charset="0"/>
                <a:ea typeface="Calibri" pitchFamily="34" charset="-122"/>
                <a:cs typeface="Calibri" pitchFamily="34" charset="-120"/>
              </a:rPr>
              <a:t>Graph model: 892 alerts = 297 analyst hours, finding 846.</a:t>
            </a:r>
            <a:endParaRPr lang="en-US" sz="1200" dirty="0"/>
          </a:p>
          <a:p>
            <a:pPr indent="0" marL="0">
              <a:spcAft>
                <a:spcPts val="300"/>
              </a:spcAft>
              <a:buNone/>
            </a:pPr>
            <a:r>
              <a:rPr lang="en-US" sz="1200" b="1" dirty="0">
                <a:solidFill>
                  <a:srgbClr val="34D399"/>
                </a:solidFill>
                <a:latin typeface="Calibri" pitchFamily="34" charset="0"/>
                <a:ea typeface="Calibri" pitchFamily="34" charset="-122"/>
                <a:cs typeface="Calibri" pitchFamily="34" charset="-120"/>
              </a:rPr>
              <a:t>Same 324 accounts with the graph model: 324 alerts, 108 hours instead of 409.</a:t>
            </a:r>
            <a:endParaRPr lang="en-US" sz="1200" dirty="0"/>
          </a:p>
          <a:p>
            <a:pPr indent="0" marL="0">
              <a:spcAft>
                <a:spcPts val="300"/>
              </a:spcAft>
              <a:buNone/>
            </a:pPr>
            <a:r>
              <a:rPr lang="en-US" sz="1200" dirty="0">
                <a:solidFill>
                  <a:srgbClr val="F1F5FB"/>
                </a:solidFill>
                <a:latin typeface="Calibri" pitchFamily="34" charset="0"/>
                <a:ea typeface="Calibri" pitchFamily="34" charset="-122"/>
                <a:cs typeface="Calibri" pitchFamily="34" charset="-120"/>
              </a:rPr>
              <a:t>Synthetic networks are ~2.5% suspicious, far above production, so real precision will be lower.</a:t>
            </a:r>
            <a:endParaRPr lang="en-US" sz="1200" dirty="0"/>
          </a:p>
        </p:txBody>
      </p:sp>
      <p:sp>
        <p:nvSpPr>
          <p:cNvPr id="24" name="pp__1"/>
          <p:cNvSpPr/>
          <p:nvPr/>
        </p:nvSpPr>
        <p:spPr>
          <a:xfrm>
            <a:off x="6263640" y="3520440"/>
            <a:ext cx="5376672" cy="2468880"/>
          </a:xfrm>
          <a:prstGeom prst="roundRect">
            <a:avLst>
              <a:gd name="adj" fmla="val 4444"/>
            </a:avLst>
          </a:prstGeom>
          <a:solidFill>
            <a:srgbClr val="A78BFA">
              <a:alpha val="10000"/>
            </a:srgbClr>
          </a:solidFill>
          <a:ln w="12700">
            <a:solidFill>
              <a:srgbClr val="A78BFA"/>
            </a:solidFill>
            <a:prstDash val="solid"/>
          </a:ln>
          <a:effectLst>
            <a:outerShdw sx="100000" sy="100000" kx="0" ky="0" algn="bl" rotWithShape="0" blurRad="101600" dist="38100" dir="5400000">
              <a:srgbClr val="000000">
                <a:alpha val="45000"/>
              </a:srgbClr>
            </a:outerShdw>
          </a:effectLst>
        </p:spPr>
      </p:sp>
      <p:sp>
        <p:nvSpPr>
          <p:cNvPr id="25" name="pp__2"/>
          <p:cNvSpPr txBox="1"/>
          <p:nvPr/>
        </p:nvSpPr>
        <p:spPr>
          <a:xfrm>
            <a:off x="6492240" y="3630168"/>
            <a:ext cx="4937760" cy="274320"/>
          </a:xfrm>
          <a:prstGeom prst="rect">
            <a:avLst/>
          </a:prstGeom>
          <a:noFill/>
          <a:ln/>
        </p:spPr>
        <p:txBody>
          <a:bodyPr wrap="square" lIns="0" tIns="0" rIns="0" bIns="0" rtlCol="0" anchor="ctr"/>
          <a:lstStyle/>
          <a:p>
            <a:pPr indent="0" marL="0">
              <a:buNone/>
            </a:pPr>
            <a:r>
              <a:rPr lang="en-US" sz="1000" b="1" spc="200" kern="0" dirty="0">
                <a:solidFill>
                  <a:srgbClr val="A78BFA"/>
                </a:solidFill>
                <a:latin typeface="Arial" pitchFamily="34" charset="0"/>
                <a:ea typeface="Arial" pitchFamily="34" charset="-122"/>
                <a:cs typeface="Arial" pitchFamily="34" charset="-120"/>
              </a:rPr>
              <a:t>PROPOSED 8-WEEK PILOT WITH UPAY</a:t>
            </a:r>
            <a:endParaRPr lang="en-US" sz="1000" dirty="0"/>
          </a:p>
        </p:txBody>
      </p:sp>
      <p:sp>
        <p:nvSpPr>
          <p:cNvPr id="26" name="pp__3"/>
          <p:cNvSpPr txBox="1"/>
          <p:nvPr/>
        </p:nvSpPr>
        <p:spPr>
          <a:xfrm>
            <a:off x="6492240" y="3950208"/>
            <a:ext cx="4983480" cy="19659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Shadow mode on governed upay data: Cygnus scores, analysts work as usual</a:t>
            </a:r>
            <a:endParaRPr lang="en-US" sz="1200" dirty="0"/>
          </a:p>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Analysts label every alert; we measure precision@100 and recall on confirmed cases</a:t>
            </a:r>
            <a:endParaRPr lang="en-US" sz="1200" dirty="0"/>
          </a:p>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Time each case with and without Cygnus to get real minutes saved</a:t>
            </a:r>
            <a:endParaRPr lang="en-US" sz="1200" dirty="0"/>
          </a:p>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Calibrate thresholds and tiers with upay's AML team</a:t>
            </a:r>
            <a:endParaRPr lang="en-US" sz="1200" dirty="0"/>
          </a:p>
          <a:p>
            <a:pPr marL="342900" indent="-342900">
              <a:spcAft>
                <a:spcPts val="300"/>
              </a:spcAft>
              <a:buSzPct val="100000"/>
              <a:buChar char="▸"/>
            </a:pPr>
            <a:r>
              <a:rPr lang="en-US" sz="1200" dirty="0">
                <a:solidFill>
                  <a:srgbClr val="F1F5FB"/>
                </a:solidFill>
                <a:latin typeface="Calibri" pitchFamily="34" charset="0"/>
                <a:ea typeface="Calibri" pitchFamily="34" charset="-122"/>
                <a:cs typeface="Calibri" pitchFamily="34" charset="-120"/>
              </a:rPr>
              <a:t>Exit report: ROI, false-positive cost and a go / no-go for production</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additive="base">
                                        <p:cTn id="8" dur="450" fill="hold"/>
                                        <p:tgtEl>
                                          <p:spTgt spid="5"/>
                                        </p:tgtEl>
                                        <p:attrNameLst>
                                          <p:attrName>ppt_x</p:attrName>
                                        </p:attrNameLst>
                                      </p:cBhvr>
                                      <p:tavLst>
                                        <p:tav tm="0">
                                          <p:val>
                                            <p:strVal val="#ppt_x"/>
                                          </p:val>
                                        </p:tav>
                                        <p:tav tm="100000">
                                          <p:val>
                                            <p:strVal val="#ppt_x"/>
                                          </p:val>
                                        </p:tav>
                                      </p:tavLst>
                                    </p:anim>
                                    <p:anim calcmode="lin" valueType="num">
                                      <p:cBhvr additive="base">
                                        <p:cTn id="9" dur="45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anim calcmode="lin" valueType="num">
                                      <p:cBhvr additive="base">
                                        <p:cTn id="13" dur="450" fill="hold"/>
                                        <p:tgtEl>
                                          <p:spTgt spid="6"/>
                                        </p:tgtEl>
                                        <p:attrNameLst>
                                          <p:attrName>ppt_x</p:attrName>
                                        </p:attrNameLst>
                                      </p:cBhvr>
                                      <p:tavLst>
                                        <p:tav tm="0">
                                          <p:val>
                                            <p:strVal val="#ppt_x"/>
                                          </p:val>
                                        </p:tav>
                                        <p:tav tm="100000">
                                          <p:val>
                                            <p:strVal val="#ppt_x"/>
                                          </p:val>
                                        </p:tav>
                                      </p:tavLst>
                                    </p:anim>
                                    <p:anim calcmode="lin" valueType="num">
                                      <p:cBhvr additive="base">
                                        <p:cTn id="14" dur="45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anim calcmode="lin" valueType="num">
                                      <p:cBhvr additive="base">
                                        <p:cTn id="18" dur="450" fill="hold"/>
                                        <p:tgtEl>
                                          <p:spTgt spid="7"/>
                                        </p:tgtEl>
                                        <p:attrNameLst>
                                          <p:attrName>ppt_x</p:attrName>
                                        </p:attrNameLst>
                                      </p:cBhvr>
                                      <p:tavLst>
                                        <p:tav tm="0">
                                          <p:val>
                                            <p:strVal val="#ppt_x"/>
                                          </p:val>
                                        </p:tav>
                                        <p:tav tm="100000">
                                          <p:val>
                                            <p:strVal val="#ppt_x"/>
                                          </p:val>
                                        </p:tav>
                                      </p:tavLst>
                                    </p:anim>
                                    <p:anim calcmode="lin" valueType="num">
                                      <p:cBhvr additive="base">
                                        <p:cTn id="19" dur="45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anim calcmode="lin" valueType="num">
                                      <p:cBhvr additive="base">
                                        <p:cTn id="23" dur="450" fill="hold"/>
                                        <p:tgtEl>
                                          <p:spTgt spid="8"/>
                                        </p:tgtEl>
                                        <p:attrNameLst>
                                          <p:attrName>ppt_x</p:attrName>
                                        </p:attrNameLst>
                                      </p:cBhvr>
                                      <p:tavLst>
                                        <p:tav tm="0">
                                          <p:val>
                                            <p:strVal val="#ppt_x"/>
                                          </p:val>
                                        </p:tav>
                                        <p:tav tm="100000">
                                          <p:val>
                                            <p:strVal val="#ppt_x"/>
                                          </p:val>
                                        </p:tav>
                                      </p:tavLst>
                                    </p:anim>
                                    <p:anim calcmode="lin" valueType="num">
                                      <p:cBhvr additive="base">
                                        <p:cTn id="24" dur="45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42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ppt_x</p:attrName>
                                        </p:attrNameLst>
                                      </p:cBhvr>
                                      <p:tavLst>
                                        <p:tav tm="0">
                                          <p:val>
                                            <p:strVal val="#ppt_x"/>
                                          </p:val>
                                        </p:tav>
                                        <p:tav tm="100000">
                                          <p:val>
                                            <p:strVal val="#ppt_x"/>
                                          </p:val>
                                        </p:tav>
                                      </p:tavLst>
                                    </p:anim>
                                    <p:anim calcmode="lin" valueType="num">
                                      <p:cBhvr additive="base">
                                        <p:cTn id="29" dur="45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42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anim calcmode="lin" valueType="num">
                                      <p:cBhvr additive="base">
                                        <p:cTn id="33" dur="450" fill="hold"/>
                                        <p:tgtEl>
                                          <p:spTgt spid="10"/>
                                        </p:tgtEl>
                                        <p:attrNameLst>
                                          <p:attrName>ppt_x</p:attrName>
                                        </p:attrNameLst>
                                      </p:cBhvr>
                                      <p:tavLst>
                                        <p:tav tm="0">
                                          <p:val>
                                            <p:strVal val="#ppt_x"/>
                                          </p:val>
                                        </p:tav>
                                        <p:tav tm="100000">
                                          <p:val>
                                            <p:strVal val="#ppt_x"/>
                                          </p:val>
                                        </p:tav>
                                      </p:tavLst>
                                    </p:anim>
                                    <p:anim calcmode="lin" valueType="num">
                                      <p:cBhvr additive="base">
                                        <p:cTn id="34" dur="45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42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50"/>
                                        <p:tgtEl>
                                          <p:spTgt spid="11"/>
                                        </p:tgtEl>
                                      </p:cBhvr>
                                    </p:animEffect>
                                    <p:anim calcmode="lin" valueType="num">
                                      <p:cBhvr additive="base">
                                        <p:cTn id="38" dur="450" fill="hold"/>
                                        <p:tgtEl>
                                          <p:spTgt spid="11"/>
                                        </p:tgtEl>
                                        <p:attrNameLst>
                                          <p:attrName>ppt_x</p:attrName>
                                        </p:attrNameLst>
                                      </p:cBhvr>
                                      <p:tavLst>
                                        <p:tav tm="0">
                                          <p:val>
                                            <p:strVal val="#ppt_x"/>
                                          </p:val>
                                        </p:tav>
                                        <p:tav tm="100000">
                                          <p:val>
                                            <p:strVal val="#ppt_x"/>
                                          </p:val>
                                        </p:tav>
                                      </p:tavLst>
                                    </p:anim>
                                    <p:anim calcmode="lin" valueType="num">
                                      <p:cBhvr additive="base">
                                        <p:cTn id="39" dur="45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42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50"/>
                                        <p:tgtEl>
                                          <p:spTgt spid="12"/>
                                        </p:tgtEl>
                                      </p:cBhvr>
                                    </p:animEffect>
                                    <p:anim calcmode="lin" valueType="num">
                                      <p:cBhvr additive="base">
                                        <p:cTn id="43" dur="450" fill="hold"/>
                                        <p:tgtEl>
                                          <p:spTgt spid="12"/>
                                        </p:tgtEl>
                                        <p:attrNameLst>
                                          <p:attrName>ppt_x</p:attrName>
                                        </p:attrNameLst>
                                      </p:cBhvr>
                                      <p:tavLst>
                                        <p:tav tm="0">
                                          <p:val>
                                            <p:strVal val="#ppt_x"/>
                                          </p:val>
                                        </p:tav>
                                        <p:tav tm="100000">
                                          <p:val>
                                            <p:strVal val="#ppt_x"/>
                                          </p:val>
                                        </p:tav>
                                      </p:tavLst>
                                    </p:anim>
                                    <p:anim calcmode="lin" valueType="num">
                                      <p:cBhvr additive="base">
                                        <p:cTn id="44" dur="45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64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50"/>
                                        <p:tgtEl>
                                          <p:spTgt spid="13"/>
                                        </p:tgtEl>
                                      </p:cBhvr>
                                    </p:animEffect>
                                    <p:anim calcmode="lin" valueType="num">
                                      <p:cBhvr additive="base">
                                        <p:cTn id="48" dur="450" fill="hold"/>
                                        <p:tgtEl>
                                          <p:spTgt spid="13"/>
                                        </p:tgtEl>
                                        <p:attrNameLst>
                                          <p:attrName>ppt_x</p:attrName>
                                        </p:attrNameLst>
                                      </p:cBhvr>
                                      <p:tavLst>
                                        <p:tav tm="0">
                                          <p:val>
                                            <p:strVal val="#ppt_x"/>
                                          </p:val>
                                        </p:tav>
                                        <p:tav tm="100000">
                                          <p:val>
                                            <p:strVal val="#ppt_x"/>
                                          </p:val>
                                        </p:tav>
                                      </p:tavLst>
                                    </p:anim>
                                    <p:anim calcmode="lin" valueType="num">
                                      <p:cBhvr additive="base">
                                        <p:cTn id="49" dur="45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64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anim calcmode="lin" valueType="num">
                                      <p:cBhvr additive="base">
                                        <p:cTn id="53" dur="450" fill="hold"/>
                                        <p:tgtEl>
                                          <p:spTgt spid="14"/>
                                        </p:tgtEl>
                                        <p:attrNameLst>
                                          <p:attrName>ppt_x</p:attrName>
                                        </p:attrNameLst>
                                      </p:cBhvr>
                                      <p:tavLst>
                                        <p:tav tm="0">
                                          <p:val>
                                            <p:strVal val="#ppt_x"/>
                                          </p:val>
                                        </p:tav>
                                        <p:tav tm="100000">
                                          <p:val>
                                            <p:strVal val="#ppt_x"/>
                                          </p:val>
                                        </p:tav>
                                      </p:tavLst>
                                    </p:anim>
                                    <p:anim calcmode="lin" valueType="num">
                                      <p:cBhvr additive="base">
                                        <p:cTn id="54" dur="45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64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50"/>
                                        <p:tgtEl>
                                          <p:spTgt spid="15"/>
                                        </p:tgtEl>
                                      </p:cBhvr>
                                    </p:animEffect>
                                    <p:anim calcmode="lin" valueType="num">
                                      <p:cBhvr additive="base">
                                        <p:cTn id="58" dur="450" fill="hold"/>
                                        <p:tgtEl>
                                          <p:spTgt spid="15"/>
                                        </p:tgtEl>
                                        <p:attrNameLst>
                                          <p:attrName>ppt_x</p:attrName>
                                        </p:attrNameLst>
                                      </p:cBhvr>
                                      <p:tavLst>
                                        <p:tav tm="0">
                                          <p:val>
                                            <p:strVal val="#ppt_x"/>
                                          </p:val>
                                        </p:tav>
                                        <p:tav tm="100000">
                                          <p:val>
                                            <p:strVal val="#ppt_x"/>
                                          </p:val>
                                        </p:tav>
                                      </p:tavLst>
                                    </p:anim>
                                    <p:anim calcmode="lin" valueType="num">
                                      <p:cBhvr additive="base">
                                        <p:cTn id="59" dur="45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64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50"/>
                                        <p:tgtEl>
                                          <p:spTgt spid="16"/>
                                        </p:tgtEl>
                                      </p:cBhvr>
                                    </p:animEffect>
                                    <p:anim calcmode="lin" valueType="num">
                                      <p:cBhvr additive="base">
                                        <p:cTn id="63" dur="450" fill="hold"/>
                                        <p:tgtEl>
                                          <p:spTgt spid="16"/>
                                        </p:tgtEl>
                                        <p:attrNameLst>
                                          <p:attrName>ppt_x</p:attrName>
                                        </p:attrNameLst>
                                      </p:cBhvr>
                                      <p:tavLst>
                                        <p:tav tm="0">
                                          <p:val>
                                            <p:strVal val="#ppt_x"/>
                                          </p:val>
                                        </p:tav>
                                        <p:tav tm="100000">
                                          <p:val>
                                            <p:strVal val="#ppt_x"/>
                                          </p:val>
                                        </p:tav>
                                      </p:tavLst>
                                    </p:anim>
                                    <p:anim calcmode="lin" valueType="num">
                                      <p:cBhvr additive="base">
                                        <p:cTn id="64" dur="45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86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50"/>
                                        <p:tgtEl>
                                          <p:spTgt spid="17"/>
                                        </p:tgtEl>
                                      </p:cBhvr>
                                    </p:animEffect>
                                    <p:anim calcmode="lin" valueType="num">
                                      <p:cBhvr additive="base">
                                        <p:cTn id="68" dur="450" fill="hold"/>
                                        <p:tgtEl>
                                          <p:spTgt spid="17"/>
                                        </p:tgtEl>
                                        <p:attrNameLst>
                                          <p:attrName>ppt_x</p:attrName>
                                        </p:attrNameLst>
                                      </p:cBhvr>
                                      <p:tavLst>
                                        <p:tav tm="0">
                                          <p:val>
                                            <p:strVal val="#ppt_x"/>
                                          </p:val>
                                        </p:tav>
                                        <p:tav tm="100000">
                                          <p:val>
                                            <p:strVal val="#ppt_x"/>
                                          </p:val>
                                        </p:tav>
                                      </p:tavLst>
                                    </p:anim>
                                    <p:anim calcmode="lin" valueType="num">
                                      <p:cBhvr additive="base">
                                        <p:cTn id="69" dur="45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86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450"/>
                                        <p:tgtEl>
                                          <p:spTgt spid="18"/>
                                        </p:tgtEl>
                                      </p:cBhvr>
                                    </p:animEffect>
                                    <p:anim calcmode="lin" valueType="num">
                                      <p:cBhvr additive="base">
                                        <p:cTn id="73" dur="450" fill="hold"/>
                                        <p:tgtEl>
                                          <p:spTgt spid="18"/>
                                        </p:tgtEl>
                                        <p:attrNameLst>
                                          <p:attrName>ppt_x</p:attrName>
                                        </p:attrNameLst>
                                      </p:cBhvr>
                                      <p:tavLst>
                                        <p:tav tm="0">
                                          <p:val>
                                            <p:strVal val="#ppt_x"/>
                                          </p:val>
                                        </p:tav>
                                        <p:tav tm="100000">
                                          <p:val>
                                            <p:strVal val="#ppt_x"/>
                                          </p:val>
                                        </p:tav>
                                      </p:tavLst>
                                    </p:anim>
                                    <p:anim calcmode="lin" valueType="num">
                                      <p:cBhvr additive="base">
                                        <p:cTn id="74" dur="45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86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450"/>
                                        <p:tgtEl>
                                          <p:spTgt spid="19"/>
                                        </p:tgtEl>
                                      </p:cBhvr>
                                    </p:animEffect>
                                    <p:anim calcmode="lin" valueType="num">
                                      <p:cBhvr additive="base">
                                        <p:cTn id="78" dur="450" fill="hold"/>
                                        <p:tgtEl>
                                          <p:spTgt spid="19"/>
                                        </p:tgtEl>
                                        <p:attrNameLst>
                                          <p:attrName>ppt_x</p:attrName>
                                        </p:attrNameLst>
                                      </p:cBhvr>
                                      <p:tavLst>
                                        <p:tav tm="0">
                                          <p:val>
                                            <p:strVal val="#ppt_x"/>
                                          </p:val>
                                        </p:tav>
                                        <p:tav tm="100000">
                                          <p:val>
                                            <p:strVal val="#ppt_x"/>
                                          </p:val>
                                        </p:tav>
                                      </p:tavLst>
                                    </p:anim>
                                    <p:anim calcmode="lin" valueType="num">
                                      <p:cBhvr additive="base">
                                        <p:cTn id="79" dur="45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86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450"/>
                                        <p:tgtEl>
                                          <p:spTgt spid="20"/>
                                        </p:tgtEl>
                                      </p:cBhvr>
                                    </p:animEffect>
                                    <p:anim calcmode="lin" valueType="num">
                                      <p:cBhvr additive="base">
                                        <p:cTn id="83" dur="450" fill="hold"/>
                                        <p:tgtEl>
                                          <p:spTgt spid="20"/>
                                        </p:tgtEl>
                                        <p:attrNameLst>
                                          <p:attrName>ppt_x</p:attrName>
                                        </p:attrNameLst>
                                      </p:cBhvr>
                                      <p:tavLst>
                                        <p:tav tm="0">
                                          <p:val>
                                            <p:strVal val="#ppt_x"/>
                                          </p:val>
                                        </p:tav>
                                        <p:tav tm="100000">
                                          <p:val>
                                            <p:strVal val="#ppt_x"/>
                                          </p:val>
                                        </p:tav>
                                      </p:tavLst>
                                    </p:anim>
                                    <p:anim calcmode="lin" valueType="num">
                                      <p:cBhvr additive="base">
                                        <p:cTn id="84" dur="450" fill="hold"/>
                                        <p:tgtEl>
                                          <p:spTgt spid="20"/>
                                        </p:tgtEl>
                                        <p:attrNameLst>
                                          <p:attrName>ppt_y</p:attrName>
                                        </p:attrNameLst>
                                      </p:cBhvr>
                                      <p:tavLst>
                                        <p:tav tm="0">
                                          <p:val>
                                            <p:strVal val="#ppt_y+.1"/>
                                          </p:val>
                                        </p:tav>
                                        <p:tav tm="100000">
                                          <p:val>
                                            <p:strVal val="#ppt_y"/>
                                          </p:val>
                                        </p:tav>
                                      </p:tavLst>
                                    </p:anim>
                                  </p:childTnLst>
                                </p:cTn>
                              </p:par>
                              <p:par>
                                <p:cTn id="85" presetID="10" presetClass="entr" presetSubtype="0" fill="hold" nodeType="withEffect">
                                  <p:stCondLst>
                                    <p:cond delay="110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childTnLst>
                                </p:cTn>
                              </p:par>
                              <p:par>
                                <p:cTn id="88" presetID="10" presetClass="entr" presetSubtype="0" fill="hold" nodeType="withEffect">
                                  <p:stCondLst>
                                    <p:cond delay="110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childTnLst>
                                </p:cTn>
                              </p:par>
                              <p:par>
                                <p:cTn id="91" presetID="10" presetClass="entr" presetSubtype="0" fill="hold" nodeType="withEffect">
                                  <p:stCondLst>
                                    <p:cond delay="110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500"/>
                                        <p:tgtEl>
                                          <p:spTgt spid="23"/>
                                        </p:tgtEl>
                                      </p:cBhvr>
                                    </p:animEffect>
                                  </p:childTnLst>
                                </p:cTn>
                              </p:par>
                              <p:par>
                                <p:cTn id="94" presetID="10" presetClass="entr" presetSubtype="0" fill="hold" nodeType="withEffect">
                                  <p:stCondLst>
                                    <p:cond delay="160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500"/>
                                        <p:tgtEl>
                                          <p:spTgt spid="24"/>
                                        </p:tgtEl>
                                      </p:cBhvr>
                                    </p:animEffect>
                                  </p:childTnLst>
                                </p:cTn>
                              </p:par>
                              <p:par>
                                <p:cTn id="97" presetID="10" presetClass="entr" presetSubtype="0" fill="hold" nodeType="withEffect">
                                  <p:stCondLst>
                                    <p:cond delay="16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500"/>
                                        <p:tgtEl>
                                          <p:spTgt spid="25"/>
                                        </p:tgtEl>
                                      </p:cBhvr>
                                    </p:animEffect>
                                  </p:childTnLst>
                                </p:cTn>
                              </p:par>
                              <p:par>
                                <p:cTn id="100" presetID="10" presetClass="entr" presetSubtype="0" fill="hold" nodeType="withEffect">
                                  <p:stCondLst>
                                    <p:cond delay="160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320040"/>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Arial" pitchFamily="34" charset="0"/>
                <a:ea typeface="Arial" pitchFamily="34" charset="-122"/>
                <a:cs typeface="Arial" pitchFamily="34" charset="-120"/>
              </a:rPr>
              <a:t>19  ·  ROADMAP</a:t>
            </a:r>
            <a:endParaRPr lang="en-US" sz="1200" dirty="0"/>
          </a:p>
        </p:txBody>
      </p:sp>
      <p:sp>
        <p:nvSpPr>
          <p:cNvPr id="3" name="navAgenda"/>
          <p:cNvSpPr txBox="1"/>
          <p:nvPr/>
        </p:nvSpPr>
        <p:spPr>
          <a:xfrm>
            <a:off x="10360152" y="384048"/>
            <a:ext cx="1280160" cy="320040"/>
          </a:xfrm>
          <a:prstGeom prst="rect">
            <a:avLst/>
          </a:prstGeom>
          <a:noFill/>
          <a:ln/>
        </p:spPr>
        <p:txBody>
          <a:bodyPr wrap="square" lIns="0" tIns="0" rIns="0" bIns="0" rtlCol="0" anchor="ctr"/>
          <a:lstStyle/>
          <a:p>
            <a:pPr algn="r" indent="0" marL="0">
              <a:buNone/>
            </a:pPr>
            <a:r>
              <a:rPr lang="en-US" sz="1100" u="sng" dirty="0">
                <a:solidFill>
                  <a:srgbClr val="5F7090"/>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4" name="Text 0"/>
          <p:cNvSpPr/>
          <p:nvPr>
            <p:ph idx="101" type="title" hasCustomPrompt="1"/>
          </p:nvPr>
        </p:nvSpPr>
        <p:spPr>
          <a:xfrm>
            <a:off x="548640" y="713232"/>
            <a:ext cx="11064240" cy="731520"/>
          </a:xfrm>
          <a:prstGeom prst="rect">
            <a:avLst/>
          </a:prstGeom>
          <a:noFill/>
          <a:ln/>
        </p:spPr>
        <p:txBody>
          <a:bodyPr wrap="square" lIns="0" tIns="0" rIns="0" bIns="0" rtlCol="0" anchor="t"/>
          <a:lstStyle/>
          <a:p>
            <a:pPr algn="l" indent="0" marL="0">
              <a:buNone/>
            </a:pPr>
            <a:r>
              <a:rPr lang="en-US" sz="3400" b="1" dirty="0">
                <a:solidFill>
                  <a:srgbClr val="F1F5FB"/>
                </a:solidFill>
                <a:latin typeface="Arial" pitchFamily="34" charset="0"/>
                <a:ea typeface="Arial" pitchFamily="34" charset="-122"/>
                <a:cs typeface="Arial" pitchFamily="34" charset="-120"/>
              </a:rPr>
              <a:t>From prototype to a upay pilot to MFS scale</a:t>
            </a:r>
            <a:endParaRPr lang="en-US" sz="3400" dirty="0"/>
          </a:p>
        </p:txBody>
      </p:sp>
      <p:sp>
        <p:nvSpPr>
          <p:cNvPr id="5" name="tl__1"/>
          <p:cNvSpPr/>
          <p:nvPr/>
        </p:nvSpPr>
        <p:spPr>
          <a:xfrm>
            <a:off x="1005840" y="2057400"/>
            <a:ext cx="8485632" cy="0"/>
          </a:xfrm>
          <a:prstGeom prst="line">
            <a:avLst/>
          </a:prstGeom>
          <a:noFill/>
          <a:ln w="25400">
            <a:solidFill>
              <a:srgbClr val="22314F"/>
            </a:solidFill>
            <a:prstDash val="solid"/>
          </a:ln>
        </p:spPr>
      </p:sp>
      <p:sp>
        <p:nvSpPr>
          <p:cNvPr id="6" name="ph0__1"/>
          <p:cNvSpPr/>
          <p:nvPr/>
        </p:nvSpPr>
        <p:spPr>
          <a:xfrm>
            <a:off x="850392" y="1901952"/>
            <a:ext cx="310896" cy="310896"/>
          </a:xfrm>
          <a:prstGeom prst="ellipse">
            <a:avLst/>
          </a:prstGeom>
          <a:solidFill>
            <a:srgbClr val="34D399"/>
          </a:solidFill>
          <a:ln w="25400">
            <a:solidFill>
              <a:srgbClr val="34D399"/>
            </a:solidFill>
            <a:prstDash val="solid"/>
          </a:ln>
        </p:spPr>
      </p:sp>
      <p:sp>
        <p:nvSpPr>
          <p:cNvPr id="7" name="ph0__2"/>
          <p:cNvSpPr txBox="1"/>
          <p:nvPr/>
        </p:nvSpPr>
        <p:spPr>
          <a:xfrm>
            <a:off x="731520" y="2377440"/>
            <a:ext cx="2468880" cy="274320"/>
          </a:xfrm>
          <a:prstGeom prst="rect">
            <a:avLst/>
          </a:prstGeom>
          <a:noFill/>
          <a:ln/>
        </p:spPr>
        <p:txBody>
          <a:bodyPr wrap="square" lIns="0" tIns="0" rIns="0" bIns="0" rtlCol="0" anchor="ctr"/>
          <a:lstStyle/>
          <a:p>
            <a:pPr indent="0" marL="0">
              <a:buNone/>
            </a:pPr>
            <a:r>
              <a:rPr lang="en-US" sz="1100" b="1" spc="200" kern="0" dirty="0">
                <a:solidFill>
                  <a:srgbClr val="9AABC4"/>
                </a:solidFill>
                <a:latin typeface="Arial" pitchFamily="34" charset="0"/>
                <a:ea typeface="Arial" pitchFamily="34" charset="-122"/>
                <a:cs typeface="Arial" pitchFamily="34" charset="-120"/>
              </a:rPr>
              <a:t>STAGE 1  </a:t>
            </a:r>
            <a:pPr indent="0" marL="0">
              <a:buNone/>
            </a:pPr>
            <a:r>
              <a:rPr lang="en-US" sz="1100" b="1" dirty="0">
                <a:solidFill>
                  <a:srgbClr val="34D399"/>
                </a:solidFill>
                <a:latin typeface="Arial" pitchFamily="34" charset="0"/>
                <a:ea typeface="Arial" pitchFamily="34" charset="-122"/>
                <a:cs typeface="Arial" pitchFamily="34" charset="-120"/>
              </a:rPr>
              <a:t>DONE</a:t>
            </a:r>
            <a:endParaRPr lang="en-US" sz="1100" dirty="0"/>
          </a:p>
        </p:txBody>
      </p:sp>
      <p:sp>
        <p:nvSpPr>
          <p:cNvPr id="8" name="ph0__3"/>
          <p:cNvSpPr txBox="1"/>
          <p:nvPr/>
        </p:nvSpPr>
        <p:spPr>
          <a:xfrm>
            <a:off x="731520" y="2679192"/>
            <a:ext cx="2514600" cy="365760"/>
          </a:xfrm>
          <a:prstGeom prst="rect">
            <a:avLst/>
          </a:prstGeom>
          <a:noFill/>
          <a:ln/>
        </p:spPr>
        <p:txBody>
          <a:bodyPr wrap="square" lIns="0" tIns="0" rIns="0" bIns="0" rtlCol="0" anchor="ctr"/>
          <a:lstStyle/>
          <a:p>
            <a:pPr indent="0" marL="0">
              <a:buNone/>
            </a:pPr>
            <a:r>
              <a:rPr lang="en-US" sz="1600" b="1" dirty="0">
                <a:solidFill>
                  <a:srgbClr val="F1F5FB"/>
                </a:solidFill>
                <a:latin typeface="Arial" pitchFamily="34" charset="0"/>
                <a:ea typeface="Arial" pitchFamily="34" charset="-122"/>
                <a:cs typeface="Arial" pitchFamily="34" charset="-120"/>
              </a:rPr>
              <a:t>Prototype</a:t>
            </a:r>
            <a:endParaRPr lang="en-US" sz="1600" dirty="0"/>
          </a:p>
        </p:txBody>
      </p:sp>
      <p:sp>
        <p:nvSpPr>
          <p:cNvPr id="9" name="ph0__4"/>
          <p:cNvSpPr txBox="1"/>
          <p:nvPr/>
        </p:nvSpPr>
        <p:spPr>
          <a:xfrm>
            <a:off x="731520" y="3063240"/>
            <a:ext cx="2514600" cy="73152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Seven detectors, Isolation Forest, explainable score, AI Investigator</a:t>
            </a:r>
            <a:endParaRPr lang="en-US" sz="1300" dirty="0"/>
          </a:p>
        </p:txBody>
      </p:sp>
      <p:sp>
        <p:nvSpPr>
          <p:cNvPr id="10" name="ph1__1"/>
          <p:cNvSpPr/>
          <p:nvPr/>
        </p:nvSpPr>
        <p:spPr>
          <a:xfrm>
            <a:off x="3538728" y="1762049"/>
            <a:ext cx="590702" cy="590702"/>
          </a:xfrm>
          <a:prstGeom prst="ellipse">
            <a:avLst/>
          </a:prstGeom>
          <a:solidFill>
            <a:srgbClr val="34D399">
              <a:alpha val="18000"/>
            </a:srgbClr>
          </a:solidFill>
          <a:ln w="9525">
            <a:solidFill>
              <a:srgbClr val="34D399">
                <a:alpha val="45000"/>
              </a:srgbClr>
            </a:solidFill>
            <a:prstDash val="solid"/>
          </a:ln>
        </p:spPr>
      </p:sp>
      <p:sp>
        <p:nvSpPr>
          <p:cNvPr id="11" name="ph1__2"/>
          <p:cNvSpPr/>
          <p:nvPr/>
        </p:nvSpPr>
        <p:spPr>
          <a:xfrm>
            <a:off x="3678631" y="1901952"/>
            <a:ext cx="310896" cy="310896"/>
          </a:xfrm>
          <a:prstGeom prst="ellipse">
            <a:avLst/>
          </a:prstGeom>
          <a:solidFill>
            <a:srgbClr val="34D399"/>
          </a:solidFill>
          <a:ln w="25400">
            <a:solidFill>
              <a:srgbClr val="34D399"/>
            </a:solidFill>
            <a:prstDash val="solid"/>
          </a:ln>
        </p:spPr>
      </p:sp>
      <p:sp>
        <p:nvSpPr>
          <p:cNvPr id="12" name="ph1__3"/>
          <p:cNvSpPr txBox="1"/>
          <p:nvPr/>
        </p:nvSpPr>
        <p:spPr>
          <a:xfrm>
            <a:off x="3559759" y="2377440"/>
            <a:ext cx="2468880" cy="274320"/>
          </a:xfrm>
          <a:prstGeom prst="rect">
            <a:avLst/>
          </a:prstGeom>
          <a:noFill/>
          <a:ln/>
        </p:spPr>
        <p:txBody>
          <a:bodyPr wrap="square" lIns="0" tIns="0" rIns="0" bIns="0" rtlCol="0" anchor="ctr"/>
          <a:lstStyle/>
          <a:p>
            <a:pPr indent="0" marL="0">
              <a:buNone/>
            </a:pPr>
            <a:r>
              <a:rPr lang="en-US" sz="1100" b="1" spc="200" kern="0" dirty="0">
                <a:solidFill>
                  <a:srgbClr val="9AABC4"/>
                </a:solidFill>
                <a:latin typeface="Arial" pitchFamily="34" charset="0"/>
                <a:ea typeface="Arial" pitchFamily="34" charset="-122"/>
                <a:cs typeface="Arial" pitchFamily="34" charset="-120"/>
              </a:rPr>
              <a:t>STAGE 2  </a:t>
            </a:r>
            <a:pPr indent="0" marL="0">
              <a:buNone/>
            </a:pPr>
            <a:r>
              <a:rPr lang="en-US" sz="1100" b="1" dirty="0">
                <a:solidFill>
                  <a:srgbClr val="34D399"/>
                </a:solidFill>
                <a:latin typeface="Arial" pitchFamily="34" charset="0"/>
                <a:ea typeface="Arial" pitchFamily="34" charset="-122"/>
                <a:cs typeface="Arial" pitchFamily="34" charset="-120"/>
              </a:rPr>
              <a:t>DONE</a:t>
            </a:r>
            <a:endParaRPr lang="en-US" sz="1100" dirty="0"/>
          </a:p>
        </p:txBody>
      </p:sp>
      <p:sp>
        <p:nvSpPr>
          <p:cNvPr id="13" name="ph1__4"/>
          <p:cNvSpPr txBox="1"/>
          <p:nvPr/>
        </p:nvSpPr>
        <p:spPr>
          <a:xfrm>
            <a:off x="3559759" y="2679192"/>
            <a:ext cx="2514600" cy="365760"/>
          </a:xfrm>
          <a:prstGeom prst="rect">
            <a:avLst/>
          </a:prstGeom>
          <a:noFill/>
          <a:ln/>
        </p:spPr>
        <p:txBody>
          <a:bodyPr wrap="square" lIns="0" tIns="0" rIns="0" bIns="0" rtlCol="0" anchor="ctr"/>
          <a:lstStyle/>
          <a:p>
            <a:pPr indent="0" marL="0">
              <a:buNone/>
            </a:pPr>
            <a:r>
              <a:rPr lang="en-US" sz="1600" b="1" dirty="0">
                <a:solidFill>
                  <a:srgbClr val="F1F5FB"/>
                </a:solidFill>
                <a:latin typeface="Arial" pitchFamily="34" charset="0"/>
                <a:ea typeface="Arial" pitchFamily="34" charset="-122"/>
                <a:cs typeface="Arial" pitchFamily="34" charset="-120"/>
              </a:rPr>
              <a:t>Analyst platform</a:t>
            </a:r>
            <a:endParaRPr lang="en-US" sz="1600" dirty="0"/>
          </a:p>
        </p:txBody>
      </p:sp>
      <p:sp>
        <p:nvSpPr>
          <p:cNvPr id="14" name="ph1__5"/>
          <p:cNvSpPr txBox="1"/>
          <p:nvPr/>
        </p:nvSpPr>
        <p:spPr>
          <a:xfrm>
            <a:off x="3559759" y="3063240"/>
            <a:ext cx="2514600" cy="73152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849k-transaction labelled benchmark, trained model, cases, roles, audit log, takeover and hundi detectors</a:t>
            </a:r>
            <a:endParaRPr lang="en-US" sz="1300" dirty="0"/>
          </a:p>
        </p:txBody>
      </p:sp>
      <p:sp>
        <p:nvSpPr>
          <p:cNvPr id="15" name="ph2__1"/>
          <p:cNvSpPr/>
          <p:nvPr/>
        </p:nvSpPr>
        <p:spPr>
          <a:xfrm>
            <a:off x="6506870" y="1901952"/>
            <a:ext cx="310896" cy="310896"/>
          </a:xfrm>
          <a:prstGeom prst="ellipse">
            <a:avLst/>
          </a:prstGeom>
          <a:solidFill>
            <a:srgbClr val="070B16"/>
          </a:solidFill>
          <a:ln w="25400">
            <a:solidFill>
              <a:srgbClr val="A78BFA"/>
            </a:solidFill>
            <a:prstDash val="solid"/>
          </a:ln>
        </p:spPr>
      </p:sp>
      <p:sp>
        <p:nvSpPr>
          <p:cNvPr id="16" name="ph2__2"/>
          <p:cNvSpPr txBox="1"/>
          <p:nvPr/>
        </p:nvSpPr>
        <p:spPr>
          <a:xfrm>
            <a:off x="6387998" y="2377440"/>
            <a:ext cx="2468880" cy="274320"/>
          </a:xfrm>
          <a:prstGeom prst="rect">
            <a:avLst/>
          </a:prstGeom>
          <a:noFill/>
          <a:ln/>
        </p:spPr>
        <p:txBody>
          <a:bodyPr wrap="square" lIns="0" tIns="0" rIns="0" bIns="0" rtlCol="0" anchor="ctr"/>
          <a:lstStyle/>
          <a:p>
            <a:pPr indent="0" marL="0">
              <a:buNone/>
            </a:pPr>
            <a:r>
              <a:rPr lang="en-US" sz="1100" b="1" spc="200" kern="0" dirty="0">
                <a:solidFill>
                  <a:srgbClr val="9AABC4"/>
                </a:solidFill>
                <a:latin typeface="Arial" pitchFamily="34" charset="0"/>
                <a:ea typeface="Arial" pitchFamily="34" charset="-122"/>
                <a:cs typeface="Arial" pitchFamily="34" charset="-120"/>
              </a:rPr>
              <a:t>STAGE 3  </a:t>
            </a:r>
            <a:pPr indent="0" marL="0">
              <a:buNone/>
            </a:pPr>
            <a:r>
              <a:rPr lang="en-US" sz="1100" b="1" dirty="0">
                <a:solidFill>
                  <a:srgbClr val="A78BFA"/>
                </a:solidFill>
                <a:latin typeface="Arial" pitchFamily="34" charset="0"/>
                <a:ea typeface="Arial" pitchFamily="34" charset="-122"/>
                <a:cs typeface="Arial" pitchFamily="34" charset="-120"/>
              </a:rPr>
              <a:t>NEXT</a:t>
            </a:r>
            <a:endParaRPr lang="en-US" sz="1100" dirty="0"/>
          </a:p>
        </p:txBody>
      </p:sp>
      <p:sp>
        <p:nvSpPr>
          <p:cNvPr id="17" name="ph2__3"/>
          <p:cNvSpPr txBox="1"/>
          <p:nvPr/>
        </p:nvSpPr>
        <p:spPr>
          <a:xfrm>
            <a:off x="6387998" y="2679192"/>
            <a:ext cx="2514600" cy="365760"/>
          </a:xfrm>
          <a:prstGeom prst="rect">
            <a:avLst/>
          </a:prstGeom>
          <a:noFill/>
          <a:ln/>
        </p:spPr>
        <p:txBody>
          <a:bodyPr wrap="square" lIns="0" tIns="0" rIns="0" bIns="0" rtlCol="0" anchor="ctr"/>
          <a:lstStyle/>
          <a:p>
            <a:pPr indent="0" marL="0">
              <a:buNone/>
            </a:pPr>
            <a:r>
              <a:rPr lang="en-US" sz="1600" b="1" dirty="0">
                <a:solidFill>
                  <a:srgbClr val="F1F5FB"/>
                </a:solidFill>
                <a:latin typeface="Arial" pitchFamily="34" charset="0"/>
                <a:ea typeface="Arial" pitchFamily="34" charset="-122"/>
                <a:cs typeface="Arial" pitchFamily="34" charset="-120"/>
              </a:rPr>
              <a:t>upay pilot</a:t>
            </a:r>
            <a:endParaRPr lang="en-US" sz="1600" dirty="0"/>
          </a:p>
        </p:txBody>
      </p:sp>
      <p:sp>
        <p:nvSpPr>
          <p:cNvPr id="18" name="ph2__4"/>
          <p:cNvSpPr txBox="1"/>
          <p:nvPr/>
        </p:nvSpPr>
        <p:spPr>
          <a:xfrm>
            <a:off x="6387998" y="3063240"/>
            <a:ext cx="2514600" cy="73152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Governed upay data in shadow mode, analyst feedback, calibrated tiers</a:t>
            </a:r>
            <a:endParaRPr lang="en-US" sz="1300" dirty="0"/>
          </a:p>
        </p:txBody>
      </p:sp>
      <p:sp>
        <p:nvSpPr>
          <p:cNvPr id="19" name="ph3__1"/>
          <p:cNvSpPr/>
          <p:nvPr/>
        </p:nvSpPr>
        <p:spPr>
          <a:xfrm>
            <a:off x="9335110" y="1901952"/>
            <a:ext cx="310896" cy="310896"/>
          </a:xfrm>
          <a:prstGeom prst="ellipse">
            <a:avLst/>
          </a:prstGeom>
          <a:solidFill>
            <a:srgbClr val="070B16"/>
          </a:solidFill>
          <a:ln w="25400">
            <a:solidFill>
              <a:srgbClr val="5F7090"/>
            </a:solidFill>
            <a:prstDash val="solid"/>
          </a:ln>
        </p:spPr>
      </p:sp>
      <p:sp>
        <p:nvSpPr>
          <p:cNvPr id="20" name="ph3__2"/>
          <p:cNvSpPr txBox="1"/>
          <p:nvPr/>
        </p:nvSpPr>
        <p:spPr>
          <a:xfrm>
            <a:off x="9216238" y="2377440"/>
            <a:ext cx="2468880" cy="274320"/>
          </a:xfrm>
          <a:prstGeom prst="rect">
            <a:avLst/>
          </a:prstGeom>
          <a:noFill/>
          <a:ln/>
        </p:spPr>
        <p:txBody>
          <a:bodyPr wrap="square" lIns="0" tIns="0" rIns="0" bIns="0" rtlCol="0" anchor="ctr"/>
          <a:lstStyle/>
          <a:p>
            <a:pPr indent="0" marL="0">
              <a:buNone/>
            </a:pPr>
            <a:r>
              <a:rPr lang="en-US" sz="1100" b="1" spc="200" kern="0" dirty="0">
                <a:solidFill>
                  <a:srgbClr val="9AABC4"/>
                </a:solidFill>
                <a:latin typeface="Arial" pitchFamily="34" charset="0"/>
                <a:ea typeface="Arial" pitchFamily="34" charset="-122"/>
                <a:cs typeface="Arial" pitchFamily="34" charset="-120"/>
              </a:rPr>
              <a:t>STAGE 4  </a:t>
            </a:r>
            <a:pPr indent="0" marL="0">
              <a:buNone/>
            </a:pPr>
            <a:r>
              <a:rPr lang="en-US" sz="1100" b="1" dirty="0">
                <a:solidFill>
                  <a:srgbClr val="5F7090"/>
                </a:solidFill>
                <a:latin typeface="Arial" pitchFamily="34" charset="0"/>
                <a:ea typeface="Arial" pitchFamily="34" charset="-122"/>
                <a:cs typeface="Arial" pitchFamily="34" charset="-120"/>
              </a:rPr>
              <a:t>FUTURE</a:t>
            </a:r>
            <a:endParaRPr lang="en-US" sz="1100" dirty="0"/>
          </a:p>
        </p:txBody>
      </p:sp>
      <p:sp>
        <p:nvSpPr>
          <p:cNvPr id="21" name="ph3__3"/>
          <p:cNvSpPr txBox="1"/>
          <p:nvPr/>
        </p:nvSpPr>
        <p:spPr>
          <a:xfrm>
            <a:off x="9216238" y="2679192"/>
            <a:ext cx="2514600" cy="365760"/>
          </a:xfrm>
          <a:prstGeom prst="rect">
            <a:avLst/>
          </a:prstGeom>
          <a:noFill/>
          <a:ln/>
        </p:spPr>
        <p:txBody>
          <a:bodyPr wrap="square" lIns="0" tIns="0" rIns="0" bIns="0" rtlCol="0" anchor="ctr"/>
          <a:lstStyle/>
          <a:p>
            <a:pPr indent="0" marL="0">
              <a:buNone/>
            </a:pPr>
            <a:r>
              <a:rPr lang="en-US" sz="1600" b="1" dirty="0">
                <a:solidFill>
                  <a:srgbClr val="F1F5FB"/>
                </a:solidFill>
                <a:latin typeface="Arial" pitchFamily="34" charset="0"/>
                <a:ea typeface="Arial" pitchFamily="34" charset="-122"/>
                <a:cs typeface="Arial" pitchFamily="34" charset="-120"/>
              </a:rPr>
              <a:t>MFS scale</a:t>
            </a:r>
            <a:endParaRPr lang="en-US" sz="1600" dirty="0"/>
          </a:p>
        </p:txBody>
      </p:sp>
      <p:sp>
        <p:nvSpPr>
          <p:cNvPr id="22" name="ph3__4"/>
          <p:cNvSpPr txBox="1"/>
          <p:nvPr/>
        </p:nvSpPr>
        <p:spPr>
          <a:xfrm>
            <a:off x="9216238" y="3063240"/>
            <a:ext cx="2514600" cy="731520"/>
          </a:xfrm>
          <a:prstGeom prst="rect">
            <a:avLst/>
          </a:prstGeom>
          <a:noFill/>
          <a:ln/>
        </p:spPr>
        <p:txBody>
          <a:bodyPr wrap="square" lIns="0" tIns="0" rIns="0" bIns="0" rtlCol="0" anchor="t"/>
          <a:lstStyle/>
          <a:p>
            <a:pPr indent="0" marL="0">
              <a:buNone/>
            </a:pPr>
            <a:r>
              <a:rPr lang="en-US" sz="1300" dirty="0">
                <a:solidFill>
                  <a:srgbClr val="9AABC4"/>
                </a:solidFill>
                <a:latin typeface="Calibri" pitchFamily="34" charset="0"/>
                <a:ea typeface="Calibri" pitchFamily="34" charset="-122"/>
                <a:cs typeface="Calibri" pitchFamily="34" charset="-120"/>
              </a:rPr>
              <a:t>Streaming ingest, graph database, temporal GNN, cross-provider privacy-preserving analytics</a:t>
            </a:r>
            <a:endParaRPr lang="en-US" sz="1300" dirty="0"/>
          </a:p>
        </p:txBody>
      </p:sp>
      <p:sp>
        <p:nvSpPr>
          <p:cNvPr id="23" name="who0__1"/>
          <p:cNvSpPr/>
          <p:nvPr/>
        </p:nvSpPr>
        <p:spPr>
          <a:xfrm>
            <a:off x="548640" y="4206240"/>
            <a:ext cx="3611880" cy="1783080"/>
          </a:xfrm>
          <a:prstGeom prst="roundRect">
            <a:avLst>
              <a:gd name="adj" fmla="val 6154"/>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4" name="who0__2"/>
          <p:cNvSpPr/>
          <p:nvPr/>
        </p:nvSpPr>
        <p:spPr>
          <a:xfrm>
            <a:off x="777240" y="4462272"/>
            <a:ext cx="640080" cy="640080"/>
          </a:xfrm>
          <a:prstGeom prst="ellipse">
            <a:avLst/>
          </a:prstGeom>
          <a:solidFill>
            <a:srgbClr val="38BDF8">
              <a:alpha val="18000"/>
            </a:srgbClr>
          </a:solidFill>
          <a:ln w="12700">
            <a:solidFill>
              <a:srgbClr val="38BDF8">
                <a:alpha val="60000"/>
              </a:srgbClr>
            </a:solidFill>
            <a:prstDash val="solid"/>
          </a:ln>
        </p:spPr>
      </p:sp>
      <p:pic>
        <p:nvPicPr>
          <p:cNvPr id="25" name="who0__3" descr="preencoded.png">    </p:cNvPr>
          <p:cNvPicPr>
            <a:picLocks noChangeAspect="1"/>
          </p:cNvPicPr>
          <p:nvPr/>
        </p:nvPicPr>
        <p:blipFill>
          <a:blip r:embed="rId2"/>
          <a:stretch>
            <a:fillRect/>
          </a:stretch>
        </p:blipFill>
        <p:spPr>
          <a:xfrm>
            <a:off x="937260" y="4622292"/>
            <a:ext cx="320040" cy="320040"/>
          </a:xfrm>
          <a:prstGeom prst="rect">
            <a:avLst/>
          </a:prstGeom>
        </p:spPr>
      </p:pic>
      <p:sp>
        <p:nvSpPr>
          <p:cNvPr id="26" name="who0__4"/>
          <p:cNvSpPr txBox="1"/>
          <p:nvPr/>
        </p:nvSpPr>
        <p:spPr>
          <a:xfrm>
            <a:off x="1554480" y="4462272"/>
            <a:ext cx="2468880" cy="640080"/>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MFS providers like upay</a:t>
            </a:r>
            <a:endParaRPr lang="en-US" sz="1500" dirty="0"/>
          </a:p>
        </p:txBody>
      </p:sp>
      <p:sp>
        <p:nvSpPr>
          <p:cNvPr id="27" name="who0__5"/>
          <p:cNvSpPr txBox="1"/>
          <p:nvPr/>
        </p:nvSpPr>
        <p:spPr>
          <a:xfrm>
            <a:off x="777240" y="5212080"/>
            <a:ext cx="3200400" cy="68580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Spot mule networks before funds are cashed out.</a:t>
            </a:r>
            <a:endParaRPr lang="en-US" sz="1400" dirty="0"/>
          </a:p>
        </p:txBody>
      </p:sp>
      <p:sp>
        <p:nvSpPr>
          <p:cNvPr id="28" name="who1__1"/>
          <p:cNvSpPr/>
          <p:nvPr/>
        </p:nvSpPr>
        <p:spPr>
          <a:xfrm>
            <a:off x="4336999" y="4206240"/>
            <a:ext cx="3611880" cy="1783080"/>
          </a:xfrm>
          <a:prstGeom prst="roundRect">
            <a:avLst>
              <a:gd name="adj" fmla="val 6154"/>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29" name="who1__2"/>
          <p:cNvSpPr/>
          <p:nvPr/>
        </p:nvSpPr>
        <p:spPr>
          <a:xfrm>
            <a:off x="4565599" y="4462272"/>
            <a:ext cx="640080" cy="640080"/>
          </a:xfrm>
          <a:prstGeom prst="ellipse">
            <a:avLst/>
          </a:prstGeom>
          <a:solidFill>
            <a:srgbClr val="A78BFA">
              <a:alpha val="18000"/>
            </a:srgbClr>
          </a:solidFill>
          <a:ln w="12700">
            <a:solidFill>
              <a:srgbClr val="A78BFA">
                <a:alpha val="60000"/>
              </a:srgbClr>
            </a:solidFill>
            <a:prstDash val="solid"/>
          </a:ln>
        </p:spPr>
      </p:sp>
      <p:pic>
        <p:nvPicPr>
          <p:cNvPr id="30" name="who1__3" descr="preencoded.png">    </p:cNvPr>
          <p:cNvPicPr>
            <a:picLocks noChangeAspect="1"/>
          </p:cNvPicPr>
          <p:nvPr/>
        </p:nvPicPr>
        <p:blipFill>
          <a:blip r:embed="rId3"/>
          <a:stretch>
            <a:fillRect/>
          </a:stretch>
        </p:blipFill>
        <p:spPr>
          <a:xfrm>
            <a:off x="4725619" y="4622292"/>
            <a:ext cx="320040" cy="320040"/>
          </a:xfrm>
          <a:prstGeom prst="rect">
            <a:avLst/>
          </a:prstGeom>
        </p:spPr>
      </p:pic>
      <p:sp>
        <p:nvSpPr>
          <p:cNvPr id="31" name="who1__4"/>
          <p:cNvSpPr txBox="1"/>
          <p:nvPr/>
        </p:nvSpPr>
        <p:spPr>
          <a:xfrm>
            <a:off x="5342839" y="4462272"/>
            <a:ext cx="2468880" cy="640080"/>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Compliance teams</a:t>
            </a:r>
            <a:endParaRPr lang="en-US" sz="1500" dirty="0"/>
          </a:p>
        </p:txBody>
      </p:sp>
      <p:sp>
        <p:nvSpPr>
          <p:cNvPr id="32" name="who1__5"/>
          <p:cNvSpPr txBox="1"/>
          <p:nvPr/>
        </p:nvSpPr>
        <p:spPr>
          <a:xfrm>
            <a:off x="4565599" y="5212080"/>
            <a:ext cx="3200400" cy="68580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Trace a multi-hop flow in seconds instead of hours.</a:t>
            </a:r>
            <a:endParaRPr lang="en-US" sz="1400" dirty="0"/>
          </a:p>
        </p:txBody>
      </p:sp>
      <p:sp>
        <p:nvSpPr>
          <p:cNvPr id="33" name="who2__1"/>
          <p:cNvSpPr/>
          <p:nvPr/>
        </p:nvSpPr>
        <p:spPr>
          <a:xfrm>
            <a:off x="8125358" y="4206240"/>
            <a:ext cx="3611880" cy="1783080"/>
          </a:xfrm>
          <a:prstGeom prst="roundRect">
            <a:avLst>
              <a:gd name="adj" fmla="val 6154"/>
            </a:avLst>
          </a:prstGeom>
          <a:solidFill>
            <a:srgbClr val="0E1729">
              <a:alpha val="92000"/>
            </a:srgbClr>
          </a:solidFill>
          <a:ln w="12700">
            <a:solidFill>
              <a:srgbClr val="22314F"/>
            </a:solidFill>
            <a:prstDash val="solid"/>
          </a:ln>
          <a:effectLst>
            <a:outerShdw sx="100000" sy="100000" kx="0" ky="0" algn="bl" rotWithShape="0" blurRad="101600" dist="38100" dir="5400000">
              <a:srgbClr val="000000">
                <a:alpha val="45000"/>
              </a:srgbClr>
            </a:outerShdw>
          </a:effectLst>
        </p:spPr>
      </p:sp>
      <p:sp>
        <p:nvSpPr>
          <p:cNvPr id="34" name="who2__2"/>
          <p:cNvSpPr/>
          <p:nvPr/>
        </p:nvSpPr>
        <p:spPr>
          <a:xfrm>
            <a:off x="8353958" y="4462272"/>
            <a:ext cx="640080" cy="640080"/>
          </a:xfrm>
          <a:prstGeom prst="ellipse">
            <a:avLst/>
          </a:prstGeom>
          <a:solidFill>
            <a:srgbClr val="34D399">
              <a:alpha val="18000"/>
            </a:srgbClr>
          </a:solidFill>
          <a:ln w="12700">
            <a:solidFill>
              <a:srgbClr val="34D399">
                <a:alpha val="60000"/>
              </a:srgbClr>
            </a:solidFill>
            <a:prstDash val="solid"/>
          </a:ln>
        </p:spPr>
      </p:sp>
      <p:pic>
        <p:nvPicPr>
          <p:cNvPr id="35" name="who2__3" descr="preencoded.png">    </p:cNvPr>
          <p:cNvPicPr>
            <a:picLocks noChangeAspect="1"/>
          </p:cNvPicPr>
          <p:nvPr/>
        </p:nvPicPr>
        <p:blipFill>
          <a:blip r:embed="rId4"/>
          <a:stretch>
            <a:fillRect/>
          </a:stretch>
        </p:blipFill>
        <p:spPr>
          <a:xfrm>
            <a:off x="8513978" y="4622292"/>
            <a:ext cx="320040" cy="320040"/>
          </a:xfrm>
          <a:prstGeom prst="rect">
            <a:avLst/>
          </a:prstGeom>
        </p:spPr>
      </p:pic>
      <p:sp>
        <p:nvSpPr>
          <p:cNvPr id="36" name="who2__4"/>
          <p:cNvSpPr txBox="1"/>
          <p:nvPr/>
        </p:nvSpPr>
        <p:spPr>
          <a:xfrm>
            <a:off x="9131198" y="4462272"/>
            <a:ext cx="2468880" cy="640080"/>
          </a:xfrm>
          <a:prstGeom prst="rect">
            <a:avLst/>
          </a:prstGeom>
          <a:noFill/>
          <a:ln/>
        </p:spPr>
        <p:txBody>
          <a:bodyPr wrap="square" lIns="0" tIns="0" rIns="0" bIns="0" rtlCol="0" anchor="ctr"/>
          <a:lstStyle/>
          <a:p>
            <a:pPr indent="0" marL="0">
              <a:buNone/>
            </a:pPr>
            <a:r>
              <a:rPr lang="en-US" sz="1500" b="1" dirty="0">
                <a:solidFill>
                  <a:srgbClr val="F1F5FB"/>
                </a:solidFill>
                <a:latin typeface="Arial" pitchFamily="34" charset="0"/>
                <a:ea typeface="Arial" pitchFamily="34" charset="-122"/>
                <a:cs typeface="Arial" pitchFamily="34" charset="-120"/>
              </a:rPr>
              <a:t>Account holders</a:t>
            </a:r>
            <a:endParaRPr lang="en-US" sz="1500" dirty="0"/>
          </a:p>
        </p:txBody>
      </p:sp>
      <p:sp>
        <p:nvSpPr>
          <p:cNvPr id="37" name="who2__5"/>
          <p:cNvSpPr txBox="1"/>
          <p:nvPr/>
        </p:nvSpPr>
        <p:spPr>
          <a:xfrm>
            <a:off x="8353958" y="5212080"/>
            <a:ext cx="3200400" cy="685800"/>
          </a:xfrm>
          <a:prstGeom prst="rect">
            <a:avLst/>
          </a:prstGeom>
          <a:noFill/>
          <a:ln/>
        </p:spPr>
        <p:txBody>
          <a:bodyPr wrap="square" lIns="0" tIns="0" rIns="0" bIns="0" rtlCol="0" anchor="t"/>
          <a:lstStyle/>
          <a:p>
            <a:pPr indent="0" marL="0">
              <a:buNone/>
            </a:pPr>
            <a:r>
              <a:rPr lang="en-US" sz="1400" dirty="0">
                <a:solidFill>
                  <a:srgbClr val="9AABC4"/>
                </a:solidFill>
                <a:latin typeface="Calibri" pitchFamily="34" charset="0"/>
                <a:ea typeface="Calibri" pitchFamily="34" charset="-122"/>
                <a:cs typeface="Calibri" pitchFamily="34" charset="-120"/>
              </a:rPr>
              <a:t>Fewer recruited mules and victims, more trust in digital money.</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709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anim calcmode="lin" valueType="num">
                                      <p:cBhvr additive="base">
                                        <p:cTn id="8" dur="450" fill="hold"/>
                                        <p:tgtEl>
                                          <p:spTgt spid="6"/>
                                        </p:tgtEl>
                                        <p:attrNameLst>
                                          <p:attrName>ppt_x</p:attrName>
                                        </p:attrNameLst>
                                      </p:cBhvr>
                                      <p:tavLst>
                                        <p:tav tm="0">
                                          <p:val>
                                            <p:strVal val="#ppt_x"/>
                                          </p:val>
                                        </p:tav>
                                        <p:tav tm="100000">
                                          <p:val>
                                            <p:strVal val="#ppt_x"/>
                                          </p:val>
                                        </p:tav>
                                      </p:tavLst>
                                    </p:anim>
                                    <p:anim calcmode="lin" valueType="num">
                                      <p:cBhvr additive="base">
                                        <p:cTn id="9" dur="45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50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additive="base">
                                        <p:cTn id="13" dur="450" fill="hold"/>
                                        <p:tgtEl>
                                          <p:spTgt spid="7"/>
                                        </p:tgtEl>
                                        <p:attrNameLst>
                                          <p:attrName>ppt_x</p:attrName>
                                        </p:attrNameLst>
                                      </p:cBhvr>
                                      <p:tavLst>
                                        <p:tav tm="0">
                                          <p:val>
                                            <p:strVal val="#ppt_x"/>
                                          </p:val>
                                        </p:tav>
                                        <p:tav tm="100000">
                                          <p:val>
                                            <p:strVal val="#ppt_x"/>
                                          </p:val>
                                        </p:tav>
                                      </p:tavLst>
                                    </p:anim>
                                    <p:anim calcmode="lin" valueType="num">
                                      <p:cBhvr additive="base">
                                        <p:cTn id="14" dur="45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50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anim calcmode="lin" valueType="num">
                                      <p:cBhvr additive="base">
                                        <p:cTn id="18" dur="450" fill="hold"/>
                                        <p:tgtEl>
                                          <p:spTgt spid="8"/>
                                        </p:tgtEl>
                                        <p:attrNameLst>
                                          <p:attrName>ppt_x</p:attrName>
                                        </p:attrNameLst>
                                      </p:cBhvr>
                                      <p:tavLst>
                                        <p:tav tm="0">
                                          <p:val>
                                            <p:strVal val="#ppt_x"/>
                                          </p:val>
                                        </p:tav>
                                        <p:tav tm="100000">
                                          <p:val>
                                            <p:strVal val="#ppt_x"/>
                                          </p:val>
                                        </p:tav>
                                      </p:tavLst>
                                    </p:anim>
                                    <p:anim calcmode="lin" valueType="num">
                                      <p:cBhvr additive="base">
                                        <p:cTn id="19" dur="45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anim calcmode="lin" valueType="num">
                                      <p:cBhvr additive="base">
                                        <p:cTn id="23" dur="450" fill="hold"/>
                                        <p:tgtEl>
                                          <p:spTgt spid="9"/>
                                        </p:tgtEl>
                                        <p:attrNameLst>
                                          <p:attrName>ppt_x</p:attrName>
                                        </p:attrNameLst>
                                      </p:cBhvr>
                                      <p:tavLst>
                                        <p:tav tm="0">
                                          <p:val>
                                            <p:strVal val="#ppt_x"/>
                                          </p:val>
                                        </p:tav>
                                        <p:tav tm="100000">
                                          <p:val>
                                            <p:strVal val="#ppt_x"/>
                                          </p:val>
                                        </p:tav>
                                      </p:tavLst>
                                    </p:anim>
                                    <p:anim calcmode="lin" valueType="num">
                                      <p:cBhvr additive="base">
                                        <p:cTn id="24" dur="45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8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anim calcmode="lin" valueType="num">
                                      <p:cBhvr additive="base">
                                        <p:cTn id="28" dur="450" fill="hold"/>
                                        <p:tgtEl>
                                          <p:spTgt spid="10"/>
                                        </p:tgtEl>
                                        <p:attrNameLst>
                                          <p:attrName>ppt_x</p:attrName>
                                        </p:attrNameLst>
                                      </p:cBhvr>
                                      <p:tavLst>
                                        <p:tav tm="0">
                                          <p:val>
                                            <p:strVal val="#ppt_x"/>
                                          </p:val>
                                        </p:tav>
                                        <p:tav tm="100000">
                                          <p:val>
                                            <p:strVal val="#ppt_x"/>
                                          </p:val>
                                        </p:tav>
                                      </p:tavLst>
                                    </p:anim>
                                    <p:anim calcmode="lin" valueType="num">
                                      <p:cBhvr additive="base">
                                        <p:cTn id="29" dur="45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85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anim calcmode="lin" valueType="num">
                                      <p:cBhvr additive="base">
                                        <p:cTn id="33" dur="450" fill="hold"/>
                                        <p:tgtEl>
                                          <p:spTgt spid="11"/>
                                        </p:tgtEl>
                                        <p:attrNameLst>
                                          <p:attrName>ppt_x</p:attrName>
                                        </p:attrNameLst>
                                      </p:cBhvr>
                                      <p:tavLst>
                                        <p:tav tm="0">
                                          <p:val>
                                            <p:strVal val="#ppt_x"/>
                                          </p:val>
                                        </p:tav>
                                        <p:tav tm="100000">
                                          <p:val>
                                            <p:strVal val="#ppt_x"/>
                                          </p:val>
                                        </p:tav>
                                      </p:tavLst>
                                    </p:anim>
                                    <p:anim calcmode="lin" valueType="num">
                                      <p:cBhvr additive="base">
                                        <p:cTn id="34" dur="45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8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anim calcmode="lin" valueType="num">
                                      <p:cBhvr additive="base">
                                        <p:cTn id="38" dur="450" fill="hold"/>
                                        <p:tgtEl>
                                          <p:spTgt spid="12"/>
                                        </p:tgtEl>
                                        <p:attrNameLst>
                                          <p:attrName>ppt_x</p:attrName>
                                        </p:attrNameLst>
                                      </p:cBhvr>
                                      <p:tavLst>
                                        <p:tav tm="0">
                                          <p:val>
                                            <p:strVal val="#ppt_x"/>
                                          </p:val>
                                        </p:tav>
                                        <p:tav tm="100000">
                                          <p:val>
                                            <p:strVal val="#ppt_x"/>
                                          </p:val>
                                        </p:tav>
                                      </p:tavLst>
                                    </p:anim>
                                    <p:anim calcmode="lin" valueType="num">
                                      <p:cBhvr additive="base">
                                        <p:cTn id="39" dur="450" fill="hold"/>
                                        <p:tgtEl>
                                          <p:spTgt spid="12"/>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85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50"/>
                                        <p:tgtEl>
                                          <p:spTgt spid="13"/>
                                        </p:tgtEl>
                                      </p:cBhvr>
                                    </p:animEffect>
                                    <p:anim calcmode="lin" valueType="num">
                                      <p:cBhvr additive="base">
                                        <p:cTn id="43" dur="450" fill="hold"/>
                                        <p:tgtEl>
                                          <p:spTgt spid="13"/>
                                        </p:tgtEl>
                                        <p:attrNameLst>
                                          <p:attrName>ppt_x</p:attrName>
                                        </p:attrNameLst>
                                      </p:cBhvr>
                                      <p:tavLst>
                                        <p:tav tm="0">
                                          <p:val>
                                            <p:strVal val="#ppt_x"/>
                                          </p:val>
                                        </p:tav>
                                        <p:tav tm="100000">
                                          <p:val>
                                            <p:strVal val="#ppt_x"/>
                                          </p:val>
                                        </p:tav>
                                      </p:tavLst>
                                    </p:anim>
                                    <p:anim calcmode="lin" valueType="num">
                                      <p:cBhvr additive="base">
                                        <p:cTn id="44" dur="450" fill="hold"/>
                                        <p:tgtEl>
                                          <p:spTgt spid="13"/>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85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50"/>
                                        <p:tgtEl>
                                          <p:spTgt spid="14"/>
                                        </p:tgtEl>
                                      </p:cBhvr>
                                    </p:animEffect>
                                    <p:anim calcmode="lin" valueType="num">
                                      <p:cBhvr additive="base">
                                        <p:cTn id="48" dur="450" fill="hold"/>
                                        <p:tgtEl>
                                          <p:spTgt spid="14"/>
                                        </p:tgtEl>
                                        <p:attrNameLst>
                                          <p:attrName>ppt_x</p:attrName>
                                        </p:attrNameLst>
                                      </p:cBhvr>
                                      <p:tavLst>
                                        <p:tav tm="0">
                                          <p:val>
                                            <p:strVal val="#ppt_x"/>
                                          </p:val>
                                        </p:tav>
                                        <p:tav tm="100000">
                                          <p:val>
                                            <p:strVal val="#ppt_x"/>
                                          </p:val>
                                        </p:tav>
                                      </p:tavLst>
                                    </p:anim>
                                    <p:anim calcmode="lin" valueType="num">
                                      <p:cBhvr additive="base">
                                        <p:cTn id="49" dur="450" fill="hold"/>
                                        <p:tgtEl>
                                          <p:spTgt spid="14"/>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20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450"/>
                                        <p:tgtEl>
                                          <p:spTgt spid="15"/>
                                        </p:tgtEl>
                                      </p:cBhvr>
                                    </p:animEffect>
                                    <p:anim calcmode="lin" valueType="num">
                                      <p:cBhvr additive="base">
                                        <p:cTn id="53" dur="450" fill="hold"/>
                                        <p:tgtEl>
                                          <p:spTgt spid="15"/>
                                        </p:tgtEl>
                                        <p:attrNameLst>
                                          <p:attrName>ppt_x</p:attrName>
                                        </p:attrNameLst>
                                      </p:cBhvr>
                                      <p:tavLst>
                                        <p:tav tm="0">
                                          <p:val>
                                            <p:strVal val="#ppt_x"/>
                                          </p:val>
                                        </p:tav>
                                        <p:tav tm="100000">
                                          <p:val>
                                            <p:strVal val="#ppt_x"/>
                                          </p:val>
                                        </p:tav>
                                      </p:tavLst>
                                    </p:anim>
                                    <p:anim calcmode="lin" valueType="num">
                                      <p:cBhvr additive="base">
                                        <p:cTn id="54" dur="450" fill="hold"/>
                                        <p:tgtEl>
                                          <p:spTgt spid="15"/>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20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450"/>
                                        <p:tgtEl>
                                          <p:spTgt spid="16"/>
                                        </p:tgtEl>
                                      </p:cBhvr>
                                    </p:animEffect>
                                    <p:anim calcmode="lin" valueType="num">
                                      <p:cBhvr additive="base">
                                        <p:cTn id="58" dur="450" fill="hold"/>
                                        <p:tgtEl>
                                          <p:spTgt spid="16"/>
                                        </p:tgtEl>
                                        <p:attrNameLst>
                                          <p:attrName>ppt_x</p:attrName>
                                        </p:attrNameLst>
                                      </p:cBhvr>
                                      <p:tavLst>
                                        <p:tav tm="0">
                                          <p:val>
                                            <p:strVal val="#ppt_x"/>
                                          </p:val>
                                        </p:tav>
                                        <p:tav tm="100000">
                                          <p:val>
                                            <p:strVal val="#ppt_x"/>
                                          </p:val>
                                        </p:tav>
                                      </p:tavLst>
                                    </p:anim>
                                    <p:anim calcmode="lin" valueType="num">
                                      <p:cBhvr additive="base">
                                        <p:cTn id="59" dur="450" fill="hold"/>
                                        <p:tgtEl>
                                          <p:spTgt spid="16"/>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20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450"/>
                                        <p:tgtEl>
                                          <p:spTgt spid="17"/>
                                        </p:tgtEl>
                                      </p:cBhvr>
                                    </p:animEffect>
                                    <p:anim calcmode="lin" valueType="num">
                                      <p:cBhvr additive="base">
                                        <p:cTn id="63" dur="450" fill="hold"/>
                                        <p:tgtEl>
                                          <p:spTgt spid="17"/>
                                        </p:tgtEl>
                                        <p:attrNameLst>
                                          <p:attrName>ppt_x</p:attrName>
                                        </p:attrNameLst>
                                      </p:cBhvr>
                                      <p:tavLst>
                                        <p:tav tm="0">
                                          <p:val>
                                            <p:strVal val="#ppt_x"/>
                                          </p:val>
                                        </p:tav>
                                        <p:tav tm="100000">
                                          <p:val>
                                            <p:strVal val="#ppt_x"/>
                                          </p:val>
                                        </p:tav>
                                      </p:tavLst>
                                    </p:anim>
                                    <p:anim calcmode="lin" valueType="num">
                                      <p:cBhvr additive="base">
                                        <p:cTn id="64" dur="450" fill="hold"/>
                                        <p:tgtEl>
                                          <p:spTgt spid="17"/>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20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450"/>
                                        <p:tgtEl>
                                          <p:spTgt spid="18"/>
                                        </p:tgtEl>
                                      </p:cBhvr>
                                    </p:animEffect>
                                    <p:anim calcmode="lin" valueType="num">
                                      <p:cBhvr additive="base">
                                        <p:cTn id="68" dur="450" fill="hold"/>
                                        <p:tgtEl>
                                          <p:spTgt spid="18"/>
                                        </p:tgtEl>
                                        <p:attrNameLst>
                                          <p:attrName>ppt_x</p:attrName>
                                        </p:attrNameLst>
                                      </p:cBhvr>
                                      <p:tavLst>
                                        <p:tav tm="0">
                                          <p:val>
                                            <p:strVal val="#ppt_x"/>
                                          </p:val>
                                        </p:tav>
                                        <p:tav tm="100000">
                                          <p:val>
                                            <p:strVal val="#ppt_x"/>
                                          </p:val>
                                        </p:tav>
                                      </p:tavLst>
                                    </p:anim>
                                    <p:anim calcmode="lin" valueType="num">
                                      <p:cBhvr additive="base">
                                        <p:cTn id="69" dur="450" fill="hold"/>
                                        <p:tgtEl>
                                          <p:spTgt spid="18"/>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155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450"/>
                                        <p:tgtEl>
                                          <p:spTgt spid="19"/>
                                        </p:tgtEl>
                                      </p:cBhvr>
                                    </p:animEffect>
                                    <p:anim calcmode="lin" valueType="num">
                                      <p:cBhvr additive="base">
                                        <p:cTn id="73" dur="450" fill="hold"/>
                                        <p:tgtEl>
                                          <p:spTgt spid="19"/>
                                        </p:tgtEl>
                                        <p:attrNameLst>
                                          <p:attrName>ppt_x</p:attrName>
                                        </p:attrNameLst>
                                      </p:cBhvr>
                                      <p:tavLst>
                                        <p:tav tm="0">
                                          <p:val>
                                            <p:strVal val="#ppt_x"/>
                                          </p:val>
                                        </p:tav>
                                        <p:tav tm="100000">
                                          <p:val>
                                            <p:strVal val="#ppt_x"/>
                                          </p:val>
                                        </p:tav>
                                      </p:tavLst>
                                    </p:anim>
                                    <p:anim calcmode="lin" valueType="num">
                                      <p:cBhvr additive="base">
                                        <p:cTn id="74" dur="450" fill="hold"/>
                                        <p:tgtEl>
                                          <p:spTgt spid="19"/>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155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450"/>
                                        <p:tgtEl>
                                          <p:spTgt spid="20"/>
                                        </p:tgtEl>
                                      </p:cBhvr>
                                    </p:animEffect>
                                    <p:anim calcmode="lin" valueType="num">
                                      <p:cBhvr additive="base">
                                        <p:cTn id="78" dur="450" fill="hold"/>
                                        <p:tgtEl>
                                          <p:spTgt spid="20"/>
                                        </p:tgtEl>
                                        <p:attrNameLst>
                                          <p:attrName>ppt_x</p:attrName>
                                        </p:attrNameLst>
                                      </p:cBhvr>
                                      <p:tavLst>
                                        <p:tav tm="0">
                                          <p:val>
                                            <p:strVal val="#ppt_x"/>
                                          </p:val>
                                        </p:tav>
                                        <p:tav tm="100000">
                                          <p:val>
                                            <p:strVal val="#ppt_x"/>
                                          </p:val>
                                        </p:tav>
                                      </p:tavLst>
                                    </p:anim>
                                    <p:anim calcmode="lin" valueType="num">
                                      <p:cBhvr additive="base">
                                        <p:cTn id="79" dur="450" fill="hold"/>
                                        <p:tgtEl>
                                          <p:spTgt spid="20"/>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155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450"/>
                                        <p:tgtEl>
                                          <p:spTgt spid="21"/>
                                        </p:tgtEl>
                                      </p:cBhvr>
                                    </p:animEffect>
                                    <p:anim calcmode="lin" valueType="num">
                                      <p:cBhvr additive="base">
                                        <p:cTn id="83" dur="450" fill="hold"/>
                                        <p:tgtEl>
                                          <p:spTgt spid="21"/>
                                        </p:tgtEl>
                                        <p:attrNameLst>
                                          <p:attrName>ppt_x</p:attrName>
                                        </p:attrNameLst>
                                      </p:cBhvr>
                                      <p:tavLst>
                                        <p:tav tm="0">
                                          <p:val>
                                            <p:strVal val="#ppt_x"/>
                                          </p:val>
                                        </p:tav>
                                        <p:tav tm="100000">
                                          <p:val>
                                            <p:strVal val="#ppt_x"/>
                                          </p:val>
                                        </p:tav>
                                      </p:tavLst>
                                    </p:anim>
                                    <p:anim calcmode="lin" valueType="num">
                                      <p:cBhvr additive="base">
                                        <p:cTn id="84" dur="450" fill="hold"/>
                                        <p:tgtEl>
                                          <p:spTgt spid="21"/>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155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450"/>
                                        <p:tgtEl>
                                          <p:spTgt spid="22"/>
                                        </p:tgtEl>
                                      </p:cBhvr>
                                    </p:animEffect>
                                    <p:anim calcmode="lin" valueType="num">
                                      <p:cBhvr additive="base">
                                        <p:cTn id="88" dur="450" fill="hold"/>
                                        <p:tgtEl>
                                          <p:spTgt spid="22"/>
                                        </p:tgtEl>
                                        <p:attrNameLst>
                                          <p:attrName>ppt_x</p:attrName>
                                        </p:attrNameLst>
                                      </p:cBhvr>
                                      <p:tavLst>
                                        <p:tav tm="0">
                                          <p:val>
                                            <p:strVal val="#ppt_x"/>
                                          </p:val>
                                        </p:tav>
                                        <p:tav tm="100000">
                                          <p:val>
                                            <p:strVal val="#ppt_x"/>
                                          </p:val>
                                        </p:tav>
                                      </p:tavLst>
                                    </p:anim>
                                    <p:anim calcmode="lin" valueType="num">
                                      <p:cBhvr additive="base">
                                        <p:cTn id="89" dur="450" fill="hold"/>
                                        <p:tgtEl>
                                          <p:spTgt spid="22"/>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210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450"/>
                                        <p:tgtEl>
                                          <p:spTgt spid="23"/>
                                        </p:tgtEl>
                                      </p:cBhvr>
                                    </p:animEffect>
                                    <p:anim calcmode="lin" valueType="num">
                                      <p:cBhvr additive="base">
                                        <p:cTn id="93" dur="450" fill="hold"/>
                                        <p:tgtEl>
                                          <p:spTgt spid="23"/>
                                        </p:tgtEl>
                                        <p:attrNameLst>
                                          <p:attrName>ppt_x</p:attrName>
                                        </p:attrNameLst>
                                      </p:cBhvr>
                                      <p:tavLst>
                                        <p:tav tm="0">
                                          <p:val>
                                            <p:strVal val="#ppt_x"/>
                                          </p:val>
                                        </p:tav>
                                        <p:tav tm="100000">
                                          <p:val>
                                            <p:strVal val="#ppt_x"/>
                                          </p:val>
                                        </p:tav>
                                      </p:tavLst>
                                    </p:anim>
                                    <p:anim calcmode="lin" valueType="num">
                                      <p:cBhvr additive="base">
                                        <p:cTn id="94" dur="450" fill="hold"/>
                                        <p:tgtEl>
                                          <p:spTgt spid="23"/>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210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450"/>
                                        <p:tgtEl>
                                          <p:spTgt spid="24"/>
                                        </p:tgtEl>
                                      </p:cBhvr>
                                    </p:animEffect>
                                    <p:anim calcmode="lin" valueType="num">
                                      <p:cBhvr additive="base">
                                        <p:cTn id="98" dur="450" fill="hold"/>
                                        <p:tgtEl>
                                          <p:spTgt spid="24"/>
                                        </p:tgtEl>
                                        <p:attrNameLst>
                                          <p:attrName>ppt_x</p:attrName>
                                        </p:attrNameLst>
                                      </p:cBhvr>
                                      <p:tavLst>
                                        <p:tav tm="0">
                                          <p:val>
                                            <p:strVal val="#ppt_x"/>
                                          </p:val>
                                        </p:tav>
                                        <p:tav tm="100000">
                                          <p:val>
                                            <p:strVal val="#ppt_x"/>
                                          </p:val>
                                        </p:tav>
                                      </p:tavLst>
                                    </p:anim>
                                    <p:anim calcmode="lin" valueType="num">
                                      <p:cBhvr additive="base">
                                        <p:cTn id="99" dur="450" fill="hold"/>
                                        <p:tgtEl>
                                          <p:spTgt spid="24"/>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210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450"/>
                                        <p:tgtEl>
                                          <p:spTgt spid="25"/>
                                        </p:tgtEl>
                                      </p:cBhvr>
                                    </p:animEffect>
                                    <p:anim calcmode="lin" valueType="num">
                                      <p:cBhvr additive="base">
                                        <p:cTn id="103" dur="450" fill="hold"/>
                                        <p:tgtEl>
                                          <p:spTgt spid="25"/>
                                        </p:tgtEl>
                                        <p:attrNameLst>
                                          <p:attrName>ppt_x</p:attrName>
                                        </p:attrNameLst>
                                      </p:cBhvr>
                                      <p:tavLst>
                                        <p:tav tm="0">
                                          <p:val>
                                            <p:strVal val="#ppt_x"/>
                                          </p:val>
                                        </p:tav>
                                        <p:tav tm="100000">
                                          <p:val>
                                            <p:strVal val="#ppt_x"/>
                                          </p:val>
                                        </p:tav>
                                      </p:tavLst>
                                    </p:anim>
                                    <p:anim calcmode="lin" valueType="num">
                                      <p:cBhvr additive="base">
                                        <p:cTn id="104" dur="450" fill="hold"/>
                                        <p:tgtEl>
                                          <p:spTgt spid="2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21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450"/>
                                        <p:tgtEl>
                                          <p:spTgt spid="26"/>
                                        </p:tgtEl>
                                      </p:cBhvr>
                                    </p:animEffect>
                                    <p:anim calcmode="lin" valueType="num">
                                      <p:cBhvr additive="base">
                                        <p:cTn id="108" dur="450" fill="hold"/>
                                        <p:tgtEl>
                                          <p:spTgt spid="26"/>
                                        </p:tgtEl>
                                        <p:attrNameLst>
                                          <p:attrName>ppt_x</p:attrName>
                                        </p:attrNameLst>
                                      </p:cBhvr>
                                      <p:tavLst>
                                        <p:tav tm="0">
                                          <p:val>
                                            <p:strVal val="#ppt_x"/>
                                          </p:val>
                                        </p:tav>
                                        <p:tav tm="100000">
                                          <p:val>
                                            <p:strVal val="#ppt_x"/>
                                          </p:val>
                                        </p:tav>
                                      </p:tavLst>
                                    </p:anim>
                                    <p:anim calcmode="lin" valueType="num">
                                      <p:cBhvr additive="base">
                                        <p:cTn id="109" dur="450" fill="hold"/>
                                        <p:tgtEl>
                                          <p:spTgt spid="26"/>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210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450"/>
                                        <p:tgtEl>
                                          <p:spTgt spid="27"/>
                                        </p:tgtEl>
                                      </p:cBhvr>
                                    </p:animEffect>
                                    <p:anim calcmode="lin" valueType="num">
                                      <p:cBhvr additive="base">
                                        <p:cTn id="113" dur="450" fill="hold"/>
                                        <p:tgtEl>
                                          <p:spTgt spid="27"/>
                                        </p:tgtEl>
                                        <p:attrNameLst>
                                          <p:attrName>ppt_x</p:attrName>
                                        </p:attrNameLst>
                                      </p:cBhvr>
                                      <p:tavLst>
                                        <p:tav tm="0">
                                          <p:val>
                                            <p:strVal val="#ppt_x"/>
                                          </p:val>
                                        </p:tav>
                                        <p:tav tm="100000">
                                          <p:val>
                                            <p:strVal val="#ppt_x"/>
                                          </p:val>
                                        </p:tav>
                                      </p:tavLst>
                                    </p:anim>
                                    <p:anim calcmode="lin" valueType="num">
                                      <p:cBhvr additive="base">
                                        <p:cTn id="114" dur="450" fill="hold"/>
                                        <p:tgtEl>
                                          <p:spTgt spid="27"/>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240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450"/>
                                        <p:tgtEl>
                                          <p:spTgt spid="28"/>
                                        </p:tgtEl>
                                      </p:cBhvr>
                                    </p:animEffect>
                                    <p:anim calcmode="lin" valueType="num">
                                      <p:cBhvr additive="base">
                                        <p:cTn id="118" dur="450" fill="hold"/>
                                        <p:tgtEl>
                                          <p:spTgt spid="28"/>
                                        </p:tgtEl>
                                        <p:attrNameLst>
                                          <p:attrName>ppt_x</p:attrName>
                                        </p:attrNameLst>
                                      </p:cBhvr>
                                      <p:tavLst>
                                        <p:tav tm="0">
                                          <p:val>
                                            <p:strVal val="#ppt_x"/>
                                          </p:val>
                                        </p:tav>
                                        <p:tav tm="100000">
                                          <p:val>
                                            <p:strVal val="#ppt_x"/>
                                          </p:val>
                                        </p:tav>
                                      </p:tavLst>
                                    </p:anim>
                                    <p:anim calcmode="lin" valueType="num">
                                      <p:cBhvr additive="base">
                                        <p:cTn id="119" dur="450" fill="hold"/>
                                        <p:tgtEl>
                                          <p:spTgt spid="28"/>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240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450"/>
                                        <p:tgtEl>
                                          <p:spTgt spid="29"/>
                                        </p:tgtEl>
                                      </p:cBhvr>
                                    </p:animEffect>
                                    <p:anim calcmode="lin" valueType="num">
                                      <p:cBhvr additive="base">
                                        <p:cTn id="123" dur="450" fill="hold"/>
                                        <p:tgtEl>
                                          <p:spTgt spid="29"/>
                                        </p:tgtEl>
                                        <p:attrNameLst>
                                          <p:attrName>ppt_x</p:attrName>
                                        </p:attrNameLst>
                                      </p:cBhvr>
                                      <p:tavLst>
                                        <p:tav tm="0">
                                          <p:val>
                                            <p:strVal val="#ppt_x"/>
                                          </p:val>
                                        </p:tav>
                                        <p:tav tm="100000">
                                          <p:val>
                                            <p:strVal val="#ppt_x"/>
                                          </p:val>
                                        </p:tav>
                                      </p:tavLst>
                                    </p:anim>
                                    <p:anim calcmode="lin" valueType="num">
                                      <p:cBhvr additive="base">
                                        <p:cTn id="124" dur="450" fill="hold"/>
                                        <p:tgtEl>
                                          <p:spTgt spid="29"/>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240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450"/>
                                        <p:tgtEl>
                                          <p:spTgt spid="30"/>
                                        </p:tgtEl>
                                      </p:cBhvr>
                                    </p:animEffect>
                                    <p:anim calcmode="lin" valueType="num">
                                      <p:cBhvr additive="base">
                                        <p:cTn id="128" dur="450" fill="hold"/>
                                        <p:tgtEl>
                                          <p:spTgt spid="30"/>
                                        </p:tgtEl>
                                        <p:attrNameLst>
                                          <p:attrName>ppt_x</p:attrName>
                                        </p:attrNameLst>
                                      </p:cBhvr>
                                      <p:tavLst>
                                        <p:tav tm="0">
                                          <p:val>
                                            <p:strVal val="#ppt_x"/>
                                          </p:val>
                                        </p:tav>
                                        <p:tav tm="100000">
                                          <p:val>
                                            <p:strVal val="#ppt_x"/>
                                          </p:val>
                                        </p:tav>
                                      </p:tavLst>
                                    </p:anim>
                                    <p:anim calcmode="lin" valueType="num">
                                      <p:cBhvr additive="base">
                                        <p:cTn id="129" dur="450" fill="hold"/>
                                        <p:tgtEl>
                                          <p:spTgt spid="30"/>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2400"/>
                                  </p:stCondLst>
                                  <p:childTnLst>
                                    <p:set>
                                      <p:cBhvr>
                                        <p:cTn id="131" dur="1" fill="hold">
                                          <p:stCondLst>
                                            <p:cond delay="0"/>
                                          </p:stCondLst>
                                        </p:cTn>
                                        <p:tgtEl>
                                          <p:spTgt spid="31"/>
                                        </p:tgtEl>
                                        <p:attrNameLst>
                                          <p:attrName>style.visibility</p:attrName>
                                        </p:attrNameLst>
                                      </p:cBhvr>
                                      <p:to>
                                        <p:strVal val="visible"/>
                                      </p:to>
                                    </p:set>
                                    <p:animEffect transition="in" filter="fade">
                                      <p:cBhvr>
                                        <p:cTn id="132" dur="450"/>
                                        <p:tgtEl>
                                          <p:spTgt spid="31"/>
                                        </p:tgtEl>
                                      </p:cBhvr>
                                    </p:animEffect>
                                    <p:anim calcmode="lin" valueType="num">
                                      <p:cBhvr additive="base">
                                        <p:cTn id="133" dur="450" fill="hold"/>
                                        <p:tgtEl>
                                          <p:spTgt spid="31"/>
                                        </p:tgtEl>
                                        <p:attrNameLst>
                                          <p:attrName>ppt_x</p:attrName>
                                        </p:attrNameLst>
                                      </p:cBhvr>
                                      <p:tavLst>
                                        <p:tav tm="0">
                                          <p:val>
                                            <p:strVal val="#ppt_x"/>
                                          </p:val>
                                        </p:tav>
                                        <p:tav tm="100000">
                                          <p:val>
                                            <p:strVal val="#ppt_x"/>
                                          </p:val>
                                        </p:tav>
                                      </p:tavLst>
                                    </p:anim>
                                    <p:anim calcmode="lin" valueType="num">
                                      <p:cBhvr additive="base">
                                        <p:cTn id="134" dur="450" fill="hold"/>
                                        <p:tgtEl>
                                          <p:spTgt spid="31"/>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2400"/>
                                  </p:stCondLst>
                                  <p:childTnLst>
                                    <p:set>
                                      <p:cBhvr>
                                        <p:cTn id="136" dur="1" fill="hold">
                                          <p:stCondLst>
                                            <p:cond delay="0"/>
                                          </p:stCondLst>
                                        </p:cTn>
                                        <p:tgtEl>
                                          <p:spTgt spid="32"/>
                                        </p:tgtEl>
                                        <p:attrNameLst>
                                          <p:attrName>style.visibility</p:attrName>
                                        </p:attrNameLst>
                                      </p:cBhvr>
                                      <p:to>
                                        <p:strVal val="visible"/>
                                      </p:to>
                                    </p:set>
                                    <p:animEffect transition="in" filter="fade">
                                      <p:cBhvr>
                                        <p:cTn id="137" dur="450"/>
                                        <p:tgtEl>
                                          <p:spTgt spid="32"/>
                                        </p:tgtEl>
                                      </p:cBhvr>
                                    </p:animEffect>
                                    <p:anim calcmode="lin" valueType="num">
                                      <p:cBhvr additive="base">
                                        <p:cTn id="138" dur="450" fill="hold"/>
                                        <p:tgtEl>
                                          <p:spTgt spid="32"/>
                                        </p:tgtEl>
                                        <p:attrNameLst>
                                          <p:attrName>ppt_x</p:attrName>
                                        </p:attrNameLst>
                                      </p:cBhvr>
                                      <p:tavLst>
                                        <p:tav tm="0">
                                          <p:val>
                                            <p:strVal val="#ppt_x"/>
                                          </p:val>
                                        </p:tav>
                                        <p:tav tm="100000">
                                          <p:val>
                                            <p:strVal val="#ppt_x"/>
                                          </p:val>
                                        </p:tav>
                                      </p:tavLst>
                                    </p:anim>
                                    <p:anim calcmode="lin" valueType="num">
                                      <p:cBhvr additive="base">
                                        <p:cTn id="139" dur="450" fill="hold"/>
                                        <p:tgtEl>
                                          <p:spTgt spid="32"/>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2700"/>
                                  </p:stCondLst>
                                  <p:childTnLst>
                                    <p:set>
                                      <p:cBhvr>
                                        <p:cTn id="141" dur="1" fill="hold">
                                          <p:stCondLst>
                                            <p:cond delay="0"/>
                                          </p:stCondLst>
                                        </p:cTn>
                                        <p:tgtEl>
                                          <p:spTgt spid="33"/>
                                        </p:tgtEl>
                                        <p:attrNameLst>
                                          <p:attrName>style.visibility</p:attrName>
                                        </p:attrNameLst>
                                      </p:cBhvr>
                                      <p:to>
                                        <p:strVal val="visible"/>
                                      </p:to>
                                    </p:set>
                                    <p:animEffect transition="in" filter="fade">
                                      <p:cBhvr>
                                        <p:cTn id="142" dur="450"/>
                                        <p:tgtEl>
                                          <p:spTgt spid="33"/>
                                        </p:tgtEl>
                                      </p:cBhvr>
                                    </p:animEffect>
                                    <p:anim calcmode="lin" valueType="num">
                                      <p:cBhvr additive="base">
                                        <p:cTn id="143" dur="450" fill="hold"/>
                                        <p:tgtEl>
                                          <p:spTgt spid="33"/>
                                        </p:tgtEl>
                                        <p:attrNameLst>
                                          <p:attrName>ppt_x</p:attrName>
                                        </p:attrNameLst>
                                      </p:cBhvr>
                                      <p:tavLst>
                                        <p:tav tm="0">
                                          <p:val>
                                            <p:strVal val="#ppt_x"/>
                                          </p:val>
                                        </p:tav>
                                        <p:tav tm="100000">
                                          <p:val>
                                            <p:strVal val="#ppt_x"/>
                                          </p:val>
                                        </p:tav>
                                      </p:tavLst>
                                    </p:anim>
                                    <p:anim calcmode="lin" valueType="num">
                                      <p:cBhvr additive="base">
                                        <p:cTn id="144" dur="450" fill="hold"/>
                                        <p:tgtEl>
                                          <p:spTgt spid="33"/>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2700"/>
                                  </p:stCondLst>
                                  <p:childTnLst>
                                    <p:set>
                                      <p:cBhvr>
                                        <p:cTn id="146" dur="1" fill="hold">
                                          <p:stCondLst>
                                            <p:cond delay="0"/>
                                          </p:stCondLst>
                                        </p:cTn>
                                        <p:tgtEl>
                                          <p:spTgt spid="34"/>
                                        </p:tgtEl>
                                        <p:attrNameLst>
                                          <p:attrName>style.visibility</p:attrName>
                                        </p:attrNameLst>
                                      </p:cBhvr>
                                      <p:to>
                                        <p:strVal val="visible"/>
                                      </p:to>
                                    </p:set>
                                    <p:animEffect transition="in" filter="fade">
                                      <p:cBhvr>
                                        <p:cTn id="147" dur="450"/>
                                        <p:tgtEl>
                                          <p:spTgt spid="34"/>
                                        </p:tgtEl>
                                      </p:cBhvr>
                                    </p:animEffect>
                                    <p:anim calcmode="lin" valueType="num">
                                      <p:cBhvr additive="base">
                                        <p:cTn id="148" dur="450" fill="hold"/>
                                        <p:tgtEl>
                                          <p:spTgt spid="34"/>
                                        </p:tgtEl>
                                        <p:attrNameLst>
                                          <p:attrName>ppt_x</p:attrName>
                                        </p:attrNameLst>
                                      </p:cBhvr>
                                      <p:tavLst>
                                        <p:tav tm="0">
                                          <p:val>
                                            <p:strVal val="#ppt_x"/>
                                          </p:val>
                                        </p:tav>
                                        <p:tav tm="100000">
                                          <p:val>
                                            <p:strVal val="#ppt_x"/>
                                          </p:val>
                                        </p:tav>
                                      </p:tavLst>
                                    </p:anim>
                                    <p:anim calcmode="lin" valueType="num">
                                      <p:cBhvr additive="base">
                                        <p:cTn id="149" dur="450" fill="hold"/>
                                        <p:tgtEl>
                                          <p:spTgt spid="34"/>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2700"/>
                                  </p:stCondLst>
                                  <p:childTnLst>
                                    <p:set>
                                      <p:cBhvr>
                                        <p:cTn id="151" dur="1" fill="hold">
                                          <p:stCondLst>
                                            <p:cond delay="0"/>
                                          </p:stCondLst>
                                        </p:cTn>
                                        <p:tgtEl>
                                          <p:spTgt spid="35"/>
                                        </p:tgtEl>
                                        <p:attrNameLst>
                                          <p:attrName>style.visibility</p:attrName>
                                        </p:attrNameLst>
                                      </p:cBhvr>
                                      <p:to>
                                        <p:strVal val="visible"/>
                                      </p:to>
                                    </p:set>
                                    <p:animEffect transition="in" filter="fade">
                                      <p:cBhvr>
                                        <p:cTn id="152" dur="450"/>
                                        <p:tgtEl>
                                          <p:spTgt spid="35"/>
                                        </p:tgtEl>
                                      </p:cBhvr>
                                    </p:animEffect>
                                    <p:anim calcmode="lin" valueType="num">
                                      <p:cBhvr additive="base">
                                        <p:cTn id="153" dur="450" fill="hold"/>
                                        <p:tgtEl>
                                          <p:spTgt spid="35"/>
                                        </p:tgtEl>
                                        <p:attrNameLst>
                                          <p:attrName>ppt_x</p:attrName>
                                        </p:attrNameLst>
                                      </p:cBhvr>
                                      <p:tavLst>
                                        <p:tav tm="0">
                                          <p:val>
                                            <p:strVal val="#ppt_x"/>
                                          </p:val>
                                        </p:tav>
                                        <p:tav tm="100000">
                                          <p:val>
                                            <p:strVal val="#ppt_x"/>
                                          </p:val>
                                        </p:tav>
                                      </p:tavLst>
                                    </p:anim>
                                    <p:anim calcmode="lin" valueType="num">
                                      <p:cBhvr additive="base">
                                        <p:cTn id="154" dur="450" fill="hold"/>
                                        <p:tgtEl>
                                          <p:spTgt spid="35"/>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2700"/>
                                  </p:stCondLst>
                                  <p:childTnLst>
                                    <p:set>
                                      <p:cBhvr>
                                        <p:cTn id="156" dur="1" fill="hold">
                                          <p:stCondLst>
                                            <p:cond delay="0"/>
                                          </p:stCondLst>
                                        </p:cTn>
                                        <p:tgtEl>
                                          <p:spTgt spid="36"/>
                                        </p:tgtEl>
                                        <p:attrNameLst>
                                          <p:attrName>style.visibility</p:attrName>
                                        </p:attrNameLst>
                                      </p:cBhvr>
                                      <p:to>
                                        <p:strVal val="visible"/>
                                      </p:to>
                                    </p:set>
                                    <p:animEffect transition="in" filter="fade">
                                      <p:cBhvr>
                                        <p:cTn id="157" dur="450"/>
                                        <p:tgtEl>
                                          <p:spTgt spid="36"/>
                                        </p:tgtEl>
                                      </p:cBhvr>
                                    </p:animEffect>
                                    <p:anim calcmode="lin" valueType="num">
                                      <p:cBhvr additive="base">
                                        <p:cTn id="158" dur="450" fill="hold"/>
                                        <p:tgtEl>
                                          <p:spTgt spid="36"/>
                                        </p:tgtEl>
                                        <p:attrNameLst>
                                          <p:attrName>ppt_x</p:attrName>
                                        </p:attrNameLst>
                                      </p:cBhvr>
                                      <p:tavLst>
                                        <p:tav tm="0">
                                          <p:val>
                                            <p:strVal val="#ppt_x"/>
                                          </p:val>
                                        </p:tav>
                                        <p:tav tm="100000">
                                          <p:val>
                                            <p:strVal val="#ppt_x"/>
                                          </p:val>
                                        </p:tav>
                                      </p:tavLst>
                                    </p:anim>
                                    <p:anim calcmode="lin" valueType="num">
                                      <p:cBhvr additive="base">
                                        <p:cTn id="159" dur="450" fill="hold"/>
                                        <p:tgtEl>
                                          <p:spTgt spid="36"/>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2700"/>
                                  </p:stCondLst>
                                  <p:childTnLst>
                                    <p:set>
                                      <p:cBhvr>
                                        <p:cTn id="161" dur="1" fill="hold">
                                          <p:stCondLst>
                                            <p:cond delay="0"/>
                                          </p:stCondLst>
                                        </p:cTn>
                                        <p:tgtEl>
                                          <p:spTgt spid="37"/>
                                        </p:tgtEl>
                                        <p:attrNameLst>
                                          <p:attrName>style.visibility</p:attrName>
                                        </p:attrNameLst>
                                      </p:cBhvr>
                                      <p:to>
                                        <p:strVal val="visible"/>
                                      </p:to>
                                    </p:set>
                                    <p:animEffect transition="in" filter="fade">
                                      <p:cBhvr>
                                        <p:cTn id="162" dur="450"/>
                                        <p:tgtEl>
                                          <p:spTgt spid="37"/>
                                        </p:tgtEl>
                                      </p:cBhvr>
                                    </p:animEffect>
                                    <p:anim calcmode="lin" valueType="num">
                                      <p:cBhvr additive="base">
                                        <p:cTn id="163" dur="450" fill="hold"/>
                                        <p:tgtEl>
                                          <p:spTgt spid="37"/>
                                        </p:tgtEl>
                                        <p:attrNameLst>
                                          <p:attrName>ppt_x</p:attrName>
                                        </p:attrNameLst>
                                      </p:cBhvr>
                                      <p:tavLst>
                                        <p:tav tm="0">
                                          <p:val>
                                            <p:strVal val="#ppt_x"/>
                                          </p:val>
                                        </p:tav>
                                        <p:tav tm="100000">
                                          <p:val>
                                            <p:strVal val="#ppt_x"/>
                                          </p:val>
                                        </p:tav>
                                      </p:tavLst>
                                    </p:anim>
                                    <p:anim calcmode="lin" valueType="num">
                                      <p:cBhvr additive="base">
                                        <p:cTn id="164" dur="450" fill="hold"/>
                                        <p:tgtEl>
                                          <p:spTgt spid="37"/>
                                        </p:tgtEl>
                                        <p:attrNameLst>
                                          <p:attrName>ppt_y</p:attrName>
                                        </p:attrNameLst>
                                      </p:cBhvr>
                                      <p:tavLst>
                                        <p:tav tm="0">
                                          <p:val>
                                            <p:strVal val="#ppt_y+.1"/>
                                          </p:val>
                                        </p:tav>
                                        <p:tav tm="100000">
                                          <p:val>
                                            <p:strVal val="#ppt_y"/>
                                          </p:val>
                                        </p:tav>
                                      </p:tavLst>
                                    </p:anim>
                                  </p:childTnLst>
                                </p:cTn>
                              </p:par>
                              <p:par>
                                <p:cTn id="165" presetID="22" presetClass="entr" presetSubtype="8" fill="hold" nodeType="withEffect">
                                  <p:stCondLst>
                                    <p:cond delay="200"/>
                                  </p:stCondLst>
                                  <p:childTnLst>
                                    <p:set>
                                      <p:cBhvr>
                                        <p:cTn id="166" dur="1" fill="hold">
                                          <p:stCondLst>
                                            <p:cond delay="0"/>
                                          </p:stCondLst>
                                        </p:cTn>
                                        <p:tgtEl>
                                          <p:spTgt spid="5"/>
                                        </p:tgtEl>
                                        <p:attrNameLst>
                                          <p:attrName>style.visibility</p:attrName>
                                        </p:attrNameLst>
                                      </p:cBhvr>
                                      <p:to>
                                        <p:strVal val="visible"/>
                                      </p:to>
                                    </p:set>
                                    <p:animEffect transition="in" filter="wipe(left)">
                                      <p:cBhvr>
                                        <p:cTn id="167"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bg__1" descr="/tmp/claude-0/-home-claude/f925570b-377a-5c3c-9531-1679f3895fd9/scratchpad/deck/img/closing.png">    </p:cNvPr>
          <p:cNvPicPr>
            <a:picLocks noChangeAspect="1"/>
          </p:cNvPicPr>
          <p:nvPr/>
        </p:nvPicPr>
        <p:blipFill>
          <a:blip r:embed="rId1"/>
          <a:stretch>
            <a:fillRect/>
          </a:stretch>
        </p:blipFill>
        <p:spPr>
          <a:xfrm>
            <a:off x="0" y="0"/>
            <a:ext cx="12191695" cy="6858000"/>
          </a:xfrm>
          <a:prstGeom prst="rect">
            <a:avLst/>
          </a:prstGeom>
        </p:spPr>
      </p:pic>
      <p:sp>
        <p:nvSpPr>
          <p:cNvPr id="3" name="l1__1"/>
          <p:cNvSpPr txBox="1"/>
          <p:nvPr/>
        </p:nvSpPr>
        <p:spPr>
          <a:xfrm>
            <a:off x="731520" y="1463040"/>
            <a:ext cx="6400800" cy="640080"/>
          </a:xfrm>
          <a:prstGeom prst="rect">
            <a:avLst/>
          </a:prstGeom>
          <a:noFill/>
          <a:ln/>
        </p:spPr>
        <p:txBody>
          <a:bodyPr wrap="square" lIns="0" tIns="0" rIns="0" bIns="0" rtlCol="0" anchor="ctr"/>
          <a:lstStyle/>
          <a:p>
            <a:pPr indent="0" marL="0">
              <a:buNone/>
            </a:pPr>
            <a:r>
              <a:rPr lang="en-US" sz="3000" b="1" dirty="0">
                <a:solidFill>
                  <a:srgbClr val="9AABC4"/>
                </a:solidFill>
                <a:latin typeface="Arial" pitchFamily="34" charset="0"/>
                <a:ea typeface="Arial" pitchFamily="34" charset="-122"/>
                <a:cs typeface="Arial" pitchFamily="34" charset="-120"/>
              </a:rPr>
              <a:t>Don't just flag transactions.</a:t>
            </a:r>
            <a:endParaRPr lang="en-US" sz="3000" dirty="0"/>
          </a:p>
        </p:txBody>
      </p:sp>
      <p:sp>
        <p:nvSpPr>
          <p:cNvPr id="4" name="l2__1"/>
          <p:cNvSpPr txBox="1"/>
          <p:nvPr/>
        </p:nvSpPr>
        <p:spPr>
          <a:xfrm>
            <a:off x="731520" y="2103120"/>
            <a:ext cx="6400800" cy="868680"/>
          </a:xfrm>
          <a:prstGeom prst="rect">
            <a:avLst/>
          </a:prstGeom>
          <a:noFill/>
          <a:ln/>
        </p:spPr>
        <p:txBody>
          <a:bodyPr wrap="square" lIns="0" tIns="0" rIns="0" bIns="0" rtlCol="0" anchor="ctr"/>
          <a:lstStyle/>
          <a:p>
            <a:pPr indent="0" marL="0">
              <a:buNone/>
            </a:pPr>
            <a:r>
              <a:rPr lang="en-US" sz="4800" b="1" dirty="0">
                <a:solidFill>
                  <a:srgbClr val="F1F5FB"/>
                </a:solidFill>
                <a:latin typeface="Arial" pitchFamily="34" charset="0"/>
                <a:ea typeface="Arial" pitchFamily="34" charset="-122"/>
                <a:cs typeface="Arial" pitchFamily="34" charset="-120"/>
              </a:rPr>
              <a:t>Follow the money.</a:t>
            </a:r>
            <a:endParaRPr lang="en-US" sz="4800" dirty="0"/>
          </a:p>
        </p:txBody>
      </p:sp>
      <p:sp>
        <p:nvSpPr>
          <p:cNvPr id="5" name="brand__1"/>
          <p:cNvSpPr txBox="1"/>
          <p:nvPr/>
        </p:nvSpPr>
        <p:spPr>
          <a:xfrm>
            <a:off x="731520" y="3429000"/>
            <a:ext cx="5486400" cy="548640"/>
          </a:xfrm>
          <a:prstGeom prst="rect">
            <a:avLst/>
          </a:prstGeom>
          <a:noFill/>
          <a:ln/>
        </p:spPr>
        <p:txBody>
          <a:bodyPr wrap="square" lIns="0" tIns="0" rIns="0" bIns="0" rtlCol="0" anchor="ctr"/>
          <a:lstStyle/>
          <a:p>
            <a:pPr indent="0" marL="0">
              <a:buNone/>
            </a:pPr>
            <a:r>
              <a:rPr lang="en-US" sz="2600" b="1" spc="200" kern="0" dirty="0">
                <a:solidFill>
                  <a:srgbClr val="F1F5FB"/>
                </a:solidFill>
                <a:latin typeface="Arial" pitchFamily="34" charset="0"/>
                <a:ea typeface="Arial" pitchFamily="34" charset="-122"/>
                <a:cs typeface="Arial" pitchFamily="34" charset="-120"/>
              </a:rPr>
              <a:t>CYGNUS </a:t>
            </a:r>
            <a:pPr indent="0" marL="0">
              <a:buNone/>
            </a:pPr>
            <a:r>
              <a:rPr lang="en-US" sz="2600" b="1" spc="200" kern="0" dirty="0">
                <a:solidFill>
                  <a:srgbClr val="38BDF8"/>
                </a:solidFill>
                <a:latin typeface="Arial" pitchFamily="34" charset="0"/>
                <a:ea typeface="Arial" pitchFamily="34" charset="-122"/>
                <a:cs typeface="Arial" pitchFamily="34" charset="-120"/>
              </a:rPr>
              <a:t>AI</a:t>
            </a:r>
            <a:endParaRPr lang="en-US" sz="2600" dirty="0"/>
          </a:p>
        </p:txBody>
      </p:sp>
      <p:sp>
        <p:nvSpPr>
          <p:cNvPr id="6" name="brand__2"/>
          <p:cNvSpPr txBox="1"/>
          <p:nvPr/>
        </p:nvSpPr>
        <p:spPr>
          <a:xfrm>
            <a:off x="731520" y="3977640"/>
            <a:ext cx="5669280" cy="685800"/>
          </a:xfrm>
          <a:prstGeom prst="rect">
            <a:avLst/>
          </a:prstGeom>
          <a:noFill/>
          <a:ln/>
        </p:spPr>
        <p:txBody>
          <a:bodyPr wrap="square" lIns="0" tIns="0" rIns="0" bIns="0" rtlCol="0" anchor="t"/>
          <a:lstStyle/>
          <a:p>
            <a:pPr indent="0" marL="0">
              <a:buNone/>
            </a:pPr>
            <a:r>
              <a:rPr lang="en-US" sz="1800" dirty="0">
                <a:solidFill>
                  <a:srgbClr val="9AABC4"/>
                </a:solidFill>
                <a:latin typeface="Calibri" pitchFamily="34" charset="0"/>
                <a:ea typeface="Calibri" pitchFamily="34" charset="-122"/>
                <a:cs typeface="Calibri" pitchFamily="34" charset="-120"/>
              </a:rPr>
              <a:t>Graph intelligence and explainable AI for safer mobile money in Bangladesh.</a:t>
            </a:r>
            <a:endParaRPr lang="en-US" sz="1800" dirty="0"/>
          </a:p>
        </p:txBody>
      </p:sp>
      <p:sp>
        <p:nvSpPr>
          <p:cNvPr id="7" name="ty__1"/>
          <p:cNvSpPr txBox="1"/>
          <p:nvPr/>
        </p:nvSpPr>
        <p:spPr>
          <a:xfrm>
            <a:off x="731520" y="4892040"/>
            <a:ext cx="4572000" cy="548640"/>
          </a:xfrm>
          <a:prstGeom prst="rect">
            <a:avLst/>
          </a:prstGeom>
          <a:noFill/>
          <a:ln/>
        </p:spPr>
        <p:txBody>
          <a:bodyPr wrap="square" lIns="0" tIns="0" rIns="0" bIns="0" rtlCol="0" anchor="ctr"/>
          <a:lstStyle/>
          <a:p>
            <a:pPr indent="0" marL="0">
              <a:buNone/>
            </a:pPr>
            <a:r>
              <a:rPr lang="en-US" sz="2800" b="1" dirty="0">
                <a:solidFill>
                  <a:srgbClr val="38BDF8"/>
                </a:solidFill>
                <a:latin typeface="Arial" pitchFamily="34" charset="0"/>
                <a:ea typeface="Arial" pitchFamily="34" charset="-122"/>
                <a:cs typeface="Arial" pitchFamily="34" charset="-120"/>
              </a:rPr>
              <a:t>Thank you</a:t>
            </a:r>
            <a:endParaRPr lang="en-US" sz="2800" dirty="0"/>
          </a:p>
        </p:txBody>
      </p:sp>
      <p:sp>
        <p:nvSpPr>
          <p:cNvPr id="8" name="ty__2"/>
          <p:cNvSpPr txBox="1"/>
          <p:nvPr/>
        </p:nvSpPr>
        <p:spPr>
          <a:xfrm>
            <a:off x="731520" y="5486400"/>
            <a:ext cx="5943600" cy="320040"/>
          </a:xfrm>
          <a:prstGeom prst="rect">
            <a:avLst/>
          </a:prstGeom>
          <a:noFill/>
          <a:ln/>
        </p:spPr>
        <p:txBody>
          <a:bodyPr wrap="square" lIns="0" tIns="0" rIns="0" bIns="0" rtlCol="0" anchor="ctr"/>
          <a:lstStyle/>
          <a:p>
            <a:pPr indent="0" marL="0">
              <a:buNone/>
            </a:pPr>
            <a:r>
              <a:rPr lang="en-US" sz="1400" b="1" dirty="0">
                <a:solidFill>
                  <a:srgbClr val="F1F5FB"/>
                </a:solidFill>
                <a:latin typeface="Calibri" pitchFamily="34" charset="0"/>
                <a:ea typeface="Calibri" pitchFamily="34" charset="-122"/>
                <a:cs typeface="Calibri" pitchFamily="34" charset="-120"/>
              </a:rPr>
              <a:t>Built for upay  ·  AI Dev Fest 2026</a:t>
            </a:r>
            <a:endParaRPr lang="en-US" sz="1400" dirty="0"/>
          </a:p>
        </p:txBody>
      </p:sp>
      <p:sp>
        <p:nvSpPr>
          <p:cNvPr id="9" name="ty__3"/>
          <p:cNvSpPr txBox="1"/>
          <p:nvPr/>
        </p:nvSpPr>
        <p:spPr>
          <a:xfrm>
            <a:off x="731520" y="5852160"/>
            <a:ext cx="5943600" cy="320040"/>
          </a:xfrm>
          <a:prstGeom prst="rect">
            <a:avLst/>
          </a:prstGeom>
          <a:noFill/>
          <a:ln/>
        </p:spPr>
        <p:txBody>
          <a:bodyPr wrap="square" lIns="0" tIns="0" rIns="0" bIns="0" rtlCol="0" anchor="ctr"/>
          <a:lstStyle/>
          <a:p>
            <a:pPr indent="0" marL="0">
              <a:buNone/>
            </a:pPr>
            <a:r>
              <a:rPr lang="en-US" sz="1400" dirty="0">
                <a:solidFill>
                  <a:srgbClr val="9AABC4"/>
                </a:solidFill>
                <a:latin typeface="Calibri" pitchFamily="34" charset="0"/>
                <a:ea typeface="Calibri" pitchFamily="34" charset="-122"/>
                <a:cs typeface="Calibri" pitchFamily="34" charset="-120"/>
              </a:rPr>
              <a:t>github.com/ManamiMayoki/CPC_DIU_HACKATHON_2026</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nodeType="withEffect">
                                  <p:stCondLst>
                                    <p:cond delay="9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anim calcmode="lin" valueType="num">
                                      <p:cBhvr additive="base">
                                        <p:cTn id="11" dur="700" fill="hold"/>
                                        <p:tgtEl>
                                          <p:spTgt spid="4"/>
                                        </p:tgtEl>
                                        <p:attrNameLst>
                                          <p:attrName>ppt_x</p:attrName>
                                        </p:attrNameLst>
                                      </p:cBhvr>
                                      <p:tavLst>
                                        <p:tav tm="0">
                                          <p:val>
                                            <p:strVal val="#ppt_x"/>
                                          </p:val>
                                        </p:tav>
                                        <p:tav tm="100000">
                                          <p:val>
                                            <p:strVal val="#ppt_x"/>
                                          </p:val>
                                        </p:tav>
                                      </p:tavLst>
                                    </p:anim>
                                    <p:anim calcmode="lin" valueType="num">
                                      <p:cBhvr additive="base">
                                        <p:cTn id="12" dur="700" fill="hold"/>
                                        <p:tgtEl>
                                          <p:spTgt spid="4"/>
                                        </p:tgtEl>
                                        <p:attrNameLst>
                                          <p:attrName>ppt_y</p:attrName>
                                        </p:attrNameLst>
                                      </p:cBhvr>
                                      <p:tavLst>
                                        <p:tav tm="0">
                                          <p:val>
                                            <p:strVal val="#ppt_y+.1"/>
                                          </p:val>
                                        </p:tav>
                                        <p:tav tm="100000">
                                          <p:val>
                                            <p:strVal val="#ppt_y"/>
                                          </p:val>
                                        </p:tav>
                                      </p:tavLst>
                                    </p:anim>
                                  </p:childTnLst>
                                </p:cTn>
                              </p:par>
                              <p:par>
                                <p:cTn id="13" presetID="10" presetClass="entr" presetSubtype="0" fill="hold" nodeType="withEffect">
                                  <p:stCondLst>
                                    <p:cond delay="17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par>
                                <p:cTn id="16" presetID="10" presetClass="entr" presetSubtype="0" fill="hold" nodeType="withEffect">
                                  <p:stCondLst>
                                    <p:cond delay="17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00"/>
                                        <p:tgtEl>
                                          <p:spTgt spid="6"/>
                                        </p:tgtEl>
                                      </p:cBhvr>
                                    </p:animEffect>
                                  </p:childTnLst>
                                </p:cTn>
                              </p:par>
                              <p:par>
                                <p:cTn id="19" presetID="42" presetClass="entr" presetSubtype="0" fill="hold" nodeType="withEffect">
                                  <p:stCondLst>
                                    <p:cond delay="23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600"/>
                                        <p:tgtEl>
                                          <p:spTgt spid="7"/>
                                        </p:tgtEl>
                                      </p:cBhvr>
                                    </p:animEffect>
                                    <p:anim calcmode="lin" valueType="num">
                                      <p:cBhvr additive="base">
                                        <p:cTn id="22" dur="600" fill="hold"/>
                                        <p:tgtEl>
                                          <p:spTgt spid="7"/>
                                        </p:tgtEl>
                                        <p:attrNameLst>
                                          <p:attrName>ppt_x</p:attrName>
                                        </p:attrNameLst>
                                      </p:cBhvr>
                                      <p:tavLst>
                                        <p:tav tm="0">
                                          <p:val>
                                            <p:strVal val="#ppt_x"/>
                                          </p:val>
                                        </p:tav>
                                        <p:tav tm="100000">
                                          <p:val>
                                            <p:strVal val="#ppt_x"/>
                                          </p:val>
                                        </p:tav>
                                      </p:tavLst>
                                    </p:anim>
                                    <p:anim calcmode="lin" valueType="num">
                                      <p:cBhvr additive="base">
                                        <p:cTn id="23" dur="600" fill="hold"/>
                                        <p:tgtEl>
                                          <p:spTgt spid="7"/>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23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anim calcmode="lin" valueType="num">
                                      <p:cBhvr additive="base">
                                        <p:cTn id="27" dur="600" fill="hold"/>
                                        <p:tgtEl>
                                          <p:spTgt spid="8"/>
                                        </p:tgtEl>
                                        <p:attrNameLst>
                                          <p:attrName>ppt_x</p:attrName>
                                        </p:attrNameLst>
                                      </p:cBhvr>
                                      <p:tavLst>
                                        <p:tav tm="0">
                                          <p:val>
                                            <p:strVal val="#ppt_x"/>
                                          </p:val>
                                        </p:tav>
                                        <p:tav tm="100000">
                                          <p:val>
                                            <p:strVal val="#ppt_x"/>
                                          </p:val>
                                        </p:tav>
                                      </p:tavLst>
                                    </p:anim>
                                    <p:anim calcmode="lin" valueType="num">
                                      <p:cBhvr additive="base">
                                        <p:cTn id="28" dur="600" fill="hold"/>
                                        <p:tgtEl>
                                          <p:spTgt spid="8"/>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23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additive="base">
                                        <p:cTn id="32" dur="600" fill="hold"/>
                                        <p:tgtEl>
                                          <p:spTgt spid="9"/>
                                        </p:tgtEl>
                                        <p:attrNameLst>
                                          <p:attrName>ppt_x</p:attrName>
                                        </p:attrNameLst>
                                      </p:cBhvr>
                                      <p:tavLst>
                                        <p:tav tm="0">
                                          <p:val>
                                            <p:strVal val="#ppt_x"/>
                                          </p:val>
                                        </p:tav>
                                        <p:tav tm="100000">
                                          <p:val>
                                            <p:strVal val="#ppt_x"/>
                                          </p:val>
                                        </p:tav>
                                      </p:tavLst>
                                    </p:anim>
                                    <p:anim calcmode="lin" valueType="num">
                                      <p:cBhvr additive="base">
                                        <p:cTn id="33" dur="6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ygnus Constellation">
  <a:themeElements>
    <a:clrScheme name="Cygnus Constellation">
      <a:dk1>
        <a:srgbClr val="070B16"/>
      </a:dk1>
      <a:lt1>
        <a:srgbClr val="F1F5FB"/>
      </a:lt1>
      <a:dk2>
        <a:srgbClr val="0E1729"/>
      </a:dk2>
      <a:lt2>
        <a:srgbClr val="9AABC4"/>
      </a:lt2>
      <a:accent1>
        <a:srgbClr val="38BDF8"/>
      </a:accent1>
      <a:accent2>
        <a:srgbClr val="FF4D5E"/>
      </a:accent2>
      <a:accent3>
        <a:srgbClr val="F5A524"/>
      </a:accent3>
      <a:accent4>
        <a:srgbClr val="A78BFA"/>
      </a:accent4>
      <a:accent5>
        <a:srgbClr val="34D399"/>
      </a:accent5>
      <a:accent6>
        <a:srgbClr val="FB7A3C"/>
      </a:accent6>
      <a:hlink>
        <a:srgbClr val="38BDF8"/>
      </a:hlink>
      <a:folHlink>
        <a:srgbClr val="A78BFA"/>
      </a:folHlink>
    </a:clrScheme>
    <a:fontScheme name="Cygnus Constell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CPC DIU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Cygnus AI - Suspicious Transaction Network Detection</dc:title>
  <dc:subject>PptxGenJS Presentation</dc:subject>
  <dc:creator>Team Cygnus AI</dc:creator>
  <cp:lastModifiedBy>Team Cygnus AI</cp:lastModifiedBy>
  <cp:revision>1</cp:revision>
  <dcterms:created xsi:type="dcterms:W3CDTF">2026-10-07T05:29:22Z</dcterms:created>
  <dcterms:modified xsi:type="dcterms:W3CDTF">2026-10-07T05:29:22Z</dcterms:modified>
</cp:coreProperties>
</file>